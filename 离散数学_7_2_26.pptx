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2"/>
    <p:sldId id="377" r:id="rId3"/>
    <p:sldId id="258" r:id="rId4"/>
    <p:sldId id="437" r:id="rId5"/>
    <p:sldId id="436" r:id="rId6"/>
    <p:sldId id="438" r:id="rId7"/>
    <p:sldId id="440" r:id="rId8"/>
    <p:sldId id="439" r:id="rId9"/>
    <p:sldId id="399" r:id="rId10"/>
  </p:sldIdLst>
  <p:sldSz cx="12192000" cy="6858000"/>
  <p:notesSz cx="6858000" cy="9144000"/>
  <p:custDataLst>
    <p:tags r:id="rId1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CC"/>
    <a:srgbClr val="FF7C80"/>
    <a:srgbClr val="FFCC99"/>
    <a:srgbClr val="FFCCFF"/>
    <a:srgbClr val="1A4589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86" d="100"/>
          <a:sy n="86" d="100"/>
        </p:scale>
        <p:origin x="52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5000" y="0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239404" y="11309"/>
            <a:ext cx="19068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图论基础</a:t>
            </a:r>
            <a:endParaRPr lang="en-US" altLang="zh-CN" sz="18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第七章 图论基础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293096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理解握手定理 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握手定理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握手定理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601119" y="1630266"/>
                <a:ext cx="8514356" cy="25567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indent="-457200" eaLnBrk="1" hangingPunct="1">
                  <a:spcBef>
                    <a:spcPct val="50000"/>
                  </a:spcBef>
                  <a:buClr>
                    <a:srgbClr val="FFC000"/>
                  </a:buClr>
                  <a:buSzPct val="80000"/>
                  <a:buFont typeface="Wingdings" panose="05000000000000000000" pitchFamily="2" charset="2"/>
                  <a:buChar char="n"/>
                  <a:defRPr sz="2800" b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定理</a:t>
                </a:r>
                <a:r>
                  <a:rPr lang="en-US" altLang="zh-CN" dirty="0"/>
                  <a:t>7.2.1</a:t>
                </a:r>
                <a:r>
                  <a:rPr lang="zh-CN" altLang="en-US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握手定理</a:t>
                </a:r>
              </a:p>
              <a:p>
                <a:pPr marL="285750" lvl="1" indent="0">
                  <a:lnSpc>
                    <a:spcPct val="150000"/>
                  </a:lnSpc>
                  <a:buNone/>
                  <a:defRPr/>
                </a:pP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285750" lvl="1" indent="0">
                  <a:lnSpc>
                    <a:spcPct val="150000"/>
                  </a:lnSpc>
                  <a:buNone/>
                  <a:defRPr/>
                </a:pP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(1)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=2|</m:t>
                        </m:r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solidFill>
                              <a:schemeClr val="bg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zh-CN" altLang="en-US" sz="2400" b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lvl="1" indent="0">
                  <a:lnSpc>
                    <a:spcPct val="150000"/>
                  </a:lnSpc>
                  <a:buNone/>
                  <a:defRPr/>
                </a:pP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(2) </a:t>
                </a:r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为有向图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</a:t>
                </a: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19" y="1630266"/>
                <a:ext cx="8514356" cy="2556790"/>
              </a:xfrm>
              <a:prstGeom prst="rect">
                <a:avLst/>
              </a:prstGeom>
              <a:blipFill rotWithShape="1">
                <a:blip r:embed="rId2"/>
                <a:stretch>
                  <a:fillRect l="-5" t="-9" r="1" b="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609825" y="4796380"/>
            <a:ext cx="11714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935760" y="3687415"/>
                <a:ext cx="45005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  <m:sup/>
                      <m:e>
                        <m:r>
                          <a:rPr lang="en-US" altLang="zh-CN" sz="24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</m:sub>
                      <m:sup/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760" y="3687415"/>
                <a:ext cx="4500500" cy="461665"/>
              </a:xfrm>
              <a:prstGeom prst="rect">
                <a:avLst/>
              </a:prstGeom>
              <a:blipFill>
                <a:blip r:embed="rId3"/>
                <a:stretch>
                  <a:fillRect l="-10569" t="-128947" b="-196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669122" y="4796380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考虑每条边对顶点度数的贡献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握手定理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9376" y="1800730"/>
            <a:ext cx="85143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推论   </a:t>
            </a:r>
            <a:r>
              <a:rPr lang="zh-CN" alt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度数为奇数的顶点的个数为偶数。</a:t>
            </a:r>
            <a:r>
              <a:rPr lang="en-US" altLang="zh-CN" sz="2400" dirty="0">
                <a:solidFill>
                  <a:schemeClr val="bg1"/>
                </a:solidFill>
              </a:rPr>
              <a:t>   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3756" y="2710270"/>
            <a:ext cx="11714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99456" y="2697694"/>
                <a:ext cx="8607187" cy="2950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1" indent="0">
                  <a:buNone/>
                  <a:defRPr/>
                </a:pP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4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sz="2400" b="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28575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奇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偶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1200150" lvl="3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奇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  <m:r>
                        <a:rPr lang="en-US" altLang="zh-C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=2|</m:t>
                      </m:r>
                      <m:r>
                        <a:rPr lang="en-US" altLang="zh-C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偶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b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2697694"/>
                <a:ext cx="8607187" cy="2950680"/>
              </a:xfrm>
              <a:prstGeom prst="rect">
                <a:avLst/>
              </a:prstGeom>
              <a:blipFill rotWithShape="1">
                <a:blip r:embed="rId2"/>
                <a:stretch>
                  <a:fillRect l="-7" t="-7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握手定理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注: 线形(带强调线) 1"/>
          <p:cNvSpPr/>
          <p:nvPr/>
        </p:nvSpPr>
        <p:spPr bwMode="auto">
          <a:xfrm>
            <a:off x="7536160" y="5326126"/>
            <a:ext cx="2270483" cy="360040"/>
          </a:xfrm>
          <a:prstGeom prst="accentCallout1">
            <a:avLst>
              <a:gd name="adj1" fmla="val 26147"/>
              <a:gd name="adj2" fmla="val 678"/>
              <a:gd name="adj3" fmla="val -93581"/>
              <a:gd name="adj4" fmla="val -28123"/>
            </a:avLst>
          </a:prstGeom>
          <a:noFill/>
          <a:ln w="3810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CCFF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这个度数是偶数！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CCFF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标注: 线形(带强调线) 10"/>
              <p:cNvSpPr/>
              <p:nvPr/>
            </p:nvSpPr>
            <p:spPr bwMode="auto">
              <a:xfrm>
                <a:off x="4367808" y="5842098"/>
                <a:ext cx="3231654" cy="360040"/>
              </a:xfrm>
              <a:prstGeom prst="accentCallout1">
                <a:avLst>
                  <a:gd name="adj1" fmla="val 26147"/>
                  <a:gd name="adj2" fmla="val 3360"/>
                  <a:gd name="adj3" fmla="val -149828"/>
                  <a:gd name="adj4" fmla="val -15249"/>
                </a:avLst>
              </a:prstGeom>
              <a:noFill/>
              <a:ln w="38100" cap="flat" cmpd="sng" algn="ctr">
                <a:solidFill>
                  <a:srgbClr val="CCFF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algn="ctr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000" dirty="0">
                    <a:solidFill>
                      <a:srgbClr val="CC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的个数也就是偶数啦！</a:t>
                </a:r>
                <a:endParaRPr kumimoji="1" lang="zh-CN" altLang="en-US" sz="2000" b="1" i="0" u="none" strike="noStrike" cap="none" normalizeH="0" baseline="0" dirty="0">
                  <a:ln>
                    <a:noFill/>
                  </a:ln>
                  <a:solidFill>
                    <a:srgbClr val="CCFFCC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标注: 线形(带强调线)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808" y="5842098"/>
                <a:ext cx="3231654" cy="360040"/>
              </a:xfrm>
              <a:prstGeom prst="accentCallout1">
                <a:avLst>
                  <a:gd name="adj1" fmla="val 26147"/>
                  <a:gd name="adj2" fmla="val 3360"/>
                  <a:gd name="adj3" fmla="val -149828"/>
                  <a:gd name="adj4" fmla="val -15249"/>
                </a:avLst>
              </a:prstGeom>
              <a:blipFill>
                <a:blip r:embed="rId3"/>
                <a:stretch>
                  <a:fillRect r="-473333" b="-13636"/>
                </a:stretch>
              </a:blipFill>
              <a:ln w="38100" cap="flat" cmpd="sng" algn="ctr">
                <a:solidFill>
                  <a:srgbClr val="CCFF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700808"/>
            <a:ext cx="1108923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7.2.1  </a:t>
            </a:r>
            <a:r>
              <a:rPr lang="zh-CN" altLang="pt-BR" sz="2400" dirty="0">
                <a:solidFill>
                  <a:schemeClr val="bg1"/>
                </a:solidFill>
              </a:rPr>
              <a:t>图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zh-CN" altLang="en-US" sz="2400" dirty="0">
                <a:solidFill>
                  <a:schemeClr val="bg1"/>
                </a:solidFill>
              </a:rPr>
              <a:t>有</a:t>
            </a:r>
            <a:r>
              <a:rPr lang="en-US" altLang="zh-CN" sz="2400" dirty="0">
                <a:solidFill>
                  <a:schemeClr val="bg1"/>
                </a:solidFill>
              </a:rPr>
              <a:t>10</a:t>
            </a:r>
            <a:r>
              <a:rPr lang="zh-CN" altLang="en-US" sz="2400" dirty="0">
                <a:solidFill>
                  <a:schemeClr val="bg1"/>
                </a:solidFill>
              </a:rPr>
              <a:t>条边</a:t>
            </a:r>
            <a:r>
              <a:rPr lang="en-US" altLang="zh-CN" sz="2400" dirty="0">
                <a:solidFill>
                  <a:schemeClr val="bg1"/>
                </a:solidFill>
              </a:rPr>
              <a:t>, 4</a:t>
            </a:r>
            <a:r>
              <a:rPr lang="zh-CN" altLang="en-US" sz="2400" dirty="0">
                <a:solidFill>
                  <a:schemeClr val="bg1"/>
                </a:solidFill>
              </a:rPr>
              <a:t>个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度的顶点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其余顶点的度数均不大于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            </a:t>
            </a:r>
            <a:r>
              <a:rPr lang="zh-CN" altLang="en-US" sz="2400" dirty="0">
                <a:solidFill>
                  <a:schemeClr val="bg1"/>
                </a:solidFill>
              </a:rPr>
              <a:t>问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zh-CN" altLang="en-US" sz="2400" dirty="0">
                <a:solidFill>
                  <a:schemeClr val="bg1"/>
                </a:solidFill>
              </a:rPr>
              <a:t>中至少有多少个顶点？</a:t>
            </a:r>
            <a:r>
              <a:rPr lang="en-US" altLang="zh-CN" sz="2400" noProof="1">
                <a:solidFill>
                  <a:schemeClr val="bg1"/>
                </a:solidFill>
              </a:rPr>
              <a:t> </a:t>
            </a:r>
            <a:endParaRPr lang="zh-CN" altLang="en-US" sz="2400" noProof="1">
              <a:solidFill>
                <a:schemeClr val="bg1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559496" y="3021913"/>
            <a:ext cx="10729192" cy="769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中度数不大于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的顶点所组成的集合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6353" y="3166395"/>
            <a:ext cx="73935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271464" y="3709653"/>
                <a:ext cx="8640960" cy="1032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,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altLang="zh-CN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3709653"/>
                <a:ext cx="8640960" cy="1032334"/>
              </a:xfrm>
              <a:prstGeom prst="rect">
                <a:avLst/>
              </a:prstGeom>
              <a:blipFill rotWithShape="1">
                <a:blip r:embed="rId2"/>
                <a:stretch>
                  <a:fillRect l="-2" t="-60" r="1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559496" y="4943856"/>
            <a:ext cx="10729192" cy="132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∴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|≥4,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至少有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个度数不大于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的顶点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中至少有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个顶点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240289" y="4827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握手定理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700808"/>
            <a:ext cx="11089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  <a:defRPr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7.2.2  </a:t>
            </a:r>
            <a:r>
              <a:rPr lang="zh-CN" altLang="en-US" dirty="0">
                <a:solidFill>
                  <a:schemeClr val="bg1"/>
                </a:solidFill>
              </a:rPr>
              <a:t>在任意集会中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zh-CN" altLang="en-US" dirty="0">
                <a:solidFill>
                  <a:schemeClr val="bg1"/>
                </a:solidFill>
              </a:rPr>
              <a:t>和奇数个人握过手的人一定有偶数个。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578621" y="2420888"/>
            <a:ext cx="9613991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为问题建立简单无向图模型：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顶点表示人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两个顶点之间有边当且仅当相应的两个人在集会中握过手。</a:t>
            </a:r>
            <a:endParaRPr lang="en-US" altLang="zh-CN" sz="2200" b="0" dirty="0">
              <a:solidFill>
                <a:srgbClr val="FFCC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每个人的握手次数就是图中相应顶点的度数。</a:t>
            </a:r>
            <a:endParaRPr lang="en-US" altLang="zh-CN" sz="2200" b="0" dirty="0">
              <a:solidFill>
                <a:srgbClr val="FFCC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由握手定理的推论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结论显然。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1942" y="2578516"/>
            <a:ext cx="1053143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握手定理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622329"/>
            <a:ext cx="11089232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7.2.3  </a:t>
            </a:r>
            <a:r>
              <a:rPr lang="zh-CN" altLang="en-US" dirty="0">
                <a:solidFill>
                  <a:schemeClr val="bg1"/>
                </a:solidFill>
              </a:rPr>
              <a:t>若平面上有</a:t>
            </a:r>
            <a:r>
              <a:rPr lang="en-US" altLang="zh-CN" dirty="0">
                <a:solidFill>
                  <a:schemeClr val="bg1"/>
                </a:solidFill>
              </a:rPr>
              <a:t>100</a:t>
            </a:r>
            <a:r>
              <a:rPr lang="zh-CN" altLang="en-US" dirty="0">
                <a:solidFill>
                  <a:schemeClr val="bg1"/>
                </a:solidFill>
              </a:rPr>
              <a:t>个点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lang="zh-CN" altLang="en-US" dirty="0">
                <a:solidFill>
                  <a:schemeClr val="bg1"/>
                </a:solidFill>
              </a:rPr>
              <a:t>且其中任意两点间的距离至少是</a:t>
            </a:r>
            <a:r>
              <a:rPr lang="en-US" altLang="zh-CN" dirty="0">
                <a:solidFill>
                  <a:schemeClr val="bg1"/>
                </a:solidFill>
              </a:rPr>
              <a:t>1, </a:t>
            </a:r>
            <a:r>
              <a:rPr lang="zh-CN" altLang="en-US" dirty="0">
                <a:solidFill>
                  <a:schemeClr val="bg1"/>
                </a:solidFill>
              </a:rPr>
              <a:t>则相距恰为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的点对最多有</a:t>
            </a:r>
            <a:r>
              <a:rPr lang="en-US" altLang="zh-CN" dirty="0">
                <a:solidFill>
                  <a:schemeClr val="bg1"/>
                </a:solidFill>
              </a:rPr>
              <a:t>300</a:t>
            </a:r>
            <a:r>
              <a:rPr lang="zh-CN" altLang="en-US" dirty="0">
                <a:solidFill>
                  <a:schemeClr val="bg1"/>
                </a:solidFill>
              </a:rPr>
              <a:t>个。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99456" y="3197776"/>
            <a:ext cx="10439942" cy="250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建立无向图模型：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顶点表示平面上的点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两个顶点之间有边当且仅当相应的两个点之间的距离恰为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200" b="0" dirty="0">
              <a:solidFill>
                <a:srgbClr val="FFCC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证明每个顶点的度均不大于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6,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从而边的数目不超过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100/2=300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solidFill>
                <a:srgbClr val="CC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即相距恰为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的点对最多有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300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6353" y="3354735"/>
            <a:ext cx="73935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握手定理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66715" y="1668810"/>
            <a:ext cx="9721080" cy="2480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对任意点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以它为圆心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为半径画圆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并把圆周等分为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段弧。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之间距离为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的点都在圆周上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且每段弧上最多只有一个这样的点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同段弧上任意两个点之间的距离均小于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所以与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之间距离为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的顶点至多只有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从而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图模型中每个顶点的度均不大于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6353" y="1844824"/>
            <a:ext cx="73935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4149080"/>
            <a:ext cx="2376487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7.2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握手定理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152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4, *12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52425" y="1844825"/>
            <a:ext cx="11576223" cy="2880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简单无向图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个顶点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条边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中至少有一个顶点的度大于或等于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pt-B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一天晚上张先生夫妇参加了一个聚会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参加聚会的人中还有另外三对夫妇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他们相互握了手。假设没有人自己与自己握手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没有夫妻之间的握手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且同两个人握手不超过一次。当其他人告诉张先生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他或她握了多少次手时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答案都不相同。问张先生和太太分别握了几次手？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608</Words>
  <Application>Microsoft Office PowerPoint</Application>
  <PresentationFormat>宽屏</PresentationFormat>
  <Paragraphs>57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华文细黑</vt:lpstr>
      <vt:lpstr>楷体_GB2312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866</cp:revision>
  <dcterms:created xsi:type="dcterms:W3CDTF">2008-05-09T05:16:00Z</dcterms:created>
  <dcterms:modified xsi:type="dcterms:W3CDTF">2026-06-01T00:31:05Z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A4B946A9578A444AA1C91EE6DB9A15EE_12</vt:lpwstr>
  </property>
  <property fmtid="{D5CDD505-2E9C-101B-9397-08002B2CF9AE}" pid="3" name="KSOProductBuildVer">
    <vt:lpwstr>2052-12.1.0.16729</vt:lpwstr>
  </property>
</Properties>
</file>