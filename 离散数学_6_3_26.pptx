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377" r:id="rId3"/>
    <p:sldId id="423" r:id="rId4"/>
    <p:sldId id="258" r:id="rId5"/>
    <p:sldId id="430" r:id="rId6"/>
    <p:sldId id="416" r:id="rId7"/>
    <p:sldId id="431" r:id="rId8"/>
    <p:sldId id="281" r:id="rId9"/>
    <p:sldId id="399" r:id="rId10"/>
  </p:sldIdLst>
  <p:sldSz cx="12192000" cy="6858000"/>
  <p:notesSz cx="6858000" cy="9144000"/>
  <p:custDataLst>
    <p:tags r:id="rId1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7C80"/>
    <a:srgbClr val="FFCCFF"/>
    <a:srgbClr val="FFCC99"/>
    <a:srgbClr val="FFFF00"/>
    <a:srgbClr val="FF3300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8" autoAdjust="0"/>
    <p:restoredTop sz="86003" autoAdjust="0"/>
  </p:normalViewPr>
  <p:slideViewPr>
    <p:cSldViewPr showGuides="1">
      <p:cViewPr varScale="1">
        <p:scale>
          <a:sx n="79" d="100"/>
          <a:sy n="79" d="100"/>
        </p:scale>
        <p:origin x="26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>
                <a:latin typeface="Arial" panose="020B0604020202020204" pitchFamily="34" charset="0"/>
              </a:defRPr>
            </a:lvl1pPr>
          </a:lstStyle>
          <a:p>
            <a:fld id="{BADCFBF9-860F-4F90-B134-F893524A9F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DCFBF9-860F-4F90-B134-F893524A9FE6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7F6A5AF-1443-405D-A63C-1DA2EF827E5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10970762" y="50195"/>
            <a:ext cx="1217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7F7F7F"/>
                </a:solidFill>
              </a:rPr>
              <a:t>离散数学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424" y="50195"/>
            <a:ext cx="10972800" cy="1143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003399"/>
                </a:solidFill>
              </a:defRPr>
            </a:lvl1pPr>
          </a:lstStyle>
          <a:p>
            <a:fld id="{9D73877B-74AE-4634-8955-8B92B699D7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CD6DC-2977-469C-827E-1A1841E80F8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FC91A-76FC-48FB-8078-168CC0EC637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>
            <a:spLocks noChangeArrowheads="1"/>
          </p:cNvSpPr>
          <p:nvPr userDrawn="1"/>
        </p:nvSpPr>
        <p:spPr bwMode="auto">
          <a:xfrm>
            <a:off x="10118090" y="11430"/>
            <a:ext cx="20281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0" dirty="0">
                <a:solidFill>
                  <a:srgbClr val="7F7F7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章  函数</a:t>
            </a:r>
            <a:endParaRPr lang="en-US" altLang="zh-CN" sz="2400" b="0" dirty="0">
              <a:solidFill>
                <a:srgbClr val="7F7F7F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algn="ctr">
              <a:spcBef>
                <a:spcPct val="50000"/>
              </a:spcBef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72F5C-1417-4827-93CA-7FE37B1FF3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圆角矩形 4"/>
          <p:cNvSpPr>
            <a:spLocks noChangeArrowheads="1"/>
          </p:cNvSpPr>
          <p:nvPr userDrawn="1"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F430B-EE82-42A8-8247-264A130FA58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8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4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AE5D76-CF1E-454F-94A9-D4EC84D65F17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页脚占位符 1025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17" y="6503989"/>
            <a:ext cx="812800" cy="238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0" sz="1400" b="0">
                <a:solidFill>
                  <a:srgbClr val="7F7F7F"/>
                </a:solidFill>
                <a:latin typeface="Arial" panose="020B0604020202020204" pitchFamily="34" charset="0"/>
              </a:defRPr>
            </a:lvl1pPr>
          </a:lstStyle>
          <a:p>
            <a:fld id="{56FB0DFF-F635-4648-B05A-78129B270A74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2135188" y="1773238"/>
            <a:ext cx="7772400" cy="1583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第六章 函数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51584" y="4149080"/>
            <a:ext cx="7772400" cy="1727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华东师范大学计算机科学与技术学院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buFontTx/>
              <a:buNone/>
            </a:pPr>
            <a:r>
              <a:rPr lang="zh-CN" alt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主讲教师：卢兴见</a:t>
            </a:r>
            <a:endParaRPr lang="en-US" altLang="zh-CN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2028465" y="1892854"/>
            <a:ext cx="835292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None/>
            </a:pPr>
            <a:r>
              <a:rPr lang="zh-CN" altLang="en-US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用数字计算机无法解决的问题确实存在！</a:t>
            </a:r>
            <a:endParaRPr lang="en-US" altLang="zh-CN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31604" y="2625354"/>
            <a:ext cx="7128792" cy="7193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 eaLnBrk="1" hangingPunct="1">
              <a:lnSpc>
                <a:spcPct val="200000"/>
              </a:lnSpc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问题集合的</a:t>
            </a:r>
            <a:r>
              <a:rPr lang="en-US" altLang="zh-CN" dirty="0">
                <a:solidFill>
                  <a:srgbClr val="FFC000"/>
                </a:solidFill>
              </a:rPr>
              <a:t>“</a:t>
            </a:r>
            <a:r>
              <a:rPr lang="zh-CN" altLang="en-US" dirty="0">
                <a:solidFill>
                  <a:srgbClr val="FFC000"/>
                </a:solidFill>
              </a:rPr>
              <a:t>势</a:t>
            </a:r>
            <a:r>
              <a:rPr lang="en-US" altLang="zh-CN" dirty="0">
                <a:solidFill>
                  <a:srgbClr val="FFC000"/>
                </a:solidFill>
              </a:rPr>
              <a:t>”</a:t>
            </a:r>
            <a:r>
              <a:rPr lang="zh-CN" altLang="en-US" dirty="0"/>
              <a:t>比计算机程序集合的</a:t>
            </a:r>
            <a:r>
              <a:rPr lang="en-US" altLang="zh-CN" dirty="0">
                <a:solidFill>
                  <a:srgbClr val="FFC000"/>
                </a:solidFill>
              </a:rPr>
              <a:t>“</a:t>
            </a:r>
            <a:r>
              <a:rPr lang="zh-CN" altLang="en-US" dirty="0">
                <a:solidFill>
                  <a:srgbClr val="FFC000"/>
                </a:solidFill>
              </a:rPr>
              <a:t>势</a:t>
            </a:r>
            <a:r>
              <a:rPr lang="en-US" altLang="zh-CN" dirty="0">
                <a:solidFill>
                  <a:srgbClr val="FFC000"/>
                </a:solidFill>
              </a:rPr>
              <a:t>”</a:t>
            </a:r>
            <a:r>
              <a:rPr lang="zh-CN" altLang="en-US" dirty="0"/>
              <a:t>要大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 </a:t>
            </a:r>
            <a:r>
              <a:rPr lang="zh-CN" altLang="en-US" sz="3600" b="0" noProof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</a:t>
            </a:r>
            <a:endParaRPr lang="zh-CN" altLang="en-US" sz="3600" b="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3750258" y="3861048"/>
            <a:ext cx="36852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6.3.1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不可解问题的存在性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746666" y="4608210"/>
            <a:ext cx="2089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t" hangingPunct="1">
              <a:spcBef>
                <a:spcPct val="50000"/>
              </a:spcBef>
              <a:buFontTx/>
              <a:buNone/>
            </a:pPr>
            <a:r>
              <a:rPr lang="en-US" altLang="zh-CN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6.3.2 </a:t>
            </a:r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停机问题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6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14337"/>
          <p:cNvSpPr>
            <a:spLocks noGrp="1"/>
          </p:cNvSpPr>
          <p:nvPr>
            <p:ph type="body" sz="half" idx="4294967295"/>
          </p:nvPr>
        </p:nvSpPr>
        <p:spPr>
          <a:xfrm>
            <a:off x="983432" y="3043283"/>
            <a:ext cx="9073008" cy="1025190"/>
          </a:xfrm>
        </p:spPr>
        <p:txBody>
          <a:bodyPr/>
          <a:lstStyle/>
          <a:p>
            <a:pPr marL="457200" indent="-457200" algn="just">
              <a:lnSpc>
                <a:spcPct val="120000"/>
              </a:lnSpc>
              <a:buAutoNum type="arabicParenBoth"/>
            </a:pPr>
            <a:r>
              <a:rPr kumimoji="1" lang="zh-CN" altLang="en-US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kumimoji="1" lang="en-US" altLang="zh-CN" sz="2400" i="1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kern="200" spc="200" noProof="1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程序的集合可数，问题的集合是不可数的。</a:t>
            </a:r>
            <a:endParaRPr kumimoji="1" lang="en-US" altLang="zh-CN" sz="2400" kern="200" spc="200" noProof="1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      </a:t>
            </a:r>
            <a:r>
              <a:rPr kumimoji="1" lang="zh-CN" altLang="en-US" sz="2400" kern="200" spc="2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问题集的基数大于</a:t>
            </a:r>
            <a:r>
              <a:rPr kumimoji="1" lang="en-US" altLang="zh-CN" sz="2400" i="1" kern="200" spc="2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kumimoji="1" lang="zh-CN" altLang="en-US" sz="2400" kern="200" spc="200" dirty="0">
                <a:solidFill>
                  <a:srgbClr val="FFCC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程序集的基数，问题多于程序。</a:t>
            </a:r>
            <a:endParaRPr kumimoji="1" lang="en-US" altLang="zh-CN" sz="2400" kern="200" spc="200" noProof="1">
              <a:solidFill>
                <a:srgbClr val="FFCC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不可解的问题：不存在求解它的</a:t>
            </a:r>
            <a:r>
              <a:rPr lang="en-US" altLang="zh-CN" i="1" noProof="1"/>
              <a:t>C</a:t>
            </a:r>
            <a:r>
              <a:rPr lang="zh-CN" altLang="en-US" noProof="1"/>
              <a:t>程序。</a:t>
            </a:r>
            <a:endParaRPr lang="en-US" altLang="zh-CN" noProof="1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不可解问题的存在性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26654" y="245038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noProof="1"/>
              <a:t>证明存在不可解的问题的方法</a:t>
            </a:r>
            <a:endParaRPr lang="en-US" altLang="zh-CN" noProof="1"/>
          </a:p>
        </p:txBody>
      </p:sp>
      <p:sp>
        <p:nvSpPr>
          <p:cNvPr id="8" name="文本占位符 14337"/>
          <p:cNvSpPr txBox="1"/>
          <p:nvPr/>
        </p:nvSpPr>
        <p:spPr bwMode="auto">
          <a:xfrm>
            <a:off x="983431" y="4068473"/>
            <a:ext cx="9505057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FontTx/>
              <a:buNone/>
            </a:pPr>
            <a:r>
              <a:rPr kumimoji="0" lang="en-US" altLang="zh-CN" sz="2400" b="0" kern="200" spc="2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若所有问题都可解</a:t>
            </a:r>
            <a:r>
              <a:rPr kumimoji="0" lang="en-US" altLang="zh-CN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2400" b="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则问题集与程序集的一个子集一一对应，从而问题集的基数不大于程序集的基数，问题少于程序。</a:t>
            </a:r>
            <a:endParaRPr kumimoji="1" lang="zh-CN" altLang="en-US" sz="2400" b="0" kern="200" spc="2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占位符 14337"/>
          <p:cNvSpPr txBox="1"/>
          <p:nvPr/>
        </p:nvSpPr>
        <p:spPr bwMode="auto">
          <a:xfrm>
            <a:off x="971545" y="5093663"/>
            <a:ext cx="9073008" cy="50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0000"/>
              </a:lnSpc>
              <a:buFontTx/>
              <a:buNone/>
            </a:pPr>
            <a:r>
              <a:rPr kumimoji="0" lang="en-US" altLang="zh-CN" sz="2400" b="0" kern="200" spc="200" noProof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kumimoji="0" lang="zh-CN" altLang="en-US" sz="2400" b="0" kern="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上述矛盾即说明了不可解问题的存在性。</a:t>
            </a:r>
            <a:endParaRPr kumimoji="0" lang="zh-CN" altLang="en-US" sz="2400" b="0" kern="0" noProof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5359" y="1734601"/>
            <a:ext cx="101531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sym typeface="Symbol" panose="05050102010706020507" pitchFamily="18" charset="2"/>
              </a:rPr>
              <a:t>合法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程序集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可数</a:t>
            </a:r>
            <a:endParaRPr lang="en-US" altLang="zh-CN" noProof="1"/>
          </a:p>
        </p:txBody>
      </p:sp>
      <p:sp>
        <p:nvSpPr>
          <p:cNvPr id="8" name="文本框 7"/>
          <p:cNvSpPr txBox="1"/>
          <p:nvPr/>
        </p:nvSpPr>
        <p:spPr>
          <a:xfrm>
            <a:off x="1006605" y="2352442"/>
            <a:ext cx="8810636" cy="11337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 dirty="0">
                <a:sym typeface="Symbol" panose="05050102010706020507" pitchFamily="18" charset="2"/>
              </a:rPr>
              <a:t>有限集∑：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语言的字符集，无限集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：合法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程序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源程序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集</a:t>
            </a:r>
          </a:p>
          <a:p>
            <a:pPr>
              <a:defRPr/>
            </a:pPr>
            <a:r>
              <a:rPr lang="zh-CN" altLang="en-US" dirty="0">
                <a:sym typeface="Symbol" panose="05050102010706020507" pitchFamily="18" charset="2"/>
              </a:rPr>
              <a:t>∑</a:t>
            </a:r>
            <a:r>
              <a:rPr lang="zh-CN" altLang="en-US" baseline="30000" dirty="0">
                <a:sym typeface="Symbol" panose="05050102010706020507" pitchFamily="18" charset="2"/>
              </a:rPr>
              <a:t>*</a:t>
            </a:r>
            <a:r>
              <a:rPr lang="zh-CN" altLang="en-US" dirty="0">
                <a:sym typeface="Symbol" panose="05050102010706020507" pitchFamily="18" charset="2"/>
              </a:rPr>
              <a:t>可数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ym typeface="Symbol" panose="05050102010706020507" pitchFamily="18" charset="2"/>
              </a:rPr>
              <a:t>例</a:t>
            </a:r>
            <a:r>
              <a:rPr lang="en-US" altLang="zh-CN" dirty="0">
                <a:sym typeface="Symbol" panose="05050102010706020507" pitchFamily="18" charset="2"/>
              </a:rPr>
              <a:t>6.2.6)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∑</a:t>
            </a:r>
            <a:r>
              <a:rPr lang="en-US" altLang="zh-CN" baseline="30000" dirty="0">
                <a:sym typeface="Symbol" panose="05050102010706020507" pitchFamily="18" charset="2"/>
              </a:rPr>
              <a:t>*</a:t>
            </a:r>
            <a:r>
              <a:rPr lang="en-US" altLang="zh-CN" dirty="0">
                <a:sym typeface="Symbol" panose="05050102010706020507" pitchFamily="18" charset="2"/>
              </a:rPr>
              <a:t> 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zh-CN" altLang="en-US" dirty="0">
                <a:sym typeface="Symbol" panose="05050102010706020507" pitchFamily="18" charset="2"/>
              </a:rPr>
              <a:t>可数</a:t>
            </a:r>
            <a:endParaRPr lang="zh-CN" alt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不可解问题的存在性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5360" y="1734601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问题的数学模型：</a:t>
            </a:r>
            <a:r>
              <a:rPr lang="en-US" altLang="zh-CN" i="1" dirty="0"/>
              <a:t>N</a:t>
            </a:r>
            <a:r>
              <a:rPr lang="zh-CN" altLang="en-US" dirty="0"/>
              <a:t>上的函数集</a:t>
            </a:r>
            <a:r>
              <a:rPr lang="en-US" altLang="zh-CN" i="1" dirty="0"/>
              <a:t>F</a:t>
            </a:r>
            <a:endParaRPr lang="en-US" altLang="zh-CN" i="1" noProof="1"/>
          </a:p>
        </p:txBody>
      </p:sp>
      <p:sp>
        <p:nvSpPr>
          <p:cNvPr id="16" name="文本框 15"/>
          <p:cNvSpPr txBox="1"/>
          <p:nvPr/>
        </p:nvSpPr>
        <p:spPr>
          <a:xfrm>
            <a:off x="839416" y="2257426"/>
            <a:ext cx="9843405" cy="13830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342900" indent="-342900">
              <a:lnSpc>
                <a:spcPct val="12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dirty="0">
                <a:sym typeface="Symbol" panose="05050102010706020507" pitchFamily="18" charset="2"/>
              </a:rPr>
              <a:t>问题抽象为从输入到输出的函数</a:t>
            </a:r>
            <a:endParaRPr lang="en-US" altLang="zh-CN" dirty="0">
              <a:sym typeface="Symbol" panose="05050102010706020507" pitchFamily="18" charset="2"/>
            </a:endParaRPr>
          </a:p>
          <a:p>
            <a:pPr marL="342900" indent="-342900">
              <a:lnSpc>
                <a:spcPct val="12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dirty="0">
                <a:sym typeface="Symbol" panose="05050102010706020507" pitchFamily="18" charset="2"/>
              </a:rPr>
              <a:t>通过适当的编码，输入和输出分别编码为两个自然数</a:t>
            </a:r>
            <a:endParaRPr lang="en-US" altLang="zh-CN" dirty="0">
              <a:sym typeface="Symbol" panose="05050102010706020507" pitchFamily="18" charset="2"/>
            </a:endParaRPr>
          </a:p>
          <a:p>
            <a:pPr marL="342900" indent="-342900">
              <a:lnSpc>
                <a:spcPct val="120000"/>
              </a:lnSpc>
              <a:buClr>
                <a:srgbClr val="FFC000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dirty="0">
                <a:sym typeface="Symbol" panose="05050102010706020507" pitchFamily="18" charset="2"/>
              </a:rPr>
              <a:t>问题集抽象为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上的函数集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={</a:t>
            </a:r>
            <a:r>
              <a:rPr lang="en-US" altLang="zh-CN" i="1" dirty="0">
                <a:sym typeface="Symbol" panose="05050102010706020507" pitchFamily="18" charset="2"/>
              </a:rPr>
              <a:t>f </a:t>
            </a:r>
            <a:r>
              <a:rPr lang="en-US" altLang="zh-CN" dirty="0">
                <a:sym typeface="Symbol" panose="05050102010706020507" pitchFamily="18" charset="2"/>
              </a:rPr>
              <a:t>|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07232" y="3825964"/>
            <a:ext cx="74168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问题集</a:t>
            </a:r>
            <a:r>
              <a:rPr lang="en-US" altLang="zh-CN" i="1" dirty="0"/>
              <a:t>F</a:t>
            </a:r>
            <a:r>
              <a:rPr lang="zh-CN" altLang="en-US" dirty="0"/>
              <a:t>不可数</a:t>
            </a:r>
            <a:endParaRPr lang="en-US" altLang="zh-CN" noProof="1"/>
          </a:p>
        </p:txBody>
      </p:sp>
      <p:sp>
        <p:nvSpPr>
          <p:cNvPr id="10" name="文本框 9"/>
          <p:cNvSpPr txBox="1"/>
          <p:nvPr/>
        </p:nvSpPr>
        <p:spPr>
          <a:xfrm>
            <a:off x="996962" y="4349184"/>
            <a:ext cx="7416823" cy="182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可数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可表示成一个序列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,…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上的函数  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  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使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zh-CN" altLang="zh-CN" sz="2400" b="0" i="1" baseline="-25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)  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pt-BR" altLang="zh-CN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≠</a:t>
            </a:r>
            <a:r>
              <a:rPr lang="pt-BR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pt-BR" altLang="zh-CN" sz="2400" b="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zh-CN" altLang="pt-BR" sz="2400" b="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上述矛盾说明</a:t>
            </a:r>
            <a:r>
              <a:rPr lang="en-US" altLang="zh-CN" sz="2400" b="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zh-CN" altLang="en-US" sz="24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不可数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6.3.1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不可解问题的存在性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7368" y="1861752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停机问题</a:t>
            </a:r>
            <a:endParaRPr lang="zh-CN" altLang="en-US" noProof="1"/>
          </a:p>
        </p:txBody>
      </p:sp>
      <p:sp>
        <p:nvSpPr>
          <p:cNvPr id="8" name="文本框 7"/>
          <p:cNvSpPr txBox="1"/>
          <p:nvPr/>
        </p:nvSpPr>
        <p:spPr>
          <a:xfrm>
            <a:off x="911424" y="2397052"/>
            <a:ext cx="10369152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noProof="1"/>
              <a:t>(1)</a:t>
            </a:r>
            <a:r>
              <a:rPr lang="zh-CN" altLang="en-US" dirty="0"/>
              <a:t>输入：一个程序和这个程序要处理的一个输入</a:t>
            </a:r>
            <a:endParaRPr lang="en-US" altLang="zh-CN" noProof="1"/>
          </a:p>
          <a:p>
            <a:pPr>
              <a:lnSpc>
                <a:spcPct val="150000"/>
              </a:lnSpc>
            </a:pPr>
            <a:r>
              <a:rPr lang="en-US" altLang="zh-CN" noProof="1"/>
              <a:t>(2)</a:t>
            </a:r>
            <a:r>
              <a:rPr lang="zh-CN" altLang="en-US" dirty="0"/>
              <a:t>输出：若该程序在该输入下能终止</a:t>
            </a:r>
            <a:r>
              <a:rPr lang="en-US" altLang="zh-CN" dirty="0"/>
              <a:t>, </a:t>
            </a:r>
            <a:r>
              <a:rPr lang="zh-CN" altLang="en-US" dirty="0"/>
              <a:t>则输出</a:t>
            </a:r>
            <a:r>
              <a:rPr lang="en-US" altLang="zh-CN" i="1" dirty="0"/>
              <a:t>Yes</a:t>
            </a:r>
            <a:r>
              <a:rPr lang="en-US" altLang="zh-CN" dirty="0"/>
              <a:t>, </a:t>
            </a:r>
            <a:r>
              <a:rPr lang="zh-CN" altLang="en-US" dirty="0"/>
              <a:t>否则输出</a:t>
            </a:r>
            <a:r>
              <a:rPr lang="en-US" altLang="zh-CN" i="1" dirty="0"/>
              <a:t>No</a:t>
            </a:r>
            <a:endParaRPr lang="zh-CN" altLang="en-US" i="1" noProof="1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停机问题</a:t>
            </a:r>
          </a:p>
        </p:txBody>
      </p:sp>
      <p:sp>
        <p:nvSpPr>
          <p:cNvPr id="6" name="矩形: 圆角 5"/>
          <p:cNvSpPr/>
          <p:nvPr/>
        </p:nvSpPr>
        <p:spPr bwMode="auto">
          <a:xfrm>
            <a:off x="5087889" y="1273608"/>
            <a:ext cx="5832648" cy="5232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>
              <a:spcBef>
                <a:spcPct val="50000"/>
              </a:spcBef>
            </a:pPr>
            <a:r>
              <a:rPr lang="zh-CN" altLang="en-US" sz="2200" b="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rPr>
              <a:t>停机问题是有实际意义的、经典的不可解问题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停机问题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0243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证明停机问题的不可解性</a:t>
            </a:r>
            <a:r>
              <a:rPr lang="en-US" altLang="zh-CN" dirty="0"/>
              <a:t>*</a:t>
            </a:r>
            <a:endParaRPr lang="zh-CN" altLang="en-US" noProof="1"/>
          </a:p>
        </p:txBody>
      </p:sp>
      <p:sp>
        <p:nvSpPr>
          <p:cNvPr id="14" name="文本框 13"/>
          <p:cNvSpPr txBox="1"/>
          <p:nvPr/>
        </p:nvSpPr>
        <p:spPr>
          <a:xfrm>
            <a:off x="659396" y="2420888"/>
            <a:ext cx="10873208" cy="34053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 b="0" kern="1300" spc="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采用反证法</a:t>
            </a:r>
            <a:r>
              <a:rPr lang="en-US" altLang="zh-CN" dirty="0"/>
              <a:t>,</a:t>
            </a:r>
            <a:r>
              <a:rPr lang="zh-CN" altLang="en-US" dirty="0"/>
              <a:t>假定存在解决停机问题的</a:t>
            </a:r>
            <a:r>
              <a:rPr lang="en-US" altLang="zh-CN" i="1" dirty="0"/>
              <a:t>C</a:t>
            </a:r>
            <a:r>
              <a:rPr lang="zh-CN" altLang="en-US" dirty="0"/>
              <a:t>函数</a:t>
            </a:r>
            <a:r>
              <a:rPr lang="en-US" altLang="zh-CN" dirty="0"/>
              <a:t>,</a:t>
            </a:r>
            <a:r>
              <a:rPr lang="zh-CN" altLang="en-US" dirty="0"/>
              <a:t>然后以它为基础构造另一个</a:t>
            </a:r>
            <a:r>
              <a:rPr lang="en-US" altLang="zh-CN" i="1" dirty="0"/>
              <a:t>C</a:t>
            </a:r>
            <a:r>
              <a:rPr lang="zh-CN" altLang="en-US" dirty="0"/>
              <a:t>函数</a:t>
            </a:r>
            <a:r>
              <a:rPr lang="en-US" altLang="zh-CN" dirty="0"/>
              <a:t>,</a:t>
            </a:r>
            <a:r>
              <a:rPr lang="zh-CN" altLang="en-US" dirty="0"/>
              <a:t>最后引出矛盾。</a:t>
            </a:r>
          </a:p>
          <a:p>
            <a:r>
              <a:rPr lang="en-US" altLang="zh-CN" dirty="0"/>
              <a:t>(1) </a:t>
            </a:r>
            <a:r>
              <a:rPr lang="zh-CN" altLang="en-US" dirty="0"/>
              <a:t>假定如下的</a:t>
            </a:r>
            <a:r>
              <a:rPr lang="en-US" altLang="zh-CN" i="1" dirty="0"/>
              <a:t>halt</a:t>
            </a:r>
            <a:r>
              <a:rPr lang="zh-CN" altLang="en-US" dirty="0"/>
              <a:t>函数解决停机问题</a:t>
            </a:r>
            <a:r>
              <a:rPr lang="en-US" altLang="zh-CN" dirty="0"/>
              <a:t>,</a:t>
            </a:r>
            <a:r>
              <a:rPr lang="zh-CN" altLang="en-US" dirty="0"/>
              <a:t>它有两个输入：</a:t>
            </a:r>
            <a:endParaRPr lang="en-US" altLang="zh-CN" dirty="0"/>
          </a:p>
          <a:p>
            <a:r>
              <a:rPr lang="zh-CN" altLang="en-US" dirty="0"/>
              <a:t>     *</a:t>
            </a:r>
            <a:r>
              <a:rPr lang="en-US" altLang="zh-CN" i="1" dirty="0"/>
              <a:t>prog</a:t>
            </a:r>
            <a:r>
              <a:rPr lang="zh-CN" altLang="en-US" dirty="0"/>
              <a:t>是一个</a:t>
            </a:r>
            <a:r>
              <a:rPr lang="en-US" altLang="zh-CN" i="1" dirty="0"/>
              <a:t>C</a:t>
            </a:r>
            <a:r>
              <a:rPr lang="zh-CN" altLang="en-US" dirty="0"/>
              <a:t>函数的源代码字符串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</a:t>
            </a:r>
            <a:r>
              <a:rPr lang="zh-CN" altLang="en-US" dirty="0"/>
              <a:t>*</a:t>
            </a:r>
            <a:r>
              <a:rPr lang="en-US" altLang="zh-CN" i="1" dirty="0"/>
              <a:t>input</a:t>
            </a:r>
            <a:r>
              <a:rPr lang="zh-CN" altLang="en-US" dirty="0"/>
              <a:t>是表示输入的字符串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 </a:t>
            </a:r>
            <a:r>
              <a:rPr lang="zh-CN" altLang="en-US" dirty="0"/>
              <a:t>如果函数*</a:t>
            </a:r>
            <a:r>
              <a:rPr lang="en-US" altLang="zh-CN" i="1" dirty="0"/>
              <a:t>prog</a:t>
            </a:r>
            <a:r>
              <a:rPr lang="zh-CN" altLang="en-US" dirty="0"/>
              <a:t>在给定的输入*</a:t>
            </a:r>
            <a:r>
              <a:rPr lang="en-US" altLang="zh-CN" i="1" dirty="0"/>
              <a:t>input</a:t>
            </a:r>
            <a:r>
              <a:rPr lang="zh-CN" altLang="en-US" dirty="0"/>
              <a:t>下能终止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i="1" dirty="0"/>
              <a:t>halt</a:t>
            </a:r>
            <a:r>
              <a:rPr lang="zh-CN" altLang="en-US" dirty="0"/>
              <a:t>返回</a:t>
            </a:r>
            <a:r>
              <a:rPr lang="en-US" altLang="zh-CN" dirty="0"/>
              <a:t>1,</a:t>
            </a:r>
            <a:r>
              <a:rPr lang="zh-CN" altLang="en-US" dirty="0"/>
              <a:t>否则返回</a:t>
            </a:r>
            <a:r>
              <a:rPr lang="en-US" altLang="zh-CN" dirty="0"/>
              <a:t>0</a:t>
            </a:r>
          </a:p>
          <a:p>
            <a:r>
              <a:rPr lang="en-US" altLang="zh-CN" i="1" dirty="0">
                <a:solidFill>
                  <a:srgbClr val="FFC000"/>
                </a:solidFill>
              </a:rPr>
              <a:t>     int Halt</a:t>
            </a:r>
            <a:r>
              <a:rPr lang="en-US" altLang="zh-CN" dirty="0">
                <a:solidFill>
                  <a:srgbClr val="FFC000"/>
                </a:solidFill>
              </a:rPr>
              <a:t>(</a:t>
            </a:r>
            <a:r>
              <a:rPr lang="en-US" altLang="zh-CN" i="1" dirty="0">
                <a:solidFill>
                  <a:srgbClr val="FFC000"/>
                </a:solidFill>
              </a:rPr>
              <a:t>char *prog, char *input</a:t>
            </a:r>
            <a:r>
              <a:rPr lang="en-US" altLang="zh-CN" dirty="0">
                <a:solidFill>
                  <a:srgbClr val="FFC000"/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839416" y="2344458"/>
            <a:ext cx="4597392" cy="216466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lnSpc>
                <a:spcPct val="90000"/>
              </a:lnSpc>
              <a:defRPr/>
            </a:pPr>
            <a:r>
              <a:rPr lang="en-US" altLang="zh-CN" dirty="0">
                <a:sym typeface="Symbol" panose="05050102010706020507" pitchFamily="18" charset="2"/>
              </a:rPr>
              <a:t>(2) </a:t>
            </a:r>
            <a:r>
              <a:rPr lang="zh-CN" altLang="en-US" dirty="0">
                <a:sym typeface="Symbol" panose="05050102010706020507" pitchFamily="18" charset="2"/>
              </a:rPr>
              <a:t>构造</a:t>
            </a:r>
            <a:r>
              <a:rPr lang="zh-CN" altLang="zh-CN" dirty="0">
                <a:sym typeface="Symbol" panose="05050102010706020507" pitchFamily="18" charset="2"/>
              </a:rPr>
              <a:t>函数</a:t>
            </a:r>
            <a:r>
              <a:rPr lang="en-US" altLang="zh-CN" i="1" dirty="0">
                <a:sym typeface="Symbol" panose="05050102010706020507" pitchFamily="18" charset="2"/>
              </a:rPr>
              <a:t>contrary</a:t>
            </a:r>
          </a:p>
          <a:p>
            <a:pPr marL="457200" indent="-45720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    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void contrary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char *prog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){</a:t>
            </a:r>
          </a:p>
          <a:p>
            <a:pPr marL="457200" indent="-45720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        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if 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halt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prog, prog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))</a:t>
            </a:r>
          </a:p>
          <a:p>
            <a:pPr marL="457200" indent="-45720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i="1" dirty="0">
                <a:solidFill>
                  <a:srgbClr val="FFC000"/>
                </a:solidFill>
                <a:sym typeface="Symbol" panose="05050102010706020507" pitchFamily="18" charset="2"/>
              </a:rPr>
              <a:t>while</a:t>
            </a: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 (1);</a:t>
            </a:r>
          </a:p>
          <a:p>
            <a:pPr marL="457200" indent="-457200" eaLnBrk="1" hangingPunct="1">
              <a:lnSpc>
                <a:spcPct val="90000"/>
              </a:lnSpc>
              <a:defRPr/>
            </a:pPr>
            <a:r>
              <a:rPr lang="en-US" altLang="zh-CN" dirty="0">
                <a:solidFill>
                  <a:srgbClr val="FFC000"/>
                </a:solidFill>
                <a:sym typeface="Symbol" panose="05050102010706020507" pitchFamily="18" charset="2"/>
              </a:rPr>
              <a:t>    }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0243" y="1700808"/>
            <a:ext cx="60945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eaLnBrk="1" hangingPunct="1">
              <a:spcBef>
                <a:spcPct val="50000"/>
              </a:spcBef>
              <a:buClr>
                <a:srgbClr val="FFC000"/>
              </a:buClr>
              <a:buSzPct val="80000"/>
              <a:buFont typeface="Wingdings" panose="05000000000000000000" pitchFamily="2" charset="2"/>
              <a:buChar char="n"/>
              <a:defRPr sz="2800" b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/>
              <a:t>证明停机问题的不可解性</a:t>
            </a:r>
            <a:r>
              <a:rPr lang="en-US" altLang="zh-CN" dirty="0"/>
              <a:t>*</a:t>
            </a:r>
            <a:endParaRPr lang="zh-CN" altLang="en-US" noProof="1"/>
          </a:p>
        </p:txBody>
      </p:sp>
      <p:sp>
        <p:nvSpPr>
          <p:cNvPr id="13" name="文本框 12"/>
          <p:cNvSpPr txBox="1"/>
          <p:nvPr/>
        </p:nvSpPr>
        <p:spPr>
          <a:xfrm>
            <a:off x="4223792" y="3212976"/>
            <a:ext cx="7632848" cy="308163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indent="0" eaLnBrk="0" hangingPunct="0"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(3) </a:t>
            </a:r>
            <a:r>
              <a:rPr lang="zh-CN" altLang="zh-CN" sz="2000" dirty="0">
                <a:sym typeface="Symbol" panose="05050102010706020507" pitchFamily="18" charset="2"/>
              </a:rPr>
              <a:t>将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zh-CN" altLang="en-US" sz="2000" dirty="0">
                <a:sym typeface="Symbol" panose="05050102010706020507" pitchFamily="18" charset="2"/>
              </a:rPr>
              <a:t>源程序作为输入调用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en-US" altLang="zh-CN" sz="2000" dirty="0">
                <a:sym typeface="Symbol" panose="05050102010706020507" pitchFamily="18" charset="2"/>
              </a:rPr>
              <a:t>,</a:t>
            </a:r>
            <a:r>
              <a:rPr lang="zh-CN" altLang="en-US" sz="2000" dirty="0">
                <a:sym typeface="Symbol" panose="05050102010706020507" pitchFamily="18" charset="2"/>
              </a:rPr>
              <a:t>考察其执行过程：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sym typeface="Symbol" panose="05050102010706020507" pitchFamily="18" charset="2"/>
              </a:rPr>
              <a:t>其中对</a:t>
            </a:r>
            <a:r>
              <a:rPr lang="en-US" altLang="zh-CN" sz="2000" i="1" dirty="0">
                <a:sym typeface="Symbol" panose="05050102010706020507" pitchFamily="18" charset="2"/>
              </a:rPr>
              <a:t>halt</a:t>
            </a:r>
            <a:r>
              <a:rPr lang="zh-CN" altLang="en-US" sz="2000" dirty="0">
                <a:sym typeface="Symbol" panose="05050102010706020507" pitchFamily="18" charset="2"/>
              </a:rPr>
              <a:t>的调用返回</a:t>
            </a:r>
            <a:r>
              <a:rPr lang="en-US" altLang="zh-CN" sz="2000" dirty="0">
                <a:sym typeface="Symbol" panose="05050102010706020507" pitchFamily="18" charset="2"/>
              </a:rPr>
              <a:t>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000" dirty="0">
                <a:sym typeface="Symbol" panose="05050102010706020507" pitchFamily="18" charset="2"/>
              </a:rPr>
              <a:t>    关于</a:t>
            </a:r>
            <a:r>
              <a:rPr lang="en-US" altLang="zh-CN" sz="2000" i="1" dirty="0">
                <a:sym typeface="Symbol" panose="05050102010706020507" pitchFamily="18" charset="2"/>
              </a:rPr>
              <a:t>Halt</a:t>
            </a:r>
            <a:r>
              <a:rPr lang="zh-CN" altLang="en-US" sz="2000" dirty="0">
                <a:sym typeface="Symbol" panose="05050102010706020507" pitchFamily="18" charset="2"/>
              </a:rPr>
              <a:t>的假定说明：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zh-CN" altLang="en-US" sz="2000" dirty="0">
                <a:sym typeface="Symbol" panose="05050102010706020507" pitchFamily="18" charset="2"/>
              </a:rPr>
              <a:t>在对自身运行时将会停机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i="1" dirty="0">
                <a:sym typeface="Symbol" panose="05050102010706020507" pitchFamily="18" charset="2"/>
              </a:rPr>
              <a:t>    contrary</a:t>
            </a:r>
            <a:r>
              <a:rPr lang="zh-CN" altLang="en-US" sz="2000" dirty="0">
                <a:sym typeface="Symbol" panose="05050102010706020507" pitchFamily="18" charset="2"/>
              </a:rPr>
              <a:t>的源代码说明：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zh-CN" altLang="en-US" sz="2000" dirty="0">
                <a:sym typeface="Symbol" panose="05050102010706020507" pitchFamily="18" charset="2"/>
              </a:rPr>
              <a:t>将进入无限循环</a:t>
            </a:r>
            <a:r>
              <a:rPr lang="en-US" altLang="zh-CN" sz="2000" dirty="0">
                <a:sym typeface="Symbol" panose="05050102010706020507" pitchFamily="18" charset="2"/>
              </a:rPr>
              <a:t>,</a:t>
            </a:r>
            <a:r>
              <a:rPr lang="zh-CN" altLang="en-US" sz="2000" dirty="0">
                <a:sym typeface="Symbol" panose="05050102010706020507" pitchFamily="18" charset="2"/>
              </a:rPr>
              <a:t>从而不会停机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b</a:t>
            </a:r>
            <a:r>
              <a:rPr lang="en-US" altLang="zh-CN" sz="2000" dirty="0">
                <a:sym typeface="Symbol" panose="05050102010706020507" pitchFamily="18" charset="2"/>
              </a:rPr>
              <a:t>)</a:t>
            </a:r>
            <a:r>
              <a:rPr lang="zh-CN" altLang="en-US" sz="2000" dirty="0">
                <a:sym typeface="Symbol" panose="05050102010706020507" pitchFamily="18" charset="2"/>
              </a:rPr>
              <a:t>其中对</a:t>
            </a:r>
            <a:r>
              <a:rPr lang="en-US" altLang="zh-CN" sz="2000" dirty="0">
                <a:sym typeface="Symbol" panose="05050102010706020507" pitchFamily="18" charset="2"/>
              </a:rPr>
              <a:t>halt</a:t>
            </a:r>
            <a:r>
              <a:rPr lang="zh-CN" altLang="en-US" sz="2000" dirty="0">
                <a:sym typeface="Symbol" panose="05050102010706020507" pitchFamily="18" charset="2"/>
              </a:rPr>
              <a:t>的调用返回</a:t>
            </a:r>
            <a:r>
              <a:rPr lang="en-US" altLang="zh-CN" sz="2000" dirty="0">
                <a:sym typeface="Symbol" panose="05050102010706020507" pitchFamily="18" charset="2"/>
              </a:rPr>
              <a:t>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000" dirty="0">
                <a:sym typeface="Symbol" panose="05050102010706020507" pitchFamily="18" charset="2"/>
              </a:rPr>
              <a:t>    关于</a:t>
            </a:r>
            <a:r>
              <a:rPr lang="en-US" altLang="zh-CN" sz="2000" i="1" dirty="0">
                <a:sym typeface="Symbol" panose="05050102010706020507" pitchFamily="18" charset="2"/>
              </a:rPr>
              <a:t>halt</a:t>
            </a:r>
            <a:r>
              <a:rPr lang="zh-CN" altLang="en-US" sz="2000" dirty="0">
                <a:sym typeface="Symbol" panose="05050102010706020507" pitchFamily="18" charset="2"/>
              </a:rPr>
              <a:t>的假定说明：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zh-CN" altLang="en-US" sz="2000" dirty="0">
                <a:sym typeface="Symbol" panose="05050102010706020507" pitchFamily="18" charset="2"/>
              </a:rPr>
              <a:t>在对自身运行时将不会停机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000" i="1" dirty="0">
                <a:sym typeface="Symbol" panose="05050102010706020507" pitchFamily="18" charset="2"/>
              </a:rPr>
              <a:t>    contrary</a:t>
            </a:r>
            <a:r>
              <a:rPr lang="zh-CN" altLang="en-US" sz="2000" dirty="0">
                <a:sym typeface="Symbol" panose="05050102010706020507" pitchFamily="18" charset="2"/>
              </a:rPr>
              <a:t>的源代码说明：</a:t>
            </a:r>
            <a:r>
              <a:rPr lang="en-US" altLang="zh-CN" sz="2000" i="1" dirty="0">
                <a:sym typeface="Symbol" panose="05050102010706020507" pitchFamily="18" charset="2"/>
              </a:rPr>
              <a:t>contrary</a:t>
            </a:r>
            <a:r>
              <a:rPr lang="zh-CN" altLang="en-US" sz="2000" dirty="0">
                <a:sym typeface="Symbol" panose="05050102010706020507" pitchFamily="18" charset="2"/>
              </a:rPr>
              <a:t>不会进入无限循环</a:t>
            </a:r>
            <a:r>
              <a:rPr lang="en-US" altLang="zh-CN" sz="2000" dirty="0">
                <a:sym typeface="Symbol" panose="05050102010706020507" pitchFamily="18" charset="2"/>
              </a:rPr>
              <a:t>,</a:t>
            </a:r>
            <a:r>
              <a:rPr lang="zh-CN" altLang="en-US" sz="2000" dirty="0">
                <a:sym typeface="Symbol" panose="05050102010706020507" pitchFamily="18" charset="2"/>
              </a:rPr>
              <a:t>从而将停机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000" dirty="0">
                <a:sym typeface="Symbol" panose="05050102010706020507" pitchFamily="18" charset="2"/>
              </a:rPr>
              <a:t>两种情况都引发矛盾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CN" altLang="en-US" sz="2000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5087889" y="330320"/>
            <a:ext cx="5400600" cy="1025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eaLnBrk="1" hangingPunct="1">
              <a:buFontTx/>
              <a:buNone/>
              <a:defRPr sz="3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6.3.2 </a:t>
            </a:r>
            <a:r>
              <a:rPr lang="zh-CN" altLang="en-US" sz="3600" b="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停机问题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 txBox="1">
            <a:spLocks noChangeArrowheads="1"/>
          </p:cNvSpPr>
          <p:nvPr/>
        </p:nvSpPr>
        <p:spPr bwMode="auto">
          <a:xfrm>
            <a:off x="4871864" y="116632"/>
            <a:ext cx="732013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4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123</a:t>
            </a: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*20</a:t>
            </a:r>
            <a:endParaRPr lang="zh-CN" alt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圆角矩形 4"/>
          <p:cNvSpPr>
            <a:spLocks noChangeArrowheads="1"/>
          </p:cNvSpPr>
          <p:nvPr/>
        </p:nvSpPr>
        <p:spPr bwMode="auto">
          <a:xfrm>
            <a:off x="263352" y="1556791"/>
            <a:ext cx="11665296" cy="4943673"/>
          </a:xfrm>
          <a:prstGeom prst="roundRect">
            <a:avLst>
              <a:gd name="adj" fmla="val 5406"/>
            </a:avLst>
          </a:prstGeom>
          <a:noFill/>
          <a:ln w="38100" algn="ctr">
            <a:solidFill>
              <a:srgbClr val="92D05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占位符 23553"/>
          <p:cNvSpPr txBox="1"/>
          <p:nvPr/>
        </p:nvSpPr>
        <p:spPr>
          <a:xfrm>
            <a:off x="339608" y="1724371"/>
            <a:ext cx="11576223" cy="1416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1.* 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设集合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fr-FR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={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fr-FR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| 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fr-FR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fr-FR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其中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为正偶数集。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证明：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中存在这样的函数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fr-FR" altLang="zh-CN" sz="2400" b="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fr-F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程序不存在</a:t>
            </a:r>
            <a:r>
              <a:rPr lang="zh-CN" altLang="pt-BR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UxMDZlMWMxNThhZTg1OTc1ODg1MTk0MzVmZTYzZ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4.6|10.6|6.2|3.8|3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689</Words>
  <Application>Microsoft Office PowerPoint</Application>
  <PresentationFormat>宽屏</PresentationFormat>
  <Paragraphs>64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华文细黑</vt:lpstr>
      <vt:lpstr>楷体_GB2312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番茄花园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番茄花园</dc:creator>
  <cp:lastModifiedBy>86186</cp:lastModifiedBy>
  <cp:revision>849</cp:revision>
  <dcterms:created xsi:type="dcterms:W3CDTF">2021-11-02T10:56:00Z</dcterms:created>
  <dcterms:modified xsi:type="dcterms:W3CDTF">2026-05-18T02:26:40Z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FAE0D93A471E46A2946DD9E45469EF3C_12</vt:lpwstr>
  </property>
</Properties>
</file>