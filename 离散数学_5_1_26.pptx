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7" r:id="rId2"/>
    <p:sldId id="398" r:id="rId3"/>
    <p:sldId id="376" r:id="rId4"/>
    <p:sldId id="377" r:id="rId5"/>
    <p:sldId id="338" r:id="rId6"/>
    <p:sldId id="258" r:id="rId7"/>
    <p:sldId id="416" r:id="rId8"/>
    <p:sldId id="280" r:id="rId9"/>
    <p:sldId id="281" r:id="rId10"/>
    <p:sldId id="293" r:id="rId11"/>
    <p:sldId id="408" r:id="rId12"/>
    <p:sldId id="417" r:id="rId13"/>
    <p:sldId id="409" r:id="rId14"/>
    <p:sldId id="410" r:id="rId15"/>
    <p:sldId id="411" r:id="rId16"/>
    <p:sldId id="412" r:id="rId17"/>
    <p:sldId id="413" r:id="rId18"/>
    <p:sldId id="414" r:id="rId19"/>
    <p:sldId id="415" r:id="rId20"/>
    <p:sldId id="399" r:id="rId21"/>
  </p:sldIdLst>
  <p:sldSz cx="12192000" cy="6858000"/>
  <p:notesSz cx="6858000" cy="9144000"/>
  <p:custDataLst>
    <p:tags r:id="rId2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C80"/>
    <a:srgbClr val="FFCC99"/>
    <a:srgbClr val="FFCCFF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79" d="100"/>
          <a:sy n="79" d="100"/>
        </p:scale>
        <p:origin x="264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1208568" y="50195"/>
            <a:ext cx="93610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059338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920536" y="11309"/>
            <a:ext cx="12256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400" b="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章  关系</a:t>
            </a:r>
            <a:endParaRPr lang="en-US" altLang="zh-CN" sz="1400" b="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F430B-EE82-42A8-8247-264A130FA58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5" Type="http://schemas.openxmlformats.org/officeDocument/2006/relationships/image" Target="../media/image7.emf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第五章 关系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423592" y="4149080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882832" y="1908570"/>
            <a:ext cx="7272808" cy="909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关系是对象之间联系的数学模型</a:t>
            </a:r>
            <a:endParaRPr lang="en-US" altLang="zh-CN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本章导读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911424" y="2708920"/>
            <a:ext cx="7272808" cy="909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关系是基本的数学概念和工具</a:t>
            </a:r>
            <a:endParaRPr lang="en-US" altLang="zh-CN" sz="28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927648" y="2276872"/>
            <a:ext cx="5976663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  </a:t>
            </a:r>
            <a:r>
              <a:rPr lang="zh-CN" altLang="en-US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关系的概念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5.2  </a:t>
            </a:r>
            <a:r>
              <a:rPr lang="zh-CN" altLang="en-US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关系运算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5.3  </a:t>
            </a:r>
            <a:r>
              <a:rPr lang="zh-CN" altLang="en-US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关系的特殊性质及其闭包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5.4  </a:t>
            </a:r>
            <a:r>
              <a:rPr lang="zh-CN" altLang="en-US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等价关系和划分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5.5  </a:t>
            </a:r>
            <a:r>
              <a:rPr lang="zh-CN" altLang="en-US" sz="2800" b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偏序关系</a:t>
            </a:r>
            <a:endParaRPr lang="zh-CN" altLang="en-US" sz="2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69746" y="1772816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主要内容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295232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本章导读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5560" y="2709842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理解二元关系</a:t>
            </a:r>
            <a:r>
              <a:rPr lang="zh-CN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的概念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定义和表示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76462" y="379209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4440163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200000"/>
              </a:lnSpc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关系</a:t>
            </a:r>
            <a:r>
              <a:rPr lang="zh-CN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关系的概念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2109768" y="2357682"/>
            <a:ext cx="2252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5.1.1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223617" y="3994911"/>
            <a:ext cx="31118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5.1.2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二元关系的表示</a:t>
            </a:r>
          </a:p>
        </p:txBody>
      </p:sp>
      <p:sp>
        <p:nvSpPr>
          <p:cNvPr id="4" name="AutoShape 6"/>
          <p:cNvSpPr/>
          <p:nvPr/>
        </p:nvSpPr>
        <p:spPr bwMode="auto">
          <a:xfrm>
            <a:off x="4182765" y="1999119"/>
            <a:ext cx="358775" cy="1219200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606033" y="1918567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二元关系的定义：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的二元关系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上的二元关系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xRy</a:t>
            </a:r>
            <a:endParaRPr lang="zh-CN" altLang="en-US" sz="22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8"/>
          <p:cNvSpPr/>
          <p:nvPr/>
        </p:nvSpPr>
        <p:spPr bwMode="auto">
          <a:xfrm>
            <a:off x="4182765" y="3583138"/>
            <a:ext cx="328613" cy="1195923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571505" y="3429000"/>
            <a:ext cx="2427535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集合表示法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关系图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关系矩阵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7458963" y="4194141"/>
            <a:ext cx="30243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核心：关系的表示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122589" y="5449814"/>
            <a:ext cx="20882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5.1.3</a:t>
            </a:r>
            <a:r>
              <a:rPr lang="en-US" altLang="zh-CN" sz="24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元关系</a:t>
            </a:r>
          </a:p>
        </p:txBody>
      </p:sp>
      <p:sp>
        <p:nvSpPr>
          <p:cNvPr id="11" name="AutoShape 8"/>
          <p:cNvSpPr/>
          <p:nvPr/>
        </p:nvSpPr>
        <p:spPr bwMode="auto">
          <a:xfrm>
            <a:off x="4208293" y="5233169"/>
            <a:ext cx="328613" cy="976241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4631561" y="5211286"/>
            <a:ext cx="3620715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应用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606033" y="2395909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关系的定义域和值域：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ran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2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606033" y="2873250"/>
            <a:ext cx="70521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函数的定义：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后件唯一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4" grpId="0"/>
      <p:bldP spid="10" grpId="0"/>
      <p:bldP spid="11" grpId="0" animBg="1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4337"/>
          <p:cNvSpPr>
            <a:spLocks noGrp="1"/>
          </p:cNvSpPr>
          <p:nvPr>
            <p:ph type="body" sz="half" idx="4294967295"/>
          </p:nvPr>
        </p:nvSpPr>
        <p:spPr>
          <a:xfrm>
            <a:off x="1055440" y="3166162"/>
            <a:ext cx="9073008" cy="2016224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400" kern="200" spc="200" noProof="1">
                <a:solidFill>
                  <a:srgbClr val="FFFF00"/>
                </a:solidFill>
                <a:latin typeface="Times New Roman" panose="02020603050405020304" pitchFamily="18" charset="0"/>
              </a:rPr>
              <a:t>(1) </a:t>
            </a:r>
            <a:r>
              <a:rPr kumimoji="1" lang="en-US" altLang="zh-CN" sz="2400" i="1" kern="200" spc="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200" spc="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fr-FR" altLang="zh-CN" sz="2400" i="1" kern="200" spc="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200" spc="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的二元关系： </a:t>
            </a:r>
            <a:r>
              <a:rPr kumimoji="1" lang="fr-FR" altLang="zh-CN" sz="2400" i="1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fr-FR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kumimoji="1" lang="fr-FR" altLang="zh-CN" sz="2400" i="1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的子集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400" kern="200" spc="200" noProof="1">
                <a:solidFill>
                  <a:srgbClr val="FFC000"/>
                </a:solidFill>
                <a:latin typeface="Times New Roman" panose="02020603050405020304" pitchFamily="18" charset="0"/>
              </a:rPr>
              <a:t>(2) </a:t>
            </a:r>
            <a:r>
              <a:rPr kumimoji="1" lang="en-US" altLang="zh-CN" sz="2400" i="1" kern="200" spc="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200" spc="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上的二元关系： </a:t>
            </a:r>
            <a:r>
              <a:rPr kumimoji="1" lang="en-US" altLang="zh-CN" sz="2400" i="1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的二元关系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kern="200" spc="200" noProof="1">
                <a:solidFill>
                  <a:srgbClr val="FFCC99"/>
                </a:solidFill>
                <a:latin typeface="Times New Roman" panose="02020603050405020304" pitchFamily="18" charset="0"/>
              </a:rPr>
              <a:t>(3) </a:t>
            </a:r>
            <a:r>
              <a:rPr kumimoji="1" lang="en-US" altLang="zh-CN" sz="2400" i="1" kern="200" spc="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200" spc="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200" spc="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200" spc="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满足关系</a:t>
            </a:r>
            <a:r>
              <a:rPr kumimoji="1" lang="en-US" altLang="zh-CN" sz="2400" i="1" kern="200" spc="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200" spc="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200" spc="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xRy</a:t>
            </a:r>
            <a:r>
              <a:rPr kumimoji="1" lang="en-US" altLang="zh-CN" sz="2400" kern="200" spc="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kern="200" spc="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R, x</a:t>
            </a:r>
            <a:r>
              <a:rPr kumimoji="1" lang="zh-CN" altLang="en-US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1" lang="en-US" altLang="zh-CN" sz="2400" i="1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的前件</a:t>
            </a:r>
            <a:r>
              <a:rPr kumimoji="1" lang="en-US" altLang="zh-CN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i="1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1" lang="en-US" altLang="zh-CN" sz="2400" i="1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的后件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5360" y="1734601"/>
            <a:ext cx="60936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5.1.1  </a:t>
            </a:r>
            <a:r>
              <a:rPr lang="zh-CN" altLang="en-US" noProof="1"/>
              <a:t>二元关系</a:t>
            </a:r>
            <a:r>
              <a:rPr lang="en-US" altLang="zh-CN" noProof="1"/>
              <a:t>(</a:t>
            </a:r>
            <a:r>
              <a:rPr lang="zh-CN" altLang="en-US" noProof="1"/>
              <a:t>关系</a:t>
            </a:r>
            <a:r>
              <a:rPr lang="en-US" altLang="zh-CN" noProof="1"/>
              <a:t>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01788" y="2463279"/>
            <a:ext cx="1872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b="0" kern="200" spc="2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r>
              <a:rPr kumimoji="1" lang="en-US" altLang="zh-CN" sz="2400" b="0" i="1" kern="200" spc="2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b="0" kern="200" spc="2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fr-FR" altLang="zh-CN" sz="2400" b="0" i="1" kern="200" spc="20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endParaRPr lang="zh-CN" altLang="en-US" sz="2400" b="0" i="1" kern="200" spc="200" dirty="0">
              <a:solidFill>
                <a:schemeClr val="bg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</a:t>
            </a:r>
          </a:p>
        </p:txBody>
      </p:sp>
      <p:sp>
        <p:nvSpPr>
          <p:cNvPr id="5" name="对话气泡: 圆角矩形 4"/>
          <p:cNvSpPr/>
          <p:nvPr/>
        </p:nvSpPr>
        <p:spPr bwMode="auto">
          <a:xfrm>
            <a:off x="6428978" y="1483616"/>
            <a:ext cx="5479640" cy="1025190"/>
          </a:xfrm>
          <a:prstGeom prst="wedgeRoundRectCallout">
            <a:avLst>
              <a:gd name="adj1" fmla="val -30322"/>
              <a:gd name="adj2" fmla="val -8990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b="1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二元关系是两个对象之间的联系的数学模型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000" b="1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罗列所有有联系的对象</a:t>
            </a:r>
            <a:r>
              <a:rPr lang="en-US" altLang="zh-CN" sz="2000" b="1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1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表示为二元组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4337"/>
          <p:cNvSpPr>
            <a:spLocks noGrp="1"/>
          </p:cNvSpPr>
          <p:nvPr>
            <p:ph type="body" sz="half" idx="4294967295"/>
          </p:nvPr>
        </p:nvSpPr>
        <p:spPr>
          <a:xfrm>
            <a:off x="1274913" y="3140968"/>
            <a:ext cx="7625952" cy="1133708"/>
          </a:xfr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的定义域：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)={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fr-F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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fr-F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fr-F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endParaRPr kumimoji="1" lang="en-US" altLang="en-US" sz="2400" i="1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的值域：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ran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)={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fr-F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fr-F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fr-F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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07368" y="1625084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5.1.2  </a:t>
            </a:r>
            <a:r>
              <a:rPr lang="zh-CN" altLang="en-US" noProof="1"/>
              <a:t>关系的定义域和值域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30024" y="2417878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kern="1300" spc="200" noProof="1"/>
              <a:t> </a:t>
            </a:r>
            <a:r>
              <a:rPr lang="en-US" altLang="zh-CN" i="1" kern="1300" spc="200" noProof="1"/>
              <a:t>R</a:t>
            </a:r>
            <a:r>
              <a:rPr lang="zh-CN" altLang="en-US" kern="1300" spc="200" noProof="1"/>
              <a:t>是</a:t>
            </a:r>
            <a:r>
              <a:rPr lang="en-US" altLang="zh-CN" i="1" kern="1300" spc="200" noProof="1"/>
              <a:t>X</a:t>
            </a:r>
            <a:r>
              <a:rPr lang="zh-CN" altLang="en-US" kern="1300" spc="200" noProof="1"/>
              <a:t>到</a:t>
            </a:r>
            <a:r>
              <a:rPr lang="en-US" altLang="zh-CN" i="1" kern="1300" spc="200" noProof="1"/>
              <a:t>Y</a:t>
            </a:r>
            <a:r>
              <a:rPr lang="zh-CN" altLang="en-US" kern="1300" spc="200" noProof="1"/>
              <a:t>的二元关系</a:t>
            </a:r>
            <a:endParaRPr lang="zh-CN" altLang="en-US" kern="1300" spc="200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文本占位符 51201"/>
          <p:cNvSpPr>
            <a:spLocks noGrp="1"/>
          </p:cNvSpPr>
          <p:nvPr>
            <p:ph type="body" sz="half" idx="4294967295"/>
          </p:nvPr>
        </p:nvSpPr>
        <p:spPr>
          <a:xfrm>
            <a:off x="442825" y="2275711"/>
            <a:ext cx="6130031" cy="4365619"/>
          </a:xfr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={1,2,3}, 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(1,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(2,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(3,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(2,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(2,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(3,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都是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的二元关系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)={1,2,3}=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ran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pt-BR" altLang="zh-CN" sz="2400" kern="1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)={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}=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endParaRPr kumimoji="1" lang="zh-CN" altLang="pt-BR" sz="2400" i="1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pt-BR" altLang="zh-CN" sz="2400" kern="1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)={1,2}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ran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pt-BR" altLang="zh-CN" sz="2400" kern="1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)={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endParaRPr kumimoji="1" lang="zh-CN" altLang="pt-BR" sz="2400" i="1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pt-BR" altLang="zh-CN" sz="2400" kern="1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)={1,2,3}=</a:t>
            </a:r>
            <a:r>
              <a:rPr kumimoji="1" lang="pt-BR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ran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)={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1" lang="pt-BR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endParaRPr kumimoji="1" lang="en-US" altLang="zh-CN" sz="2400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5360" y="1752491"/>
            <a:ext cx="6130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示例  </a:t>
            </a:r>
            <a:r>
              <a:rPr lang="en-US" altLang="zh-CN" i="1" noProof="1"/>
              <a:t>X</a:t>
            </a:r>
            <a:r>
              <a:rPr lang="zh-CN" altLang="en-US" noProof="1"/>
              <a:t>到</a:t>
            </a:r>
            <a:r>
              <a:rPr lang="en-US" altLang="zh-CN" i="1" noProof="1"/>
              <a:t>Y</a:t>
            </a:r>
            <a:r>
              <a:rPr lang="zh-CN" altLang="en-US" noProof="1"/>
              <a:t>的关系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240016" y="1752491"/>
            <a:ext cx="561662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noProof="1"/>
              <a:t>示例  </a:t>
            </a:r>
            <a:r>
              <a:rPr lang="zh-CN" altLang="en-US" sz="2400" noProof="1">
                <a:solidFill>
                  <a:schemeClr val="bg1"/>
                </a:solidFill>
              </a:rPr>
              <a:t>自然数集</a:t>
            </a:r>
            <a:r>
              <a:rPr lang="en-US" altLang="zh-CN" sz="2400" i="1" noProof="1">
                <a:solidFill>
                  <a:schemeClr val="bg1"/>
                </a:solidFill>
              </a:rPr>
              <a:t>N</a:t>
            </a:r>
            <a:r>
              <a:rPr lang="zh-CN" altLang="en-US" sz="2400" noProof="1">
                <a:solidFill>
                  <a:schemeClr val="bg1"/>
                </a:solidFill>
              </a:rPr>
              <a:t>上的</a:t>
            </a:r>
            <a:r>
              <a:rPr lang="en-US" altLang="zh-CN" sz="2400" noProof="1">
                <a:solidFill>
                  <a:schemeClr val="bg1"/>
                </a:solidFill>
              </a:rPr>
              <a:t>“</a:t>
            </a:r>
            <a:r>
              <a:rPr lang="zh-CN" altLang="en-US" sz="2400" noProof="1">
                <a:solidFill>
                  <a:schemeClr val="bg1"/>
                </a:solidFill>
              </a:rPr>
              <a:t>直接后继</a:t>
            </a:r>
            <a:r>
              <a:rPr lang="en-US" altLang="zh-CN" sz="2400" noProof="1">
                <a:solidFill>
                  <a:schemeClr val="bg1"/>
                </a:solidFill>
              </a:rPr>
              <a:t>”</a:t>
            </a:r>
            <a:r>
              <a:rPr lang="zh-CN" altLang="en-US" sz="2400" noProof="1">
                <a:solidFill>
                  <a:schemeClr val="bg1"/>
                </a:solidFill>
              </a:rPr>
              <a:t>关系：</a:t>
            </a:r>
          </a:p>
          <a:p>
            <a:pPr>
              <a:lnSpc>
                <a:spcPct val="150000"/>
              </a:lnSpc>
            </a:pPr>
            <a:r>
              <a:rPr lang="zh-CN" altLang="en-US" sz="2400" noProof="1">
                <a:solidFill>
                  <a:schemeClr val="bg1"/>
                </a:solidFill>
              </a:rPr>
              <a:t>      </a:t>
            </a:r>
            <a:r>
              <a:rPr lang="en-US" altLang="zh-CN" sz="2400" i="1" noProof="1">
                <a:solidFill>
                  <a:schemeClr val="bg1"/>
                </a:solidFill>
              </a:rPr>
              <a:t>R</a:t>
            </a:r>
            <a:r>
              <a:rPr lang="en-US" altLang="zh-CN" sz="2400" noProof="1">
                <a:solidFill>
                  <a:schemeClr val="bg1"/>
                </a:solidFill>
              </a:rPr>
              <a:t>={(</a:t>
            </a:r>
            <a:r>
              <a:rPr lang="en-US" altLang="zh-CN" sz="2400" i="1" noProof="1">
                <a:solidFill>
                  <a:schemeClr val="bg1"/>
                </a:solidFill>
              </a:rPr>
              <a:t>n</a:t>
            </a:r>
            <a:r>
              <a:rPr lang="en-US" altLang="zh-CN" sz="2400" noProof="1">
                <a:solidFill>
                  <a:schemeClr val="bg1"/>
                </a:solidFill>
              </a:rPr>
              <a:t>, </a:t>
            </a:r>
            <a:r>
              <a:rPr lang="en-US" altLang="zh-CN" sz="2400" i="1" noProof="1">
                <a:solidFill>
                  <a:schemeClr val="bg1"/>
                </a:solidFill>
              </a:rPr>
              <a:t>n</a:t>
            </a:r>
            <a:r>
              <a:rPr lang="en-US" altLang="zh-CN" sz="2400" noProof="1">
                <a:solidFill>
                  <a:schemeClr val="bg1"/>
                </a:solidFill>
              </a:rPr>
              <a:t>+1) | </a:t>
            </a:r>
            <a:r>
              <a:rPr lang="en-US" altLang="zh-CN" sz="2400" i="1" noProof="1">
                <a:solidFill>
                  <a:schemeClr val="bg1"/>
                </a:solidFill>
              </a:rPr>
              <a:t>n</a:t>
            </a:r>
            <a:r>
              <a:rPr lang="en-US" altLang="zh-CN" sz="2400" noProof="1">
                <a:solidFill>
                  <a:schemeClr val="bg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400" i="1" noProof="1">
                <a:solidFill>
                  <a:schemeClr val="bg1"/>
                </a:solidFill>
              </a:rPr>
              <a:t>N</a:t>
            </a:r>
            <a:r>
              <a:rPr lang="en-US" altLang="zh-CN" sz="2400" noProof="1">
                <a:solidFill>
                  <a:schemeClr val="bg1"/>
                </a:solidFill>
              </a:rPr>
              <a:t>}</a:t>
            </a:r>
            <a:r>
              <a:rPr lang="en-US" altLang="zh-CN" sz="2400" noProof="1">
                <a:solidFill>
                  <a:schemeClr val="bg1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400" i="1" noProof="1">
                <a:solidFill>
                  <a:schemeClr val="bg1"/>
                </a:solidFill>
              </a:rPr>
              <a:t>N</a:t>
            </a:r>
            <a:r>
              <a:rPr lang="en-US" altLang="zh-CN" sz="2400" baseline="30000" noProof="1">
                <a:solidFill>
                  <a:schemeClr val="bg1"/>
                </a:solidFill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altLang="zh-CN" sz="2400" noProof="1">
                <a:solidFill>
                  <a:schemeClr val="bg1"/>
                </a:solidFill>
              </a:rPr>
              <a:t>      </a:t>
            </a:r>
            <a:r>
              <a:rPr lang="en-US" altLang="zh-CN" sz="2400" i="1" noProof="1">
                <a:solidFill>
                  <a:schemeClr val="bg1"/>
                </a:solidFill>
              </a:rPr>
              <a:t>dom</a:t>
            </a:r>
            <a:r>
              <a:rPr lang="en-US" altLang="zh-CN" sz="2400" noProof="1">
                <a:solidFill>
                  <a:schemeClr val="bg1"/>
                </a:solidFill>
              </a:rPr>
              <a:t>(</a:t>
            </a:r>
            <a:r>
              <a:rPr lang="en-US" altLang="zh-CN" sz="2400" i="1" noProof="1">
                <a:solidFill>
                  <a:schemeClr val="bg1"/>
                </a:solidFill>
              </a:rPr>
              <a:t>R</a:t>
            </a:r>
            <a:r>
              <a:rPr lang="en-US" altLang="zh-CN" sz="2400" noProof="1">
                <a:solidFill>
                  <a:schemeClr val="bg1"/>
                </a:solidFill>
              </a:rPr>
              <a:t>)=</a:t>
            </a:r>
            <a:r>
              <a:rPr lang="en-US" altLang="zh-CN" sz="2400" i="1" noProof="1">
                <a:solidFill>
                  <a:schemeClr val="bg1"/>
                </a:solidFill>
              </a:rPr>
              <a:t>N</a:t>
            </a:r>
            <a:r>
              <a:rPr lang="en-US" altLang="zh-CN" sz="2400" noProof="1">
                <a:solidFill>
                  <a:schemeClr val="bg1"/>
                </a:solidFill>
              </a:rPr>
              <a:t>, </a:t>
            </a:r>
            <a:r>
              <a:rPr lang="en-US" altLang="zh-CN" sz="2400" i="1" noProof="1">
                <a:solidFill>
                  <a:schemeClr val="bg1"/>
                </a:solidFill>
              </a:rPr>
              <a:t>ran</a:t>
            </a:r>
            <a:r>
              <a:rPr lang="en-US" altLang="zh-CN" sz="2400" noProof="1">
                <a:solidFill>
                  <a:schemeClr val="bg1"/>
                </a:solidFill>
              </a:rPr>
              <a:t>(</a:t>
            </a:r>
            <a:r>
              <a:rPr lang="en-US" altLang="zh-CN" sz="2400" i="1" noProof="1">
                <a:solidFill>
                  <a:schemeClr val="bg1"/>
                </a:solidFill>
              </a:rPr>
              <a:t>R</a:t>
            </a:r>
            <a:r>
              <a:rPr lang="en-US" altLang="zh-CN" sz="2400" noProof="1">
                <a:solidFill>
                  <a:schemeClr val="bg1"/>
                </a:solidFill>
              </a:rPr>
              <a:t>)=</a:t>
            </a:r>
            <a:r>
              <a:rPr lang="en-US" altLang="zh-CN" sz="2400" i="1" noProof="1">
                <a:solidFill>
                  <a:schemeClr val="bg1"/>
                </a:solidFill>
              </a:rPr>
              <a:t>N</a:t>
            </a:r>
            <a:r>
              <a:rPr lang="en-US" altLang="zh-CN" sz="2400" noProof="1">
                <a:solidFill>
                  <a:schemeClr val="bg1"/>
                </a:solidFill>
              </a:rPr>
              <a:t>-{0} 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1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1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1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1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文本占位符 52225"/>
          <p:cNvSpPr>
            <a:spLocks noGrp="1"/>
          </p:cNvSpPr>
          <p:nvPr>
            <p:ph type="body" sz="half" idx="4294967295"/>
          </p:nvPr>
        </p:nvSpPr>
        <p:spPr>
          <a:xfrm>
            <a:off x="407368" y="3667863"/>
            <a:ext cx="9865096" cy="2883738"/>
          </a:xfr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kumimoji="1" lang="zh-CN" altLang="en-US" sz="280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5.1.2</a:t>
            </a:r>
            <a:r>
              <a:rPr kumimoji="1" lang="zh-CN" altLang="en-US" sz="280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用关系描述对象具有的属性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某大学院士的集合</a:t>
            </a:r>
            <a:r>
              <a:rPr kumimoji="1" lang="en-US" altLang="zh-CN" sz="200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张三，李四，王五</a:t>
            </a:r>
            <a:r>
              <a:rPr kumimoji="1" lang="en-US" altLang="zh-CN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张三懂英语和法语</a:t>
            </a:r>
            <a:r>
              <a:rPr kumimoji="1" lang="en-US" altLang="zh-CN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李四懂德语和日语</a:t>
            </a:r>
            <a:r>
              <a:rPr kumimoji="1" lang="en-US" altLang="zh-CN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王五懂英语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院士所懂的语言的集合</a:t>
            </a:r>
            <a:r>
              <a:rPr kumimoji="1" lang="en-US" altLang="zh-CN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英语</a:t>
            </a:r>
            <a:r>
              <a:rPr kumimoji="1" lang="en-US" altLang="zh-CN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法语</a:t>
            </a:r>
            <a:r>
              <a:rPr kumimoji="1" lang="en-US" altLang="zh-CN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德语</a:t>
            </a:r>
            <a:r>
              <a:rPr kumimoji="1" lang="en-US" altLang="zh-CN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日语</a:t>
            </a:r>
            <a:r>
              <a:rPr kumimoji="1" lang="en-US" altLang="zh-CN" sz="200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000" i="1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</a:t>
            </a:r>
            <a:r>
              <a:rPr kumimoji="1" lang="zh-CN" altLang="en-US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张三</a:t>
            </a:r>
            <a:r>
              <a:rPr kumimoji="1" lang="en-US" altLang="zh-CN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英语</a:t>
            </a:r>
            <a:r>
              <a:rPr kumimoji="1" lang="en-US" altLang="zh-CN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</a:t>
            </a:r>
            <a:r>
              <a:rPr kumimoji="1" lang="zh-CN" altLang="en-US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张三</a:t>
            </a:r>
            <a:r>
              <a:rPr kumimoji="1" lang="en-US" altLang="zh-CN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法语</a:t>
            </a:r>
            <a:r>
              <a:rPr kumimoji="1" lang="en-US" altLang="zh-CN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</a:t>
            </a:r>
            <a:r>
              <a:rPr kumimoji="1" lang="zh-CN" altLang="en-US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李四</a:t>
            </a:r>
            <a:r>
              <a:rPr kumimoji="1" lang="en-US" altLang="zh-CN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德语</a:t>
            </a:r>
            <a:r>
              <a:rPr kumimoji="1" lang="en-US" altLang="zh-CN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</a:t>
            </a:r>
            <a:r>
              <a:rPr kumimoji="1" lang="zh-CN" altLang="en-US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李四</a:t>
            </a:r>
            <a:r>
              <a:rPr kumimoji="1" lang="en-US" altLang="zh-CN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日语</a:t>
            </a:r>
            <a:r>
              <a:rPr kumimoji="1" lang="en-US" altLang="zh-CN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</a:t>
            </a:r>
            <a:r>
              <a:rPr kumimoji="1" lang="zh-CN" altLang="en-US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王五</a:t>
            </a:r>
            <a:r>
              <a:rPr kumimoji="1" lang="en-US" altLang="zh-CN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英语</a:t>
            </a:r>
            <a:r>
              <a:rPr kumimoji="1" lang="en-US" altLang="zh-CN" sz="2000" kern="1200" noProof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</a:t>
            </a: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表示了</a:t>
            </a:r>
            <a:r>
              <a:rPr kumimoji="1" lang="zh-CN" altLang="en-US" sz="2000" kern="1200" noProof="1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院士掌握外语的情况：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院士</a:t>
            </a: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懂语言</a:t>
            </a: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1" lang="en-US" altLang="zh-CN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marL="400050" lvl="1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en-US" altLang="zh-CN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                       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院士</a:t>
            </a: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懂语言</a:t>
            </a: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xRy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7368" y="1549334"/>
            <a:ext cx="11017224" cy="18097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noProof="1"/>
              <a:t>例</a:t>
            </a:r>
            <a:r>
              <a:rPr lang="en-US" altLang="zh-CN" noProof="1"/>
              <a:t>5.1.1.</a:t>
            </a:r>
            <a:r>
              <a:rPr lang="zh-CN" altLang="en-US" noProof="1"/>
              <a:t>  </a:t>
            </a:r>
            <a:r>
              <a:rPr lang="zh-CN" altLang="en-US" sz="2400" noProof="1">
                <a:solidFill>
                  <a:schemeClr val="bg1"/>
                </a:solidFill>
              </a:rPr>
              <a:t>同学关系</a:t>
            </a:r>
          </a:p>
          <a:p>
            <a:pPr lvl="1">
              <a:lnSpc>
                <a:spcPct val="130000"/>
              </a:lnSpc>
            </a:pPr>
            <a:r>
              <a:rPr lang="zh-CN" altLang="en-US" sz="2000" b="0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全体人的集合</a:t>
            </a:r>
            <a:r>
              <a:rPr lang="en-US" altLang="zh-CN" sz="2000" b="0" i="1" noProof="1">
                <a:solidFill>
                  <a:srgbClr val="FFC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</a:p>
          <a:p>
            <a:pPr lvl="1">
              <a:lnSpc>
                <a:spcPct val="130000"/>
              </a:lnSpc>
            </a:pPr>
            <a:r>
              <a:rPr lang="zh-CN" altLang="en-US" sz="2000" b="0" noProof="1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同学关系</a:t>
            </a:r>
            <a:r>
              <a:rPr lang="en-US" altLang="zh-CN" sz="2000" b="0" i="1" noProof="1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en-US" sz="2000" b="0" noProof="1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000" b="0" i="1" noProof="1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noProof="1">
                <a:solidFill>
                  <a:srgbClr val="FF7C8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上的关系</a:t>
            </a:r>
          </a:p>
          <a:p>
            <a:pPr lvl="1">
              <a:lnSpc>
                <a:spcPct val="130000"/>
              </a:lnSpc>
            </a:pPr>
            <a:r>
              <a:rPr lang="en-US" altLang="zh-CN" sz="2000" b="0" i="1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000" b="0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={(</a:t>
            </a:r>
            <a:r>
              <a:rPr lang="en-US" altLang="zh-CN" sz="2000" b="0" i="1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000" b="0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000" b="0" i="1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sz="2000" b="0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 | </a:t>
            </a:r>
            <a:r>
              <a:rPr lang="en-US" altLang="zh-CN" sz="2000" b="0" i="1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b="0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000" b="0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是人</a:t>
            </a:r>
            <a:r>
              <a:rPr lang="en-US" altLang="zh-CN" sz="2000" b="0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000" b="0" i="1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000" b="0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i="1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en-US" sz="2000" b="0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曾同时或正在同一所学校学习</a:t>
            </a:r>
            <a:r>
              <a:rPr lang="en-US" altLang="zh-CN" sz="2000" b="0" noProof="1">
                <a:solidFill>
                  <a:srgbClr val="92D05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500"/>
                            </p:stCondLst>
                            <p:childTnLst>
                              <p:par>
                                <p:cTn id="6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文本占位符 65537"/>
          <p:cNvSpPr>
            <a:spLocks noGrp="1"/>
          </p:cNvSpPr>
          <p:nvPr>
            <p:ph type="body" sz="half" idx="4294967295"/>
          </p:nvPr>
        </p:nvSpPr>
        <p:spPr>
          <a:xfrm>
            <a:off x="1271464" y="2193477"/>
            <a:ext cx="8785225" cy="168770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的空关系：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的全关系：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上的恒等关系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i="1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{(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)|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 </a:t>
            </a:r>
          </a:p>
        </p:txBody>
      </p:sp>
      <p:sp>
        <p:nvSpPr>
          <p:cNvPr id="9219" name="矩形 65547"/>
          <p:cNvSpPr>
            <a:spLocks noChangeArrowheads="1"/>
          </p:cNvSpPr>
          <p:nvPr/>
        </p:nvSpPr>
        <p:spPr bwMode="auto">
          <a:xfrm>
            <a:off x="1524000" y="3322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92577" y="4221088"/>
                <a:ext cx="11089232" cy="1777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indent="0" algn="just">
                  <a:defRPr sz="2800" b="0">
                    <a:solidFill>
                      <a:srgbClr val="FFCC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微软雅黑" panose="020B0503020204020204" pitchFamily="34" charset="-122"/>
                    <a:cs typeface="Times New Roman" panose="02020603050405020304" pitchFamily="18" charset="0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400" spc="200" noProof="1"/>
                  <a:t>例</a:t>
                </a:r>
                <a:r>
                  <a:rPr lang="en-US" altLang="zh-CN" sz="2400" spc="200" noProof="1"/>
                  <a:t>5.1.3</a:t>
                </a:r>
                <a:r>
                  <a:rPr lang="zh-CN" altLang="en-US" sz="2400" spc="200" noProof="1"/>
                  <a:t>  </a:t>
                </a:r>
                <a:r>
                  <a:rPr lang="zh-CN" altLang="en-US" sz="2400" spc="200" noProof="1">
                    <a:solidFill>
                      <a:schemeClr val="bg1"/>
                    </a:solidFill>
                  </a:rPr>
                  <a:t>有限集合上的不同关系的计数</a:t>
                </a:r>
                <a:r>
                  <a:rPr lang="en-US" altLang="zh-CN" sz="2400" spc="200" noProof="1">
                    <a:solidFill>
                      <a:schemeClr val="bg1"/>
                    </a:solidFill>
                  </a:rPr>
                  <a:t>|</a:t>
                </a:r>
                <a:r>
                  <a:rPr lang="en-US" altLang="zh-CN" sz="2400" i="1" spc="200" noProof="1">
                    <a:solidFill>
                      <a:schemeClr val="bg1"/>
                    </a:solidFill>
                  </a:rPr>
                  <a:t>X</a:t>
                </a:r>
                <a:r>
                  <a:rPr lang="en-US" altLang="zh-CN" sz="2400" spc="200" noProof="1">
                    <a:solidFill>
                      <a:schemeClr val="bg1"/>
                    </a:solidFill>
                  </a:rPr>
                  <a:t>|=</a:t>
                </a:r>
                <a:r>
                  <a:rPr lang="en-US" altLang="zh-CN" sz="2400" i="1" spc="200" noProof="1">
                    <a:solidFill>
                      <a:schemeClr val="bg1"/>
                    </a:solidFill>
                  </a:rPr>
                  <a:t>n</a:t>
                </a:r>
                <a:r>
                  <a:rPr lang="en-US" altLang="zh-CN" sz="2400" spc="200" noProof="1">
                    <a:solidFill>
                      <a:schemeClr val="bg1"/>
                    </a:solidFill>
                  </a:rPr>
                  <a:t>, </a:t>
                </a:r>
                <a:r>
                  <a:rPr lang="zh-CN" altLang="en-US" sz="2400" spc="200" noProof="1">
                    <a:solidFill>
                      <a:schemeClr val="bg1"/>
                    </a:solidFill>
                  </a:rPr>
                  <a:t>问</a:t>
                </a:r>
                <a:r>
                  <a:rPr lang="en-US" altLang="zh-CN" sz="2400" i="1" spc="200" noProof="1">
                    <a:solidFill>
                      <a:schemeClr val="bg1"/>
                    </a:solidFill>
                  </a:rPr>
                  <a:t>X</a:t>
                </a:r>
                <a:r>
                  <a:rPr lang="zh-CN" altLang="en-US" sz="2400" spc="200" noProof="1">
                    <a:solidFill>
                      <a:schemeClr val="bg1"/>
                    </a:solidFill>
                  </a:rPr>
                  <a:t>上有多少个不同的关系？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spc="200" noProof="1">
                    <a:solidFill>
                      <a:srgbClr val="FFFF00"/>
                    </a:solidFill>
                  </a:rPr>
                  <a:t>解：</a:t>
                </a:r>
                <a:r>
                  <a:rPr lang="en-US" altLang="zh-CN" sz="2200" i="1" spc="200" noProof="1">
                    <a:solidFill>
                      <a:schemeClr val="bg1"/>
                    </a:solidFill>
                  </a:rPr>
                  <a:t>X</a:t>
                </a:r>
                <a:r>
                  <a:rPr lang="zh-CN" altLang="en-US" sz="2200" spc="200" noProof="1">
                    <a:solidFill>
                      <a:schemeClr val="bg1"/>
                    </a:solidFill>
                  </a:rPr>
                  <a:t>上的关系是</a:t>
                </a:r>
                <a:r>
                  <a:rPr lang="en-US" altLang="zh-CN" sz="2200" i="1" spc="200" noProof="1">
                    <a:solidFill>
                      <a:schemeClr val="bg1"/>
                    </a:solidFill>
                  </a:rPr>
                  <a:t>X</a:t>
                </a:r>
                <a:r>
                  <a:rPr lang="en-US" altLang="zh-CN" sz="2200" spc="200" baseline="30000" noProof="1">
                    <a:solidFill>
                      <a:schemeClr val="bg1"/>
                    </a:solidFill>
                  </a:rPr>
                  <a:t>2</a:t>
                </a:r>
                <a:r>
                  <a:rPr lang="zh-CN" altLang="en-US" sz="2200" spc="200" noProof="1">
                    <a:solidFill>
                      <a:schemeClr val="bg1"/>
                    </a:solidFill>
                  </a:rPr>
                  <a:t>的子集</a:t>
                </a:r>
                <a:r>
                  <a:rPr lang="en-US" altLang="zh-CN" sz="2200" spc="200" noProof="1">
                    <a:solidFill>
                      <a:schemeClr val="bg1"/>
                    </a:solidFill>
                  </a:rPr>
                  <a:t>, </a:t>
                </a:r>
                <a:r>
                  <a:rPr lang="zh-CN" altLang="en-US" sz="2200" spc="200" noProof="1">
                    <a:solidFill>
                      <a:schemeClr val="bg1"/>
                    </a:solidFill>
                  </a:rPr>
                  <a:t>它们构成</a:t>
                </a:r>
                <a:r>
                  <a:rPr lang="en-US" altLang="zh-CN" sz="2200" i="1" spc="200" noProof="1">
                    <a:solidFill>
                      <a:schemeClr val="bg1"/>
                    </a:solidFill>
                  </a:rPr>
                  <a:t>P</a:t>
                </a:r>
                <a:r>
                  <a:rPr lang="en-US" altLang="zh-CN" sz="2200" spc="200" noProof="1">
                    <a:solidFill>
                      <a:schemeClr val="bg1"/>
                    </a:solidFill>
                  </a:rPr>
                  <a:t>(</a:t>
                </a:r>
                <a:r>
                  <a:rPr lang="en-US" altLang="zh-CN" sz="2200" i="1" spc="200" noProof="1">
                    <a:solidFill>
                      <a:schemeClr val="bg1"/>
                    </a:solidFill>
                  </a:rPr>
                  <a:t>X</a:t>
                </a:r>
                <a:r>
                  <a:rPr lang="en-US" altLang="zh-CN" sz="2200" spc="200" baseline="30000" noProof="1">
                    <a:solidFill>
                      <a:schemeClr val="bg1"/>
                    </a:solidFill>
                  </a:rPr>
                  <a:t>2</a:t>
                </a:r>
                <a:r>
                  <a:rPr lang="en-US" altLang="zh-CN" sz="2200" spc="200" noProof="1">
                    <a:solidFill>
                      <a:schemeClr val="bg1"/>
                    </a:solidFill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200" i="1" spc="200" noProof="1">
                    <a:solidFill>
                      <a:schemeClr val="bg1"/>
                    </a:solidFill>
                  </a:rPr>
                  <a:t>       X</a:t>
                </a:r>
                <a:r>
                  <a:rPr lang="zh-CN" altLang="en-US" sz="2200" spc="200" noProof="1">
                    <a:solidFill>
                      <a:schemeClr val="bg1"/>
                    </a:solidFill>
                  </a:rPr>
                  <a:t>上不同关系的数目是</a:t>
                </a:r>
                <a:r>
                  <a:rPr lang="en-US" altLang="zh-CN" sz="2200" spc="200" noProof="1">
                    <a:solidFill>
                      <a:schemeClr val="bg1"/>
                    </a:solidFill>
                  </a:rPr>
                  <a:t>|</a:t>
                </a:r>
                <a:r>
                  <a:rPr lang="en-US" altLang="zh-CN" sz="2200" i="1" spc="200" noProof="1">
                    <a:solidFill>
                      <a:schemeClr val="bg1"/>
                    </a:solidFill>
                  </a:rPr>
                  <a:t>P</a:t>
                </a:r>
                <a:r>
                  <a:rPr lang="en-US" altLang="zh-CN" sz="2200" spc="200" noProof="1">
                    <a:solidFill>
                      <a:schemeClr val="bg1"/>
                    </a:solidFill>
                  </a:rPr>
                  <a:t>(</a:t>
                </a:r>
                <a:r>
                  <a:rPr lang="en-US" altLang="zh-CN" sz="2200" i="1" spc="200" noProof="1">
                    <a:solidFill>
                      <a:schemeClr val="bg1"/>
                    </a:solidFill>
                  </a:rPr>
                  <a:t>X</a:t>
                </a:r>
                <a:r>
                  <a:rPr lang="en-US" altLang="zh-CN" sz="2200" spc="200" baseline="30000" noProof="1">
                    <a:solidFill>
                      <a:schemeClr val="bg1"/>
                    </a:solidFill>
                  </a:rPr>
                  <a:t>2</a:t>
                </a:r>
                <a:r>
                  <a:rPr lang="en-US" altLang="zh-CN" sz="2200" spc="200" noProof="1">
                    <a:solidFill>
                      <a:schemeClr val="bg1"/>
                    </a:solidFill>
                  </a:rPr>
                  <a:t>)|=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pc="200" noProof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0" i="1" spc="200" noProof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zh-CN" sz="2200" i="1" spc="200" noProof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b="0" i="1" spc="200" noProof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200" b="0" i="1" spc="200" noProof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US" altLang="zh-CN" sz="2200" spc="200" noProof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77" y="4221088"/>
                <a:ext cx="11089232" cy="1777987"/>
              </a:xfrm>
              <a:prstGeom prst="rect">
                <a:avLst/>
              </a:prstGeom>
              <a:blipFill rotWithShape="1">
                <a:blip r:embed="rId2"/>
                <a:stretch>
                  <a:fillRect l="-1" t="-14" r="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07368" y="1625084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几个特殊的关系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文本占位符 112641"/>
          <p:cNvSpPr>
            <a:spLocks noGrp="1"/>
          </p:cNvSpPr>
          <p:nvPr>
            <p:ph type="body" sz="half" idx="4294967295"/>
          </p:nvPr>
        </p:nvSpPr>
        <p:spPr>
          <a:xfrm>
            <a:off x="695400" y="2321004"/>
            <a:ext cx="10369152" cy="205703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的函数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fr-FR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fr-FR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的二元关系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fr-FR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且具有下列性质：</a:t>
            </a:r>
            <a:endParaRPr kumimoji="1" lang="zh-CN" altLang="en-US" sz="2400" kern="1200" spc="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dom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</a:p>
          <a:p>
            <a:pPr marL="400050" lvl="1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0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0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(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0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0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0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20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成立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仅有的后件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1" lang="zh-CN" altLang="en-US" sz="2400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368" y="1670986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5.1.3  </a:t>
            </a:r>
            <a:r>
              <a:rPr lang="zh-CN" altLang="en-US" noProof="1"/>
              <a:t>函数</a:t>
            </a:r>
            <a:r>
              <a:rPr lang="en-US" altLang="zh-CN" noProof="1"/>
              <a:t>(</a:t>
            </a:r>
            <a:r>
              <a:rPr lang="zh-CN" altLang="en-US" noProof="1"/>
              <a:t>特殊的二元关系</a:t>
            </a:r>
            <a:r>
              <a:rPr lang="en-US" altLang="zh-CN" noProof="1"/>
              <a:t>)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43472" y="5343537"/>
            <a:ext cx="7079707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初等函数</a:t>
            </a:r>
            <a:r>
              <a:rPr lang="en-US" altLang="zh-CN" sz="24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关于数域的函数</a:t>
            </a:r>
            <a:r>
              <a:rPr lang="en-US" altLang="zh-CN" sz="24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仅是一类特殊的函数</a:t>
            </a:r>
            <a:endParaRPr lang="zh-CN" altLang="en-US" sz="2400" b="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文本占位符 112641"/>
          <p:cNvSpPr>
            <a:spLocks noGrp="1"/>
          </p:cNvSpPr>
          <p:nvPr>
            <p:ph type="body" sz="half" idx="4294967295"/>
          </p:nvPr>
        </p:nvSpPr>
        <p:spPr>
          <a:xfrm>
            <a:off x="911424" y="2348880"/>
            <a:ext cx="10369152" cy="224285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),(1,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),(2,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),(3,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)},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),(2,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)},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={(1,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),(2,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),(3,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1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有两个后件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不是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3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关于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没有后件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kern="1200" spc="200" baseline="-25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1384" y="1700808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例</a:t>
            </a:r>
            <a:r>
              <a:rPr lang="en-US" altLang="zh-CN" noProof="1"/>
              <a:t>5.1.4</a:t>
            </a:r>
            <a:r>
              <a:rPr lang="zh-CN" altLang="en-US" noProof="1"/>
              <a:t>  </a:t>
            </a:r>
            <a:r>
              <a:rPr lang="en-US" altLang="zh-CN" i="1" noProof="1"/>
              <a:t>X</a:t>
            </a:r>
            <a:r>
              <a:rPr lang="en-US" altLang="zh-CN" noProof="1"/>
              <a:t>={1,2,3}, </a:t>
            </a:r>
            <a:r>
              <a:rPr lang="en-US" altLang="zh-CN" i="1" noProof="1"/>
              <a:t>Y</a:t>
            </a:r>
            <a:r>
              <a:rPr lang="en-US" altLang="zh-CN" noProof="1"/>
              <a:t>={</a:t>
            </a:r>
            <a:r>
              <a:rPr lang="en-US" altLang="zh-CN" i="1" noProof="1"/>
              <a:t>a</a:t>
            </a:r>
            <a:r>
              <a:rPr lang="en-US" altLang="zh-CN" noProof="1"/>
              <a:t>,</a:t>
            </a:r>
            <a:r>
              <a:rPr lang="en-US" altLang="zh-CN" i="1" noProof="1"/>
              <a:t>b</a:t>
            </a:r>
            <a:r>
              <a:rPr lang="en-US" altLang="zh-CN" noProof="1"/>
              <a:t>,</a:t>
            </a:r>
            <a:r>
              <a:rPr lang="en-US" altLang="zh-CN" i="1" noProof="1"/>
              <a:t>c</a:t>
            </a:r>
            <a:r>
              <a:rPr lang="en-US" altLang="zh-CN" noProof="1"/>
              <a:t>,</a:t>
            </a:r>
            <a:r>
              <a:rPr lang="en-US" altLang="zh-CN" i="1" noProof="1"/>
              <a:t>d</a:t>
            </a:r>
            <a:r>
              <a:rPr lang="en-US" altLang="zh-CN" noProof="1"/>
              <a:t>}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2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2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2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2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文本占位符 68609"/>
          <p:cNvSpPr>
            <a:spLocks noGrp="1"/>
          </p:cNvSpPr>
          <p:nvPr>
            <p:ph type="body" sz="half" idx="4294967295"/>
          </p:nvPr>
        </p:nvSpPr>
        <p:spPr>
          <a:xfrm>
            <a:off x="623392" y="4725144"/>
            <a:ext cx="10491456" cy="14227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1" algn="just">
              <a:lnSpc>
                <a:spcPct val="150000"/>
              </a:lnSpc>
              <a:spcBef>
                <a:spcPct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有向图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顶点表示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中的元素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左边一列顶点表示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中的元素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右边一列顶点表示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中的元素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顶点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的有向边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箭头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存在 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Y, 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kumimoji="1" lang="en-US" altLang="zh-CN" sz="2000" i="1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zh-CN" altLang="en-US" sz="20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中的元素不重复画两次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9376" y="1556891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二元关系的表示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二元关系的表示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15480" y="2080111"/>
            <a:ext cx="6094520" cy="1688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eaLnBrk="0" hangingPunct="0">
              <a:lnSpc>
                <a:spcPct val="150000"/>
              </a:lnSpc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  <a:defRPr sz="2400" i="1" spc="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b="0" i="0" noProof="1"/>
              <a:t>(1)</a:t>
            </a:r>
            <a:r>
              <a:rPr lang="zh-CN" altLang="en-US" b="0" i="0" noProof="1"/>
              <a:t>表示集合的方法</a:t>
            </a:r>
          </a:p>
          <a:p>
            <a:pPr marL="0" indent="0">
              <a:buNone/>
            </a:pPr>
            <a:r>
              <a:rPr lang="en-US" altLang="zh-CN" b="0" i="0" noProof="1"/>
              <a:t>(2)</a:t>
            </a:r>
            <a:r>
              <a:rPr lang="zh-CN" altLang="en-US" b="0" i="0" noProof="1"/>
              <a:t>关系图</a:t>
            </a:r>
          </a:p>
          <a:p>
            <a:pPr marL="0" indent="0">
              <a:buNone/>
            </a:pPr>
            <a:r>
              <a:rPr lang="en-US" altLang="zh-CN" b="0" i="0" noProof="1"/>
              <a:t>(3)</a:t>
            </a:r>
            <a:r>
              <a:rPr lang="zh-CN" altLang="en-US" b="0" i="0" noProof="1"/>
              <a:t>关系矩阵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57664" y="4030581"/>
            <a:ext cx="6624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>
                <a:sym typeface="Symbol" panose="05050102010706020507" pitchFamily="18" charset="2"/>
              </a:rPr>
              <a:t>关系图 </a:t>
            </a:r>
            <a:r>
              <a:rPr lang="en-US" altLang="zh-CN" sz="2400" noProof="1">
                <a:solidFill>
                  <a:schemeClr val="bg1"/>
                </a:solidFill>
                <a:sym typeface="Symbol" panose="05050102010706020507" pitchFamily="18" charset="2"/>
              </a:rPr>
              <a:t>(</a:t>
            </a:r>
            <a:r>
              <a:rPr lang="en-US" altLang="zh-CN" sz="2400" i="1" noProof="1">
                <a:solidFill>
                  <a:schemeClr val="bg1"/>
                </a:solidFill>
                <a:sym typeface="Symbol" panose="05050102010706020507" pitchFamily="18" charset="2"/>
              </a:rPr>
              <a:t>X</a:t>
            </a:r>
            <a:r>
              <a:rPr lang="zh-CN" altLang="en-US" sz="2400" noProof="1">
                <a:solidFill>
                  <a:schemeClr val="bg1"/>
                </a:solidFill>
                <a:sym typeface="Symbol" panose="05050102010706020507" pitchFamily="18" charset="2"/>
              </a:rPr>
              <a:t>到</a:t>
            </a:r>
            <a:r>
              <a:rPr lang="en-US" altLang="zh-CN" sz="2400" i="1" noProof="1">
                <a:solidFill>
                  <a:schemeClr val="bg1"/>
                </a:solidFill>
                <a:sym typeface="Symbol" panose="05050102010706020507" pitchFamily="18" charset="2"/>
              </a:rPr>
              <a:t>Y</a:t>
            </a:r>
            <a:r>
              <a:rPr lang="zh-CN" altLang="en-US" sz="2400" noProof="1">
                <a:solidFill>
                  <a:schemeClr val="bg1"/>
                </a:solidFill>
                <a:sym typeface="Symbol" panose="05050102010706020507" pitchFamily="18" charset="2"/>
              </a:rPr>
              <a:t>的二元关系</a:t>
            </a:r>
            <a:r>
              <a:rPr lang="en-US" altLang="zh-CN" sz="2400" i="1" noProof="1">
                <a:solidFill>
                  <a:schemeClr val="bg1"/>
                </a:solidFill>
                <a:sym typeface="Symbol" panose="05050102010706020507" pitchFamily="18" charset="2"/>
              </a:rPr>
              <a:t>R</a:t>
            </a:r>
            <a:r>
              <a:rPr lang="en-US" altLang="zh-CN" sz="2400" noProof="1">
                <a:solidFill>
                  <a:schemeClr val="bg1"/>
                </a:solidFill>
                <a:sym typeface="Symbol" panose="05050102010706020507" pitchFamily="18" charset="2"/>
              </a:rPr>
              <a:t>, </a:t>
            </a:r>
            <a:r>
              <a:rPr lang="zh-CN" altLang="en-US" sz="2400" noProof="1">
                <a:solidFill>
                  <a:schemeClr val="bg1"/>
                </a:solidFill>
                <a:sym typeface="Symbol" panose="05050102010706020507" pitchFamily="18" charset="2"/>
              </a:rPr>
              <a:t>有限集</a:t>
            </a:r>
            <a:r>
              <a:rPr lang="en-US" altLang="zh-CN" sz="2400" i="1" noProof="1">
                <a:solidFill>
                  <a:schemeClr val="bg1"/>
                </a:solidFill>
                <a:sym typeface="Symbol" panose="05050102010706020507" pitchFamily="18" charset="2"/>
              </a:rPr>
              <a:t>X</a:t>
            </a:r>
            <a:r>
              <a:rPr lang="zh-CN" altLang="en-US" sz="2400" noProof="1">
                <a:solidFill>
                  <a:schemeClr val="bg1"/>
                </a:solidFill>
                <a:sym typeface="Symbol" panose="05050102010706020507" pitchFamily="18" charset="2"/>
              </a:rPr>
              <a:t>和</a:t>
            </a:r>
            <a:r>
              <a:rPr lang="en-US" altLang="zh-CN" sz="2400" i="1" noProof="1">
                <a:solidFill>
                  <a:schemeClr val="bg1"/>
                </a:solidFill>
                <a:sym typeface="Symbol" panose="05050102010706020507" pitchFamily="18" charset="2"/>
              </a:rPr>
              <a:t>Y</a:t>
            </a:r>
            <a:r>
              <a:rPr lang="en-US" altLang="zh-CN" sz="2400" noProof="1">
                <a:solidFill>
                  <a:schemeClr val="bg1"/>
                </a:solidFill>
                <a:sym typeface="Symbol" panose="05050102010706020507" pitchFamily="18" charset="2"/>
              </a:rPr>
              <a:t>)</a:t>
            </a:r>
            <a:endParaRPr lang="zh-CN" altLang="en-US" sz="2400" noProof="1">
              <a:solidFill>
                <a:schemeClr val="bg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文本占位符 100353"/>
          <p:cNvSpPr>
            <a:spLocks noGrp="1"/>
          </p:cNvSpPr>
          <p:nvPr>
            <p:ph type="body" sz="half" idx="1"/>
          </p:nvPr>
        </p:nvSpPr>
        <p:spPr>
          <a:xfrm>
            <a:off x="104533" y="1481745"/>
            <a:ext cx="10369153" cy="523220"/>
          </a:xfrm>
          <a:noFill/>
        </p:spPr>
        <p:txBody>
          <a:bodyPr wrap="square">
            <a:sp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kumimoji="1" lang="zh-CN" altLang="en-US" sz="280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5.1.5</a:t>
            </a:r>
            <a:r>
              <a:rPr kumimoji="1" lang="zh-CN" altLang="en-US" sz="2800" kern="120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注意比较两种关系的关系图：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的关系和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上的关系</a:t>
            </a:r>
            <a:endParaRPr kumimoji="1" lang="zh-CN" altLang="en-US" sz="2400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12291" name="图片 10035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760" y="2115202"/>
            <a:ext cx="2520404" cy="1488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图片 1003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994" y="2177859"/>
            <a:ext cx="2304256" cy="1426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图片 10036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431" y="4096582"/>
            <a:ext cx="3167062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图片 10036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972" y="4151812"/>
            <a:ext cx="1584325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64" name="矩形 100363"/>
          <p:cNvSpPr/>
          <p:nvPr/>
        </p:nvSpPr>
        <p:spPr>
          <a:xfrm>
            <a:off x="2100587" y="3583020"/>
            <a:ext cx="29527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 noProof="1">
                <a:solidFill>
                  <a:schemeClr val="bg1"/>
                </a:solidFill>
              </a:rPr>
              <a:t> </a:t>
            </a:r>
            <a:r>
              <a:rPr lang="en-US" altLang="zh-CN" sz="20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R</a:t>
            </a:r>
            <a:r>
              <a:rPr lang="en-US" altLang="zh-CN" sz="2000" baseline="-25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1</a:t>
            </a:r>
            <a:r>
              <a:rPr lang="en-US" altLang="zh-CN" sz="2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={(1,</a:t>
            </a:r>
            <a:r>
              <a:rPr lang="en-US" altLang="zh-CN" sz="20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  <a:r>
              <a:rPr lang="en-US" altLang="zh-CN" sz="2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),(1,</a:t>
            </a:r>
            <a:r>
              <a:rPr lang="en-US" altLang="zh-CN" sz="20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b</a:t>
            </a:r>
            <a:r>
              <a:rPr lang="en-US" altLang="zh-CN" sz="2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),(2,</a:t>
            </a:r>
            <a:r>
              <a:rPr lang="en-US" altLang="zh-CN" sz="20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c</a:t>
            </a:r>
            <a:r>
              <a:rPr lang="en-US" altLang="zh-CN" sz="2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),(3,</a:t>
            </a:r>
            <a:r>
              <a:rPr lang="en-US" altLang="zh-CN" sz="20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d</a:t>
            </a:r>
            <a:r>
              <a:rPr lang="en-US" altLang="zh-CN" sz="2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)}</a:t>
            </a:r>
          </a:p>
        </p:txBody>
      </p:sp>
      <p:sp>
        <p:nvSpPr>
          <p:cNvPr id="100365" name="矩形 100364"/>
          <p:cNvSpPr/>
          <p:nvPr/>
        </p:nvSpPr>
        <p:spPr>
          <a:xfrm>
            <a:off x="6987010" y="3583020"/>
            <a:ext cx="18002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R</a:t>
            </a:r>
            <a:r>
              <a:rPr lang="en-US" altLang="zh-CN" sz="2000" baseline="-25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2</a:t>
            </a:r>
            <a:r>
              <a:rPr lang="en-US" altLang="zh-CN" sz="2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={(1,</a:t>
            </a:r>
            <a:r>
              <a:rPr lang="en-US" altLang="zh-CN" sz="20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  <a:r>
              <a:rPr lang="en-US" altLang="zh-CN" sz="2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),(2,</a:t>
            </a:r>
            <a:r>
              <a:rPr lang="en-US" altLang="zh-CN" sz="20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d</a:t>
            </a:r>
            <a:r>
              <a:rPr lang="en-US" altLang="zh-CN" sz="2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)}</a:t>
            </a:r>
          </a:p>
        </p:txBody>
      </p:sp>
      <p:sp>
        <p:nvSpPr>
          <p:cNvPr id="100366" name="矩形 100365"/>
          <p:cNvSpPr/>
          <p:nvPr/>
        </p:nvSpPr>
        <p:spPr>
          <a:xfrm>
            <a:off x="2360376" y="6011107"/>
            <a:ext cx="25193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 </a:t>
            </a:r>
            <a:r>
              <a:rPr lang="en-US" altLang="zh-CN" sz="20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R</a:t>
            </a:r>
            <a:r>
              <a:rPr lang="en-US" altLang="zh-CN" sz="2000" baseline="-25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3</a:t>
            </a:r>
            <a:r>
              <a:rPr lang="en-US" altLang="zh-CN" sz="2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={(1,</a:t>
            </a:r>
            <a:r>
              <a:rPr lang="en-US" altLang="zh-CN" sz="20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  <a:r>
              <a:rPr lang="en-US" altLang="zh-CN" sz="2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),(2,</a:t>
            </a:r>
            <a:r>
              <a:rPr lang="en-US" altLang="zh-CN" sz="20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  <a:r>
              <a:rPr lang="en-US" altLang="zh-CN" sz="2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),(3,</a:t>
            </a:r>
            <a:r>
              <a:rPr lang="en-US" altLang="zh-CN" sz="2000" i="1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d</a:t>
            </a:r>
            <a:r>
              <a:rPr lang="en-US" altLang="zh-CN" sz="2000" noProof="1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)}</a:t>
            </a:r>
          </a:p>
        </p:txBody>
      </p:sp>
      <p:sp>
        <p:nvSpPr>
          <p:cNvPr id="12298" name="矩形 100366"/>
          <p:cNvSpPr>
            <a:spLocks noChangeArrowheads="1"/>
          </p:cNvSpPr>
          <p:nvPr/>
        </p:nvSpPr>
        <p:spPr bwMode="auto">
          <a:xfrm>
            <a:off x="6530653" y="6083344"/>
            <a:ext cx="2874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={(1,1),(1,2),(2,1),(3,4)}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二元关系的表示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build="p"/>
      <p:bldP spid="100364" grpId="0"/>
      <p:bldP spid="100365" grpId="0"/>
      <p:bldP spid="100366" grpId="0"/>
      <p:bldP spid="1229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占位符 49153"/>
          <p:cNvSpPr>
            <a:spLocks noGrp="1"/>
          </p:cNvSpPr>
          <p:nvPr>
            <p:ph type="body" sz="half" idx="4294967295"/>
          </p:nvPr>
        </p:nvSpPr>
        <p:spPr>
          <a:xfrm>
            <a:off x="551384" y="1671804"/>
            <a:ext cx="8893175" cy="52322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关系矩阵</a:t>
            </a:r>
            <a:r>
              <a:rPr kumimoji="1" lang="en-US" altLang="zh-CN" sz="2800" i="1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kumimoji="1" lang="en-US" altLang="zh-CN" sz="2800" i="1" kern="1200" baseline="-250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的二元关系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有限集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zh-CN" altLang="en-US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kumimoji="1" lang="en-US" altLang="zh-CN" sz="24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en-US" altLang="zh-CN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1" lang="zh-CN" altLang="en-US" sz="2400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163" name="矩形 49162"/>
              <p:cNvSpPr/>
              <p:nvPr/>
            </p:nvSpPr>
            <p:spPr>
              <a:xfrm>
                <a:off x="7248128" y="3615096"/>
                <a:ext cx="3027239" cy="8597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>
                  <a:lnSpc>
                    <a:spcPct val="80000"/>
                  </a:lnSpc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e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∉</m:t>
                              </m:r>
                              <m:r>
                                <a:rPr lang="en-US" altLang="zh-C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</m:eqArr>
                        </m:e>
                      </m:d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400" noProof="1">
                  <a:solidFill>
                    <a:schemeClr val="bg1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9163" name="矩形 491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128" y="3615096"/>
                <a:ext cx="3027239" cy="859723"/>
              </a:xfrm>
              <a:prstGeom prst="rect">
                <a:avLst/>
              </a:prstGeom>
              <a:blipFill rotWithShape="1">
                <a:blip r:embed="rId2"/>
                <a:stretch>
                  <a:fillRect l="-8" t="-3181" r="14" b="71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18" name="矩形 49164"/>
          <p:cNvSpPr>
            <a:spLocks noChangeArrowheads="1"/>
          </p:cNvSpPr>
          <p:nvPr/>
        </p:nvSpPr>
        <p:spPr bwMode="auto">
          <a:xfrm>
            <a:off x="152400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二元关系的表示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131074" y="2352440"/>
            <a:ext cx="82809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+mn-lt"/>
                <a:ea typeface="+mn-ea"/>
              </a:defRPr>
            </a:lvl1pPr>
            <a:lvl2pPr marL="742950" lvl="1" indent="-285750" algn="just" eaLnBrk="0" hangingPunct="0">
              <a:lnSpc>
                <a:spcPct val="150000"/>
              </a:lnSpc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  <a:defRPr sz="2000" spc="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baseline="-2500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baseline="-2500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i="1" baseline="-2500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}, </a:t>
            </a: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0" baseline="-2500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0" baseline="-2500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0" i="1" baseline="-2500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548646" y="3405188"/>
                <a:ext cx="5987514" cy="1452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𝟏𝟏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altLang="zh-CN" sz="2400" b="1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altLang="zh-CN" sz="2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𝟐𝟐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altLang="zh-CN" sz="2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CN" sz="2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altLang="zh-CN" sz="2400" b="1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US" altLang="zh-CN" sz="2400" b="1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𝒎</m:t>
                                          </m:r>
                                          <m: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𝒎</m:t>
                                          </m:r>
                                          <m:r>
                                            <a:rPr lang="en-US" altLang="zh-CN" sz="2400" b="1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altLang="zh-CN" sz="2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𝒎𝒏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646" y="3405188"/>
                <a:ext cx="5987514" cy="1452962"/>
              </a:xfrm>
              <a:prstGeom prst="rect">
                <a:avLst/>
              </a:prstGeom>
              <a:blipFill rotWithShape="1">
                <a:blip r:embed="rId3"/>
                <a:stretch>
                  <a:fillRect l="-9" t="-22" r="10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build="p"/>
      <p:bldP spid="49163" grpId="0"/>
      <p:bldP spid="11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矩形 103427"/>
          <p:cNvSpPr/>
          <p:nvPr/>
        </p:nvSpPr>
        <p:spPr>
          <a:xfrm>
            <a:off x="479376" y="1627982"/>
            <a:ext cx="8713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marL="0" indent="0" algn="just">
              <a:buNone/>
            </a:pPr>
            <a:r>
              <a:rPr lang="zh-CN" altLang="en-US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5.1.6</a:t>
            </a:r>
            <a:r>
              <a:rPr lang="zh-CN" altLang="en-US" b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关系矩阵</a:t>
            </a:r>
            <a:endParaRPr lang="zh-CN" altLang="en-US" b="0" noProof="1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339" name="矩形 103430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对象 103429"/>
              <p:cNvSpPr txBox="1"/>
              <p:nvPr/>
            </p:nvSpPr>
            <p:spPr bwMode="auto">
              <a:xfrm>
                <a:off x="1631504" y="2266025"/>
                <a:ext cx="4081388" cy="14970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340" name="对象 1034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1504" y="2266025"/>
                <a:ext cx="4081388" cy="1497012"/>
              </a:xfrm>
              <a:prstGeom prst="rect">
                <a:avLst/>
              </a:prstGeom>
              <a:blipFill rotWithShape="1">
                <a:blip r:embed="rId2"/>
                <a:stretch>
                  <a:fillRect l="-5" t="-23" r="11" b="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1" name="矩形 103432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2" name="对象 103431"/>
              <p:cNvSpPr txBox="1"/>
              <p:nvPr/>
            </p:nvSpPr>
            <p:spPr bwMode="auto">
              <a:xfrm>
                <a:off x="5375920" y="2266025"/>
                <a:ext cx="3817244" cy="1398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342" name="对象 1034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5920" y="2266025"/>
                <a:ext cx="3817244" cy="1398588"/>
              </a:xfrm>
              <a:prstGeom prst="rect">
                <a:avLst/>
              </a:prstGeom>
              <a:blipFill rotWithShape="1">
                <a:blip r:embed="rId3"/>
                <a:stretch>
                  <a:fillRect t="-25" r="7" b="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3" name="矩形 103434"/>
          <p:cNvSpPr>
            <a:spLocks noChangeArrowheads="1"/>
          </p:cNvSpPr>
          <p:nvPr/>
        </p:nvSpPr>
        <p:spPr bwMode="auto">
          <a:xfrm>
            <a:off x="1524000" y="3074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4" name="对象 103433"/>
              <p:cNvSpPr txBox="1"/>
              <p:nvPr/>
            </p:nvSpPr>
            <p:spPr bwMode="auto">
              <a:xfrm>
                <a:off x="1631504" y="4162458"/>
                <a:ext cx="4240342" cy="1554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344" name="对象 103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1504" y="4162458"/>
                <a:ext cx="4240342" cy="1554163"/>
              </a:xfrm>
              <a:prstGeom prst="rect">
                <a:avLst/>
              </a:prstGeom>
              <a:blipFill rotWithShape="1">
                <a:blip r:embed="rId4"/>
                <a:stretch>
                  <a:fillRect l="-4" t="-2" b="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5" name="矩形 103436"/>
          <p:cNvSpPr>
            <a:spLocks noChangeArrowheads="1"/>
          </p:cNvSpPr>
          <p:nvPr/>
        </p:nvSpPr>
        <p:spPr bwMode="auto">
          <a:xfrm>
            <a:off x="1524000" y="2971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6" name="对象 103435"/>
              <p:cNvSpPr txBox="1"/>
              <p:nvPr/>
            </p:nvSpPr>
            <p:spPr bwMode="auto">
              <a:xfrm>
                <a:off x="5372100" y="4162425"/>
                <a:ext cx="3817244" cy="1806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sub>
                      </m:sSub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346" name="对象 1034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2100" y="4162425"/>
                <a:ext cx="3817244" cy="1806575"/>
              </a:xfrm>
              <a:prstGeom prst="rect">
                <a:avLst/>
              </a:prstGeom>
              <a:blipFill rotWithShape="1">
                <a:blip r:embed="rId5"/>
                <a:stretch>
                  <a:fillRect r="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二元关系的表示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文本占位符 99329"/>
          <p:cNvSpPr>
            <a:spLocks noGrp="1"/>
          </p:cNvSpPr>
          <p:nvPr>
            <p:ph type="body" sz="half" idx="4294967295"/>
          </p:nvPr>
        </p:nvSpPr>
        <p:spPr>
          <a:xfrm>
            <a:off x="983432" y="2232171"/>
            <a:ext cx="9289442" cy="279570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关系矩阵的元素之和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关系的基数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关系矩阵的元素之和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关系图中的箭头的个数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集合上的关系的关系矩阵必定是方阵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(4)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关系成为函数 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关系图中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左边每个顶点的出度均为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 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关系矩阵中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每行有且仅有一个</a:t>
            </a:r>
            <a:r>
              <a:rPr kumimoji="1" lang="en-US" altLang="zh-CN" sz="2400" kern="1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9376" y="1700808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关系矩阵和关系图的性质 </a:t>
            </a:r>
          </a:p>
        </p:txBody>
      </p:sp>
      <p:sp>
        <p:nvSpPr>
          <p:cNvPr id="7" name="文本框 6"/>
          <p:cNvSpPr txBox="1"/>
          <p:nvPr/>
        </p:nvSpPr>
        <p:spPr>
          <a:xfrm rot="21220280">
            <a:off x="1919701" y="5468749"/>
            <a:ext cx="6984776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/>
            <a:r>
              <a:rPr lang="zh-CN" altLang="en-US" sz="2400" b="0" noProof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无限集之间的关系能否表示为关系矩阵和关系图？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二元关系的表示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9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9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9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9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51384" y="1922473"/>
            <a:ext cx="69467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5.1.4   ——</a:t>
            </a:r>
            <a:r>
              <a:rPr lang="en-US" altLang="zh-CN" i="1" noProof="1"/>
              <a:t>n</a:t>
            </a:r>
            <a:r>
              <a:rPr lang="zh-CN" altLang="en-US" noProof="1"/>
              <a:t>元关系      </a:t>
            </a:r>
          </a:p>
        </p:txBody>
      </p:sp>
      <p:sp>
        <p:nvSpPr>
          <p:cNvPr id="6" name="对话气泡: 圆角矩形 5"/>
          <p:cNvSpPr/>
          <p:nvPr/>
        </p:nvSpPr>
        <p:spPr bwMode="auto">
          <a:xfrm>
            <a:off x="6744072" y="1365573"/>
            <a:ext cx="5119600" cy="1080120"/>
          </a:xfrm>
          <a:prstGeom prst="wedgeRoundRectCallout">
            <a:avLst>
              <a:gd name="adj1" fmla="val -30167"/>
              <a:gd name="adj2" fmla="val -77065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zh-CN" sz="2000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三者或更多</a:t>
            </a:r>
            <a:r>
              <a:rPr lang="zh-CN" altLang="en-US" sz="2000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对象</a:t>
            </a:r>
            <a:r>
              <a:rPr lang="zh-CN" altLang="zh-CN" sz="2000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之间的联系</a:t>
            </a:r>
            <a:r>
              <a:rPr lang="zh-CN" altLang="en-US" sz="2000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的数学模型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000" i="1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000" noProof="1">
                <a:solidFill>
                  <a:srgbClr val="7030A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元组的集合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094018" y="2533782"/>
            <a:ext cx="9051434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0" indent="0" algn="just" eaLnBrk="0" hangingPunct="0">
              <a:lnSpc>
                <a:spcPct val="150000"/>
              </a:lnSpc>
              <a:buNone/>
              <a:defRPr sz="2400" spc="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0" noProof="1"/>
              <a:t>集合</a:t>
            </a: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baseline="-2500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baseline="-2500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i="1" baseline="-2500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fr-FR" b="0" noProof="1"/>
              <a:t>上的</a:t>
            </a:r>
            <a:r>
              <a:rPr lang="en-US" altLang="zh-CN" b="0" i="1" noProof="1"/>
              <a:t>n</a:t>
            </a:r>
            <a:r>
              <a:rPr lang="zh-CN" altLang="en-US" b="0" noProof="1"/>
              <a:t>元关系：</a:t>
            </a: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X</a:t>
            </a:r>
            <a:r>
              <a:rPr lang="en-US" altLang="zh-CN" sz="2400" b="0" baseline="-2500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0" noProof="1"/>
              <a:t>×</a:t>
            </a: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baseline="-2500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0" noProof="1"/>
              <a:t>×</a:t>
            </a:r>
            <a:r>
              <a:rPr lang="en-US" altLang="zh-CN" sz="2400" b="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altLang="zh-CN" b="0" noProof="1"/>
              <a:t>×</a:t>
            </a:r>
            <a:r>
              <a:rPr lang="en-US" altLang="zh-CN" sz="2400" b="0" i="1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i="1" baseline="-25000" noProof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zh-CN" altLang="en-US" b="0" noProof="1"/>
              <a:t>的子集</a:t>
            </a:r>
            <a:endParaRPr lang="zh-CN" altLang="en-US" b="0" dirty="0"/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5.1.3 </a:t>
            </a:r>
            <a:r>
              <a:rPr lang="en-US" altLang="zh-CN" sz="36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 animBg="1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文本占位符 104449"/>
          <p:cNvSpPr>
            <a:spLocks noGrp="1"/>
          </p:cNvSpPr>
          <p:nvPr>
            <p:ph type="body" sz="half" idx="4294967295"/>
          </p:nvPr>
        </p:nvSpPr>
        <p:spPr>
          <a:xfrm>
            <a:off x="1343472" y="3973523"/>
            <a:ext cx="8893175" cy="173361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kumimoji="1" lang="zh-CN" altLang="pt-BR" sz="24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学生选课情况无法用二元关系准确地表示</a:t>
            </a:r>
          </a:p>
          <a:p>
            <a:pPr lvl="1">
              <a:lnSpc>
                <a:spcPct val="130000"/>
              </a:lnSpc>
              <a:spcBef>
                <a:spcPct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1" lang="zh-CN" altLang="pt-BR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关系可以表示学生选课的情况</a:t>
            </a:r>
          </a:p>
          <a:p>
            <a:pPr lvl="1">
              <a:lnSpc>
                <a:spcPct val="130000"/>
              </a:lnSpc>
              <a:spcBef>
                <a:spcPct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1" lang="zh-CN" altLang="pt-BR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关系可以表示教师开课的情况，</a:t>
            </a:r>
          </a:p>
          <a:p>
            <a:pPr lvl="1">
              <a:lnSpc>
                <a:spcPct val="130000"/>
              </a:lnSpc>
              <a:spcBef>
                <a:spcPct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000" i="1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1" lang="zh-CN" altLang="pt-BR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二元</a:t>
            </a:r>
            <a:r>
              <a:rPr kumimoji="1" lang="zh-CN" altLang="en-US" sz="2000" kern="1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关系可以表示学生在听那些教师的课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5.1.3 </a:t>
            </a:r>
            <a:r>
              <a:rPr lang="en-US" altLang="zh-CN" sz="3600" b="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元关系</a:t>
            </a:r>
          </a:p>
        </p:txBody>
      </p:sp>
      <p:sp>
        <p:nvSpPr>
          <p:cNvPr id="5" name="文本占位符 53249"/>
          <p:cNvSpPr txBox="1"/>
          <p:nvPr/>
        </p:nvSpPr>
        <p:spPr bwMode="auto">
          <a:xfrm>
            <a:off x="1703512" y="1639425"/>
            <a:ext cx="10225136" cy="220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kumimoji="0" lang="zh-CN" altLang="pt-BR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某大学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一位教师可以同时教授多门课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一门课也可以由多位教师同时讲授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pt-BR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学生可以自由地选择教师和课程。 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pt-BR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教师集合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pt-BR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0" lang="zh-CN" altLang="pt-BR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：学生集合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zh-CN" altLang="pt-BR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：课程集合。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kumimoji="0" lang="zh-CN" altLang="en-US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学生选课情况可表示为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 </a:t>
            </a:r>
            <a:r>
              <a:rPr kumimoji="0" lang="zh-CN" altLang="en-US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元关系。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kumimoji="0" lang="zh-CN" altLang="en-US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学生选课情况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元关系：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{(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,C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,T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),(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都选修了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sz="2200" b="0" i="1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200" b="0" kern="0" baseline="-2500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200" b="0" kern="0" noProof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但他们选修课程的情况并不完全相同。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6440" y="1639425"/>
            <a:ext cx="2039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algn="just">
              <a:defRPr sz="2800" b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pt-BR" noProof="1"/>
              <a:t>例</a:t>
            </a:r>
            <a:r>
              <a:rPr lang="en-US" altLang="zh-CN" noProof="1"/>
              <a:t>5.1.7</a:t>
            </a:r>
            <a:r>
              <a:rPr lang="zh-CN" altLang="pt-BR" noProof="1"/>
              <a:t> </a:t>
            </a:r>
            <a:endParaRPr lang="zh-CN" altLang="en-US" dirty="0"/>
          </a:p>
        </p:txBody>
      </p:sp>
      <p:sp>
        <p:nvSpPr>
          <p:cNvPr id="7" name="文本占位符 104449"/>
          <p:cNvSpPr txBox="1"/>
          <p:nvPr/>
        </p:nvSpPr>
        <p:spPr bwMode="auto">
          <a:xfrm>
            <a:off x="1248584" y="5835313"/>
            <a:ext cx="6840760" cy="52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上述三个二元关系不足以表达</a:t>
            </a:r>
            <a:r>
              <a:rPr kumimoji="1" lang="en-US" altLang="zh-CN" sz="2400" b="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0" kern="1200" baseline="-250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="0" i="1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0" kern="1200" baseline="-250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0" kern="1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的选课情况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endParaRPr lang="en-US" altLang="zh-CN" sz="4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36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103</a:t>
            </a:r>
            <a:r>
              <a:rPr lang="zh-CN" altLang="en-US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3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2, 3, 8</a:t>
            </a:r>
            <a:endParaRPr lang="zh-CN" altLang="en-US" sz="36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07368" y="1556791"/>
                <a:ext cx="11233248" cy="34847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1. 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集合</a:t>
                </a:r>
                <a:r>
                  <a:rPr lang="en-US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={</a:t>
                </a:r>
                <a:r>
                  <a:rPr lang="en-US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b,c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}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上的一个关系</a:t>
                </a:r>
                <a:r>
                  <a:rPr lang="en-US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的关系矩阵如下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请写出这个关系。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注：矩阵的第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1, 2, 3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行以及第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1, 2, 3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列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分别对应</a:t>
                </a:r>
                <a:r>
                  <a:rPr lang="en-US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中的元素</a:t>
                </a:r>
                <a:r>
                  <a:rPr lang="en-US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noProof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noProof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0" i="1" noProof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800" b="0" i="1" noProof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800" b="0" i="1" noProof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noProof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800" b="0" i="1" noProof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800" b="0" i="1" noProof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noProof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800" b="0" i="1" noProof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800" b="0" i="1" noProof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b="0" noProof="1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一集合上的一个关系的关系图如上图所示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请写出这个关系。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3. 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</a:t>
                </a:r>
                <a:r>
                  <a:rPr lang="pt-BR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pt-BR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pt-BR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lang="zh-CN" altLang="pt-BR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都是有限集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pt-BR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|</a:t>
                </a:r>
                <a:r>
                  <a:rPr lang="pt-BR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pt-BR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|=</a:t>
                </a:r>
                <a:r>
                  <a:rPr lang="pt-BR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pt-BR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|</a:t>
                </a:r>
                <a:r>
                  <a:rPr lang="pt-BR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lang="pt-BR" altLang="zh-CN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|=</a:t>
                </a:r>
                <a:r>
                  <a:rPr lang="pt-BR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pt-BR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问</a:t>
                </a:r>
                <a:r>
                  <a:rPr lang="pt-BR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pt-BR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到</a:t>
                </a:r>
                <a:r>
                  <a:rPr lang="pt-BR" altLang="zh-CN" sz="2000" b="0" i="1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Y</a:t>
                </a:r>
                <a:r>
                  <a:rPr lang="zh-CN" altLang="pt-BR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2000" b="0" noProof="1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不同的关系有多少个？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sz="2000" b="0" noProof="1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68" y="1556791"/>
                <a:ext cx="11233248" cy="3484737"/>
              </a:xfrm>
              <a:prstGeom prst="rect">
                <a:avLst/>
              </a:prstGeom>
              <a:blipFill rotWithShape="1">
                <a:blip r:embed="rId4"/>
                <a:stretch>
                  <a:fillRect l="-3" t="-12" r="4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2355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240" y="2204864"/>
            <a:ext cx="2160240" cy="2202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1743</Words>
  <Application>Microsoft Office PowerPoint</Application>
  <PresentationFormat>宽屏</PresentationFormat>
  <Paragraphs>151</Paragraphs>
  <Slides>20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楷体_GB2312</vt:lpstr>
      <vt:lpstr>宋体</vt:lpstr>
      <vt:lpstr>微软雅黑</vt:lpstr>
      <vt:lpstr>Arial</vt:lpstr>
      <vt:lpstr>Cambria Math</vt:lpstr>
      <vt:lpstr>Garamond</vt:lpstr>
      <vt:lpstr>Symbol</vt:lpstr>
      <vt:lpstr>Tahoma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796</cp:revision>
  <dcterms:created xsi:type="dcterms:W3CDTF">2008-05-09T05:16:00Z</dcterms:created>
  <dcterms:modified xsi:type="dcterms:W3CDTF">2026-04-13T00:31:52Z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E6A773059BD147FBB6DBA2F4EDAA5B5D_13</vt:lpwstr>
  </property>
  <property fmtid="{D5CDD505-2E9C-101B-9397-08002B2CF9AE}" pid="3" name="KSOProductBuildVer">
    <vt:lpwstr>2052-12.1.0.16388</vt:lpwstr>
  </property>
</Properties>
</file>