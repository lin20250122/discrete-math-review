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451" r:id="rId2"/>
    <p:sldId id="377" r:id="rId3"/>
    <p:sldId id="258" r:id="rId4"/>
    <p:sldId id="441" r:id="rId5"/>
    <p:sldId id="442" r:id="rId6"/>
    <p:sldId id="443" r:id="rId7"/>
    <p:sldId id="444" r:id="rId8"/>
    <p:sldId id="446" r:id="rId9"/>
    <p:sldId id="436" r:id="rId10"/>
    <p:sldId id="448" r:id="rId11"/>
    <p:sldId id="450" r:id="rId12"/>
    <p:sldId id="452" r:id="rId13"/>
    <p:sldId id="399" r:id="rId14"/>
  </p:sldIdLst>
  <p:sldSz cx="12192000" cy="6858000"/>
  <p:notesSz cx="6858000" cy="9144000"/>
  <p:custDataLst>
    <p:tags r:id="rId1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CC"/>
    <a:srgbClr val="FFCCFF"/>
    <a:srgbClr val="FFCC99"/>
    <a:srgbClr val="FF7C80"/>
    <a:srgbClr val="1A4589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8" autoAdjust="0"/>
    <p:restoredTop sz="86003" autoAdjust="0"/>
  </p:normalViewPr>
  <p:slideViewPr>
    <p:cSldViewPr showGuides="1">
      <p:cViewPr varScale="1">
        <p:scale>
          <a:sx n="73" d="100"/>
          <a:sy n="73" d="100"/>
        </p:scale>
        <p:origin x="485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-24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167966" y="11309"/>
            <a:ext cx="19782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sz="18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图论基础</a:t>
            </a:r>
            <a:endParaRPr lang="en-US" altLang="zh-CN" sz="18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7F430B-EE82-42A8-8247-264A130FA584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第七章 图论基础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351584" y="4293096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343472" y="1910578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73114" y="2539249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理解</a:t>
            </a:r>
            <a:r>
              <a:rPr lang="zh-CN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无向图的顶点着色及其性质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92486" y="3713829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351584" y="4365104"/>
            <a:ext cx="252028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问题的图建模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7.5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图着色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uiExpand="1" build="p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01118" y="1630266"/>
            <a:ext cx="11183514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  <a:defRPr/>
            </a:pPr>
            <a:r>
              <a:rPr lang="zh-CN" altLang="en-US" dirty="0">
                <a:solidFill>
                  <a:srgbClr val="FFCCFF"/>
                </a:solidFill>
              </a:rPr>
              <a:t>例</a:t>
            </a:r>
            <a:r>
              <a:rPr lang="en-US" altLang="zh-CN" dirty="0">
                <a:solidFill>
                  <a:srgbClr val="FFCCFF"/>
                </a:solidFill>
              </a:rPr>
              <a:t>7.5.1</a:t>
            </a:r>
            <a:r>
              <a:rPr lang="zh-CN" altLang="en-US" dirty="0">
                <a:solidFill>
                  <a:srgbClr val="FFCCFF"/>
                </a:solidFill>
              </a:rPr>
              <a:t>  </a:t>
            </a:r>
            <a:r>
              <a:rPr lang="zh-CN" altLang="en-US" sz="2400" dirty="0">
                <a:solidFill>
                  <a:schemeClr val="bg1"/>
                </a:solidFill>
              </a:rPr>
              <a:t>铁路运输六种化工原料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1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3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4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5</a:t>
            </a:r>
            <a:r>
              <a:rPr lang="zh-CN" altLang="en-US" sz="2400" dirty="0">
                <a:solidFill>
                  <a:schemeClr val="bg1"/>
                </a:solidFill>
              </a:rPr>
              <a:t>和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6</a:t>
            </a:r>
            <a:r>
              <a:rPr lang="zh-CN" altLang="en-US" sz="2400" dirty="0">
                <a:solidFill>
                  <a:schemeClr val="bg1"/>
                </a:solidFill>
              </a:rPr>
              <a:t>。</a:t>
            </a:r>
            <a:r>
              <a:rPr lang="en-US" altLang="zh-CN" sz="2400" dirty="0">
                <a:solidFill>
                  <a:schemeClr val="bg1"/>
                </a:solidFill>
              </a:rPr>
              <a:t> 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1</a:t>
            </a:r>
            <a:r>
              <a:rPr lang="zh-CN" altLang="en-US" sz="2400" dirty="0">
                <a:solidFill>
                  <a:schemeClr val="bg1"/>
                </a:solidFill>
              </a:rPr>
              <a:t>和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3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4</a:t>
            </a:r>
            <a:r>
              <a:rPr lang="en-US" altLang="zh-CN" sz="2400" dirty="0">
                <a:solidFill>
                  <a:schemeClr val="bg1"/>
                </a:solidFill>
              </a:rPr>
              <a:t>; 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2</a:t>
            </a:r>
            <a:r>
              <a:rPr lang="zh-CN" altLang="en-US" sz="2400" dirty="0">
                <a:solidFill>
                  <a:schemeClr val="bg1"/>
                </a:solidFill>
              </a:rPr>
              <a:t>和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3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5</a:t>
            </a:r>
            <a:r>
              <a:rPr lang="en-US" altLang="zh-CN" sz="2400" dirty="0">
                <a:solidFill>
                  <a:schemeClr val="bg1"/>
                </a:solidFill>
              </a:rPr>
              <a:t>; 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3</a:t>
            </a:r>
            <a:r>
              <a:rPr lang="zh-CN" altLang="en-US" sz="2400" dirty="0">
                <a:solidFill>
                  <a:schemeClr val="bg1"/>
                </a:solidFill>
              </a:rPr>
              <a:t>和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4</a:t>
            </a:r>
            <a:r>
              <a:rPr lang="en-US" altLang="zh-CN" sz="2400" dirty="0">
                <a:solidFill>
                  <a:schemeClr val="bg1"/>
                </a:solidFill>
              </a:rPr>
              <a:t>; 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5</a:t>
            </a:r>
            <a:r>
              <a:rPr lang="zh-CN" altLang="en-US" sz="2400" dirty="0">
                <a:solidFill>
                  <a:schemeClr val="bg1"/>
                </a:solidFill>
              </a:rPr>
              <a:t>和</a:t>
            </a:r>
            <a:r>
              <a:rPr lang="en-US" altLang="zh-CN" sz="2400" i="1" dirty="0">
                <a:solidFill>
                  <a:schemeClr val="bg1"/>
                </a:solidFill>
              </a:rPr>
              <a:t>P</a:t>
            </a:r>
            <a:r>
              <a:rPr lang="en-US" altLang="zh-CN" sz="2400" baseline="-25000" dirty="0">
                <a:solidFill>
                  <a:schemeClr val="bg1"/>
                </a:solidFill>
              </a:rPr>
              <a:t>6</a:t>
            </a:r>
            <a:r>
              <a:rPr lang="zh-CN" altLang="en-US" sz="2400" dirty="0">
                <a:solidFill>
                  <a:schemeClr val="bg1"/>
                </a:solidFill>
              </a:rPr>
              <a:t>不能在同一节车厢里运输。为了降低运费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希望使用尽可能少的车厢。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01118" y="2771940"/>
            <a:ext cx="5860438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  <a:r>
              <a:rPr lang="zh-CN" altLang="en-US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建立图模型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143672" y="2522818"/>
            <a:ext cx="609361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顶点表示化工原料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两个顶点之间有边 </a:t>
            </a: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它们</a:t>
            </a: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不能一起运输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用车厢标记顶点</a:t>
            </a:r>
            <a:r>
              <a:rPr lang="en-US" altLang="zh-CN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使相邻顶点有不同的标记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231904" y="321033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7.5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图着色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27448" y="5589240"/>
            <a:ext cx="106571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buFont typeface="Wingdings" panose="05000000000000000000" pitchFamily="2" charset="2"/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2200" dirty="0"/>
              <a:t>图中存在子图</a:t>
            </a:r>
            <a:r>
              <a:rPr lang="en-US" altLang="zh-CN" sz="2200" i="1" dirty="0"/>
              <a:t>K</a:t>
            </a:r>
            <a:r>
              <a:rPr lang="en-US" altLang="zh-CN" sz="2200" baseline="-25000" dirty="0"/>
              <a:t>3</a:t>
            </a:r>
            <a:r>
              <a:rPr lang="en-US" altLang="zh-CN" sz="2200" dirty="0"/>
              <a:t>, </a:t>
            </a:r>
            <a:r>
              <a:rPr lang="zh-CN" altLang="en-US" sz="2200" dirty="0"/>
              <a:t>所以至少需要三节车厢。存在三节车厢的可行方案。</a:t>
            </a:r>
            <a:endParaRPr lang="en-US" altLang="zh-CN" sz="2200" dirty="0"/>
          </a:p>
          <a:p>
            <a:r>
              <a:rPr lang="zh-CN" altLang="en-US" sz="2200" dirty="0"/>
              <a:t>所以最优方案是三节车厢</a:t>
            </a:r>
          </a:p>
        </p:txBody>
      </p:sp>
      <p:pic>
        <p:nvPicPr>
          <p:cNvPr id="12" name="Picture 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472" y="3746888"/>
            <a:ext cx="5659982" cy="1737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01118" y="1630266"/>
            <a:ext cx="9527329" cy="2112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定义</a:t>
            </a:r>
            <a:r>
              <a:rPr lang="en-US" altLang="zh-CN" dirty="0"/>
              <a:t>7.5.1</a:t>
            </a:r>
            <a:r>
              <a:rPr lang="zh-CN" altLang="en-US" sz="2400" dirty="0"/>
              <a:t>  </a:t>
            </a:r>
            <a:r>
              <a:rPr lang="zh-CN" altLang="en-US" dirty="0"/>
              <a:t>顶点着色</a:t>
            </a:r>
            <a:r>
              <a:rPr lang="en-US" altLang="zh-CN" dirty="0"/>
              <a:t>, </a:t>
            </a:r>
            <a:r>
              <a:rPr lang="zh-CN" altLang="en-US" dirty="0"/>
              <a:t>色数</a:t>
            </a:r>
          </a:p>
          <a:p>
            <a:pPr marL="285750" lvl="1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简单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无向图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endParaRPr lang="en-US" altLang="zh-CN" sz="2400" b="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1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顶点着色</a:t>
            </a:r>
            <a:r>
              <a:rPr lang="en-US" altLang="zh-CN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着色</a:t>
            </a:r>
            <a:r>
              <a:rPr lang="en-US" altLang="zh-CN" sz="24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顶点着色方案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相邻的顶点有不同的颜色。</a:t>
            </a: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1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2400" b="0" i="1" dirty="0">
                <a:solidFill>
                  <a:srgbClr val="CCFF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solidFill>
                  <a:srgbClr val="CCFF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的色数</a:t>
            </a:r>
            <a:r>
              <a:rPr lang="en-US" altLang="zh-CN" sz="2400" b="0" dirty="0">
                <a:solidFill>
                  <a:srgbClr val="CCFF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rgbClr val="CCFF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χ</a:t>
            </a:r>
            <a:r>
              <a:rPr lang="en-US" altLang="zh-CN" sz="2400" b="0" dirty="0">
                <a:solidFill>
                  <a:srgbClr val="CCFF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rgbClr val="CCFF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rgbClr val="CCFF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</a:t>
            </a:r>
            <a:r>
              <a:rPr lang="en-US" altLang="zh-CN" sz="2400" b="0" i="1" dirty="0">
                <a:solidFill>
                  <a:srgbClr val="CCFF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χ</a:t>
            </a:r>
            <a:r>
              <a:rPr lang="en-US" altLang="zh-CN" sz="2400" b="0" dirty="0">
                <a:solidFill>
                  <a:srgbClr val="CCFF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：在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的所有着色方案中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使用最少的颜色数目。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7.5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图着色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3662" y="1484784"/>
            <a:ext cx="3882138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noProof="1">
                <a:solidFill>
                  <a:srgbClr val="FFCCFF"/>
                </a:solidFill>
              </a:rPr>
              <a:t>例</a:t>
            </a:r>
            <a:r>
              <a:rPr lang="en-US" altLang="zh-CN" noProof="1">
                <a:solidFill>
                  <a:srgbClr val="FFCCFF"/>
                </a:solidFill>
              </a:rPr>
              <a:t>7.5.2  </a:t>
            </a:r>
            <a:r>
              <a:rPr lang="zh-CN" altLang="en-US" dirty="0">
                <a:solidFill>
                  <a:schemeClr val="bg1"/>
                </a:solidFill>
              </a:rPr>
              <a:t>如图所示。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096000" y="2060848"/>
            <a:ext cx="5688632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χ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i="1" baseline="-25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≥3)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是奇数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χ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)=3 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≥4)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是偶数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χ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)=2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是奇数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χ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400" b="0" i="1" baseline="-25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)=4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若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是偶数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χ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400" b="0" i="1" baseline="-25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)=3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(5)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简单无向图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含边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G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是偶图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χ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)=2 </a:t>
            </a:r>
            <a:endParaRPr lang="zh-CN" altLang="pt-BR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4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6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464" y="2420888"/>
            <a:ext cx="4176712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7.5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图着色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0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01118" y="1630266"/>
            <a:ext cx="10967489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定理</a:t>
            </a:r>
            <a:r>
              <a:rPr lang="en-US" altLang="zh-CN" dirty="0"/>
              <a:t>7.5.1</a:t>
            </a:r>
            <a:r>
              <a:rPr lang="zh-CN" altLang="en-US" sz="2400" dirty="0"/>
              <a:t>   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zh-CN" altLang="en-US" sz="2400" dirty="0">
                <a:solidFill>
                  <a:schemeClr val="bg1"/>
                </a:solidFill>
              </a:rPr>
              <a:t>简单无向图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en-US" altLang="zh-CN" sz="2400" i="1" dirty="0">
                <a:solidFill>
                  <a:schemeClr val="bg1"/>
                </a:solidFill>
              </a:rPr>
              <a:t>χ</a:t>
            </a:r>
            <a:r>
              <a:rPr lang="en-US" altLang="zh-CN" sz="2400" dirty="0">
                <a:solidFill>
                  <a:schemeClr val="bg1"/>
                </a:solidFill>
              </a:rPr>
              <a:t>(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dirty="0">
                <a:solidFill>
                  <a:schemeClr val="bg1"/>
                </a:solidFill>
              </a:rPr>
              <a:t>)≤</a:t>
            </a:r>
            <a:r>
              <a:rPr lang="en-US" altLang="zh-CN" sz="2400" i="1" dirty="0">
                <a:solidFill>
                  <a:schemeClr val="bg1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2400" dirty="0">
                <a:solidFill>
                  <a:schemeClr val="bg1"/>
                </a:solidFill>
              </a:rPr>
              <a:t>(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dirty="0">
                <a:solidFill>
                  <a:schemeClr val="bg1"/>
                </a:solidFill>
              </a:rPr>
              <a:t>)+1 </a:t>
            </a:r>
            <a:endParaRPr lang="en-US" altLang="zh-CN" sz="2400" b="0" i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7739" y="2452868"/>
            <a:ext cx="1174401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67409" y="2348880"/>
            <a:ext cx="10265585" cy="323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存在颜色数不超过</a:t>
            </a:r>
            <a:r>
              <a:rPr lang="zh-CN" altLang="en-US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)+1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的着色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从而结论成立。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任意指定</a:t>
            </a:r>
            <a:r>
              <a:rPr lang="zh-CN" altLang="en-US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)+1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种颜色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下面的过程将给出仅使用这些颜色的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的一种着色。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任选一个尚未被着色的顶点</a:t>
            </a:r>
            <a:r>
              <a:rPr lang="en-US" altLang="zh-CN" sz="2400" b="0" i="1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考查与</a:t>
            </a:r>
            <a:r>
              <a:rPr lang="en-US" altLang="zh-CN" sz="2400" b="0" i="1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相邻的已被着色的顶点</a:t>
            </a:r>
            <a:r>
              <a:rPr lang="en-US" altLang="zh-CN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由于与</a:t>
            </a:r>
            <a:r>
              <a:rPr lang="en-US" altLang="zh-CN" sz="2400" b="0" i="1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相邻的顶点最多只有</a:t>
            </a:r>
            <a:r>
              <a:rPr lang="zh-CN" altLang="en-US" sz="2400" b="0" i="1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所以</a:t>
            </a:r>
            <a:r>
              <a:rPr lang="en-US" altLang="zh-CN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在指定的</a:t>
            </a:r>
            <a:r>
              <a:rPr lang="zh-CN" altLang="en-US" sz="2400" b="0" i="1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)+1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种颜色中</a:t>
            </a:r>
            <a:r>
              <a:rPr lang="en-US" altLang="zh-CN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至少有</a:t>
            </a:r>
            <a:r>
              <a:rPr lang="en-US" altLang="zh-CN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种颜色尚未被用于与</a:t>
            </a:r>
            <a:r>
              <a:rPr lang="en-US" altLang="zh-CN" sz="2400" b="0" i="1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相邻的顶点上</a:t>
            </a:r>
            <a:r>
              <a:rPr lang="en-US" altLang="zh-CN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于是就将</a:t>
            </a:r>
            <a:r>
              <a:rPr lang="en-US" altLang="zh-CN" sz="2400" b="0" i="1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400" b="0" dirty="0">
                <a:solidFill>
                  <a:srgbClr val="CC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着以这样的一种颜色。</a:t>
            </a:r>
            <a:endParaRPr lang="en-US" altLang="zh-CN" sz="2400" b="0" dirty="0">
              <a:solidFill>
                <a:srgbClr val="CC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重复这个过程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直到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中所有的顶点都已被着色。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7.5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图着色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07368" y="1553416"/>
            <a:ext cx="11305256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FF9900"/>
              </a:buClr>
            </a:pPr>
            <a:r>
              <a:rPr lang="zh-CN" altLang="en-US" noProof="1"/>
              <a:t> 定理</a:t>
            </a:r>
            <a:r>
              <a:rPr lang="en-US" altLang="zh-CN" noProof="1"/>
              <a:t>7.5.2(</a:t>
            </a:r>
            <a:r>
              <a:rPr lang="en-US" altLang="zh-CN" sz="2400" i="1" dirty="0"/>
              <a:t>Brooks</a:t>
            </a:r>
            <a:r>
              <a:rPr lang="zh-CN" altLang="en-US" sz="2400" dirty="0"/>
              <a:t>定理</a:t>
            </a:r>
            <a:r>
              <a:rPr lang="en-US" altLang="zh-CN" sz="2400" dirty="0"/>
              <a:t>) </a:t>
            </a:r>
            <a:r>
              <a:rPr lang="zh-CN" altLang="en-US" sz="2400" dirty="0"/>
              <a:t> </a:t>
            </a:r>
            <a:r>
              <a:rPr lang="zh-CN" altLang="en-US" sz="2400" dirty="0">
                <a:solidFill>
                  <a:schemeClr val="bg1"/>
                </a:solidFill>
              </a:rPr>
              <a:t>若简单无向图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zh-CN" altLang="en-US" sz="2400" dirty="0">
                <a:solidFill>
                  <a:schemeClr val="bg1"/>
                </a:solidFill>
              </a:rPr>
              <a:t>不是完全图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也不是奇圈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则</a:t>
            </a:r>
            <a:r>
              <a:rPr lang="en-US" altLang="zh-CN" sz="2400" i="1" dirty="0">
                <a:solidFill>
                  <a:schemeClr val="bg1"/>
                </a:solidFill>
              </a:rPr>
              <a:t>χ</a:t>
            </a:r>
            <a:r>
              <a:rPr lang="en-US" altLang="zh-CN" sz="2400" dirty="0">
                <a:solidFill>
                  <a:schemeClr val="bg1"/>
                </a:solidFill>
              </a:rPr>
              <a:t>(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dirty="0">
                <a:solidFill>
                  <a:schemeClr val="bg1"/>
                </a:solidFill>
              </a:rPr>
              <a:t>)≤</a:t>
            </a:r>
            <a:r>
              <a:rPr lang="en-US" altLang="zh-CN" sz="2400" i="1" dirty="0">
                <a:solidFill>
                  <a:schemeClr val="bg1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2400" dirty="0">
                <a:solidFill>
                  <a:schemeClr val="bg1"/>
                </a:solidFill>
              </a:rPr>
              <a:t>(</a:t>
            </a:r>
            <a:r>
              <a:rPr lang="en-US" altLang="zh-CN" sz="2400" i="1" dirty="0">
                <a:solidFill>
                  <a:schemeClr val="bg1"/>
                </a:solidFill>
              </a:rPr>
              <a:t>G</a:t>
            </a:r>
            <a:r>
              <a:rPr lang="en-US" altLang="zh-CN" sz="2400" dirty="0">
                <a:solidFill>
                  <a:schemeClr val="bg1"/>
                </a:solidFill>
              </a:rPr>
              <a:t>)</a:t>
            </a:r>
            <a:r>
              <a:rPr lang="zh-CN" altLang="en-US" sz="2400" dirty="0">
                <a:solidFill>
                  <a:schemeClr val="bg1"/>
                </a:solidFill>
              </a:rPr>
              <a:t>。</a:t>
            </a:r>
            <a:endParaRPr lang="zh-CN" altLang="en-US" sz="2400" noProof="1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19537" y="2205822"/>
            <a:ext cx="108012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lang="zh-CN" altLang="en-US" sz="2400" b="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略</a:t>
            </a:r>
            <a:endParaRPr lang="zh-CN" altLang="en-US" sz="24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7408" y="2313774"/>
            <a:ext cx="131841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证明：</a:t>
            </a:r>
            <a:endParaRPr lang="zh-CN" altLang="en-US" noProof="1">
              <a:sym typeface="Symbol" panose="05050102010706020507" pitchFamily="18" charset="2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7.5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图着色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5360" y="4005064"/>
            <a:ext cx="11305256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/>
              <a:t>定理</a:t>
            </a:r>
            <a:r>
              <a:rPr lang="en-US" altLang="zh-CN" dirty="0"/>
              <a:t>7.5.3</a:t>
            </a:r>
            <a:r>
              <a:rPr lang="zh-CN" altLang="en-US" sz="2400" dirty="0"/>
              <a:t>  </a:t>
            </a:r>
            <a:r>
              <a:rPr lang="zh-CN" altLang="en-US" sz="2400" dirty="0">
                <a:solidFill>
                  <a:schemeClr val="bg1"/>
                </a:solidFill>
              </a:rPr>
              <a:t>简单无向图</a:t>
            </a:r>
            <a:r>
              <a:rPr lang="en-US" altLang="zh-CN" sz="2400" dirty="0">
                <a:solidFill>
                  <a:schemeClr val="bg1"/>
                </a:solidFill>
              </a:rPr>
              <a:t>G, χ(G)≤2 </a:t>
            </a:r>
            <a:r>
              <a:rPr lang="en-US" altLang="zh-CN" sz="2400" dirty="0">
                <a:solidFill>
                  <a:schemeClr val="bg1"/>
                </a:solidFill>
                <a:sym typeface="Symbol" panose="05050102010706020507" pitchFamily="18" charset="2"/>
              </a:rPr>
              <a:t> </a:t>
            </a:r>
            <a:r>
              <a:rPr lang="en-US" altLang="zh-CN" sz="2400" dirty="0">
                <a:solidFill>
                  <a:schemeClr val="bg1"/>
                </a:solidFill>
              </a:rPr>
              <a:t>G</a:t>
            </a:r>
            <a:r>
              <a:rPr lang="zh-CN" altLang="en-US" sz="2400" dirty="0">
                <a:solidFill>
                  <a:schemeClr val="bg1"/>
                </a:solidFill>
              </a:rPr>
              <a:t>不包含长度为奇数的回路。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91544" y="4625667"/>
            <a:ext cx="2736304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lang="zh-CN" altLang="en-US" sz="2400" b="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略</a:t>
            </a:r>
            <a:r>
              <a:rPr lang="en-US" altLang="zh-CN" sz="2400" b="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400" b="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需要树的知识。</a:t>
            </a:r>
            <a:endParaRPr lang="zh-CN" altLang="en-US" sz="24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39415" y="4733619"/>
            <a:ext cx="131841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证明：</a:t>
            </a:r>
            <a:endParaRPr lang="zh-CN" altLang="en-US" noProof="1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07368" y="1700808"/>
            <a:ext cx="11089232" cy="742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noProof="1">
                <a:solidFill>
                  <a:srgbClr val="FFCCFF"/>
                </a:solidFill>
              </a:rPr>
              <a:t>例</a:t>
            </a:r>
            <a:r>
              <a:rPr lang="en-US" altLang="zh-CN" noProof="1">
                <a:solidFill>
                  <a:srgbClr val="FFCCFF"/>
                </a:solidFill>
              </a:rPr>
              <a:t>7.5.3  </a:t>
            </a:r>
            <a:r>
              <a:rPr lang="zh-CN" altLang="en-US" dirty="0">
                <a:solidFill>
                  <a:schemeClr val="bg1"/>
                </a:solidFill>
              </a:rPr>
              <a:t>求彼得森图的色数</a:t>
            </a:r>
            <a:r>
              <a:rPr lang="zh-CN" altLang="en-US" sz="3200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023992" y="2585596"/>
            <a:ext cx="5712761" cy="1686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=3 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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≤3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Brooks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定理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存在长度为奇数的回路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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≥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定理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7.5.3)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=3 </a:t>
            </a:r>
            <a:endParaRPr lang="zh-CN" altLang="pt-BR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842381"/>
              </p:ext>
            </p:extLst>
          </p:nvPr>
        </p:nvGraphicFramePr>
        <p:xfrm>
          <a:off x="1703512" y="2749778"/>
          <a:ext cx="2943168" cy="257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位图图像" r:id="rId3" imgW="1638300" imgH="1432560" progId="PBrush">
                  <p:embed/>
                </p:oleObj>
              </mc:Choice>
              <mc:Fallback>
                <p:oleObj name="位图图像" r:id="rId3" imgW="1638300" imgH="1432560" progId="PBrush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lum bright="-6000" contrast="24000"/>
                      </a:blip>
                      <a:stretch>
                        <a:fillRect/>
                      </a:stretch>
                    </p:blipFill>
                    <p:spPr>
                      <a:xfrm>
                        <a:off x="1703512" y="2749778"/>
                        <a:ext cx="2943168" cy="25718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5307269" y="2779189"/>
            <a:ext cx="1174401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7.5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图着色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07368" y="1486221"/>
            <a:ext cx="11089232" cy="1085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noProof="1">
                <a:solidFill>
                  <a:srgbClr val="FFCCFF"/>
                </a:solidFill>
              </a:rPr>
              <a:t>例</a:t>
            </a:r>
            <a:r>
              <a:rPr lang="en-US" altLang="zh-CN" noProof="1">
                <a:solidFill>
                  <a:srgbClr val="FFCCFF"/>
                </a:solidFill>
              </a:rPr>
              <a:t>7.5.4  </a:t>
            </a:r>
            <a:r>
              <a:rPr lang="zh-CN" altLang="en-US" sz="2400" dirty="0">
                <a:solidFill>
                  <a:srgbClr val="FFC000"/>
                </a:solidFill>
              </a:rPr>
              <a:t>地图着色问题</a:t>
            </a:r>
            <a:r>
              <a:rPr lang="zh-CN" altLang="en-US" sz="2400" dirty="0">
                <a:solidFill>
                  <a:schemeClr val="bg1"/>
                </a:solidFill>
              </a:rPr>
              <a:t>：给地图着色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有公共边界的国家着以不同的颜色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最少需要多少种颜色？</a:t>
            </a:r>
            <a:endParaRPr lang="zh-CN" altLang="en-US" sz="2400" noProof="1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7249" y="2574056"/>
            <a:ext cx="9431806" cy="2270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150000"/>
              </a:lnSpc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None/>
              <a:defRPr sz="2400" b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建立图模型：</a:t>
            </a:r>
            <a:r>
              <a:rPr lang="zh-CN" altLang="en-US" dirty="0">
                <a:solidFill>
                  <a:srgbClr val="CCFFCC"/>
                </a:solidFill>
              </a:rPr>
              <a:t>顶点表示国家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CCFFCC"/>
                </a:solidFill>
              </a:rPr>
              <a:t>                        两个顶点之间有边 </a:t>
            </a:r>
            <a:r>
              <a:rPr lang="zh-CN" altLang="en-US" dirty="0">
                <a:solidFill>
                  <a:srgbClr val="CCFFCC"/>
                </a:solidFill>
                <a:sym typeface="Symbol" panose="05050102010706020507" pitchFamily="18" charset="2"/>
              </a:rPr>
              <a:t> </a:t>
            </a:r>
            <a:r>
              <a:rPr lang="zh-CN" altLang="en-US" dirty="0">
                <a:solidFill>
                  <a:srgbClr val="CCFFCC"/>
                </a:solidFill>
              </a:rPr>
              <a:t>相应的国家有公共边界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CCFF"/>
                </a:solidFill>
              </a:rPr>
              <a:t>地图着色问题转化为图的顶点着色问题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92D050"/>
                </a:solidFill>
              </a:rPr>
              <a:t>四色猜想</a:t>
            </a:r>
            <a:r>
              <a:rPr lang="en-US" altLang="zh-CN" dirty="0">
                <a:solidFill>
                  <a:srgbClr val="92D050"/>
                </a:solidFill>
              </a:rPr>
              <a:t>(1852</a:t>
            </a:r>
            <a:r>
              <a:rPr lang="zh-CN" altLang="en-US" dirty="0">
                <a:solidFill>
                  <a:srgbClr val="92D050"/>
                </a:solidFill>
              </a:rPr>
              <a:t>年</a:t>
            </a:r>
            <a:r>
              <a:rPr lang="en-US" altLang="zh-CN" dirty="0">
                <a:solidFill>
                  <a:srgbClr val="92D050"/>
                </a:solidFill>
              </a:rPr>
              <a:t>)</a:t>
            </a:r>
            <a:r>
              <a:rPr lang="zh-CN" altLang="en-US" dirty="0">
                <a:solidFill>
                  <a:srgbClr val="92D050"/>
                </a:solidFill>
              </a:rPr>
              <a:t>：用四种颜色就可以给任何地图着色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</a:rPr>
              <a:t>四色定理</a:t>
            </a:r>
            <a:r>
              <a:rPr lang="en-US" altLang="zh-CN" dirty="0">
                <a:solidFill>
                  <a:schemeClr val="bg1"/>
                </a:solidFill>
              </a:rPr>
              <a:t>(1976)</a:t>
            </a:r>
            <a:r>
              <a:rPr lang="zh-CN" altLang="en-US" dirty="0">
                <a:solidFill>
                  <a:schemeClr val="bg1"/>
                </a:solidFill>
              </a:rPr>
              <a:t>：美国数学家借助计算机证明了四色猜想</a:t>
            </a:r>
          </a:p>
        </p:txBody>
      </p:sp>
      <p:pic>
        <p:nvPicPr>
          <p:cNvPr id="18" name="Picture 6" descr="3"/>
          <p:cNvPicPr>
            <a:picLocks noChangeAspect="1" noChangeArrowheads="1"/>
          </p:cNvPicPr>
          <p:nvPr/>
        </p:nvPicPr>
        <p:blipFill>
          <a:blip r:embed="rId2">
            <a:lum bright="-6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5" y="4797152"/>
            <a:ext cx="5904656" cy="1645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本框 18"/>
          <p:cNvSpPr txBox="1"/>
          <p:nvPr/>
        </p:nvSpPr>
        <p:spPr>
          <a:xfrm>
            <a:off x="367169" y="2620996"/>
            <a:ext cx="88636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解：</a:t>
            </a:r>
            <a:endParaRPr lang="zh-CN" altLang="en-US" noProof="1">
              <a:sym typeface="Symbol" panose="05050102010706020507" pitchFamily="18" charset="2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7.5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图着色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01119" y="1700808"/>
            <a:ext cx="8514356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90000"/>
              </a:lnSpc>
              <a:defRPr/>
            </a:pPr>
            <a:r>
              <a:rPr lang="zh-CN" altLang="en-US" dirty="0"/>
              <a:t>  许多问题可用图着色模型来解决</a:t>
            </a:r>
            <a:r>
              <a:rPr lang="en-US" altLang="zh-CN" dirty="0"/>
              <a:t>(</a:t>
            </a:r>
            <a:r>
              <a:rPr lang="zh-CN" altLang="en-US" dirty="0"/>
              <a:t>出乎意料的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669164" y="3953033"/>
            <a:ext cx="88636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解：</a:t>
            </a:r>
            <a:endParaRPr lang="zh-CN" altLang="en-US" noProof="1">
              <a:sym typeface="Symbol" panose="05050102010706020507" pitchFamily="18" charset="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59496" y="3787574"/>
            <a:ext cx="9512646" cy="1873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150000"/>
              </a:lnSpc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None/>
              <a:defRPr sz="2400" b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建立图模型：</a:t>
            </a:r>
            <a:r>
              <a:rPr lang="zh-CN" altLang="en-US" dirty="0">
                <a:solidFill>
                  <a:srgbClr val="CCFFCC"/>
                </a:solidFill>
              </a:rPr>
              <a:t>顶点表示循环里的变量</a:t>
            </a:r>
            <a:endParaRPr lang="en-US" altLang="zh-CN" dirty="0">
              <a:solidFill>
                <a:srgbClr val="CCFFCC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dirty="0">
                <a:solidFill>
                  <a:srgbClr val="CCFFCC"/>
                </a:solidFill>
              </a:rPr>
              <a:t>                        两个顶点之间有边 </a:t>
            </a:r>
            <a:r>
              <a:rPr lang="zh-CN" altLang="en-US" dirty="0">
                <a:solidFill>
                  <a:srgbClr val="CCFFCC"/>
                </a:solidFill>
                <a:sym typeface="Symbol" panose="05050102010706020507" pitchFamily="18" charset="2"/>
              </a:rPr>
              <a:t> </a:t>
            </a:r>
            <a:r>
              <a:rPr lang="zh-CN" altLang="en-US" dirty="0">
                <a:solidFill>
                  <a:srgbClr val="CCFFCC"/>
                </a:solidFill>
              </a:rPr>
              <a:t>相应的变量可能同时使用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图的色数即为所需的寄存器数</a:t>
            </a:r>
            <a:r>
              <a:rPr lang="zh-CN" altLang="en-US" noProof="1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76447" y="2195978"/>
            <a:ext cx="11183514" cy="1227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None/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7.5.5</a:t>
            </a:r>
            <a:r>
              <a:rPr lang="zh-CN" altLang="en-US" dirty="0"/>
              <a:t>  </a:t>
            </a:r>
            <a:r>
              <a:rPr lang="zh-CN" altLang="en-US" sz="2400" dirty="0">
                <a:solidFill>
                  <a:schemeClr val="bg1"/>
                </a:solidFill>
              </a:rPr>
              <a:t>寄存器问题：</a:t>
            </a:r>
            <a:r>
              <a:rPr lang="en-US" altLang="zh-CN" sz="2400" i="1" dirty="0">
                <a:solidFill>
                  <a:schemeClr val="bg1"/>
                </a:solidFill>
              </a:rPr>
              <a:t>CPU</a:t>
            </a:r>
            <a:r>
              <a:rPr lang="zh-CN" altLang="en-US" sz="2400" dirty="0">
                <a:solidFill>
                  <a:schemeClr val="bg1"/>
                </a:solidFill>
              </a:rPr>
              <a:t>中的寄存器比内存快得多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所以可将频繁使用的变量暂存在寄存器中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以加速循环的执行。编译程序需要确定一个循环需要多少个寄存器。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7.5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图着色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07368" y="1700808"/>
            <a:ext cx="110892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noProof="1">
                <a:solidFill>
                  <a:srgbClr val="FFCCFF"/>
                </a:solidFill>
              </a:rPr>
              <a:t>例</a:t>
            </a:r>
            <a:r>
              <a:rPr lang="en-US" altLang="zh-CN" noProof="1">
                <a:solidFill>
                  <a:srgbClr val="FFCCFF"/>
                </a:solidFill>
              </a:rPr>
              <a:t>7.5.6  </a:t>
            </a:r>
            <a:r>
              <a:rPr lang="zh-CN" altLang="en-US" sz="2400" dirty="0">
                <a:solidFill>
                  <a:schemeClr val="bg1"/>
                </a:solidFill>
              </a:rPr>
              <a:t>考试安排问题：安排期末考试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使没有学生在同一时间有两门考试。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631504" y="2636912"/>
            <a:ext cx="9289032" cy="191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400" dirty="0">
                <a:solidFill>
                  <a:srgbClr val="FFCC99"/>
                </a:solidFill>
              </a:rPr>
              <a:t>建立图模型：</a:t>
            </a:r>
            <a:r>
              <a:rPr lang="zh-CN" altLang="en-US" sz="2400" dirty="0">
                <a:solidFill>
                  <a:srgbClr val="CCFFCC"/>
                </a:solidFill>
              </a:rPr>
              <a:t>顶点表示课程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400" dirty="0">
                <a:solidFill>
                  <a:srgbClr val="CCFFCC"/>
                </a:solidFill>
              </a:rPr>
              <a:t>                        两个顶点之间有边 </a:t>
            </a:r>
            <a:r>
              <a:rPr lang="zh-CN" altLang="en-US" sz="2400" dirty="0">
                <a:solidFill>
                  <a:srgbClr val="CCFFCC"/>
                </a:solidFill>
                <a:sym typeface="Symbol" panose="05050102010706020507" pitchFamily="18" charset="2"/>
              </a:rPr>
              <a:t> </a:t>
            </a:r>
            <a:r>
              <a:rPr lang="zh-CN" altLang="en-US" sz="2400" dirty="0">
                <a:solidFill>
                  <a:srgbClr val="CCFFCC"/>
                </a:solidFill>
              </a:rPr>
              <a:t>有学生同时选了相应的课程</a:t>
            </a:r>
          </a:p>
          <a:p>
            <a:pPr marL="0" indent="0">
              <a:lnSpc>
                <a:spcPct val="150000"/>
              </a:lnSpc>
              <a:spcBef>
                <a:spcPts val="1800"/>
              </a:spcBef>
              <a:buClrTx/>
              <a:buSzTx/>
              <a:buNone/>
              <a:defRPr/>
            </a:pPr>
            <a:r>
              <a:rPr lang="zh-CN" altLang="en-US" sz="2400" dirty="0">
                <a:solidFill>
                  <a:schemeClr val="bg1"/>
                </a:solidFill>
              </a:rPr>
              <a:t>图的着色方案即为可行的安排</a:t>
            </a:r>
            <a:r>
              <a:rPr lang="en-US" altLang="zh-CN" sz="2400" dirty="0">
                <a:solidFill>
                  <a:schemeClr val="bg1"/>
                </a:solidFill>
              </a:rPr>
              <a:t>, </a:t>
            </a:r>
            <a:r>
              <a:rPr lang="zh-CN" altLang="en-US" sz="2400" dirty="0">
                <a:solidFill>
                  <a:schemeClr val="bg1"/>
                </a:solidFill>
              </a:rPr>
              <a:t>色数即为所需的最少时间段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23392" y="2780928"/>
            <a:ext cx="803225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50000"/>
              </a:spcBef>
              <a:buClr>
                <a:srgbClr val="FFC000"/>
              </a:buClr>
              <a:buSzPct val="80000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解：</a:t>
            </a:r>
            <a:endParaRPr lang="zh-CN" altLang="en-US" noProof="1">
              <a:sym typeface="Symbol" panose="05050102010706020507" pitchFamily="18" charset="2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7.5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图着色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5BBD59B-3798-442E-8699-AF21E780A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7.5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图着色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5504F81-B068-439C-9662-3E86C8E3C60E}"/>
                  </a:ext>
                </a:extLst>
              </p:cNvPr>
              <p:cNvSpPr/>
              <p:nvPr/>
            </p:nvSpPr>
            <p:spPr>
              <a:xfrm>
                <a:off x="659396" y="1700808"/>
                <a:ext cx="10873208" cy="43704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sz="28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28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2017</a:t>
                </a:r>
                <a:r>
                  <a:rPr lang="zh-CN" altLang="en-US" sz="28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年蓝桥杯真题，分考场</a:t>
                </a:r>
                <a:endParaRPr lang="en-US" altLang="zh-CN" sz="28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题目描述</a:t>
                </a:r>
                <a:r>
                  <a:rPr lang="zh-CN" altLang="en-US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sz="24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n</a:t>
                </a:r>
                <a:r>
                  <a:rPr lang="zh-CN" altLang="en-US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个人参加某项特殊考试。为了公平，要求任何两个认识的人不能分在同一个考场。求至少需要分几个考场才能满足条件。</a:t>
                </a:r>
                <a:endParaRPr lang="en-US" altLang="zh-CN" sz="24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输入：</a:t>
                </a:r>
                <a:endParaRPr lang="en-US" altLang="zh-CN" sz="24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第一行，一个整数</a:t>
                </a:r>
                <a:r>
                  <a:rPr lang="en-US" altLang="zh-CN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n(1&lt;n&lt;100)</a:t>
                </a:r>
                <a:r>
                  <a:rPr lang="zh-CN" altLang="en-US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，表示参加考试的人数。</a:t>
                </a:r>
                <a:b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</a:t>
                </a:r>
                <a:r>
                  <a:rPr lang="zh-CN" altLang="en-US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第二行，一个整数</a:t>
                </a:r>
                <a:r>
                  <a:rPr lang="en-US" altLang="zh-CN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zh-CN" altLang="en-US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，表示接下来有</a:t>
                </a:r>
                <a:r>
                  <a:rPr lang="en-US" altLang="zh-CN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zh-CN" altLang="en-US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行数据</a:t>
                </a:r>
                <a:b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</a:t>
                </a:r>
                <a:r>
                  <a:rPr lang="zh-CN" altLang="en-US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以下</a:t>
                </a:r>
                <a:r>
                  <a:rPr lang="en-US" altLang="zh-CN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zh-CN" altLang="en-US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行每行的格式为：两个整数</a:t>
                </a:r>
                <a:r>
                  <a:rPr lang="en-US" altLang="zh-CN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，用空格分开 </a:t>
                </a:r>
                <a:r>
                  <a:rPr lang="en-US" altLang="zh-CN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(1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a, b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n) </a:t>
                </a:r>
                <a:r>
                  <a:rPr lang="zh-CN" altLang="en-US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表示第</a:t>
                </a:r>
                <a:r>
                  <a:rPr lang="en-US" altLang="zh-CN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个人与第</a:t>
                </a:r>
                <a:r>
                  <a:rPr lang="en-US" altLang="zh-CN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个人认识。</a:t>
                </a:r>
                <a:endParaRPr lang="en-US" altLang="zh-CN" sz="24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输出：</a:t>
                </a:r>
                <a:endParaRPr lang="en-US" altLang="zh-CN" sz="24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b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一个整数，表示最少分几个考场。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5504F81-B068-439C-9662-3E86C8E3C6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96" y="1700808"/>
                <a:ext cx="10873208" cy="4370427"/>
              </a:xfrm>
              <a:prstGeom prst="rect">
                <a:avLst/>
              </a:prstGeom>
              <a:blipFill>
                <a:blip r:embed="rId2"/>
                <a:stretch>
                  <a:fillRect l="-1121" t="-1395" r="-897" b="-22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9917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en-US" altLang="zh-CN" sz="4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154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21, 24</a:t>
            </a:r>
            <a:endParaRPr lang="zh-CN" altLang="en-US" sz="36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占位符 23553"/>
          <p:cNvSpPr txBox="1"/>
          <p:nvPr/>
        </p:nvSpPr>
        <p:spPr>
          <a:xfrm>
            <a:off x="352425" y="1652364"/>
            <a:ext cx="11576223" cy="408089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无向图的色数为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意味着什么？</a:t>
            </a:r>
            <a:endParaRPr lang="zh-CN" altLang="pt-BR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一大学有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个专业委员会：物理、化学、数学、生物、计算机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6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位院士：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。专业委员会由院士组成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物理委员会有院士：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化学委员会有院士：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数学委员会有院士：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生物委员会有院士：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计算机委员会有院士：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。每个专业委员会每周开一小时例会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所有成员都不能缺席。如果某院士同时是两个专业委员会的成员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那么这两个专业委员会的例会就不能安排在同一个时间。现要为这些例会安排时间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希望它们的时间尽可能集中。问最少需要几个开会时间？请给出一种安排。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1179</Words>
  <Application>Microsoft Office PowerPoint</Application>
  <PresentationFormat>宽屏</PresentationFormat>
  <Paragraphs>86</Paragraphs>
  <Slides>13</Slides>
  <Notes>3</Notes>
  <HiddenSlides>1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华文细黑</vt:lpstr>
      <vt:lpstr>楷体_GB2312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Wingdings</vt:lpstr>
      <vt:lpstr>默认设计模板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899</cp:revision>
  <dcterms:created xsi:type="dcterms:W3CDTF">2008-05-09T05:16:00Z</dcterms:created>
  <dcterms:modified xsi:type="dcterms:W3CDTF">2026-06-08T02:00:11Z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79B45D142F0D4ACB88213556D7770DEA_12</vt:lpwstr>
  </property>
  <property fmtid="{D5CDD505-2E9C-101B-9397-08002B2CF9AE}" pid="3" name="KSOProductBuildVer">
    <vt:lpwstr>2052-12.1.0.16729</vt:lpwstr>
  </property>
</Properties>
</file>