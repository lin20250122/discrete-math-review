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7" r:id="rId2"/>
    <p:sldId id="398" r:id="rId3"/>
    <p:sldId id="400" r:id="rId4"/>
    <p:sldId id="376" r:id="rId5"/>
    <p:sldId id="377" r:id="rId6"/>
    <p:sldId id="338" r:id="rId7"/>
    <p:sldId id="401" r:id="rId8"/>
    <p:sldId id="361" r:id="rId9"/>
    <p:sldId id="402" r:id="rId10"/>
    <p:sldId id="378" r:id="rId11"/>
    <p:sldId id="403" r:id="rId12"/>
    <p:sldId id="328" r:id="rId13"/>
    <p:sldId id="330" r:id="rId14"/>
    <p:sldId id="294" r:id="rId15"/>
    <p:sldId id="331" r:id="rId16"/>
    <p:sldId id="404" r:id="rId17"/>
    <p:sldId id="332" r:id="rId18"/>
    <p:sldId id="295" r:id="rId19"/>
    <p:sldId id="405" r:id="rId20"/>
    <p:sldId id="319" r:id="rId21"/>
    <p:sldId id="279" r:id="rId22"/>
    <p:sldId id="320" r:id="rId23"/>
    <p:sldId id="318" r:id="rId24"/>
    <p:sldId id="282" r:id="rId25"/>
    <p:sldId id="321" r:id="rId26"/>
    <p:sldId id="322" r:id="rId27"/>
    <p:sldId id="407" r:id="rId28"/>
    <p:sldId id="323" r:id="rId29"/>
    <p:sldId id="406" r:id="rId30"/>
    <p:sldId id="399" r:id="rId31"/>
  </p:sldIdLst>
  <p:sldSz cx="12192000" cy="6858000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99"/>
    <a:srgbClr val="FF7C80"/>
    <a:srgbClr val="FFCCFF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0" d="100"/>
          <a:sy n="70" d="100"/>
        </p:scale>
        <p:origin x="43" y="2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056440" y="11309"/>
            <a:ext cx="20897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一阶逻辑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第四章 一阶逻辑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23592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95400" y="2153659"/>
            <a:ext cx="8280920" cy="735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noProof="1">
                <a:solidFill>
                  <a:schemeClr val="accent1">
                    <a:lumMod val="90000"/>
                  </a:schemeClr>
                </a:solidFill>
              </a:rPr>
              <a:t>苏格拉底三段论的正确性不能在命题逻辑中反映 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402468" y="1548530"/>
            <a:ext cx="10302043" cy="909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命题逻辑存在的问题</a:t>
            </a:r>
            <a:endParaRPr lang="en-US" altLang="zh-CN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95400" y="4440139"/>
            <a:ext cx="8280920" cy="735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457200" indent="-457200" eaLnBrk="1" hangingPunct="1">
              <a:lnSpc>
                <a:spcPct val="150000"/>
              </a:lnSpc>
              <a:spcBef>
                <a:spcPct val="20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800" b="0">
                <a:solidFill>
                  <a:schemeClr val="accent1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noProof="1"/>
              <a:t>命题逻辑不能全面描述实际推理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27448" y="2846788"/>
            <a:ext cx="10585176" cy="1535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431800">
              <a:lnSpc>
                <a:spcPct val="12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苏格拉底三段论：凡人都是要死的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大前提</a:t>
            </a:r>
            <a:r>
              <a:rPr lang="en-US" altLang="zh-CN" sz="2000" b="0" i="1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苏格拉底是人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小前提</a:t>
            </a:r>
            <a:r>
              <a:rPr lang="en-US" altLang="zh-CN" sz="2000" b="0" i="1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苏格拉底是要死的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结论</a:t>
            </a:r>
            <a:r>
              <a:rPr lang="en-US" altLang="zh-CN" sz="2000" b="0" i="1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-431800">
              <a:lnSpc>
                <a:spcPct val="12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苏格拉底三段论是正确的推理 </a:t>
            </a:r>
          </a:p>
          <a:p>
            <a:pPr marL="0" indent="-431800">
              <a:lnSpc>
                <a:spcPct val="12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在命题逻辑中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不是重言式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不成立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127448" y="5111979"/>
            <a:ext cx="10657184" cy="799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457200">
              <a:lnSpc>
                <a:spcPct val="12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命题逻辑最基本的元素是原子命题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无法描述原子命题的内部结构及其相互之间的逻辑关系</a:t>
            </a:r>
          </a:p>
          <a:p>
            <a:pPr marL="0" indent="-457200">
              <a:lnSpc>
                <a:spcPct val="12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命题逻辑的推理模型过于简单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不能全面描述实际的逻辑推理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uiExpand="1" build="p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127448" y="2241613"/>
            <a:ext cx="8280920" cy="735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457200" indent="-457200" eaLnBrk="1" hangingPunct="1">
              <a:lnSpc>
                <a:spcPct val="150000"/>
              </a:lnSpc>
              <a:spcBef>
                <a:spcPct val="20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accent1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一阶逻辑是比命题逻辑更精细的推理模型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402468" y="1548530"/>
            <a:ext cx="10302043" cy="909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解决问题的一个方案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一阶逻辑</a:t>
            </a:r>
            <a:endParaRPr lang="en-US" altLang="zh-CN" sz="2800" b="0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76251" y="2862570"/>
            <a:ext cx="98875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20000"/>
              </a:lnSpc>
              <a:buNone/>
              <a:defRPr sz="2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noProof="1"/>
              <a:t>(1) </a:t>
            </a:r>
            <a:r>
              <a:rPr lang="zh-CN" altLang="en-US" noProof="1"/>
              <a:t>以命题逻辑为基础</a:t>
            </a:r>
            <a:r>
              <a:rPr lang="en-US" altLang="zh-CN" noProof="1"/>
              <a:t>, </a:t>
            </a:r>
            <a:r>
              <a:rPr lang="zh-CN" altLang="en-US" noProof="1"/>
              <a:t>引入谓词和量词</a:t>
            </a:r>
            <a:r>
              <a:rPr lang="en-US" altLang="zh-CN" noProof="1"/>
              <a:t>, </a:t>
            </a:r>
            <a:r>
              <a:rPr lang="zh-CN" altLang="en-US" noProof="1"/>
              <a:t>描述原子命题的结构及其相互关系</a:t>
            </a:r>
          </a:p>
          <a:p>
            <a:pPr indent="-457200">
              <a:lnSpc>
                <a:spcPct val="150000"/>
              </a:lnSpc>
            </a:pPr>
            <a:r>
              <a:rPr lang="en-US" altLang="zh-CN" noProof="1"/>
              <a:t>(2) </a:t>
            </a:r>
            <a:r>
              <a:rPr lang="zh-CN" altLang="en-US" noProof="1"/>
              <a:t>一阶逻辑的基本框架与命题逻辑大致相似</a:t>
            </a:r>
            <a:r>
              <a:rPr lang="en-US" altLang="zh-CN" noProof="1"/>
              <a:t>, </a:t>
            </a:r>
            <a:r>
              <a:rPr lang="zh-CN" altLang="en-US" noProof="1"/>
              <a:t>但包含更多细节、更复杂</a:t>
            </a:r>
            <a:r>
              <a:rPr lang="en-US" altLang="zh-CN" noProof="1"/>
              <a:t>, </a:t>
            </a:r>
            <a:r>
              <a:rPr lang="zh-CN" altLang="en-US" noProof="1"/>
              <a:t>能描述大部分实际推理</a:t>
            </a:r>
          </a:p>
          <a:p>
            <a:pPr>
              <a:lnSpc>
                <a:spcPct val="150000"/>
              </a:lnSpc>
            </a:pPr>
            <a:endParaRPr lang="zh-CN" altLang="en-US" noProof="1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855640" y="2852936"/>
            <a:ext cx="5976663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812800" indent="-812800">
              <a:lnSpc>
                <a:spcPct val="150000"/>
              </a:lnSpc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谓词、量词和谓词公式</a:t>
            </a:r>
          </a:p>
          <a:p>
            <a:pPr marL="812800" indent="-812800">
              <a:lnSpc>
                <a:spcPct val="150000"/>
              </a:lnSpc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谓词公式的等值演算和前束范式</a:t>
            </a:r>
          </a:p>
          <a:p>
            <a:pPr marL="812800" indent="-812800">
              <a:lnSpc>
                <a:spcPct val="150000"/>
              </a:lnSpc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一阶逻辑的推理理论</a:t>
            </a: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9746" y="1772816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主要内容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本章导读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14538" y="4293096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谓词和谓词公式的概念</a:t>
            </a:r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264702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谓词和谓词公式的概念、谓词公式的解释和有效公式的概念</a:t>
            </a:r>
            <a:endParaRPr lang="zh-CN" alt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9" grpId="0"/>
      <p:bldP spid="5" grpId="0" uiExpand="1" build="p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038" y="3503008"/>
            <a:ext cx="4008562" cy="2812181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4" y="1626369"/>
            <a:ext cx="6768752" cy="26177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35360" y="1665261"/>
            <a:ext cx="619268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C000"/>
              </a:buClr>
              <a:buSzPct val="80000"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原子命题的分解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主语和谓语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983432" y="2840134"/>
            <a:ext cx="7488832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</a:t>
            </a:r>
            <a:r>
              <a:rPr lang="en-US" altLang="zh-CN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刻画个体的性质或它们之间的关系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谓语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83432" y="2265195"/>
            <a:ext cx="8706395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个体词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命题中独立存在的个体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主语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88088" y="4399660"/>
            <a:ext cx="5256584" cy="120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457200" indent="-457200" eaLnBrk="1" hangingPunct="1">
              <a:lnSpc>
                <a:spcPct val="150000"/>
              </a:lnSpc>
              <a:spcBef>
                <a:spcPct val="20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accent1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200" noProof="1">
                <a:solidFill>
                  <a:schemeClr val="bg1"/>
                </a:solidFill>
              </a:rPr>
              <a:t>个体词中还包括定语等句子成分。</a:t>
            </a:r>
          </a:p>
          <a:p>
            <a:r>
              <a:rPr lang="zh-CN" altLang="en-US" sz="2200" noProof="1">
                <a:solidFill>
                  <a:schemeClr val="bg1"/>
                </a:solidFill>
              </a:rPr>
              <a:t>谓词中还包括状语等其他句子成份</a:t>
            </a:r>
            <a:r>
              <a:rPr lang="zh-CN" altLang="en-US" sz="2200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86416" y="3798061"/>
            <a:ext cx="5369624" cy="1884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命题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小张是大学生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zh-CN" altLang="en-US" sz="20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小张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是个体词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“</a:t>
            </a:r>
            <a:r>
              <a:rPr lang="en-US" altLang="zh-CN" sz="2000" b="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2000" b="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是大学生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是谓词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命题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“ 2</a:t>
            </a:r>
            <a:r>
              <a:rPr lang="zh-CN" altLang="en-US" sz="2000" b="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小于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3”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2</a:t>
            </a:r>
            <a:r>
              <a:rPr lang="zh-CN" altLang="en-US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是个体词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“</a:t>
            </a:r>
            <a:r>
              <a:rPr lang="en-US" altLang="zh-CN" sz="2000" b="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sz="2000" b="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小于</a:t>
            </a:r>
            <a:r>
              <a:rPr lang="en-US" altLang="zh-CN" sz="2000" b="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是谓词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35360" y="3779108"/>
            <a:ext cx="792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 </a:t>
            </a:r>
          </a:p>
        </p:txBody>
      </p:sp>
      <p:sp>
        <p:nvSpPr>
          <p:cNvPr id="5" name="矩形: 圆角 4"/>
          <p:cNvSpPr/>
          <p:nvPr/>
        </p:nvSpPr>
        <p:spPr bwMode="auto">
          <a:xfrm>
            <a:off x="6816080" y="4206598"/>
            <a:ext cx="5040560" cy="1652796"/>
          </a:xfrm>
          <a:prstGeom prst="roundRect">
            <a:avLst>
              <a:gd name="adj" fmla="val 11833"/>
            </a:avLst>
          </a:prstGeom>
          <a:noFill/>
          <a:ln w="28575" cap="flat" cmpd="sng" algn="ctr">
            <a:solidFill>
              <a:srgbClr val="FF7C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785286" y="3767575"/>
            <a:ext cx="949122" cy="644440"/>
            <a:chOff x="8785286" y="3767575"/>
            <a:chExt cx="949122" cy="644440"/>
          </a:xfrm>
        </p:grpSpPr>
        <p:sp>
          <p:nvSpPr>
            <p:cNvPr id="7" name="矩形: 圆角 6"/>
            <p:cNvSpPr/>
            <p:nvPr/>
          </p:nvSpPr>
          <p:spPr bwMode="auto">
            <a:xfrm>
              <a:off x="8791795" y="3828185"/>
              <a:ext cx="936104" cy="523220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Rectangle 2"/>
            <p:cNvSpPr txBox="1">
              <a:spLocks noChangeArrowheads="1"/>
            </p:cNvSpPr>
            <p:nvPr/>
          </p:nvSpPr>
          <p:spPr bwMode="auto">
            <a:xfrm>
              <a:off x="8785286" y="3767575"/>
              <a:ext cx="949122" cy="6444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None/>
              </a:pPr>
              <a:r>
                <a:rPr lang="zh-CN" altLang="en-US" sz="2600" b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注意</a:t>
              </a:r>
              <a:endParaRPr lang="zh-CN" altLang="en-US" sz="24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4" grpId="0"/>
      <p:bldP spid="6" grpId="0"/>
      <p:bldP spid="9" grpId="0"/>
      <p:bldP spid="11" grpId="0"/>
      <p:bldP spid="14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35360" y="1665261"/>
            <a:ext cx="619268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C000"/>
              </a:buClr>
              <a:buSzPct val="80000"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原子命题的分解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主语和谓语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379476" y="2933124"/>
            <a:ext cx="10297144" cy="226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个体常量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：具体、特定的个体词。常用小写字母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等等表示。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个体变量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：抽象或泛指某个体的个体词。常用小写字母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等等表示。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：所有个体的集合</a:t>
            </a:r>
            <a:r>
              <a:rPr lang="en-US" altLang="zh-CN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即个体变量的取值集合。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全总个体域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：宇宙间所有个体所组成个体域</a:t>
            </a:r>
            <a:r>
              <a:rPr lang="en-US" altLang="zh-CN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默认个体域。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983432" y="2265195"/>
            <a:ext cx="8706395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个体词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命题中独立存在的个体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主语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35360" y="1665261"/>
            <a:ext cx="619268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C000"/>
              </a:buClr>
              <a:buSzPct val="80000"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原子命题的分解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主语和谓语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71464" y="2996952"/>
            <a:ext cx="10657184" cy="640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200" b="0" i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2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元谓词：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个个体词的谓词。谓词常用大写字母表示。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元谓词记为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200" b="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i="1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911424" y="2299193"/>
            <a:ext cx="7488832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</a:t>
            </a:r>
            <a:r>
              <a:rPr lang="en-US" altLang="zh-CN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刻画个体的性质或它们之间的关系</a:t>
            </a:r>
            <a:r>
              <a:rPr lang="en-US" altLang="zh-CN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谓语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63552" y="3689392"/>
            <a:ext cx="4919711" cy="1422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92D050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一元谓词表示个体的性质</a:t>
            </a:r>
          </a:p>
          <a:p>
            <a:pPr marL="342900" indent="-342900">
              <a:lnSpc>
                <a:spcPct val="150000"/>
              </a:lnSpc>
              <a:buClr>
                <a:srgbClr val="92D05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多元谓词表示个体之间的关系</a:t>
            </a:r>
          </a:p>
          <a:p>
            <a:pPr marL="342900" indent="-342900">
              <a:lnSpc>
                <a:spcPct val="150000"/>
              </a:lnSpc>
              <a:buClr>
                <a:srgbClr val="92D05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命题可视为</a:t>
            </a:r>
            <a:r>
              <a:rPr lang="en-US" altLang="zh-CN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元谓词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93241" y="1587822"/>
            <a:ext cx="270641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 </a:t>
            </a:r>
            <a:r>
              <a:rPr lang="en-US" altLang="zh-CN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28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符号化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728041" y="2924899"/>
            <a:ext cx="4536505" cy="155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个体常量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2,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个体常量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谓词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L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2&lt;3</a:t>
            </a:r>
            <a:endParaRPr lang="zh-CN" altLang="en-US" sz="22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99456" y="2924899"/>
            <a:ext cx="4032448" cy="155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个体常量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：小张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谓词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是大学生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：小张是大学生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15680" y="1547843"/>
            <a:ext cx="3672408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命题</a:t>
            </a:r>
            <a:r>
              <a:rPr lang="en-US" altLang="zh-CN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小张是大学生</a:t>
            </a:r>
            <a:r>
              <a:rPr lang="en-US" altLang="zh-CN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zh-CN" altLang="en-US" sz="2400" b="0" noProof="1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命题</a:t>
            </a:r>
            <a:r>
              <a:rPr lang="en-US" altLang="zh-CN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“2</a:t>
            </a:r>
            <a:r>
              <a:rPr lang="zh-CN" altLang="en-US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小于</a:t>
            </a:r>
            <a:r>
              <a:rPr lang="en-US" altLang="zh-CN" sz="24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3”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79376" y="2991346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35360" y="1665261"/>
            <a:ext cx="619268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C000"/>
              </a:buClr>
              <a:buSzPct val="80000"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量词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1775520" y="2456786"/>
            <a:ext cx="907300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noProof="1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特称判断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：表示个体域中存在某个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些</a:t>
            </a:r>
            <a:r>
              <a:rPr lang="en-US" altLang="zh-CN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元素具有某个性质。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775520" y="1801354"/>
            <a:ext cx="8706395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全称判断</a:t>
            </a:r>
            <a:r>
              <a:rPr lang="zh-CN" altLang="en-US" sz="24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：表示个体域中所有的元素都具有某个性质。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192934" y="3193989"/>
            <a:ext cx="5369624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b="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所有的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有理数都是实数。</a:t>
            </a:r>
            <a:endParaRPr lang="en-US" altLang="zh-CN" sz="22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2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有的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有理数是实数。</a:t>
            </a:r>
            <a:endParaRPr lang="en-US" altLang="zh-CN" sz="22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1878" y="3175036"/>
            <a:ext cx="792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 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35360" y="4428116"/>
            <a:ext cx="87849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4.1.1</a:t>
            </a:r>
            <a:r>
              <a:rPr lang="zh-CN" altLang="en-US" dirty="0"/>
              <a:t>：量词</a:t>
            </a:r>
            <a:r>
              <a:rPr lang="en-US" altLang="zh-CN" dirty="0"/>
              <a:t>——</a:t>
            </a:r>
            <a:r>
              <a:rPr lang="zh-CN" altLang="en-US" sz="2400" noProof="1">
                <a:solidFill>
                  <a:schemeClr val="bg1"/>
                </a:solidFill>
              </a:rPr>
              <a:t>符号化短语</a:t>
            </a:r>
            <a:r>
              <a:rPr lang="en-US" altLang="zh-CN" sz="2400" dirty="0">
                <a:solidFill>
                  <a:schemeClr val="bg1"/>
                </a:solidFill>
              </a:rPr>
              <a:t>“</a:t>
            </a:r>
            <a:r>
              <a:rPr lang="zh-CN" altLang="en-US" sz="2400" noProof="1">
                <a:solidFill>
                  <a:srgbClr val="92D050"/>
                </a:solidFill>
              </a:rPr>
              <a:t>所有的</a:t>
            </a:r>
            <a:r>
              <a:rPr lang="en-US" altLang="zh-CN" sz="2400" noProof="1">
                <a:solidFill>
                  <a:schemeClr val="bg1"/>
                </a:solidFill>
              </a:rPr>
              <a:t>”</a:t>
            </a:r>
            <a:r>
              <a:rPr lang="zh-CN" altLang="en-US" sz="2400" noProof="1">
                <a:solidFill>
                  <a:schemeClr val="bg1"/>
                </a:solidFill>
              </a:rPr>
              <a:t>和</a:t>
            </a:r>
            <a:r>
              <a:rPr lang="en-US" altLang="zh-CN" sz="2400" dirty="0">
                <a:solidFill>
                  <a:schemeClr val="bg1"/>
                </a:solidFill>
              </a:rPr>
              <a:t>“</a:t>
            </a:r>
            <a:r>
              <a:rPr lang="zh-CN" altLang="en-US" sz="2400" noProof="1">
                <a:solidFill>
                  <a:srgbClr val="FFC000"/>
                </a:solidFill>
              </a:rPr>
              <a:t>有些</a:t>
            </a:r>
            <a:r>
              <a:rPr lang="en-US" altLang="zh-CN" sz="2400" noProof="1">
                <a:solidFill>
                  <a:schemeClr val="bg1"/>
                </a:solidFill>
              </a:rPr>
              <a:t>”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93669" y="5137484"/>
            <a:ext cx="60945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lnSpc>
                <a:spcPct val="150000"/>
              </a:lnSpc>
              <a:buNone/>
              <a:defRPr sz="22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noProof="1"/>
              <a:t>(1)</a:t>
            </a:r>
            <a:r>
              <a:rPr lang="zh-CN" altLang="en-US" noProof="1"/>
              <a:t> 全称量词</a:t>
            </a:r>
            <a:r>
              <a:rPr lang="en-US" altLang="zh-CN" noProof="1">
                <a:solidFill>
                  <a:srgbClr val="92D05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x</a:t>
            </a:r>
            <a:r>
              <a:rPr lang="zh-CN" altLang="en-US" noProof="1"/>
              <a:t>：表示短语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noProof="1">
                <a:solidFill>
                  <a:srgbClr val="92D050"/>
                </a:solidFill>
              </a:rPr>
              <a:t>对于任意的</a:t>
            </a:r>
            <a:r>
              <a:rPr lang="en-US" altLang="zh-CN" i="1" noProof="1"/>
              <a:t>x</a:t>
            </a:r>
            <a:r>
              <a:rPr lang="en-US" altLang="zh-CN" noProof="1"/>
              <a:t>”</a:t>
            </a:r>
          </a:p>
          <a:p>
            <a:r>
              <a:rPr lang="en-US" altLang="zh-CN" noProof="1"/>
              <a:t>(2) </a:t>
            </a:r>
            <a:r>
              <a:rPr lang="zh-CN" altLang="en-US" noProof="1"/>
              <a:t>存在量词</a:t>
            </a:r>
            <a:r>
              <a:rPr lang="zh-CN" altLang="pt-BR" noProof="1">
                <a:solidFill>
                  <a:srgbClr val="FFC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noProof="1"/>
              <a:t>x</a:t>
            </a:r>
            <a:r>
              <a:rPr lang="zh-CN" altLang="en-US" noProof="1"/>
              <a:t>：表示短语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noProof="1">
                <a:solidFill>
                  <a:srgbClr val="FFC000"/>
                </a:solidFill>
              </a:rPr>
              <a:t>存在</a:t>
            </a:r>
            <a:r>
              <a:rPr lang="en-US" altLang="zh-CN" i="1" noProof="1"/>
              <a:t>x</a:t>
            </a:r>
            <a:r>
              <a:rPr lang="en-US" altLang="zh-CN" noProof="1"/>
              <a:t>”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4" grpId="0"/>
      <p:bldP spid="6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文本占位符 112641"/>
          <p:cNvSpPr>
            <a:spLocks noGrp="1"/>
          </p:cNvSpPr>
          <p:nvPr>
            <p:ph type="body" sz="half" idx="4294967295"/>
          </p:nvPr>
        </p:nvSpPr>
        <p:spPr>
          <a:xfrm>
            <a:off x="767408" y="2577006"/>
            <a:ext cx="5832648" cy="330848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自然语言翻译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对于任意的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都为真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对每个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都为真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对所有的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都为真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真值判断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仅当找不到使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为假的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才为真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只要找到一个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使得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就为假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63351" y="1660342"/>
            <a:ext cx="58326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olidFill>
                  <a:srgbClr val="FF7C80"/>
                </a:solidFill>
              </a:rPr>
              <a:t>几点说明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392" y="2088857"/>
            <a:ext cx="3528392" cy="57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457200" indent="-457200" eaLnBrk="1" hangingPunct="1">
              <a:lnSpc>
                <a:spcPct val="150000"/>
              </a:lnSpc>
              <a:spcBef>
                <a:spcPct val="20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accent1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noProof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noProof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lang="en-US" altLang="zh-CN" noProof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noProof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noProof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noProof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的含义</a:t>
            </a:r>
            <a:endParaRPr lang="zh-CN" alt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占位符 113665"/>
          <p:cNvSpPr txBox="1"/>
          <p:nvPr/>
        </p:nvSpPr>
        <p:spPr>
          <a:xfrm>
            <a:off x="6384032" y="2577006"/>
            <a:ext cx="5610476" cy="330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50000"/>
              </a:lnSpc>
              <a:spcBef>
                <a:spcPct val="20000"/>
              </a:spcBef>
              <a:buNone/>
              <a:defRPr sz="24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400050" lvl="1" indent="0" eaLnBrk="0" hangingPunct="0">
              <a:lnSpc>
                <a:spcPct val="150000"/>
              </a:lnSpc>
              <a:spcBef>
                <a:spcPct val="20000"/>
              </a:spcBef>
              <a:buNone/>
              <a:defRPr sz="20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200" b="0" noProof="1"/>
              <a:t>(1)</a:t>
            </a:r>
            <a:r>
              <a:rPr lang="zh-CN" altLang="en-US" sz="2200" b="0" noProof="1"/>
              <a:t>自然语言翻译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0" noProof="1"/>
              <a:t>存在</a:t>
            </a:r>
            <a:r>
              <a:rPr lang="en-US" altLang="zh-CN" i="1" noProof="1"/>
              <a:t>x</a:t>
            </a:r>
            <a:r>
              <a:rPr lang="en-US" altLang="zh-CN" b="0" noProof="1"/>
              <a:t>, </a:t>
            </a:r>
            <a:r>
              <a:rPr lang="zh-CN" altLang="en-US" b="0" noProof="1"/>
              <a:t>使得</a:t>
            </a:r>
            <a:r>
              <a:rPr lang="en-US" altLang="zh-CN" i="1" noProof="1"/>
              <a:t>P</a:t>
            </a:r>
            <a:r>
              <a:rPr lang="en-US" altLang="zh-CN" b="0" noProof="1"/>
              <a:t>(</a:t>
            </a:r>
            <a:r>
              <a:rPr lang="en-US" altLang="zh-CN" i="1" noProof="1"/>
              <a:t>x</a:t>
            </a:r>
            <a:r>
              <a:rPr lang="en-US" altLang="zh-CN" b="0" noProof="1"/>
              <a:t>)</a:t>
            </a:r>
            <a:r>
              <a:rPr lang="zh-CN" altLang="en-US" b="0" noProof="1"/>
              <a:t>为真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0" noProof="1"/>
              <a:t>至少有一个</a:t>
            </a:r>
            <a:r>
              <a:rPr lang="en-US" altLang="zh-CN" i="1" noProof="1"/>
              <a:t>x</a:t>
            </a:r>
            <a:r>
              <a:rPr lang="en-US" altLang="zh-CN" b="0" noProof="1"/>
              <a:t>, </a:t>
            </a:r>
            <a:r>
              <a:rPr lang="zh-CN" altLang="en-US" b="0" noProof="1"/>
              <a:t>使得</a:t>
            </a:r>
            <a:r>
              <a:rPr lang="en-US" altLang="zh-CN" i="1" noProof="1"/>
              <a:t>P</a:t>
            </a:r>
            <a:r>
              <a:rPr lang="en-US" altLang="zh-CN" b="0" noProof="1"/>
              <a:t>(</a:t>
            </a:r>
            <a:r>
              <a:rPr lang="en-US" altLang="zh-CN" i="1" noProof="1"/>
              <a:t>x</a:t>
            </a:r>
            <a:r>
              <a:rPr lang="en-US" altLang="zh-CN" b="0" noProof="1"/>
              <a:t>)</a:t>
            </a:r>
            <a:r>
              <a:rPr lang="zh-CN" altLang="en-US" b="0" noProof="1"/>
              <a:t>为真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0" noProof="1"/>
              <a:t>对某些</a:t>
            </a:r>
            <a:r>
              <a:rPr lang="en-US" altLang="zh-CN" i="1" noProof="1"/>
              <a:t>x</a:t>
            </a:r>
            <a:r>
              <a:rPr lang="en-US" altLang="zh-CN" b="0" noProof="1"/>
              <a:t>, </a:t>
            </a:r>
            <a:r>
              <a:rPr lang="en-US" altLang="zh-CN" i="1" noProof="1"/>
              <a:t>P</a:t>
            </a:r>
            <a:r>
              <a:rPr lang="en-US" altLang="zh-CN" b="0" noProof="1"/>
              <a:t>(</a:t>
            </a:r>
            <a:r>
              <a:rPr lang="en-US" altLang="zh-CN" i="1" noProof="1"/>
              <a:t>x</a:t>
            </a:r>
            <a:r>
              <a:rPr lang="en-US" altLang="zh-CN" b="0" noProof="1"/>
              <a:t>)</a:t>
            </a:r>
            <a:r>
              <a:rPr lang="zh-CN" altLang="en-US" b="0" noProof="1"/>
              <a:t>为真</a:t>
            </a:r>
          </a:p>
          <a:p>
            <a:r>
              <a:rPr lang="en-US" altLang="zh-CN" sz="2200" b="0" noProof="1"/>
              <a:t>(2)</a:t>
            </a:r>
            <a:r>
              <a:rPr lang="zh-CN" altLang="en-US" sz="2200" b="0" noProof="1"/>
              <a:t>真值判断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0" noProof="1"/>
              <a:t>只要找到一个</a:t>
            </a:r>
            <a:r>
              <a:rPr lang="en-US" altLang="zh-CN" i="1" noProof="1"/>
              <a:t>x</a:t>
            </a:r>
            <a:r>
              <a:rPr lang="zh-CN" altLang="en-US" b="0" noProof="1"/>
              <a:t>使得</a:t>
            </a:r>
            <a:r>
              <a:rPr lang="en-US" altLang="zh-CN" i="1" noProof="1"/>
              <a:t>P</a:t>
            </a:r>
            <a:r>
              <a:rPr lang="en-US" altLang="zh-CN" b="0" noProof="1"/>
              <a:t>(</a:t>
            </a:r>
            <a:r>
              <a:rPr lang="en-US" altLang="zh-CN" i="1" noProof="1"/>
              <a:t>x</a:t>
            </a:r>
            <a:r>
              <a:rPr lang="en-US" altLang="zh-CN" b="0" noProof="1"/>
              <a:t>)</a:t>
            </a:r>
            <a:r>
              <a:rPr lang="zh-CN" altLang="en-US" b="0" noProof="1"/>
              <a:t>为真</a:t>
            </a:r>
            <a:r>
              <a:rPr lang="en-US" altLang="zh-CN" b="0" noProof="1"/>
              <a:t>, </a:t>
            </a:r>
            <a:r>
              <a:rPr lang="zh-CN" altLang="en-US" b="0" noProof="1"/>
              <a:t>则</a:t>
            </a:r>
            <a:r>
              <a:rPr lang="zh-CN" altLang="pt-BR" b="0" noProof="1">
                <a:sym typeface="Symbol" panose="05050102010706020507" pitchFamily="18" charset="2"/>
              </a:rPr>
              <a:t></a:t>
            </a:r>
            <a:r>
              <a:rPr lang="en-US" altLang="zh-CN" i="1" noProof="1"/>
              <a:t>xP</a:t>
            </a:r>
            <a:r>
              <a:rPr lang="en-US" altLang="zh-CN" b="0" noProof="1"/>
              <a:t>(</a:t>
            </a:r>
            <a:r>
              <a:rPr lang="en-US" altLang="zh-CN" i="1" noProof="1"/>
              <a:t>x</a:t>
            </a:r>
            <a:r>
              <a:rPr lang="en-US" altLang="zh-CN" b="0" noProof="1"/>
              <a:t>)</a:t>
            </a:r>
            <a:r>
              <a:rPr lang="zh-CN" altLang="en-US" b="0" noProof="1"/>
              <a:t>就为真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0" noProof="1"/>
              <a:t>仅当找不到使</a:t>
            </a:r>
            <a:r>
              <a:rPr lang="en-US" altLang="zh-CN" i="1" noProof="1"/>
              <a:t>P</a:t>
            </a:r>
            <a:r>
              <a:rPr lang="en-US" altLang="zh-CN" b="0" noProof="1"/>
              <a:t>(</a:t>
            </a:r>
            <a:r>
              <a:rPr lang="en-US" altLang="zh-CN" i="1" noProof="1"/>
              <a:t>x</a:t>
            </a:r>
            <a:r>
              <a:rPr lang="en-US" altLang="zh-CN" b="0" noProof="1"/>
              <a:t>)</a:t>
            </a:r>
            <a:r>
              <a:rPr lang="zh-CN" altLang="en-US" b="0" noProof="1"/>
              <a:t>为真的</a:t>
            </a:r>
            <a:r>
              <a:rPr lang="en-US" altLang="zh-CN" b="0" i="1" noProof="1"/>
              <a:t>x</a:t>
            </a:r>
            <a:r>
              <a:rPr lang="zh-CN" altLang="en-US" b="0" noProof="1"/>
              <a:t>时</a:t>
            </a:r>
            <a:r>
              <a:rPr lang="en-US" altLang="zh-CN" b="0" noProof="1"/>
              <a:t>, </a:t>
            </a:r>
            <a:r>
              <a:rPr lang="zh-CN" altLang="pt-BR" b="0" noProof="1">
                <a:sym typeface="Symbol" panose="05050102010706020507" pitchFamily="18" charset="2"/>
              </a:rPr>
              <a:t></a:t>
            </a:r>
            <a:r>
              <a:rPr lang="en-US" altLang="zh-CN" i="1" noProof="1"/>
              <a:t>xP</a:t>
            </a:r>
            <a:r>
              <a:rPr lang="en-US" altLang="zh-CN" b="0" noProof="1"/>
              <a:t>(</a:t>
            </a:r>
            <a:r>
              <a:rPr lang="en-US" altLang="zh-CN" i="1" noProof="1"/>
              <a:t>x</a:t>
            </a:r>
            <a:r>
              <a:rPr lang="en-US" altLang="zh-CN" b="0" noProof="1"/>
              <a:t>)</a:t>
            </a:r>
            <a:r>
              <a:rPr lang="zh-CN" altLang="en-US" b="0" noProof="1"/>
              <a:t>才为假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931973" y="2088857"/>
            <a:ext cx="3816424" cy="57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457200" indent="-457200" eaLnBrk="1" hangingPunct="1">
              <a:lnSpc>
                <a:spcPct val="150000"/>
              </a:lnSpc>
              <a:spcBef>
                <a:spcPct val="20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的含义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文本占位符 114689"/>
          <p:cNvSpPr>
            <a:spLocks noGrp="1"/>
          </p:cNvSpPr>
          <p:nvPr>
            <p:ph type="body" sz="half" idx="4294967295"/>
          </p:nvPr>
        </p:nvSpPr>
        <p:spPr>
          <a:xfrm>
            <a:off x="1471698" y="2998497"/>
            <a:ext cx="5976938" cy="33845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个体域为实数集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引入谓词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pt-BR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是有理数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符号化结果：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xQ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xQ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个体域为全总个体域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引入谓词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是实数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符号化结果：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pt-BR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6288" y="1700492"/>
            <a:ext cx="8830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noProof="1">
                <a:solidFill>
                  <a:srgbClr val="FFFF00"/>
                </a:solidFill>
              </a:rPr>
              <a:t>全称判断和特称判断的符号化与个体域有关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3353" y="2328085"/>
            <a:ext cx="10225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noProof="1"/>
              <a:t>例</a:t>
            </a:r>
            <a:r>
              <a:rPr lang="en-US" altLang="zh-CN" sz="2400" noProof="1"/>
              <a:t>4.1.2</a:t>
            </a:r>
            <a:r>
              <a:rPr lang="zh-CN" altLang="en-US" sz="2400" noProof="1"/>
              <a:t>  符号化</a:t>
            </a:r>
            <a:r>
              <a:rPr lang="en-US" altLang="zh-CN" sz="24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noProof="1"/>
              <a:t>所有的实数都是有理数</a:t>
            </a:r>
            <a:r>
              <a:rPr lang="en-US" altLang="zh-CN" sz="2400" noProof="1"/>
              <a:t>”</a:t>
            </a:r>
            <a:r>
              <a:rPr lang="zh-CN" altLang="en-US" sz="2400" noProof="1"/>
              <a:t> 和</a:t>
            </a:r>
            <a:r>
              <a:rPr lang="en-US" altLang="zh-CN" sz="24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noProof="1"/>
              <a:t>有的实数是有理数</a:t>
            </a:r>
            <a:r>
              <a:rPr lang="en-US" altLang="zh-CN" sz="2400" noProof="1"/>
              <a:t>”</a:t>
            </a:r>
            <a:r>
              <a:rPr lang="zh-CN" altLang="en-US" sz="2400" noProof="1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376" y="2991346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4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4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4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4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4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4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文本占位符 67585"/>
          <p:cNvSpPr>
            <a:spLocks noGrp="1"/>
          </p:cNvSpPr>
          <p:nvPr>
            <p:ph type="body" sz="half" idx="4294967295"/>
          </p:nvPr>
        </p:nvSpPr>
        <p:spPr>
          <a:xfrm>
            <a:off x="1631504" y="3672380"/>
            <a:ext cx="8713787" cy="2780955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计算机系有学生去过美国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引入谓词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是计算机系的学生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去过美国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符号化结果：</a:t>
            </a:r>
            <a:r>
              <a:rPr lang="zh-CN" altLang="pt-BR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 </a:t>
            </a:r>
            <a:endParaRPr lang="en-US" altLang="zh-CN" sz="20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没有无知的教授 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引入谓词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是教授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是无知的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符号化结果：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pt-BR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pt-BR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 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0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pt-BR" altLang="zh-CN" sz="2000" i="1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pt-BR" altLang="zh-CN" sz="20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000" i="1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000" noProof="1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3392" y="1772816"/>
            <a:ext cx="613003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noProof="1"/>
              <a:t>全称判断常符号化为蕴含式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noProof="1"/>
              <a:t>特称判断常符号化为合取式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7368" y="3140968"/>
            <a:ext cx="8026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noProof="1">
                <a:sym typeface="Symbol" panose="05050102010706020507" pitchFamily="18" charset="2"/>
              </a:rPr>
              <a:t>例</a:t>
            </a:r>
            <a:r>
              <a:rPr lang="en-US" altLang="zh-CN" sz="2400" noProof="1">
                <a:sym typeface="Symbol" panose="05050102010706020507" pitchFamily="18" charset="2"/>
              </a:rPr>
              <a:t>4.1.3</a:t>
            </a:r>
            <a:r>
              <a:rPr lang="zh-CN" altLang="en-US" sz="2400" noProof="1">
                <a:sym typeface="Symbol" panose="05050102010706020507" pitchFamily="18" charset="2"/>
              </a:rPr>
              <a:t>  命题符号化</a:t>
            </a:r>
            <a:r>
              <a:rPr lang="en-US" altLang="zh-CN" sz="2400" noProof="1">
                <a:sym typeface="Symbol" panose="05050102010706020507" pitchFamily="18" charset="2"/>
              </a:rPr>
              <a:t>, </a:t>
            </a:r>
            <a:r>
              <a:rPr lang="zh-CN" altLang="en-US" sz="2400" noProof="1">
                <a:sym typeface="Symbol" panose="05050102010706020507" pitchFamily="18" charset="2"/>
              </a:rPr>
              <a:t>默认使用全总个体域 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623392" y="3672381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文本占位符 115713"/>
          <p:cNvSpPr>
            <a:spLocks noGrp="1"/>
          </p:cNvSpPr>
          <p:nvPr>
            <p:ph type="body" sz="half" idx="4294967295"/>
          </p:nvPr>
        </p:nvSpPr>
        <p:spPr>
          <a:xfrm>
            <a:off x="1847528" y="3190337"/>
            <a:ext cx="5760641" cy="216024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个体域默认为全总个体域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引入谓词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是人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是要死的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引入常量符号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苏格拉底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符号化结果：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sz="22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endParaRPr lang="en-US" altLang="zh-CN" sz="22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2515" y="1654887"/>
            <a:ext cx="6134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>
                <a:sym typeface="Symbol" panose="05050102010706020507" pitchFamily="18" charset="2"/>
              </a:rPr>
              <a:t>例</a:t>
            </a:r>
            <a:r>
              <a:rPr lang="en-US" altLang="zh-CN" noProof="1">
                <a:sym typeface="Symbol" panose="05050102010706020507" pitchFamily="18" charset="2"/>
              </a:rPr>
              <a:t>4.1.4</a:t>
            </a:r>
            <a:r>
              <a:rPr lang="zh-CN" altLang="en-US" noProof="1">
                <a:sym typeface="Symbol" panose="05050102010706020507" pitchFamily="18" charset="2"/>
              </a:rPr>
              <a:t>  </a:t>
            </a:r>
            <a:r>
              <a:rPr lang="zh-CN" altLang="en-US" noProof="1"/>
              <a:t>苏格拉底三段论的符号化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55440" y="2358421"/>
            <a:ext cx="10414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noProof="1">
                <a:solidFill>
                  <a:srgbClr val="FFFF00"/>
                </a:solidFill>
              </a:rPr>
              <a:t>苏格拉底三段论：凡人都是要死的</a:t>
            </a:r>
            <a:r>
              <a:rPr lang="en-US" altLang="zh-CN" sz="2400" noProof="1">
                <a:solidFill>
                  <a:srgbClr val="FFFF00"/>
                </a:solidFill>
              </a:rPr>
              <a:t>, </a:t>
            </a:r>
            <a:r>
              <a:rPr lang="zh-CN" altLang="en-US" sz="2400" noProof="1">
                <a:solidFill>
                  <a:srgbClr val="FFFF00"/>
                </a:solidFill>
              </a:rPr>
              <a:t>苏格拉底是人</a:t>
            </a:r>
            <a:r>
              <a:rPr lang="en-US" altLang="zh-CN" sz="2400" noProof="1">
                <a:solidFill>
                  <a:srgbClr val="FFFF00"/>
                </a:solidFill>
              </a:rPr>
              <a:t>, </a:t>
            </a:r>
            <a:r>
              <a:rPr lang="zh-CN" altLang="en-US" sz="2400" noProof="1">
                <a:solidFill>
                  <a:srgbClr val="FFFF00"/>
                </a:solidFill>
              </a:rPr>
              <a:t>所以苏格拉底是要死的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83432" y="3195866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5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5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5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5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5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5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00692" y="1680529"/>
            <a:ext cx="75115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>
                <a:sym typeface="Symbol" panose="05050102010706020507" pitchFamily="18" charset="2"/>
              </a:rPr>
              <a:t>例</a:t>
            </a:r>
            <a:r>
              <a:rPr lang="en-US" altLang="zh-CN" noProof="1">
                <a:sym typeface="Symbol" panose="05050102010706020507" pitchFamily="18" charset="2"/>
              </a:rPr>
              <a:t>4.1.5</a:t>
            </a:r>
            <a:r>
              <a:rPr lang="zh-CN" altLang="en-US" noProof="1">
                <a:sym typeface="Symbol" panose="05050102010706020507" pitchFamily="18" charset="2"/>
              </a:rPr>
              <a:t>  </a:t>
            </a:r>
            <a:r>
              <a:rPr lang="zh-CN" altLang="en-US" noProof="1"/>
              <a:t>符号化命题</a:t>
            </a:r>
            <a:r>
              <a:rPr lang="en-US" altLang="zh-CN" sz="28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noProof="1"/>
              <a:t>每人恰有一个最好的朋友</a:t>
            </a:r>
            <a:r>
              <a:rPr lang="en-US" altLang="zh-CN" noProof="1"/>
              <a:t>”</a:t>
            </a:r>
            <a:endParaRPr lang="zh-CN" altLang="en-US" noProof="1"/>
          </a:p>
        </p:txBody>
      </p:sp>
      <p:sp>
        <p:nvSpPr>
          <p:cNvPr id="11" name="文本框 10"/>
          <p:cNvSpPr txBox="1"/>
          <p:nvPr/>
        </p:nvSpPr>
        <p:spPr>
          <a:xfrm>
            <a:off x="1415480" y="2370858"/>
            <a:ext cx="8856984" cy="19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400050" lvl="1" indent="0" eaLnBrk="0" hangingPunct="0">
              <a:lnSpc>
                <a:spcPct val="13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b="0" noProof="1">
                <a:sym typeface="Symbol" panose="05050102010706020507" pitchFamily="18" charset="2"/>
              </a:rPr>
              <a:t>个体域为全体人的集合</a:t>
            </a:r>
            <a:endParaRPr lang="zh-CN" altLang="en-US" sz="2400" b="0" noProof="1"/>
          </a:p>
          <a:p>
            <a:r>
              <a:rPr lang="zh-CN" altLang="en-US" sz="2400" b="0" noProof="1">
                <a:sym typeface="Symbol" panose="05050102010706020507" pitchFamily="18" charset="2"/>
              </a:rPr>
              <a:t>引入谓词：</a:t>
            </a:r>
            <a:r>
              <a:rPr lang="en-US" altLang="zh-CN" sz="2400" i="1" noProof="1"/>
              <a:t>B</a:t>
            </a:r>
            <a:r>
              <a:rPr lang="en-US" altLang="zh-CN" sz="2400" b="0" noProof="1"/>
              <a:t>(</a:t>
            </a:r>
            <a:r>
              <a:rPr lang="en-US" altLang="zh-CN" sz="2400" i="1" noProof="1"/>
              <a:t>x</a:t>
            </a:r>
            <a:r>
              <a:rPr lang="en-US" altLang="zh-CN" sz="2400" b="0" noProof="1"/>
              <a:t>,</a:t>
            </a:r>
            <a:r>
              <a:rPr lang="en-US" altLang="zh-CN" sz="2400" i="1" noProof="1"/>
              <a:t>y</a:t>
            </a:r>
            <a:r>
              <a:rPr lang="en-US" altLang="zh-CN" sz="2400" b="0" noProof="1"/>
              <a:t>)</a:t>
            </a:r>
            <a:r>
              <a:rPr lang="zh-CN" altLang="en-US" sz="2400" b="0" noProof="1"/>
              <a:t>：</a:t>
            </a:r>
            <a:r>
              <a:rPr lang="en-US" altLang="zh-CN" sz="2400" i="1" noProof="1"/>
              <a:t>y</a:t>
            </a:r>
            <a:r>
              <a:rPr lang="en-US" altLang="zh-CN" sz="2400" b="0" noProof="1"/>
              <a:t> </a:t>
            </a:r>
            <a:r>
              <a:rPr lang="zh-CN" altLang="en-US" sz="2400" b="0" noProof="1"/>
              <a:t>是</a:t>
            </a:r>
            <a:r>
              <a:rPr lang="en-US" altLang="zh-CN" sz="2400" i="1" noProof="1"/>
              <a:t>x</a:t>
            </a:r>
            <a:r>
              <a:rPr lang="en-US" altLang="zh-CN" sz="2400" b="0" noProof="1"/>
              <a:t> </a:t>
            </a:r>
            <a:r>
              <a:rPr lang="zh-CN" altLang="en-US" sz="2400" b="0" noProof="1"/>
              <a:t>的最好朋友</a:t>
            </a:r>
            <a:endParaRPr lang="zh-CN" altLang="en-US" sz="2400" b="0" noProof="1">
              <a:sym typeface="Symbol" panose="05050102010706020507" pitchFamily="18" charset="2"/>
            </a:endParaRPr>
          </a:p>
          <a:p>
            <a:r>
              <a:rPr lang="zh-CN" altLang="en-US" sz="2400" b="0" noProof="1">
                <a:sym typeface="Symbol" panose="05050102010706020507" pitchFamily="18" charset="2"/>
              </a:rPr>
              <a:t>符号化结果：</a:t>
            </a:r>
            <a:r>
              <a:rPr lang="en-US" altLang="zh-CN" sz="2400" b="0" noProof="1">
                <a:sym typeface="Symbol" panose="05050102010706020507" pitchFamily="18" charset="2"/>
              </a:rPr>
              <a:t></a:t>
            </a:r>
            <a:r>
              <a:rPr lang="en-US" altLang="zh-CN" sz="2400" i="1" noProof="1"/>
              <a:t>x</a:t>
            </a:r>
            <a:r>
              <a:rPr lang="en-US" altLang="zh-CN" sz="2400" b="0" noProof="1">
                <a:sym typeface="Symbol" panose="05050102010706020507" pitchFamily="18" charset="2"/>
              </a:rPr>
              <a:t></a:t>
            </a:r>
            <a:r>
              <a:rPr lang="en-US" altLang="zh-CN" sz="2400" i="1" noProof="1"/>
              <a:t>y</a:t>
            </a:r>
            <a:r>
              <a:rPr lang="en-US" altLang="zh-CN" sz="2400" b="0" noProof="1"/>
              <a:t>(</a:t>
            </a:r>
            <a:r>
              <a:rPr lang="en-US" altLang="zh-CN" sz="2400" i="1" noProof="1"/>
              <a:t>B</a:t>
            </a:r>
            <a:r>
              <a:rPr lang="en-US" altLang="zh-CN" sz="2400" b="0" noProof="1"/>
              <a:t>(</a:t>
            </a:r>
            <a:r>
              <a:rPr lang="en-US" altLang="zh-CN" sz="2400" i="1" noProof="1"/>
              <a:t>x</a:t>
            </a:r>
            <a:r>
              <a:rPr lang="en-US" altLang="zh-CN" sz="2400" b="0" noProof="1"/>
              <a:t>,</a:t>
            </a:r>
            <a:r>
              <a:rPr lang="en-US" altLang="zh-CN" sz="2400" i="1" noProof="1"/>
              <a:t>y</a:t>
            </a:r>
            <a:r>
              <a:rPr lang="en-US" altLang="zh-CN" sz="2400" b="0" noProof="1"/>
              <a:t>)∧</a:t>
            </a:r>
            <a:r>
              <a:rPr lang="en-US" altLang="zh-CN" sz="2400" b="0" noProof="1">
                <a:sym typeface="Symbol" panose="05050102010706020507" pitchFamily="18" charset="2"/>
              </a:rPr>
              <a:t></a:t>
            </a:r>
            <a:r>
              <a:rPr lang="en-US" altLang="zh-CN" sz="2400" i="1" noProof="1"/>
              <a:t>z</a:t>
            </a:r>
            <a:r>
              <a:rPr lang="en-US" altLang="zh-CN" sz="2400" b="0" noProof="1"/>
              <a:t>((</a:t>
            </a:r>
            <a:r>
              <a:rPr lang="en-US" altLang="zh-CN" sz="2400" i="1" noProof="1"/>
              <a:t>z</a:t>
            </a:r>
            <a:r>
              <a:rPr lang="en-US" altLang="zh-CN" sz="2400" b="0" noProof="1"/>
              <a:t>≠</a:t>
            </a:r>
            <a:r>
              <a:rPr lang="en-US" altLang="zh-CN" sz="2400" i="1" noProof="1"/>
              <a:t>y</a:t>
            </a:r>
            <a:r>
              <a:rPr lang="en-US" altLang="zh-CN" sz="2400" b="0" noProof="1"/>
              <a:t>)→¬</a:t>
            </a:r>
            <a:r>
              <a:rPr lang="en-US" altLang="zh-CN" sz="2400" i="1" noProof="1"/>
              <a:t>B</a:t>
            </a:r>
            <a:r>
              <a:rPr lang="en-US" altLang="zh-CN" sz="2400" b="0" noProof="1"/>
              <a:t>(</a:t>
            </a:r>
            <a:r>
              <a:rPr lang="en-US" altLang="zh-CN" sz="2400" i="1" noProof="1"/>
              <a:t>x</a:t>
            </a:r>
            <a:r>
              <a:rPr lang="en-US" altLang="zh-CN" sz="2400" b="0" noProof="1"/>
              <a:t>,</a:t>
            </a:r>
            <a:r>
              <a:rPr lang="en-US" altLang="zh-CN" sz="2400" i="1" noProof="1"/>
              <a:t>z</a:t>
            </a:r>
            <a:r>
              <a:rPr lang="en-US" altLang="zh-CN" sz="2400" b="0" noProof="1"/>
              <a:t>)))</a:t>
            </a:r>
            <a:endParaRPr lang="en-US" altLang="zh-CN" sz="2400" b="0" noProof="1"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1384" y="2441156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文本占位符 116737"/>
          <p:cNvSpPr>
            <a:spLocks noGrp="1"/>
          </p:cNvSpPr>
          <p:nvPr>
            <p:ph type="body" sz="half" idx="4294967295"/>
          </p:nvPr>
        </p:nvSpPr>
        <p:spPr>
          <a:xfrm>
            <a:off x="1406756" y="3042377"/>
            <a:ext cx="10183383" cy="81867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谓词公式</a:t>
            </a:r>
            <a:r>
              <a:rPr lang="zh-CN" altLang="pt-BR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)∧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)∧(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≠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))→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400" i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的含义是：</a:t>
            </a:r>
            <a:endParaRPr lang="en-US" altLang="zh-CN" sz="24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384" y="1756439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>
                <a:sym typeface="Symbol" panose="05050102010706020507" pitchFamily="18" charset="2"/>
              </a:rPr>
              <a:t>例</a:t>
            </a:r>
            <a:r>
              <a:rPr lang="en-US" altLang="zh-CN" noProof="1">
                <a:sym typeface="Symbol" panose="05050102010706020507" pitchFamily="18" charset="2"/>
              </a:rPr>
              <a:t>4.1.6</a:t>
            </a:r>
            <a:r>
              <a:rPr lang="zh-CN" altLang="en-US" noProof="1">
                <a:sym typeface="Symbol" panose="05050102010706020507" pitchFamily="18" charset="2"/>
              </a:rPr>
              <a:t>  谓词公式的自然语言翻译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51984" y="1696951"/>
            <a:ext cx="4751416" cy="1048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400050" lvl="1" indent="0" eaLnBrk="0" hangingPunct="0">
              <a:lnSpc>
                <a:spcPct val="13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noProof="1">
                <a:solidFill>
                  <a:srgbClr val="FFFF00"/>
                </a:solidFill>
                <a:sym typeface="Symbol" panose="05050102010706020507" pitchFamily="18" charset="2"/>
              </a:rPr>
              <a:t>谓词</a:t>
            </a:r>
            <a:r>
              <a:rPr lang="en-US" altLang="zh-CN" b="0" i="1" noProof="1">
                <a:solidFill>
                  <a:srgbClr val="FFFF00"/>
                </a:solidFill>
                <a:sym typeface="Symbol" panose="05050102010706020507" pitchFamily="18" charset="2"/>
              </a:rPr>
              <a:t>F</a:t>
            </a:r>
            <a:r>
              <a:rPr lang="en-US" altLang="zh-CN" b="0" noProof="1">
                <a:solidFill>
                  <a:srgbClr val="FFFF00"/>
                </a:solidFill>
                <a:sym typeface="Symbol" panose="05050102010706020507" pitchFamily="18" charset="2"/>
              </a:rPr>
              <a:t>(</a:t>
            </a:r>
            <a:r>
              <a:rPr lang="en-US" altLang="zh-CN" b="0" i="1" noProof="1">
                <a:solidFill>
                  <a:srgbClr val="FFFF00"/>
                </a:solidFill>
                <a:sym typeface="Symbol" panose="05050102010706020507" pitchFamily="18" charset="2"/>
              </a:rPr>
              <a:t>x</a:t>
            </a:r>
            <a:r>
              <a:rPr lang="en-US" altLang="zh-CN" b="0" noProof="1">
                <a:solidFill>
                  <a:srgbClr val="FFFF00"/>
                </a:solidFill>
                <a:sym typeface="Symbol" panose="05050102010706020507" pitchFamily="18" charset="2"/>
              </a:rPr>
              <a:t>,</a:t>
            </a:r>
            <a:r>
              <a:rPr lang="en-US" altLang="zh-CN" b="0" i="1" noProof="1">
                <a:solidFill>
                  <a:srgbClr val="FFFF00"/>
                </a:solidFill>
                <a:sym typeface="Symbol" panose="05050102010706020507" pitchFamily="18" charset="2"/>
              </a:rPr>
              <a:t>y</a:t>
            </a:r>
            <a:r>
              <a:rPr lang="en-US" altLang="zh-CN" b="0" noProof="1">
                <a:solidFill>
                  <a:srgbClr val="FFFF00"/>
                </a:solidFill>
                <a:sym typeface="Symbol" panose="05050102010706020507" pitchFamily="18" charset="2"/>
              </a:rPr>
              <a:t>)</a:t>
            </a:r>
            <a:r>
              <a:rPr lang="zh-CN" altLang="en-US" b="0" noProof="1">
                <a:solidFill>
                  <a:srgbClr val="FFFF00"/>
                </a:solidFill>
                <a:sym typeface="Symbol" panose="05050102010706020507" pitchFamily="18" charset="2"/>
              </a:rPr>
              <a:t>：</a:t>
            </a:r>
            <a:r>
              <a:rPr lang="en-US" altLang="zh-CN" b="0" i="1" noProof="1">
                <a:solidFill>
                  <a:srgbClr val="FFFF00"/>
                </a:solidFill>
                <a:sym typeface="Symbol" panose="05050102010706020507" pitchFamily="18" charset="2"/>
              </a:rPr>
              <a:t>x</a:t>
            </a:r>
            <a:r>
              <a:rPr lang="zh-CN" altLang="en-US" b="0" noProof="1">
                <a:solidFill>
                  <a:srgbClr val="FFFF00"/>
                </a:solidFill>
                <a:sym typeface="Symbol" panose="05050102010706020507" pitchFamily="18" charset="2"/>
              </a:rPr>
              <a:t>和</a:t>
            </a:r>
            <a:r>
              <a:rPr lang="en-US" altLang="zh-CN" b="0" i="1" noProof="1">
                <a:solidFill>
                  <a:srgbClr val="FFFF00"/>
                </a:solidFill>
                <a:sym typeface="Symbol" panose="05050102010706020507" pitchFamily="18" charset="2"/>
              </a:rPr>
              <a:t>y</a:t>
            </a:r>
            <a:r>
              <a:rPr lang="zh-CN" altLang="en-US" b="0" noProof="1">
                <a:solidFill>
                  <a:srgbClr val="FFFF00"/>
                </a:solidFill>
                <a:sym typeface="Symbol" panose="05050102010706020507" pitchFamily="18" charset="2"/>
              </a:rPr>
              <a:t>是朋友</a:t>
            </a:r>
            <a:endParaRPr lang="en-US" altLang="zh-CN" b="0" noProof="1">
              <a:solidFill>
                <a:srgbClr val="FFFF00"/>
              </a:solidFill>
              <a:sym typeface="Symbol" panose="05050102010706020507" pitchFamily="18" charset="2"/>
            </a:endParaRPr>
          </a:p>
          <a:p>
            <a:r>
              <a:rPr lang="zh-CN" altLang="en-US" b="0" noProof="1">
                <a:solidFill>
                  <a:srgbClr val="FFFF00"/>
                </a:solidFill>
                <a:sym typeface="Symbol" panose="05050102010706020507" pitchFamily="18" charset="2"/>
              </a:rPr>
              <a:t>个体域：</a:t>
            </a:r>
            <a:r>
              <a:rPr lang="en-US" altLang="zh-CN" b="0" i="1" noProof="1">
                <a:solidFill>
                  <a:srgbClr val="FFFF00"/>
                </a:solidFill>
                <a:sym typeface="Symbol" panose="05050102010706020507" pitchFamily="18" charset="2"/>
              </a:rPr>
              <a:t>ECNU</a:t>
            </a:r>
            <a:r>
              <a:rPr lang="zh-CN" altLang="en-US" b="0" noProof="1">
                <a:solidFill>
                  <a:srgbClr val="FFFF00"/>
                </a:solidFill>
                <a:sym typeface="Symbol" panose="05050102010706020507" pitchFamily="18" charset="2"/>
              </a:rPr>
              <a:t>全体学生的集合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22573" y="3128048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谓词和量词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5DC9E1-4742-40F7-BDD7-0E3F56D801BA}"/>
              </a:ext>
            </a:extLst>
          </p:cNvPr>
          <p:cNvSpPr/>
          <p:nvPr/>
        </p:nvSpPr>
        <p:spPr>
          <a:xfrm>
            <a:off x="983432" y="3876544"/>
            <a:ext cx="10009112" cy="1688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ECNU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有学生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 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对所有学生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及不同于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的其他所有学生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z, 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只要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都是朋友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那么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就不是朋友。换句话说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ECNU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有学生</a:t>
            </a:r>
            <a:r>
              <a:rPr lang="en-US" altLang="zh-CN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他的朋友们都不是朋友。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9376" y="1772816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noProof="1">
                <a:sym typeface="Symbol" panose="05050102010706020507" pitchFamily="18" charset="2"/>
              </a:rPr>
              <a:t>定义</a:t>
            </a:r>
            <a:r>
              <a:rPr lang="en-US" altLang="zh-CN" noProof="1">
                <a:sym typeface="Symbol" panose="05050102010706020507" pitchFamily="18" charset="2"/>
              </a:rPr>
              <a:t>4.1.2   </a:t>
            </a:r>
            <a:r>
              <a:rPr lang="zh-CN" altLang="en-US" noProof="1">
                <a:sym typeface="Symbol" panose="05050102010706020507" pitchFamily="18" charset="2"/>
              </a:rPr>
              <a:t>项的递归定义</a:t>
            </a:r>
          </a:p>
        </p:txBody>
      </p:sp>
      <p:sp>
        <p:nvSpPr>
          <p:cNvPr id="7" name="文本占位符 68609"/>
          <p:cNvSpPr txBox="1"/>
          <p:nvPr/>
        </p:nvSpPr>
        <p:spPr bwMode="auto">
          <a:xfrm>
            <a:off x="1094886" y="2534290"/>
            <a:ext cx="9361040" cy="1547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b="0" noProof="1">
                <a:sym typeface="Symbol" panose="05050102010706020507" pitchFamily="18" charset="2"/>
              </a:rPr>
              <a:t>(1)</a:t>
            </a:r>
            <a:r>
              <a:rPr lang="zh-CN" altLang="en-US" b="0" noProof="1">
                <a:sym typeface="Symbol" panose="05050102010706020507" pitchFamily="18" charset="2"/>
              </a:rPr>
              <a:t>个体词</a:t>
            </a:r>
            <a:r>
              <a:rPr lang="en-US" altLang="zh-CN" b="0" noProof="1">
                <a:sym typeface="Symbol" panose="05050102010706020507" pitchFamily="18" charset="2"/>
              </a:rPr>
              <a:t>(</a:t>
            </a:r>
            <a:r>
              <a:rPr lang="zh-CN" altLang="en-US" b="0" noProof="1">
                <a:sym typeface="Symbol" panose="05050102010706020507" pitchFamily="18" charset="2"/>
              </a:rPr>
              <a:t>个体常量和个体变量</a:t>
            </a:r>
            <a:r>
              <a:rPr lang="en-US" altLang="zh-CN" b="0" noProof="1">
                <a:sym typeface="Symbol" panose="05050102010706020507" pitchFamily="18" charset="2"/>
              </a:rPr>
              <a:t>)</a:t>
            </a:r>
            <a:r>
              <a:rPr lang="zh-CN" altLang="en-US" b="0" noProof="1">
                <a:sym typeface="Symbol" panose="05050102010706020507" pitchFamily="18" charset="2"/>
              </a:rPr>
              <a:t>是项</a:t>
            </a:r>
          </a:p>
          <a:p>
            <a:r>
              <a:rPr lang="en-US" altLang="zh-CN" b="0" noProof="1">
                <a:sym typeface="Symbol" panose="05050102010706020507" pitchFamily="18" charset="2"/>
              </a:rPr>
              <a:t>(2)</a:t>
            </a:r>
            <a:r>
              <a:rPr lang="zh-CN" altLang="en-US" b="0" noProof="1">
                <a:sym typeface="Symbol" panose="05050102010706020507" pitchFamily="18" charset="2"/>
              </a:rPr>
              <a:t>若</a:t>
            </a:r>
            <a:r>
              <a:rPr lang="en-US" altLang="zh-CN" sz="2000" i="1" noProof="1">
                <a:sym typeface="Symbol" panose="05050102010706020507" pitchFamily="18" charset="2"/>
              </a:rPr>
              <a:t>f</a:t>
            </a:r>
            <a:r>
              <a:rPr lang="en-US" altLang="zh-CN" b="0" noProof="1"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b="0" baseline="-25000" noProof="1">
                <a:sym typeface="Symbol" panose="05050102010706020507" pitchFamily="18" charset="2"/>
              </a:rPr>
              <a:t>1</a:t>
            </a:r>
            <a:r>
              <a:rPr lang="en-US" altLang="zh-CN" b="0" noProof="1"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b="0" baseline="-25000" noProof="1">
                <a:sym typeface="Symbol" panose="05050102010706020507" pitchFamily="18" charset="2"/>
              </a:rPr>
              <a:t>2</a:t>
            </a:r>
            <a:r>
              <a:rPr lang="en-US" altLang="zh-CN" b="0" noProof="1">
                <a:sym typeface="Symbol" panose="05050102010706020507" pitchFamily="18" charset="2"/>
              </a:rPr>
              <a:t>, … , 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i="1" baseline="-25000" noProof="1">
                <a:sym typeface="Symbol" panose="05050102010706020507" pitchFamily="18" charset="2"/>
              </a:rPr>
              <a:t>n</a:t>
            </a:r>
            <a:r>
              <a:rPr lang="en-US" altLang="zh-CN" sz="2000" noProof="1">
                <a:sym typeface="Symbol" panose="05050102010706020507" pitchFamily="18" charset="2"/>
              </a:rPr>
              <a:t>)</a:t>
            </a:r>
            <a:r>
              <a:rPr lang="zh-CN" altLang="en-US" b="0" noProof="1">
                <a:sym typeface="Symbol" panose="05050102010706020507" pitchFamily="18" charset="2"/>
              </a:rPr>
              <a:t>是</a:t>
            </a:r>
            <a:r>
              <a:rPr lang="en-US" altLang="zh-CN" sz="2000" i="1" noProof="1">
                <a:sym typeface="Symbol" panose="05050102010706020507" pitchFamily="18" charset="2"/>
              </a:rPr>
              <a:t>n</a:t>
            </a:r>
            <a:r>
              <a:rPr lang="en-US" altLang="zh-CN" b="0" noProof="1"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sym typeface="Symbol" panose="05050102010706020507" pitchFamily="18" charset="2"/>
              </a:rPr>
              <a:t>n</a:t>
            </a:r>
            <a:r>
              <a:rPr lang="en-US" altLang="zh-CN" b="0" noProof="1">
                <a:sym typeface="Symbol" panose="05050102010706020507" pitchFamily="18" charset="2"/>
              </a:rPr>
              <a:t>≥1)</a:t>
            </a:r>
            <a:r>
              <a:rPr lang="zh-CN" altLang="en-US" b="0" noProof="1">
                <a:sym typeface="Symbol" panose="05050102010706020507" pitchFamily="18" charset="2"/>
              </a:rPr>
              <a:t>元函数</a:t>
            </a:r>
            <a:r>
              <a:rPr lang="en-US" altLang="zh-CN" b="0" noProof="1"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sym typeface="Symbol" panose="05050102010706020507" pitchFamily="18" charset="2"/>
              </a:rPr>
              <a:t>t</a:t>
            </a:r>
            <a:r>
              <a:rPr lang="en-US" altLang="zh-CN" b="0" baseline="-25000" noProof="1">
                <a:sym typeface="Symbol" panose="05050102010706020507" pitchFamily="18" charset="2"/>
              </a:rPr>
              <a:t>1</a:t>
            </a:r>
            <a:r>
              <a:rPr lang="en-US" altLang="zh-CN" b="0" noProof="1"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sym typeface="Symbol" panose="05050102010706020507" pitchFamily="18" charset="2"/>
              </a:rPr>
              <a:t>t</a:t>
            </a:r>
            <a:r>
              <a:rPr lang="en-US" altLang="zh-CN" b="0" baseline="-25000" noProof="1">
                <a:sym typeface="Symbol" panose="05050102010706020507" pitchFamily="18" charset="2"/>
              </a:rPr>
              <a:t>2</a:t>
            </a:r>
            <a:r>
              <a:rPr lang="en-US" altLang="zh-CN" b="0" noProof="1">
                <a:sym typeface="Symbol" panose="05050102010706020507" pitchFamily="18" charset="2"/>
              </a:rPr>
              <a:t>, … , </a:t>
            </a:r>
            <a:r>
              <a:rPr lang="en-US" altLang="zh-CN" sz="2000" i="1" noProof="1">
                <a:sym typeface="Symbol" panose="05050102010706020507" pitchFamily="18" charset="2"/>
              </a:rPr>
              <a:t>t</a:t>
            </a:r>
            <a:r>
              <a:rPr lang="en-US" altLang="zh-CN" i="1" baseline="-25000" noProof="1">
                <a:sym typeface="Symbol" panose="05050102010706020507" pitchFamily="18" charset="2"/>
              </a:rPr>
              <a:t>n</a:t>
            </a:r>
            <a:r>
              <a:rPr lang="zh-CN" altLang="en-US" b="0" noProof="1">
                <a:sym typeface="Symbol" panose="05050102010706020507" pitchFamily="18" charset="2"/>
              </a:rPr>
              <a:t>是项</a:t>
            </a:r>
            <a:r>
              <a:rPr lang="en-US" altLang="zh-CN" b="0" noProof="1">
                <a:sym typeface="Symbol" panose="05050102010706020507" pitchFamily="18" charset="2"/>
              </a:rPr>
              <a:t>, </a:t>
            </a:r>
            <a:r>
              <a:rPr lang="zh-CN" altLang="en-US" b="0" noProof="1">
                <a:sym typeface="Symbol" panose="05050102010706020507" pitchFamily="18" charset="2"/>
              </a:rPr>
              <a:t>则</a:t>
            </a:r>
            <a:r>
              <a:rPr lang="en-US" altLang="zh-CN" sz="2000" i="1" noProof="1">
                <a:sym typeface="Symbol" panose="05050102010706020507" pitchFamily="18" charset="2"/>
              </a:rPr>
              <a:t>f</a:t>
            </a:r>
            <a:r>
              <a:rPr lang="en-US" altLang="zh-CN" b="0" noProof="1"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sym typeface="Symbol" panose="05050102010706020507" pitchFamily="18" charset="2"/>
              </a:rPr>
              <a:t>t</a:t>
            </a:r>
            <a:r>
              <a:rPr lang="en-US" altLang="zh-CN" b="0" baseline="-25000" noProof="1">
                <a:sym typeface="Symbol" panose="05050102010706020507" pitchFamily="18" charset="2"/>
              </a:rPr>
              <a:t>1</a:t>
            </a:r>
            <a:r>
              <a:rPr lang="en-US" altLang="zh-CN" b="0" noProof="1"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sym typeface="Symbol" panose="05050102010706020507" pitchFamily="18" charset="2"/>
              </a:rPr>
              <a:t>t</a:t>
            </a:r>
            <a:r>
              <a:rPr lang="en-US" altLang="zh-CN" b="0" baseline="-25000" noProof="1">
                <a:sym typeface="Symbol" panose="05050102010706020507" pitchFamily="18" charset="2"/>
              </a:rPr>
              <a:t>2</a:t>
            </a:r>
            <a:r>
              <a:rPr lang="en-US" altLang="zh-CN" b="0" noProof="1">
                <a:sym typeface="Symbol" panose="05050102010706020507" pitchFamily="18" charset="2"/>
              </a:rPr>
              <a:t>, … , </a:t>
            </a:r>
            <a:r>
              <a:rPr lang="en-US" altLang="zh-CN" sz="2000" i="1" noProof="1">
                <a:sym typeface="Symbol" panose="05050102010706020507" pitchFamily="18" charset="2"/>
              </a:rPr>
              <a:t>t</a:t>
            </a:r>
            <a:r>
              <a:rPr lang="en-US" altLang="zh-CN" i="1" baseline="-25000" noProof="1">
                <a:sym typeface="Symbol" panose="05050102010706020507" pitchFamily="18" charset="2"/>
              </a:rPr>
              <a:t>n</a:t>
            </a:r>
            <a:r>
              <a:rPr lang="en-US" altLang="zh-CN" b="0" noProof="1">
                <a:sym typeface="Symbol" panose="05050102010706020507" pitchFamily="18" charset="2"/>
              </a:rPr>
              <a:t>)</a:t>
            </a:r>
            <a:r>
              <a:rPr lang="zh-CN" altLang="en-US" b="0" noProof="1">
                <a:sym typeface="Symbol" panose="05050102010706020507" pitchFamily="18" charset="2"/>
              </a:rPr>
              <a:t>是项</a:t>
            </a:r>
          </a:p>
          <a:p>
            <a:r>
              <a:rPr lang="en-US" altLang="zh-CN" b="0" noProof="1">
                <a:sym typeface="Symbol" panose="05050102010706020507" pitchFamily="18" charset="2"/>
              </a:rPr>
              <a:t>(3)</a:t>
            </a:r>
            <a:r>
              <a:rPr lang="zh-CN" altLang="en-US" b="0" noProof="1">
                <a:sym typeface="Symbol" panose="05050102010706020507" pitchFamily="18" charset="2"/>
              </a:rPr>
              <a:t>所有的项都是通过有限次使用</a:t>
            </a:r>
            <a:r>
              <a:rPr lang="en-US" altLang="zh-CN" b="0" noProof="1">
                <a:sym typeface="Symbol" panose="05050102010706020507" pitchFamily="18" charset="2"/>
              </a:rPr>
              <a:t>(1)</a:t>
            </a:r>
            <a:r>
              <a:rPr lang="zh-CN" altLang="en-US" b="0" noProof="1">
                <a:sym typeface="Symbol" panose="05050102010706020507" pitchFamily="18" charset="2"/>
              </a:rPr>
              <a:t>和</a:t>
            </a:r>
            <a:r>
              <a:rPr lang="en-US" altLang="zh-CN" b="0" noProof="1">
                <a:sym typeface="Symbol" panose="05050102010706020507" pitchFamily="18" charset="2"/>
              </a:rPr>
              <a:t>(2)</a:t>
            </a:r>
            <a:r>
              <a:rPr lang="zh-CN" altLang="en-US" b="0" noProof="1">
                <a:sym typeface="Symbol" panose="05050102010706020507" pitchFamily="18" charset="2"/>
              </a:rPr>
              <a:t>之后得到的符号串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文本占位符 68609"/>
          <p:cNvSpPr>
            <a:spLocks noGrp="1"/>
          </p:cNvSpPr>
          <p:nvPr>
            <p:ph type="body" sz="half" idx="4294967295"/>
          </p:nvPr>
        </p:nvSpPr>
        <p:spPr>
          <a:xfrm>
            <a:off x="1127448" y="2492660"/>
            <a:ext cx="10441160" cy="214131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≥1)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元谓词符号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200" i="1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是项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200" i="1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是谓词公式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是谓词公式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(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∨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也是谓词公式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是谓词公式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是个体变量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pt-BR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也是谓词公式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(4)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所有的谓词公式都是通过有限次使用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(1), (2)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之后得到的符号串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1700808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noProof="1">
                <a:sym typeface="Symbol" panose="05050102010706020507" pitchFamily="18" charset="2"/>
              </a:rPr>
              <a:t>定义</a:t>
            </a:r>
            <a:r>
              <a:rPr lang="en-US" altLang="zh-CN" noProof="1">
                <a:sym typeface="Symbol" panose="05050102010706020507" pitchFamily="18" charset="2"/>
              </a:rPr>
              <a:t>4.1.3  </a:t>
            </a:r>
            <a:r>
              <a:rPr lang="zh-CN" altLang="en-US" noProof="1">
                <a:sym typeface="Symbol" panose="05050102010706020507" pitchFamily="18" charset="2"/>
              </a:rPr>
              <a:t>谓词公式的递归定义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占位符 100353"/>
          <p:cNvSpPr>
            <a:spLocks noGrp="1"/>
          </p:cNvSpPr>
          <p:nvPr>
            <p:ph type="body" sz="half" idx="4294967295"/>
          </p:nvPr>
        </p:nvSpPr>
        <p:spPr>
          <a:xfrm>
            <a:off x="911424" y="2204864"/>
            <a:ext cx="10369152" cy="206297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最外层的圆括号可以省略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pt-BR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pt-BR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的优先级相同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联结词的优先次序依次为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pt-BR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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xC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可简化为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pt-BR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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xC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75420" y="4810218"/>
            <a:ext cx="11125236" cy="1686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b="0" noProof="1"/>
              <a:t>在谓词公式</a:t>
            </a:r>
            <a:r>
              <a:rPr lang="en-US" altLang="zh-CN" b="0" noProof="1">
                <a:sym typeface="Symbol" panose="05050102010706020507" pitchFamily="18" charset="2"/>
              </a:rPr>
              <a:t></a:t>
            </a:r>
            <a:r>
              <a:rPr lang="en-US" altLang="zh-CN" sz="2000" i="1" noProof="1"/>
              <a:t>xA</a:t>
            </a:r>
            <a:r>
              <a:rPr lang="zh-CN" altLang="en-US" b="0" noProof="1"/>
              <a:t>和</a:t>
            </a:r>
            <a:r>
              <a:rPr lang="zh-CN" altLang="pt-BR" b="0" noProof="1">
                <a:sym typeface="Symbol" panose="05050102010706020507" pitchFamily="18" charset="2"/>
              </a:rPr>
              <a:t></a:t>
            </a:r>
            <a:r>
              <a:rPr lang="en-US" altLang="zh-CN" sz="2000" i="1" noProof="1"/>
              <a:t>xA</a:t>
            </a:r>
            <a:r>
              <a:rPr lang="zh-CN" altLang="en-US" b="0" noProof="1"/>
              <a:t>中</a:t>
            </a:r>
            <a:r>
              <a:rPr lang="en-US" altLang="zh-CN" b="0" noProof="1"/>
              <a:t>, </a:t>
            </a:r>
            <a:r>
              <a:rPr lang="en-US" altLang="zh-CN" sz="2000" i="1" noProof="1"/>
              <a:t>x</a:t>
            </a:r>
            <a:r>
              <a:rPr lang="zh-CN" altLang="en-US" b="0" noProof="1"/>
              <a:t>为称</a:t>
            </a:r>
            <a:r>
              <a:rPr lang="zh-CN" altLang="en-US" b="0" noProof="1">
                <a:solidFill>
                  <a:srgbClr val="FFC000"/>
                </a:solidFill>
              </a:rPr>
              <a:t>指导变量</a:t>
            </a:r>
            <a:r>
              <a:rPr lang="en-US" altLang="zh-CN" b="0" noProof="1"/>
              <a:t>, </a:t>
            </a:r>
            <a:r>
              <a:rPr lang="zh-CN" altLang="en-US" b="0" noProof="1"/>
              <a:t>量词的</a:t>
            </a:r>
            <a:r>
              <a:rPr lang="zh-CN" altLang="en-US" b="0" noProof="1">
                <a:solidFill>
                  <a:srgbClr val="FFC000"/>
                </a:solidFill>
              </a:rPr>
              <a:t>辖域</a:t>
            </a:r>
            <a:r>
              <a:rPr lang="zh-CN" altLang="en-US" b="0" noProof="1"/>
              <a:t>为</a:t>
            </a:r>
            <a:r>
              <a:rPr lang="en-US" altLang="zh-CN" sz="2000" i="1" noProof="1"/>
              <a:t>A</a:t>
            </a:r>
            <a:r>
              <a:rPr lang="zh-CN" altLang="en-US" b="0" noProof="1"/>
              <a:t>。辖域中的变量</a:t>
            </a:r>
            <a:r>
              <a:rPr lang="en-US" altLang="zh-CN" sz="2000" i="1" noProof="1"/>
              <a:t>x</a:t>
            </a:r>
            <a:r>
              <a:rPr lang="zh-CN" altLang="en-US" b="0" noProof="1"/>
              <a:t>称为</a:t>
            </a:r>
            <a:r>
              <a:rPr lang="zh-CN" altLang="en-US" b="0" noProof="1">
                <a:solidFill>
                  <a:srgbClr val="FFC000"/>
                </a:solidFill>
              </a:rPr>
              <a:t>约束变量</a:t>
            </a:r>
            <a:r>
              <a:rPr lang="zh-CN" altLang="en-US" b="0" noProof="1"/>
              <a:t>。</a:t>
            </a:r>
            <a:r>
              <a:rPr lang="en-US" altLang="zh-CN" sz="2000" i="1" noProof="1"/>
              <a:t>A</a:t>
            </a:r>
            <a:r>
              <a:rPr lang="zh-CN" altLang="en-US" b="0" noProof="1"/>
              <a:t>中的非约束变量称为</a:t>
            </a:r>
            <a:r>
              <a:rPr lang="zh-CN" altLang="en-US" b="0" noProof="1">
                <a:solidFill>
                  <a:srgbClr val="FFC000"/>
                </a:solidFill>
              </a:rPr>
              <a:t>自由变量</a:t>
            </a:r>
            <a:r>
              <a:rPr lang="zh-CN" altLang="en-US" b="0" noProof="1"/>
              <a:t>。</a:t>
            </a:r>
          </a:p>
          <a:p>
            <a:r>
              <a:rPr lang="zh-CN" altLang="en-US" b="0" noProof="1">
                <a:sym typeface="Symbol" panose="05050102010706020507" pitchFamily="18" charset="2"/>
              </a:rPr>
              <a:t>含</a:t>
            </a:r>
            <a:r>
              <a:rPr lang="en-US" altLang="zh-CN" sz="2000" i="1" noProof="1">
                <a:sym typeface="Symbol" panose="05050102010706020507" pitchFamily="18" charset="2"/>
              </a:rPr>
              <a:t>n</a:t>
            </a:r>
            <a:r>
              <a:rPr lang="zh-CN" altLang="en-US" b="0" noProof="1">
                <a:sym typeface="Symbol" panose="05050102010706020507" pitchFamily="18" charset="2"/>
              </a:rPr>
              <a:t>个自由变量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b="0" baseline="-25000" noProof="1">
                <a:sym typeface="Symbol" panose="05050102010706020507" pitchFamily="18" charset="2"/>
              </a:rPr>
              <a:t>1</a:t>
            </a:r>
            <a:r>
              <a:rPr lang="en-US" altLang="zh-CN" b="0" noProof="1"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b="0" baseline="-25000" noProof="1">
                <a:sym typeface="Symbol" panose="05050102010706020507" pitchFamily="18" charset="2"/>
              </a:rPr>
              <a:t>2</a:t>
            </a:r>
            <a:r>
              <a:rPr lang="en-US" altLang="zh-CN" b="0" noProof="1">
                <a:sym typeface="Symbol" panose="05050102010706020507" pitchFamily="18" charset="2"/>
              </a:rPr>
              <a:t>, … , 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i="1" baseline="-25000" noProof="1">
                <a:sym typeface="Symbol" panose="05050102010706020507" pitchFamily="18" charset="2"/>
              </a:rPr>
              <a:t>n</a:t>
            </a:r>
            <a:r>
              <a:rPr lang="zh-CN" altLang="en-US" b="0" noProof="1">
                <a:sym typeface="Symbol" panose="05050102010706020507" pitchFamily="18" charset="2"/>
              </a:rPr>
              <a:t>的谓词公式</a:t>
            </a:r>
            <a:r>
              <a:rPr lang="en-US" altLang="zh-CN" sz="2000" i="1" noProof="1">
                <a:sym typeface="Symbol" panose="05050102010706020507" pitchFamily="18" charset="2"/>
              </a:rPr>
              <a:t>A</a:t>
            </a:r>
            <a:r>
              <a:rPr lang="zh-CN" altLang="en-US" b="0" noProof="1">
                <a:sym typeface="Symbol" panose="05050102010706020507" pitchFamily="18" charset="2"/>
              </a:rPr>
              <a:t>记为</a:t>
            </a:r>
            <a:r>
              <a:rPr lang="en-US" altLang="zh-CN" sz="2000" i="1" noProof="1">
                <a:sym typeface="Symbol" panose="05050102010706020507" pitchFamily="18" charset="2"/>
              </a:rPr>
              <a:t>A</a:t>
            </a:r>
            <a:r>
              <a:rPr lang="en-US" altLang="zh-CN" b="0" noProof="1">
                <a:sym typeface="Symbol" panose="05050102010706020507" pitchFamily="18" charset="2"/>
              </a:rPr>
              <a:t>(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b="0" baseline="-25000" noProof="1">
                <a:sym typeface="Symbol" panose="05050102010706020507" pitchFamily="18" charset="2"/>
              </a:rPr>
              <a:t>1</a:t>
            </a:r>
            <a:r>
              <a:rPr lang="en-US" altLang="zh-CN" b="0" noProof="1">
                <a:sym typeface="Symbol" panose="05050102010706020507" pitchFamily="18" charset="2"/>
              </a:rPr>
              <a:t>, 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b="0" baseline="-25000" noProof="1">
                <a:sym typeface="Symbol" panose="05050102010706020507" pitchFamily="18" charset="2"/>
              </a:rPr>
              <a:t>2</a:t>
            </a:r>
            <a:r>
              <a:rPr lang="en-US" altLang="zh-CN" b="0" noProof="1">
                <a:sym typeface="Symbol" panose="05050102010706020507" pitchFamily="18" charset="2"/>
              </a:rPr>
              <a:t>, … , </a:t>
            </a:r>
            <a:r>
              <a:rPr lang="en-US" altLang="zh-CN" sz="2000" i="1" noProof="1">
                <a:sym typeface="Symbol" panose="05050102010706020507" pitchFamily="18" charset="2"/>
              </a:rPr>
              <a:t>x</a:t>
            </a:r>
            <a:r>
              <a:rPr lang="en-US" altLang="zh-CN" i="1" baseline="-25000" noProof="1">
                <a:sym typeface="Symbol" panose="05050102010706020507" pitchFamily="18" charset="2"/>
              </a:rPr>
              <a:t>n</a:t>
            </a:r>
            <a:r>
              <a:rPr lang="en-US" altLang="zh-CN" b="0" noProof="1"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07368" y="1636284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谓词公式的简化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07368" y="4267835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noProof="1">
                <a:sym typeface="Symbol" panose="05050102010706020507" pitchFamily="18" charset="2"/>
              </a:rPr>
              <a:t>定义</a:t>
            </a:r>
            <a:r>
              <a:rPr lang="en-US" altLang="zh-CN" noProof="1">
                <a:sym typeface="Symbol" panose="05050102010706020507" pitchFamily="18" charset="2"/>
              </a:rPr>
              <a:t>4.1.4   </a:t>
            </a:r>
            <a:endParaRPr lang="zh-CN" altLang="en-US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1271464" y="2248615"/>
            <a:ext cx="5040560" cy="173712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(1)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24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(2)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))∧</a:t>
            </a:r>
            <a:r>
              <a:rPr lang="pt-BR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xS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pt-BR" sz="24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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zF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1763524"/>
            <a:ext cx="11161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600" noProof="1"/>
              <a:t>例</a:t>
            </a:r>
            <a:r>
              <a:rPr lang="en-US" altLang="zh-CN" sz="2600" noProof="1"/>
              <a:t>4.1.7</a:t>
            </a:r>
            <a:r>
              <a:rPr lang="zh-CN" altLang="en-US" sz="2600" noProof="1"/>
              <a:t>  指出下列公式中的指导变量、量词的辖域、约束变量、自由变量：</a:t>
            </a:r>
            <a:endParaRPr lang="zh-CN" altLang="en-US" sz="2600" noProof="1">
              <a:sym typeface="Symbol" panose="05050102010706020507" pitchFamily="18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368" y="4048037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811294"/>
              </p:ext>
            </p:extLst>
          </p:nvPr>
        </p:nvGraphicFramePr>
        <p:xfrm>
          <a:off x="1298397" y="4221088"/>
          <a:ext cx="9190091" cy="20218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90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7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公式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指导变量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量词的辖域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约束变量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自由变量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(1)</a:t>
                      </a:r>
                      <a:endParaRPr lang="en-US" altLang="zh-CN" sz="1800" noProof="1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第一个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第二个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第三个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(2)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第一个和第四个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)∧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第二个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、第三个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、第五个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pt-BR" altLang="zh-CN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3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第一个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、第一个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、第二个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)∧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800" i="1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CN" sz="1800" noProof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第二个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、第二个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C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第三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个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第一个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文本占位符 103425"/>
          <p:cNvSpPr>
            <a:spLocks noGrp="1"/>
          </p:cNvSpPr>
          <p:nvPr>
            <p:ph type="body" sz="half" idx="4294967295"/>
          </p:nvPr>
        </p:nvSpPr>
        <p:spPr>
          <a:xfrm>
            <a:off x="623392" y="1583454"/>
            <a:ext cx="10945215" cy="151219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谓词公式是符号串</a:t>
            </a:r>
            <a:r>
              <a:rPr lang="en-US" altLang="zh-CN" sz="2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并非命题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当规定了个体域</a:t>
            </a:r>
            <a:r>
              <a:rPr lang="en-US" altLang="zh-CN" sz="2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并对其中的自由变量、函数、谓词等符号指定了具体含义以后</a:t>
            </a:r>
            <a:r>
              <a:rPr lang="en-US" altLang="zh-CN" sz="2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noProof="1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谓词公式表示一个具体的命题    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3352" y="3239133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4.1.5  </a:t>
            </a:r>
            <a:r>
              <a:rPr lang="zh-CN" altLang="en-US" noProof="1"/>
              <a:t>谓词公式解释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39416" y="3762353"/>
                <a:ext cx="7992888" cy="2658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0" indent="0" eaLnBrk="0" hangingPunct="0">
                  <a:lnSpc>
                    <a:spcPct val="150000"/>
                  </a:lnSpc>
                  <a:spcBef>
                    <a:spcPts val="0"/>
                  </a:spcBef>
                  <a:buNone/>
                  <a:defRPr sz="220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zh-CN" altLang="en-US" b="0" noProof="1"/>
                  <a:t>谓词公式的</a:t>
                </a:r>
                <a:r>
                  <a:rPr lang="zh-CN" altLang="en-US" b="0" noProof="1">
                    <a:solidFill>
                      <a:srgbClr val="FFCC99"/>
                    </a:solidFill>
                  </a:rPr>
                  <a:t>解释</a:t>
                </a:r>
                <a:r>
                  <a:rPr lang="en-US" altLang="zh-CN" b="0" i="1" noProof="1">
                    <a:solidFill>
                      <a:srgbClr val="FFCC99"/>
                    </a:solidFill>
                  </a:rPr>
                  <a:t>I</a:t>
                </a:r>
                <a:r>
                  <a:rPr lang="zh-CN" altLang="en-US" b="0" noProof="1"/>
                  <a:t>由下面四部分组成：</a:t>
                </a:r>
              </a:p>
              <a:p>
                <a:r>
                  <a:rPr lang="en-US" altLang="zh-CN" b="0" noProof="1"/>
                  <a:t>(1)</a:t>
                </a:r>
                <a:r>
                  <a:rPr lang="zh-CN" altLang="en-US" b="0" noProof="1"/>
                  <a:t>非空个体域集合</a:t>
                </a:r>
                <a:r>
                  <a:rPr lang="en-US" altLang="zh-CN" sz="2000" i="1" noProof="1"/>
                  <a:t>D</a:t>
                </a:r>
              </a:p>
              <a:p>
                <a:r>
                  <a:rPr lang="en-US" altLang="zh-CN" b="0" noProof="1"/>
                  <a:t>(2)</a:t>
                </a:r>
                <a:r>
                  <a:rPr lang="zh-CN" altLang="en-US" b="0" noProof="1"/>
                  <a:t>分别指定公式中的自由变量和常量符号化为</a:t>
                </a:r>
                <a:r>
                  <a:rPr lang="en-US" altLang="zh-CN" sz="2000" i="1" noProof="1"/>
                  <a:t>D</a:t>
                </a:r>
                <a:r>
                  <a:rPr lang="zh-CN" altLang="en-US" b="0" noProof="1"/>
                  <a:t>中的元素</a:t>
                </a:r>
              </a:p>
              <a:p>
                <a:r>
                  <a:rPr lang="en-US" altLang="zh-CN" b="0" noProof="1"/>
                  <a:t>(3)</a:t>
                </a:r>
                <a:r>
                  <a:rPr lang="zh-CN" altLang="en-US" b="0" noProof="1"/>
                  <a:t>指定公式中的</a:t>
                </a:r>
                <a:r>
                  <a:rPr lang="en-US" altLang="zh-CN" sz="2000" i="1" noProof="1"/>
                  <a:t>n</a:t>
                </a:r>
                <a:r>
                  <a:rPr lang="zh-CN" altLang="en-US" b="0" noProof="1"/>
                  <a:t>元函数符号为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noProof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noProof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b="0" i="1" noProof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b="0" noProof="1"/>
                  <a:t>到</a:t>
                </a:r>
                <a:r>
                  <a:rPr lang="en-US" altLang="zh-CN" sz="2000" i="1" noProof="1"/>
                  <a:t>D</a:t>
                </a:r>
                <a:r>
                  <a:rPr lang="zh-CN" altLang="en-US" b="0" noProof="1"/>
                  <a:t>的函数</a:t>
                </a:r>
              </a:p>
              <a:p>
                <a:r>
                  <a:rPr lang="en-US" altLang="zh-CN" b="0" noProof="1"/>
                  <a:t>(4)</a:t>
                </a:r>
                <a:r>
                  <a:rPr lang="zh-CN" altLang="en-US" b="0" noProof="1"/>
                  <a:t>指定公式中的</a:t>
                </a:r>
                <a:r>
                  <a:rPr lang="en-US" altLang="zh-CN" sz="2000" i="1" noProof="1"/>
                  <a:t>n</a:t>
                </a:r>
                <a:r>
                  <a:rPr lang="zh-CN" altLang="en-US" b="0" noProof="1"/>
                  <a:t>元谓词符号为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noProof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noProof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b="0" i="1" noProof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b="0" noProof="1"/>
                  <a:t>到</a:t>
                </a:r>
                <a:r>
                  <a:rPr lang="en-US" altLang="zh-CN" b="0" noProof="1"/>
                  <a:t>{0,1}</a:t>
                </a:r>
                <a:r>
                  <a:rPr lang="zh-CN" altLang="en-US" b="0" noProof="1"/>
                  <a:t>的函数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3762353"/>
                <a:ext cx="7992888" cy="2658477"/>
              </a:xfrm>
              <a:prstGeom prst="rect">
                <a:avLst/>
              </a:prstGeom>
              <a:blipFill>
                <a:blip r:embed="rId2"/>
                <a:stretch>
                  <a:fillRect l="-992" b="-6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build="p"/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文本占位符 99329"/>
          <p:cNvSpPr>
            <a:spLocks noGrp="1"/>
          </p:cNvSpPr>
          <p:nvPr>
            <p:ph type="body" sz="half" idx="4294967295"/>
          </p:nvPr>
        </p:nvSpPr>
        <p:spPr>
          <a:xfrm>
            <a:off x="983432" y="2060848"/>
            <a:ext cx="9865096" cy="43924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pt-BR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是一元谓词符号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个体域：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 一元谓词符号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指定的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{0,1}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的函数：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下为真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对于任意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)=1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  <a:r>
              <a:rPr lang="zh-CN" altLang="pt-BR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下为真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)=1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i="1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则在</a:t>
            </a: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)∧...∧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i="1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)=1</a:t>
            </a:r>
          </a:p>
          <a:p>
            <a:pPr marL="400050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pt-BR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)∨…∨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i="1" baseline="30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i="1" kern="12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)=1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5360" y="1537628"/>
            <a:ext cx="6121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关于解释和谓词公式取值的说明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9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9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9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9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9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9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9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9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9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9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9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文本占位符 53249"/>
          <p:cNvSpPr>
            <a:spLocks noGrp="1"/>
          </p:cNvSpPr>
          <p:nvPr>
            <p:ph type="body" sz="half" idx="4294967295"/>
          </p:nvPr>
        </p:nvSpPr>
        <p:spPr>
          <a:xfrm>
            <a:off x="1199456" y="2152021"/>
            <a:ext cx="10729192" cy="42293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0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{1, 2}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常量符号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函数符号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(1)=2, 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(2)=1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谓词符号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(1)=1,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(2)=0</a:t>
            </a:r>
            <a:endParaRPr lang="zh-CN" altLang="en-US" sz="20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谓词符号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：对于任意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0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0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下为假：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(1, 1))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(2, 1))=(1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(0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1)=1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=0;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)))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0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0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下为真：</a:t>
            </a:r>
            <a:endParaRPr lang="en-US" altLang="zh-CN" sz="20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(1)))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(2)))=(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(1, 2))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(2, 1)) =(0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1)=1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1628800"/>
            <a:ext cx="9217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pt-BR" noProof="1"/>
              <a:t>例</a:t>
            </a:r>
            <a:r>
              <a:rPr lang="en-US" altLang="zh-CN" noProof="1"/>
              <a:t>4.1.8  </a:t>
            </a:r>
            <a:r>
              <a:rPr lang="zh-CN" altLang="en-US" noProof="1"/>
              <a:t>谓词公式</a:t>
            </a:r>
            <a:r>
              <a:rPr lang="en-US" altLang="zh-CN" noProof="1"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x</a:t>
            </a:r>
            <a:r>
              <a:rPr lang="en-US" altLang="zh-CN" noProof="1"/>
              <a:t>(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</a:t>
            </a:r>
            <a:r>
              <a:rPr lang="en-US" altLang="zh-CN" noProof="1">
                <a:sym typeface="Symbol" panose="05050102010706020507" pitchFamily="18" charset="2"/>
              </a:rPr>
              <a:t></a:t>
            </a:r>
            <a:r>
              <a:rPr lang="en-US" altLang="zh-CN" i="1" noProof="1"/>
              <a:t>G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, </a:t>
            </a:r>
            <a:r>
              <a:rPr lang="en-US" altLang="zh-CN" i="1" noProof="1"/>
              <a:t>a</a:t>
            </a:r>
            <a:r>
              <a:rPr lang="en-US" altLang="zh-CN" noProof="1"/>
              <a:t>))</a:t>
            </a:r>
            <a:r>
              <a:rPr lang="zh-CN" altLang="en-US" noProof="1"/>
              <a:t>和</a:t>
            </a:r>
            <a:r>
              <a:rPr lang="en-US" altLang="zh-CN" noProof="1">
                <a:sym typeface="Symbol" panose="05050102010706020507" pitchFamily="18" charset="2"/>
              </a:rPr>
              <a:t></a:t>
            </a:r>
            <a:r>
              <a:rPr lang="en-US" altLang="zh-CN" i="1" noProof="1"/>
              <a:t>x</a:t>
            </a:r>
            <a:r>
              <a:rPr lang="en-US" altLang="zh-CN" noProof="1"/>
              <a:t>(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))</a:t>
            </a:r>
            <a:r>
              <a:rPr lang="en-US" altLang="zh-CN" noProof="1">
                <a:sym typeface="Symbol" panose="05050102010706020507" pitchFamily="18" charset="2"/>
              </a:rPr>
              <a:t></a:t>
            </a:r>
            <a:r>
              <a:rPr lang="en-US" altLang="zh-CN" i="1" noProof="1"/>
              <a:t>G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, 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)))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41481" y="2060848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3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3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3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3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3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3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文本占位符 104449"/>
          <p:cNvSpPr>
            <a:spLocks noGrp="1"/>
          </p:cNvSpPr>
          <p:nvPr>
            <p:ph type="body" sz="half" idx="4294967295"/>
          </p:nvPr>
        </p:nvSpPr>
        <p:spPr>
          <a:xfrm>
            <a:off x="1343471" y="2276872"/>
            <a:ext cx="10410600" cy="410445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：实数集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常量符号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函数符号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谓词符号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)=1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下为真：</a:t>
            </a:r>
            <a:endParaRPr lang="en-US" altLang="zh-CN" sz="22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2000" i="1" kern="1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≠</a:t>
            </a:r>
            <a:r>
              <a:rPr kumimoji="1" lang="en-US" altLang="zh-CN" sz="2000" i="1" kern="1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000" i="1" kern="1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时，前件为假，整个蕴含式为真； </a:t>
            </a:r>
            <a:r>
              <a:rPr kumimoji="1" lang="en-US" altLang="zh-CN" sz="2000" i="1" kern="1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x=y</a:t>
            </a:r>
            <a:r>
              <a:rPr kumimoji="1" lang="zh-CN" altLang="en-US" sz="2000" i="1" kern="1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时，前件为真，后件也为真，整个蕴含式为真；</a:t>
            </a:r>
            <a:endParaRPr lang="zh-CN" altLang="en-US" sz="2200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0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下为真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1743227"/>
            <a:ext cx="8496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pt-BR" noProof="1"/>
              <a:t>例</a:t>
            </a:r>
            <a:r>
              <a:rPr lang="en-US" altLang="zh-CN" noProof="1"/>
              <a:t>4.1.9  </a:t>
            </a:r>
            <a:r>
              <a:rPr lang="zh-CN" altLang="en-US" noProof="1"/>
              <a:t>谓词公式</a:t>
            </a:r>
            <a:r>
              <a:rPr lang="en-US" altLang="zh-CN" noProof="1"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x</a:t>
            </a:r>
            <a:r>
              <a:rPr lang="en-US" altLang="zh-CN" noProof="1"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y</a:t>
            </a:r>
            <a:r>
              <a:rPr lang="en-US" altLang="zh-CN" noProof="1"/>
              <a:t>(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, </a:t>
            </a:r>
            <a:r>
              <a:rPr lang="en-US" altLang="zh-CN" i="1" noProof="1"/>
              <a:t>a</a:t>
            </a:r>
            <a:r>
              <a:rPr lang="en-US" altLang="zh-CN" noProof="1"/>
              <a:t>), </a:t>
            </a:r>
            <a:r>
              <a:rPr lang="en-US" altLang="zh-CN" i="1" noProof="1"/>
              <a:t>y</a:t>
            </a:r>
            <a:r>
              <a:rPr lang="en-US" altLang="zh-CN" noProof="1"/>
              <a:t>)→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f</a:t>
            </a:r>
            <a:r>
              <a:rPr lang="en-US" altLang="zh-CN" noProof="1"/>
              <a:t>(</a:t>
            </a:r>
            <a:r>
              <a:rPr lang="en-US" altLang="zh-CN" i="1" noProof="1"/>
              <a:t>y</a:t>
            </a:r>
            <a:r>
              <a:rPr lang="en-US" altLang="zh-CN" noProof="1"/>
              <a:t>, </a:t>
            </a:r>
            <a:r>
              <a:rPr lang="en-US" altLang="zh-CN" i="1" noProof="1"/>
              <a:t>a</a:t>
            </a:r>
            <a:r>
              <a:rPr lang="en-US" altLang="zh-CN" noProof="1"/>
              <a:t>), </a:t>
            </a:r>
            <a:r>
              <a:rPr lang="en-US" altLang="zh-CN" i="1" noProof="1"/>
              <a:t>x</a:t>
            </a:r>
            <a:r>
              <a:rPr lang="en-US" altLang="zh-CN" noProof="1"/>
              <a:t>))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7929" y="2392554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文本占位符 106498"/>
          <p:cNvSpPr>
            <a:spLocks noGrp="1"/>
          </p:cNvSpPr>
          <p:nvPr>
            <p:ph type="body" sz="half" idx="4294967295"/>
          </p:nvPr>
        </p:nvSpPr>
        <p:spPr>
          <a:xfrm>
            <a:off x="1043098" y="2564904"/>
            <a:ext cx="11640616" cy="172819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有效公式：关于一切解释的真值均为真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矛盾公式：关于一切解释的真值均为假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可满足公式： 至少存在一种使其为真的解释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1384" y="1762172"/>
            <a:ext cx="6312022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定义</a:t>
            </a:r>
            <a:r>
              <a:rPr lang="pt-BR" altLang="zh-CN" noProof="1"/>
              <a:t>4.1.6  </a:t>
            </a:r>
            <a:r>
              <a:rPr lang="zh-CN" altLang="pt-BR" noProof="1"/>
              <a:t>谓词公式的类型</a:t>
            </a:r>
          </a:p>
        </p:txBody>
      </p:sp>
      <p:sp>
        <p:nvSpPr>
          <p:cNvPr id="7" name="文本框 6"/>
          <p:cNvSpPr txBox="1"/>
          <p:nvPr/>
        </p:nvSpPr>
        <p:spPr>
          <a:xfrm rot="20812593">
            <a:off x="3263006" y="4312449"/>
            <a:ext cx="72008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 noProof="1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比较</a:t>
            </a:r>
            <a:r>
              <a:rPr lang="zh-CN" altLang="en-US" sz="240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noProof="1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命题公式的永真公式、永假公式、可满足公式</a:t>
            </a:r>
            <a:endParaRPr lang="zh-CN" altLang="en-US" sz="2400" dirty="0">
              <a:solidFill>
                <a:srgbClr val="7030A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文本占位符 106498"/>
          <p:cNvSpPr>
            <a:spLocks noGrp="1"/>
          </p:cNvSpPr>
          <p:nvPr>
            <p:ph type="body" sz="half" idx="4294967295"/>
          </p:nvPr>
        </p:nvSpPr>
        <p:spPr>
          <a:xfrm>
            <a:off x="1847528" y="2447310"/>
            <a:ext cx="7776864" cy="34299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谓词符号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)=1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200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200" i="1" noProof="1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pt-BR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pt-BR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不是有效公式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376" y="1734836"/>
            <a:ext cx="8496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例</a:t>
            </a:r>
            <a:r>
              <a:rPr lang="en-US" altLang="zh-CN" noProof="1"/>
              <a:t>4.1.10</a:t>
            </a:r>
            <a:r>
              <a:rPr lang="zh-CN" altLang="en-US" noProof="1"/>
              <a:t>  </a:t>
            </a:r>
            <a:r>
              <a:rPr lang="en-US" altLang="zh-CN" noProof="1"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x</a:t>
            </a:r>
            <a:r>
              <a:rPr lang="pt-BR" altLang="zh-CN" noProof="1">
                <a:sym typeface="Symbol" panose="05050102010706020507" pitchFamily="18" charset="2"/>
              </a:rPr>
              <a:t></a:t>
            </a:r>
            <a:r>
              <a:rPr lang="en-US" altLang="zh-CN" i="1" noProof="1"/>
              <a:t>yF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, </a:t>
            </a:r>
            <a:r>
              <a:rPr lang="en-US" altLang="zh-CN" i="1" noProof="1"/>
              <a:t>y</a:t>
            </a:r>
            <a:r>
              <a:rPr lang="en-US" altLang="zh-CN" noProof="1"/>
              <a:t>)→</a:t>
            </a:r>
            <a:r>
              <a:rPr lang="pt-BR" altLang="zh-CN" noProof="1">
                <a:sym typeface="Symbol" panose="05050102010706020507" pitchFamily="18" charset="2"/>
              </a:rPr>
              <a:t></a:t>
            </a:r>
            <a:r>
              <a:rPr lang="en-US" altLang="zh-CN" i="1" noProof="1"/>
              <a:t>x</a:t>
            </a:r>
            <a:r>
              <a:rPr lang="en-US" altLang="zh-CN" noProof="1"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y</a:t>
            </a:r>
            <a:r>
              <a:rPr lang="en-US" altLang="zh-CN" noProof="1"/>
              <a:t>F(</a:t>
            </a:r>
            <a:r>
              <a:rPr lang="en-US" altLang="zh-CN" i="1" noProof="1"/>
              <a:t>x</a:t>
            </a:r>
            <a:r>
              <a:rPr lang="en-US" altLang="zh-CN" noProof="1"/>
              <a:t>, </a:t>
            </a:r>
            <a:r>
              <a:rPr lang="en-US" altLang="zh-CN" i="1" noProof="1"/>
              <a:t>y</a:t>
            </a:r>
            <a:r>
              <a:rPr lang="en-US" altLang="zh-CN" noProof="1"/>
              <a:t>)</a:t>
            </a:r>
            <a:r>
              <a:rPr lang="zh-CN" altLang="en-US" noProof="1"/>
              <a:t>是有效公式吗？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5440" y="2447310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文本占位符 107521"/>
          <p:cNvSpPr>
            <a:spLocks noGrp="1"/>
          </p:cNvSpPr>
          <p:nvPr>
            <p:ph type="body" sz="half" idx="4294967295"/>
          </p:nvPr>
        </p:nvSpPr>
        <p:spPr>
          <a:xfrm>
            <a:off x="1127448" y="2313955"/>
            <a:ext cx="9577064" cy="12235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… ,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… ,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。分别用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… ,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替换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… , 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i="1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所得到的谓词公式称为</a:t>
            </a:r>
            <a:r>
              <a:rPr lang="en-US" altLang="zh-CN" sz="24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的代换实例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1710656"/>
            <a:ext cx="61300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定义</a:t>
            </a:r>
            <a:r>
              <a:rPr lang="pt-BR" altLang="zh-CN" noProof="1"/>
              <a:t>4.1.7  </a:t>
            </a:r>
            <a:r>
              <a:rPr lang="zh-CN" altLang="pt-BR" noProof="1"/>
              <a:t>命题公式的</a:t>
            </a:r>
            <a:r>
              <a:rPr lang="zh-CN" altLang="en-US" noProof="1"/>
              <a:t>代换实例 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24830" y="3789040"/>
            <a:ext cx="10225136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0" hangingPunc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b="0" noProof="1"/>
              <a:t>永真公式的代换实例是有效公式</a:t>
            </a:r>
          </a:p>
          <a:p>
            <a:pPr marL="342900" indent="-342900"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b="0" noProof="1"/>
              <a:t>永假公式的代换实例是矛盾公式</a:t>
            </a:r>
          </a:p>
          <a:p>
            <a:pPr marL="342900" indent="-342900"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b="0" noProof="1"/>
              <a:t>可满足（非永真）命题公式的代换实例</a:t>
            </a:r>
            <a:r>
              <a:rPr lang="zh-CN" altLang="en-US" b="0" noProof="1">
                <a:solidFill>
                  <a:srgbClr val="FFFF00"/>
                </a:solidFill>
              </a:rPr>
              <a:t>不一定</a:t>
            </a:r>
            <a:r>
              <a:rPr lang="zh-CN" altLang="en-US" b="0" noProof="1"/>
              <a:t>是可满足谓词公式，可能永假</a:t>
            </a:r>
            <a:endParaRPr lang="en-US" altLang="zh-CN" b="0" noProof="1"/>
          </a:p>
          <a:p>
            <a:pPr>
              <a:buClr>
                <a:srgbClr val="FF7C80"/>
              </a:buClr>
              <a:buSzPct val="80000"/>
            </a:pPr>
            <a:r>
              <a:rPr lang="zh-CN" altLang="en-US" b="0" noProof="1"/>
              <a:t>     </a:t>
            </a:r>
            <a:r>
              <a:rPr lang="zh-CN" altLang="en-US" sz="2000" b="0" i="1" noProof="1"/>
              <a:t>例如：可满足公式</a:t>
            </a:r>
            <a:r>
              <a:rPr lang="en-US" altLang="zh-CN" sz="2000" b="0" i="1" noProof="1"/>
              <a:t>p</a:t>
            </a:r>
            <a:r>
              <a:rPr lang="zh-CN" altLang="en-US" sz="2000" b="0" i="1" noProof="1"/>
              <a:t>，用</a:t>
            </a:r>
            <a:r>
              <a:rPr lang="en-US" altLang="zh-CN" sz="2000" i="1" noProof="1"/>
              <a:t>P(x)</a:t>
            </a:r>
            <a:r>
              <a:rPr lang="en-US" altLang="zh-CN" sz="2000" i="1" noProof="1">
                <a:sym typeface="Symbol" panose="05050102010706020507" pitchFamily="18" charset="2"/>
              </a:rPr>
              <a:t>  P</a:t>
            </a:r>
            <a:r>
              <a:rPr lang="en-US" altLang="zh-CN" sz="2000" i="1" noProof="1"/>
              <a:t>(x)</a:t>
            </a:r>
            <a:r>
              <a:rPr lang="zh-CN" altLang="en-US" sz="2000" b="0" i="1" noProof="1"/>
              <a:t>替换，显然永假</a:t>
            </a:r>
            <a:r>
              <a:rPr lang="zh-CN" altLang="en-US" sz="2000" i="1" noProof="1"/>
              <a:t>。</a:t>
            </a:r>
            <a:endParaRPr lang="zh-CN" altLang="en-US" sz="2000" b="0" i="1" noProof="1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99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2" grpId="0" build="p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文本占位符 107521"/>
          <p:cNvSpPr>
            <a:spLocks noGrp="1"/>
          </p:cNvSpPr>
          <p:nvPr>
            <p:ph type="body" sz="half" idx="4294967295"/>
          </p:nvPr>
        </p:nvSpPr>
        <p:spPr>
          <a:xfrm>
            <a:off x="1415480" y="2780843"/>
            <a:ext cx="8064896" cy="133075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xH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xF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xH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的代换实例，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200" i="1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是永真公式</a:t>
            </a:r>
            <a:r>
              <a:rPr lang="en-US" altLang="zh-CN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所以该谓词公式是有效公式。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0932" y="1664439"/>
            <a:ext cx="10625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例</a:t>
            </a:r>
            <a:r>
              <a:rPr lang="en-US" altLang="zh-CN" noProof="1"/>
              <a:t>4.1.11</a:t>
            </a:r>
            <a:r>
              <a:rPr lang="zh-CN" altLang="en-US" noProof="1"/>
              <a:t> 判断</a:t>
            </a:r>
            <a:r>
              <a:rPr lang="en-US" altLang="zh-CN" noProof="1"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xF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</a:t>
            </a:r>
            <a:r>
              <a:rPr lang="en-US" altLang="zh-CN" noProof="1">
                <a:sym typeface="Symbol" panose="05050102010706020507" pitchFamily="18" charset="2"/>
              </a:rPr>
              <a:t></a:t>
            </a:r>
            <a:r>
              <a:rPr lang="en-US" altLang="zh-CN" i="1" noProof="1"/>
              <a:t>xH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)→</a:t>
            </a:r>
            <a:r>
              <a:rPr lang="en-US" altLang="zh-CN" noProof="1">
                <a:sym typeface="Symbol" panose="05050102010706020507" pitchFamily="18" charset="2"/>
              </a:rPr>
              <a:t></a:t>
            </a:r>
            <a:r>
              <a:rPr lang="en-US" altLang="zh-CN" i="1" noProof="1"/>
              <a:t>xF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)∨</a:t>
            </a:r>
            <a:r>
              <a:rPr lang="en-US" altLang="zh-CN" noProof="1">
                <a:sym typeface="Symbol" panose="05050102010706020507" pitchFamily="18" charset="2"/>
              </a:rPr>
              <a:t></a:t>
            </a:r>
            <a:r>
              <a:rPr lang="en-US" altLang="zh-CN" i="1" noProof="1"/>
              <a:t>xH</a:t>
            </a:r>
            <a:r>
              <a:rPr lang="en-US" altLang="zh-CN" noProof="1"/>
              <a:t>(</a:t>
            </a:r>
            <a:r>
              <a:rPr lang="en-US" altLang="zh-CN" i="1" noProof="1"/>
              <a:t>x</a:t>
            </a:r>
            <a:r>
              <a:rPr lang="en-US" altLang="zh-CN" noProof="1"/>
              <a:t>)</a:t>
            </a:r>
            <a:r>
              <a:rPr lang="zh-CN" altLang="en-US" noProof="1"/>
              <a:t>是否是有效公式？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3392" y="2775371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74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1(1), 2, 5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965" y="1700808"/>
            <a:ext cx="11305256" cy="445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用谓词公式表达语句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所有的运动员都钦佩某些教练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”,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个体域为全总个体域。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用谓词公式表达语句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本班的学生都已学过微积分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”,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个体域分别取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的学生集合和本班的学生集合。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用谓词公式表达语句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pt-BR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班上无人恰给另外两个同班同学发过电子邮件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”,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个体域取本班学生的集合。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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)))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翻译成汉语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其中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有电脑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是同班同学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个体域是学校全体学生的集合。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给定解释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如下：</a:t>
            </a:r>
          </a:p>
          <a:p>
            <a:pPr lvl="1">
              <a:lnSpc>
                <a:spcPct val="130000"/>
              </a:lnSpc>
            </a:pP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个体域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{-2, 3, 6};</a:t>
            </a:r>
            <a:endParaRPr lang="zh-CN" altLang="en-US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个体常元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6;</a:t>
            </a:r>
            <a:endParaRPr lang="zh-CN" altLang="en-US" sz="2000" b="0" noProof="1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谓词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2&gt;1,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3, 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&gt;5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求出谓词公式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在解释</a:t>
            </a:r>
            <a:r>
              <a:rPr lang="en-US" altLang="zh-CN" sz="2000" b="0" i="1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下的真值。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3508</Words>
  <Application>Microsoft Office PowerPoint</Application>
  <PresentationFormat>宽屏</PresentationFormat>
  <Paragraphs>274</Paragraphs>
  <Slides>30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楷体_GB2312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807</cp:revision>
  <dcterms:created xsi:type="dcterms:W3CDTF">2008-05-09T05:16:00Z</dcterms:created>
  <dcterms:modified xsi:type="dcterms:W3CDTF">2026-03-30T01:27:36Z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8C785D449C144D0B81683E6AC7852FC1_12</vt:lpwstr>
  </property>
  <property fmtid="{D5CDD505-2E9C-101B-9397-08002B2CF9AE}" pid="3" name="KSOProductBuildVer">
    <vt:lpwstr>2052-12.1.0.16729</vt:lpwstr>
  </property>
</Properties>
</file>