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398" r:id="rId3"/>
    <p:sldId id="376" r:id="rId4"/>
    <p:sldId id="338" r:id="rId5"/>
    <p:sldId id="377" r:id="rId6"/>
    <p:sldId id="258" r:id="rId7"/>
    <p:sldId id="418" r:id="rId8"/>
    <p:sldId id="419" r:id="rId9"/>
    <p:sldId id="420" r:id="rId10"/>
    <p:sldId id="416" r:id="rId11"/>
    <p:sldId id="280" r:id="rId12"/>
    <p:sldId id="281" r:id="rId13"/>
    <p:sldId id="409" r:id="rId14"/>
    <p:sldId id="421" r:id="rId15"/>
    <p:sldId id="410" r:id="rId16"/>
    <p:sldId id="411" r:id="rId17"/>
    <p:sldId id="412" r:id="rId18"/>
    <p:sldId id="413" r:id="rId19"/>
    <p:sldId id="414" r:id="rId20"/>
    <p:sldId id="399" r:id="rId21"/>
    <p:sldId id="422" r:id="rId22"/>
  </p:sldIdLst>
  <p:sldSz cx="12192000" cy="685800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7C80"/>
    <a:srgbClr val="FFCC99"/>
    <a:srgbClr val="FFCCFF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0" d="100"/>
          <a:sy n="70" d="100"/>
        </p:scale>
        <p:origin x="43" y="2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17455" y="11430"/>
            <a:ext cx="20288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函数</a:t>
            </a:r>
            <a:endParaRPr lang="en-US" altLang="zh-CN" sz="24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第六章 函数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999656" y="429351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67408" y="1650951"/>
            <a:ext cx="7272808" cy="1331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函数是具有后件唯一性的特殊关系</a:t>
            </a:r>
            <a:endParaRPr lang="en-US" altLang="zh-CN" sz="2800" b="0" noProof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</a:rPr>
              <a:t>     </a:t>
            </a:r>
            <a:r>
              <a:rPr lang="zh-CN" altLang="en-US" sz="28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计算机软件可以抽象为函数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6973" y="3137665"/>
            <a:ext cx="7272808" cy="1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集合的基数是基本的数学概念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</a:rPr>
              <a:t>     </a:t>
            </a:r>
            <a:r>
              <a:rPr lang="zh-CN" altLang="en-US" sz="28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通过函数来描述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7408" y="4277170"/>
            <a:ext cx="7272808" cy="1533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Pct val="100000"/>
              <a:buBlip>
                <a:blip r:embed="rId4"/>
              </a:buBlip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不可解问题的存在性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</a:rPr>
              <a:t>   </a:t>
            </a:r>
            <a:r>
              <a:rPr lang="zh-CN" altLang="en-US" sz="28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问题集合的基数大于程序集合的基数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5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351584" y="2708920"/>
            <a:ext cx="5976663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函数的概念和性质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集合的基数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*6.3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不可解问题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9746" y="1772816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主要内容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本章导读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223617" y="2357682"/>
            <a:ext cx="3138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223617" y="3994911"/>
            <a:ext cx="3111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182765" y="1999119"/>
            <a:ext cx="358775" cy="121920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606033" y="1918567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函数的定义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映射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8"/>
          <p:cNvSpPr/>
          <p:nvPr/>
        </p:nvSpPr>
        <p:spPr bwMode="auto">
          <a:xfrm>
            <a:off x="4182765" y="3583138"/>
            <a:ext cx="328613" cy="1195923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71505" y="3429000"/>
            <a:ext cx="332469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函数的逆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函数的复合和逆的性质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606033" y="2395909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函数的类型：到上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606033" y="2873250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函数的表示：关系图与关系矩阵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理解函数</a:t>
            </a: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的概念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和性质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函数的概念和性质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函数的概念和性质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1091952" y="2980972"/>
            <a:ext cx="9073008" cy="143401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kumimoji="1" lang="en-US" altLang="zh-CN" sz="2400" i="1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1" lang="en-US" altLang="zh-CN" sz="2400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400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400" i="1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fr-FR" altLang="zh-CN" sz="2400" i="1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endParaRPr kumimoji="1" lang="zh-CN" altLang="en-US" sz="2400" kern="200" spc="200" noProof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kern="200" spc="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成立</a:t>
            </a:r>
            <a:endParaRPr kumimoji="1" lang="zh-CN" altLang="en-US" sz="2400" kern="200" spc="200" noProof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6.1.1 </a:t>
            </a:r>
            <a:r>
              <a:rPr lang="zh-CN" altLang="en-US" noProof="1"/>
              <a:t>函数</a:t>
            </a:r>
            <a:r>
              <a:rPr lang="en-US" altLang="zh-CN" noProof="1"/>
              <a:t>(</a:t>
            </a:r>
            <a:r>
              <a:rPr lang="zh-CN" altLang="en-US" noProof="1"/>
              <a:t>映射</a:t>
            </a:r>
            <a:r>
              <a:rPr lang="en-US" altLang="zh-CN" noProof="1"/>
              <a:t>, </a:t>
            </a:r>
            <a:r>
              <a:rPr lang="zh-CN" altLang="en-US" noProof="1"/>
              <a:t>重复定义</a:t>
            </a:r>
            <a:r>
              <a:rPr lang="en-US" altLang="zh-CN" noProof="1"/>
              <a:t>5.1.3)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01788" y="2463279"/>
            <a:ext cx="8810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fr-F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fr-F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fr-F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具有下列性质：</a:t>
            </a:r>
            <a:endParaRPr lang="zh-CN" altLang="en-US" sz="2400" b="0" i="1" kern="200" spc="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34232" y="4658542"/>
            <a:ext cx="6401927" cy="168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像</a:t>
            </a:r>
            <a:r>
              <a:rPr lang="en-US" altLang="zh-CN" sz="2400" b="0" i="1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仅有的后件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原像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：前件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不唯一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i="1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上的函数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4" name="矩形: 圆角 3"/>
          <p:cNvSpPr/>
          <p:nvPr/>
        </p:nvSpPr>
        <p:spPr bwMode="auto">
          <a:xfrm>
            <a:off x="4943872" y="5805264"/>
            <a:ext cx="6624736" cy="504056"/>
          </a:xfrm>
          <a:prstGeom prst="roundRect">
            <a:avLst>
              <a:gd name="adj" fmla="val 37802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spcBef>
                <a:spcPct val="50000"/>
              </a:spcBef>
            </a:pPr>
            <a:r>
              <a:rPr lang="zh-CN" altLang="en-US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初等函数</a:t>
            </a:r>
            <a:r>
              <a:rPr lang="en-US" altLang="zh-CN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关于数域的函数</a:t>
            </a:r>
            <a:r>
              <a:rPr lang="en-US" altLang="zh-CN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仅是一类特殊的函数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99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1384" y="1700808"/>
            <a:ext cx="10225136" cy="132155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例</a:t>
            </a:r>
            <a:r>
              <a:rPr lang="en-US" altLang="zh-CN" noProof="1"/>
              <a:t>6.1.1</a:t>
            </a:r>
            <a:r>
              <a:rPr lang="zh-CN" altLang="en-US" noProof="1"/>
              <a:t>  </a:t>
            </a:r>
            <a:r>
              <a:rPr lang="en-US" altLang="zh-CN" i="1" noProof="1">
                <a:solidFill>
                  <a:schemeClr val="bg1"/>
                </a:solidFill>
              </a:rPr>
              <a:t>ECNU</a:t>
            </a:r>
            <a:r>
              <a:rPr lang="zh-CN" altLang="en-US" noProof="1">
                <a:solidFill>
                  <a:schemeClr val="bg1"/>
                </a:solidFill>
              </a:rPr>
              <a:t>学生集合</a:t>
            </a:r>
            <a:r>
              <a:rPr lang="en-US" altLang="zh-CN" i="1" noProof="1">
                <a:solidFill>
                  <a:schemeClr val="bg1"/>
                </a:solidFill>
              </a:rPr>
              <a:t>U</a:t>
            </a:r>
            <a:r>
              <a:rPr lang="en-US" altLang="zh-CN" noProof="1">
                <a:solidFill>
                  <a:schemeClr val="bg1"/>
                </a:solidFill>
              </a:rPr>
              <a:t>, </a:t>
            </a:r>
            <a:r>
              <a:rPr lang="en-US" altLang="zh-CN" i="1" noProof="1">
                <a:solidFill>
                  <a:schemeClr val="bg1"/>
                </a:solidFill>
              </a:rPr>
              <a:t>f</a:t>
            </a:r>
            <a:r>
              <a:rPr lang="en-US" altLang="zh-CN" noProof="1">
                <a:solidFill>
                  <a:schemeClr val="bg1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noProof="1">
                <a:solidFill>
                  <a:schemeClr val="bg1"/>
                </a:solidFill>
              </a:rPr>
              <a:t>U</a:t>
            </a:r>
            <a:r>
              <a:rPr lang="en-US" altLang="zh-CN" noProof="1">
                <a:solidFill>
                  <a:schemeClr val="bg1"/>
                </a:solidFill>
              </a:rPr>
              <a:t>×</a:t>
            </a:r>
            <a:r>
              <a:rPr lang="en-US" altLang="zh-CN" i="1" noProof="1">
                <a:solidFill>
                  <a:schemeClr val="bg1"/>
                </a:solidFill>
                <a:sym typeface="Symbol" panose="05050102010706020507" pitchFamily="18" charset="2"/>
              </a:rPr>
              <a:t>N</a:t>
            </a:r>
            <a:r>
              <a:rPr lang="en-US" altLang="zh-CN" noProof="1">
                <a:solidFill>
                  <a:schemeClr val="bg1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 noProof="1">
                <a:solidFill>
                  <a:schemeClr val="bg1"/>
                </a:solidFill>
                <a:sym typeface="Symbol" panose="05050102010706020507" pitchFamily="18" charset="2"/>
              </a:rPr>
              <a:t>f</a:t>
            </a:r>
            <a:r>
              <a:rPr lang="en-US" altLang="zh-CN" noProof="1">
                <a:solidFill>
                  <a:schemeClr val="bg1"/>
                </a:solidFill>
                <a:sym typeface="Symbol" panose="05050102010706020507" pitchFamily="18" charset="2"/>
              </a:rPr>
              <a:t>={(</a:t>
            </a:r>
            <a:r>
              <a:rPr lang="en-US" altLang="zh-CN" i="1" noProof="1">
                <a:solidFill>
                  <a:schemeClr val="bg1"/>
                </a:solidFill>
                <a:sym typeface="Symbol" panose="05050102010706020507" pitchFamily="18" charset="2"/>
              </a:rPr>
              <a:t>s</a:t>
            </a:r>
            <a:r>
              <a:rPr lang="en-US" altLang="zh-CN" noProof="1">
                <a:solidFill>
                  <a:schemeClr val="bg1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noProof="1">
                <a:solidFill>
                  <a:schemeClr val="bg1"/>
                </a:solidFill>
                <a:sym typeface="Symbol" panose="05050102010706020507" pitchFamily="18" charset="2"/>
              </a:rPr>
              <a:t>a</a:t>
            </a:r>
            <a:r>
              <a:rPr lang="en-US" altLang="zh-CN" noProof="1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r>
              <a:rPr lang="en-US" altLang="zh-CN" noProof="1">
                <a:solidFill>
                  <a:schemeClr val="bg1"/>
                </a:solidFill>
              </a:rPr>
              <a:t>|</a:t>
            </a:r>
            <a:r>
              <a:rPr lang="en-US" altLang="zh-CN" i="1" noProof="1">
                <a:solidFill>
                  <a:schemeClr val="bg1"/>
                </a:solidFill>
              </a:rPr>
              <a:t>s</a:t>
            </a:r>
            <a:r>
              <a:rPr lang="zh-CN" altLang="en-US" noProof="1">
                <a:solidFill>
                  <a:schemeClr val="bg1"/>
                </a:solidFill>
              </a:rPr>
              <a:t>的年龄是</a:t>
            </a:r>
            <a:r>
              <a:rPr lang="en-US" altLang="zh-CN" i="1" noProof="1">
                <a:solidFill>
                  <a:schemeClr val="bg1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a</a:t>
            </a:r>
            <a:r>
              <a:rPr lang="en-US" altLang="zh-CN" noProof="1">
                <a:solidFill>
                  <a:schemeClr val="bg1"/>
                </a:solidFill>
                <a:sym typeface="Symbol" panose="05050102010706020507" pitchFamily="18" charset="2"/>
              </a:rPr>
              <a:t>}</a:t>
            </a:r>
          </a:p>
          <a:p>
            <a:r>
              <a:rPr lang="en-US" altLang="zh-CN" noProof="1">
                <a:solidFill>
                  <a:schemeClr val="bg1"/>
                </a:solidFill>
              </a:rPr>
              <a:t>              </a:t>
            </a:r>
            <a:r>
              <a:rPr lang="en-US" altLang="zh-CN" i="1" noProof="1">
                <a:solidFill>
                  <a:schemeClr val="bg1"/>
                </a:solidFill>
              </a:rPr>
              <a:t>f </a:t>
            </a:r>
            <a:r>
              <a:rPr lang="zh-CN" altLang="en-US" noProof="1">
                <a:solidFill>
                  <a:schemeClr val="bg1"/>
                </a:solidFill>
              </a:rPr>
              <a:t>是</a:t>
            </a:r>
            <a:r>
              <a:rPr lang="en-US" altLang="zh-CN" i="1" noProof="1">
                <a:solidFill>
                  <a:schemeClr val="bg1"/>
                </a:solidFill>
              </a:rPr>
              <a:t>U</a:t>
            </a:r>
            <a:r>
              <a:rPr lang="zh-CN" altLang="en-US" noProof="1">
                <a:solidFill>
                  <a:schemeClr val="bg1"/>
                </a:solidFill>
              </a:rPr>
              <a:t>到</a:t>
            </a:r>
            <a:r>
              <a:rPr lang="en-US" altLang="zh-CN" i="1" noProof="1">
                <a:solidFill>
                  <a:schemeClr val="bg1"/>
                </a:solidFill>
                <a:sym typeface="Symbol" panose="05050102010706020507" pitchFamily="18" charset="2"/>
              </a:rPr>
              <a:t>N</a:t>
            </a:r>
            <a:r>
              <a:rPr lang="zh-CN" altLang="en-US" noProof="1">
                <a:solidFill>
                  <a:schemeClr val="bg1"/>
                </a:solidFill>
                <a:sym typeface="Symbol" panose="05050102010706020507" pitchFamily="18" charset="2"/>
              </a:rPr>
              <a:t>的</a:t>
            </a:r>
            <a:r>
              <a:rPr lang="zh-CN" altLang="en-US" noProof="1">
                <a:solidFill>
                  <a:schemeClr val="bg1"/>
                </a:solidFill>
              </a:rPr>
              <a:t>函数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4219" y="3123027"/>
            <a:ext cx="10225136" cy="6119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例</a:t>
            </a:r>
            <a:r>
              <a:rPr lang="en-US" altLang="zh-CN" noProof="1"/>
              <a:t>6.1.2</a:t>
            </a:r>
            <a:r>
              <a:rPr lang="zh-CN" altLang="en-US" noProof="1"/>
              <a:t>  </a:t>
            </a:r>
            <a:r>
              <a:rPr lang="zh-CN" altLang="en-US" noProof="1">
                <a:solidFill>
                  <a:schemeClr val="bg1"/>
                </a:solidFill>
              </a:rPr>
              <a:t>对于任意集合</a:t>
            </a:r>
            <a:r>
              <a:rPr lang="en-US" altLang="zh-CN" i="1" noProof="1">
                <a:solidFill>
                  <a:schemeClr val="bg1"/>
                </a:solidFill>
              </a:rPr>
              <a:t>X</a:t>
            </a:r>
            <a:r>
              <a:rPr lang="en-US" altLang="zh-CN" noProof="1">
                <a:solidFill>
                  <a:schemeClr val="bg1"/>
                </a:solidFill>
              </a:rPr>
              <a:t>, </a:t>
            </a:r>
            <a:r>
              <a:rPr lang="en-US" altLang="zh-CN" i="1" noProof="1">
                <a:solidFill>
                  <a:schemeClr val="bg1"/>
                </a:solidFill>
              </a:rPr>
              <a:t>I</a:t>
            </a:r>
            <a:r>
              <a:rPr lang="en-US" altLang="zh-CN" i="1" baseline="-25000" noProof="1">
                <a:solidFill>
                  <a:schemeClr val="bg1"/>
                </a:solidFill>
              </a:rPr>
              <a:t>X</a:t>
            </a:r>
            <a:r>
              <a:rPr lang="zh-CN" altLang="en-US" noProof="1">
                <a:solidFill>
                  <a:schemeClr val="bg1"/>
                </a:solidFill>
              </a:rPr>
              <a:t>是</a:t>
            </a:r>
            <a:r>
              <a:rPr lang="en-US" altLang="zh-CN" i="1" noProof="1">
                <a:solidFill>
                  <a:schemeClr val="bg1"/>
                </a:solidFill>
              </a:rPr>
              <a:t>X</a:t>
            </a:r>
            <a:r>
              <a:rPr lang="zh-CN" altLang="en-US" noProof="1">
                <a:solidFill>
                  <a:schemeClr val="bg1"/>
                </a:solidFill>
              </a:rPr>
              <a:t>上的函数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en-US" altLang="zh-CN" b="0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787" y="4365104"/>
            <a:ext cx="5811237" cy="179437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定义：函数相等</a:t>
            </a:r>
          </a:p>
          <a:p>
            <a:pPr marL="457200" lvl="1" indent="0">
              <a:buNone/>
            </a:pP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f</a:t>
            </a:r>
            <a:r>
              <a:rPr lang="zh-CN" altLang="en-US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marL="457200" lvl="1" indent="0">
              <a:buNone/>
            </a:pP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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i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51201"/>
          <p:cNvSpPr txBox="1"/>
          <p:nvPr/>
        </p:nvSpPr>
        <p:spPr>
          <a:xfrm>
            <a:off x="551384" y="1610002"/>
            <a:ext cx="10801200" cy="268309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6.1.3</a:t>
            </a: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={1,2,3},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),(1,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),(2,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),(3,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)}, 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),(2,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)}, 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),(2,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),(3,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有两个后件</a:t>
            </a: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没有后件</a:t>
            </a: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</a:p>
        </p:txBody>
      </p:sp>
      <p:pic>
        <p:nvPicPr>
          <p:cNvPr id="3" name="图片 512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109" y="4425377"/>
            <a:ext cx="2555081" cy="1814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12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4" y="4425377"/>
            <a:ext cx="2660861" cy="186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12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777" y="4433865"/>
            <a:ext cx="2954671" cy="1869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7368" y="1700808"/>
            <a:ext cx="11161240" cy="211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函数关系图和关系矩阵的特性</a:t>
            </a:r>
          </a:p>
          <a:p>
            <a:pPr lvl="1">
              <a:lnSpc>
                <a:spcPct val="150000"/>
              </a:lnSpc>
            </a:pPr>
            <a:r>
              <a:rPr lang="en-US" altLang="zh-CN" sz="2400" noProof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考察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中的元素：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(∵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且仅有一个以它为尾的箭头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(∵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后件的唯一性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考察矩阵的行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：矩阵的每行有且仅有一个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7368" y="1625084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6.1.2  </a:t>
            </a:r>
            <a:r>
              <a:rPr lang="zh-CN" altLang="en-US" noProof="1"/>
              <a:t>函数的类型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83432" y="2211748"/>
            <a:ext cx="10369152" cy="14857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noProof="1"/>
              <a:t>(1)</a:t>
            </a:r>
            <a:r>
              <a:rPr lang="zh-CN" altLang="en-US" noProof="1"/>
              <a:t> </a:t>
            </a:r>
            <a:r>
              <a:rPr lang="en-US" altLang="zh-CN" i="1" noProof="1"/>
              <a:t>f</a:t>
            </a:r>
            <a:r>
              <a:rPr lang="zh-CN" altLang="en-US" noProof="1"/>
              <a:t>是到</a:t>
            </a:r>
            <a:r>
              <a:rPr lang="en-US" altLang="zh-CN" noProof="1"/>
              <a:t>(</a:t>
            </a:r>
            <a:r>
              <a:rPr lang="zh-CN" altLang="en-US" noProof="1"/>
              <a:t>映</a:t>
            </a:r>
            <a:r>
              <a:rPr lang="en-US" altLang="zh-CN" noProof="1"/>
              <a:t>)</a:t>
            </a:r>
            <a:r>
              <a:rPr lang="zh-CN" altLang="en-US" noProof="1"/>
              <a:t>上的</a:t>
            </a:r>
            <a:r>
              <a:rPr lang="en-US" altLang="zh-CN" noProof="1"/>
              <a:t>(</a:t>
            </a:r>
            <a:r>
              <a:rPr lang="zh-CN" altLang="en-US" noProof="1"/>
              <a:t>满射</a:t>
            </a:r>
            <a:r>
              <a:rPr lang="en-US" altLang="zh-CN" noProof="1"/>
              <a:t>)</a:t>
            </a:r>
            <a:r>
              <a:rPr lang="zh-CN" altLang="en-US" noProof="1"/>
              <a:t>：</a:t>
            </a:r>
            <a:r>
              <a:rPr lang="en-US" altLang="zh-CN" i="1" noProof="1"/>
              <a:t>ran</a:t>
            </a:r>
            <a:r>
              <a:rPr lang="en-US" altLang="zh-CN" noProof="1"/>
              <a:t>(</a:t>
            </a:r>
            <a:r>
              <a:rPr lang="en-US" altLang="zh-CN" i="1" noProof="1"/>
              <a:t>f</a:t>
            </a:r>
            <a:r>
              <a:rPr lang="en-US" altLang="zh-CN" noProof="1"/>
              <a:t>)=</a:t>
            </a:r>
            <a:r>
              <a:rPr lang="en-US" altLang="zh-CN" i="1" noProof="1"/>
              <a:t>Y</a:t>
            </a:r>
          </a:p>
          <a:p>
            <a:pPr>
              <a:lnSpc>
                <a:spcPct val="130000"/>
              </a:lnSpc>
            </a:pPr>
            <a:r>
              <a:rPr lang="en-US" altLang="zh-CN" noProof="1"/>
              <a:t>(2)</a:t>
            </a:r>
            <a:r>
              <a:rPr lang="zh-CN" altLang="en-US" noProof="1"/>
              <a:t> </a:t>
            </a:r>
            <a:r>
              <a:rPr lang="en-US" altLang="zh-CN" i="1" noProof="1"/>
              <a:t>f</a:t>
            </a:r>
            <a:r>
              <a:rPr lang="zh-CN" altLang="en-US" noProof="1"/>
              <a:t>是一对一的</a:t>
            </a:r>
            <a:r>
              <a:rPr lang="en-US" altLang="zh-CN" noProof="1"/>
              <a:t>(</a:t>
            </a:r>
            <a:r>
              <a:rPr lang="zh-CN" altLang="en-US" noProof="1"/>
              <a:t>单射</a:t>
            </a:r>
            <a:r>
              <a:rPr lang="en-US" altLang="zh-CN" noProof="1"/>
              <a:t>)</a:t>
            </a:r>
            <a:r>
              <a:rPr lang="zh-CN" altLang="en-US" noProof="1"/>
              <a:t>：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x</a:t>
            </a:r>
            <a:r>
              <a:rPr lang="en-US" altLang="zh-CN" baseline="-25000" noProof="1"/>
              <a:t>1</a:t>
            </a:r>
            <a:r>
              <a:rPr lang="en-US" altLang="zh-CN" noProof="1"/>
              <a:t>,</a:t>
            </a:r>
            <a:r>
              <a:rPr lang="en-US" altLang="zh-CN" i="1" noProof="1"/>
              <a:t>x</a:t>
            </a:r>
            <a:r>
              <a:rPr lang="en-US" altLang="zh-CN" baseline="-25000" noProof="1"/>
              <a:t>2</a:t>
            </a:r>
            <a:r>
              <a:rPr lang="en-US" altLang="zh-CN" noProof="1">
                <a:sym typeface="Symbol" panose="05050102010706020507" pitchFamily="18" charset="2"/>
              </a:rPr>
              <a:t></a:t>
            </a:r>
            <a:r>
              <a:rPr lang="en-US" altLang="zh-CN" i="1" noProof="1"/>
              <a:t>X</a:t>
            </a:r>
            <a:r>
              <a:rPr lang="en-US" altLang="zh-CN" noProof="1"/>
              <a:t>,</a:t>
            </a:r>
            <a:r>
              <a:rPr lang="en-US" altLang="zh-CN" i="1" noProof="1"/>
              <a:t>x</a:t>
            </a:r>
            <a:r>
              <a:rPr lang="en-US" altLang="zh-CN" baseline="-25000" noProof="1"/>
              <a:t>1</a:t>
            </a:r>
            <a:r>
              <a:rPr lang="en-US" altLang="zh-CN" noProof="1"/>
              <a:t>≠</a:t>
            </a:r>
            <a:r>
              <a:rPr lang="en-US" altLang="zh-CN" i="1" noProof="1"/>
              <a:t>x</a:t>
            </a:r>
            <a:r>
              <a:rPr lang="en-US" altLang="zh-CN" baseline="-25000" noProof="1"/>
              <a:t>2</a:t>
            </a:r>
            <a:r>
              <a:rPr lang="en-US" altLang="zh-CN" noProof="1">
                <a:sym typeface="Symbol" panose="05050102010706020507" pitchFamily="18" charset="2"/>
              </a:rPr>
              <a:t>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baseline="-25000" noProof="1"/>
              <a:t>1</a:t>
            </a:r>
            <a:r>
              <a:rPr lang="en-US" altLang="zh-CN" noProof="1"/>
              <a:t>)≠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baseline="-25000" noProof="1"/>
              <a:t>2</a:t>
            </a:r>
            <a:r>
              <a:rPr lang="en-US" altLang="zh-CN" noProof="1"/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noProof="1"/>
              <a:t>(3) </a:t>
            </a:r>
            <a:r>
              <a:rPr lang="en-US" altLang="zh-CN" i="1" noProof="1"/>
              <a:t>f</a:t>
            </a:r>
            <a:r>
              <a:rPr lang="zh-CN" altLang="en-US" noProof="1"/>
              <a:t>是一一对应</a:t>
            </a:r>
            <a:r>
              <a:rPr lang="en-US" altLang="zh-CN" noProof="1"/>
              <a:t>(</a:t>
            </a:r>
            <a:r>
              <a:rPr lang="zh-CN" altLang="en-US" noProof="1"/>
              <a:t>双射</a:t>
            </a:r>
            <a:r>
              <a:rPr lang="en-US" altLang="zh-CN" noProof="1"/>
              <a:t>)</a:t>
            </a:r>
            <a:r>
              <a:rPr lang="zh-CN" altLang="en-US" noProof="1"/>
              <a:t>：一对一且到上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1384" y="4077072"/>
            <a:ext cx="10369152" cy="2306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6.1.4</a:t>
            </a:r>
            <a:r>
              <a:rPr lang="zh-CN" altLang="en-US" noProof="1">
                <a:solidFill>
                  <a:srgbClr val="FFCCFF"/>
                </a:solidFill>
              </a:rPr>
              <a:t>  </a:t>
            </a:r>
            <a:r>
              <a:rPr lang="zh-CN" altLang="en-US" noProof="1"/>
              <a:t>实数集到整数集的函数</a:t>
            </a:r>
            <a:r>
              <a:rPr lang="en-US" altLang="zh-CN" noProof="1">
                <a:sym typeface="Symbol" panose="05050102010706020507" pitchFamily="18" charset="2"/>
              </a:rPr>
              <a:t></a:t>
            </a:r>
            <a:r>
              <a:rPr lang="en-US" altLang="zh-CN" i="1" noProof="1"/>
              <a:t>x</a:t>
            </a:r>
            <a:r>
              <a:rPr lang="en-US" altLang="zh-CN" noProof="1">
                <a:sym typeface="Symbol" panose="05050102010706020507" pitchFamily="18" charset="2"/>
              </a:rPr>
              <a:t></a:t>
            </a:r>
            <a:r>
              <a:rPr lang="zh-CN" altLang="en-US" noProof="1"/>
              <a:t>和</a:t>
            </a:r>
            <a:r>
              <a:rPr lang="en-US" altLang="zh-CN" noProof="1">
                <a:sym typeface="Symbol" panose="05050102010706020507" pitchFamily="18" charset="2"/>
              </a:rPr>
              <a:t></a:t>
            </a:r>
            <a:r>
              <a:rPr lang="en-US" altLang="zh-CN" i="1" noProof="1"/>
              <a:t>x</a:t>
            </a:r>
            <a:r>
              <a:rPr lang="en-US" altLang="zh-CN" noProof="1">
                <a:sym typeface="Symbol" panose="05050102010706020507" pitchFamily="18" charset="2"/>
              </a:rPr>
              <a:t></a:t>
            </a:r>
            <a:endParaRPr lang="en-US" altLang="zh-CN" noProof="1"/>
          </a:p>
          <a:p>
            <a:pPr>
              <a:lnSpc>
                <a:spcPct val="120000"/>
              </a:lnSpc>
            </a:pPr>
            <a:r>
              <a:rPr lang="en-US" altLang="zh-CN" noProof="1"/>
              <a:t>         </a:t>
            </a:r>
            <a:r>
              <a:rPr lang="zh-CN" altLang="en-US" noProof="1"/>
              <a:t>都是到上的</a:t>
            </a:r>
            <a:r>
              <a:rPr lang="en-US" altLang="zh-CN" noProof="1"/>
              <a:t>, </a:t>
            </a:r>
            <a:r>
              <a:rPr lang="zh-CN" altLang="en-US" noProof="1"/>
              <a:t>都不是一对一的</a:t>
            </a:r>
            <a:r>
              <a:rPr lang="en-US" altLang="zh-CN" noProof="1"/>
              <a:t>, </a:t>
            </a:r>
            <a:r>
              <a:rPr lang="zh-CN" altLang="en-US" noProof="1"/>
              <a:t>也都不是一一对应</a:t>
            </a:r>
          </a:p>
          <a:p>
            <a:pPr>
              <a:lnSpc>
                <a:spcPct val="120000"/>
              </a:lnSpc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6.1.5</a:t>
            </a:r>
            <a:r>
              <a:rPr lang="zh-CN" altLang="en-US" noProof="1">
                <a:solidFill>
                  <a:srgbClr val="FFCCFF"/>
                </a:solidFill>
              </a:rPr>
              <a:t>  </a:t>
            </a:r>
            <a:r>
              <a:rPr lang="zh-CN" altLang="en-US" noProof="1"/>
              <a:t>实数集上的严格单调函数必定是一对一的</a:t>
            </a:r>
            <a:endParaRPr lang="zh-CN" altLang="en-US" i="1" noProof="1"/>
          </a:p>
          <a:p>
            <a:pPr>
              <a:lnSpc>
                <a:spcPct val="120000"/>
              </a:lnSpc>
            </a:pPr>
            <a:r>
              <a:rPr lang="zh-CN" altLang="en-US" i="1" noProof="1"/>
              <a:t>         </a:t>
            </a:r>
            <a:r>
              <a:rPr lang="zh-CN" altLang="en-US" noProof="1"/>
              <a:t>函数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)=</a:t>
            </a:r>
            <a:r>
              <a:rPr lang="en-US" altLang="zh-CN" i="1" noProof="1"/>
              <a:t>x</a:t>
            </a:r>
            <a:r>
              <a:rPr lang="en-US" altLang="zh-CN" noProof="1"/>
              <a:t>+1</a:t>
            </a:r>
            <a:r>
              <a:rPr lang="zh-CN" altLang="en-US" noProof="1"/>
              <a:t>和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)=</a:t>
            </a:r>
            <a:r>
              <a:rPr lang="en-US" altLang="zh-CN" i="1" noProof="1"/>
              <a:t>e</a:t>
            </a:r>
            <a:r>
              <a:rPr lang="en-US" altLang="zh-CN" i="1" baseline="30000" noProof="1"/>
              <a:t>x</a:t>
            </a:r>
            <a:r>
              <a:rPr lang="zh-CN" altLang="en-US" noProof="1"/>
              <a:t>是一对一的</a:t>
            </a:r>
          </a:p>
          <a:p>
            <a:pPr>
              <a:lnSpc>
                <a:spcPct val="120000"/>
              </a:lnSpc>
            </a:pPr>
            <a:r>
              <a:rPr lang="zh-CN" altLang="en-US" noProof="1"/>
              <a:t>         函数</a:t>
            </a:r>
            <a:r>
              <a:rPr lang="en-US" altLang="zh-CN" i="1" noProof="1"/>
              <a:t>g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)=</a:t>
            </a:r>
            <a:r>
              <a:rPr lang="en-US" altLang="zh-CN" i="1" noProof="1"/>
              <a:t>x</a:t>
            </a:r>
            <a:r>
              <a:rPr lang="en-US" altLang="zh-CN" baseline="30000" noProof="1"/>
              <a:t>2</a:t>
            </a:r>
            <a:r>
              <a:rPr lang="zh-CN" altLang="en-US" noProof="1"/>
              <a:t>不是一对一的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65537"/>
          <p:cNvSpPr txBox="1"/>
          <p:nvPr/>
        </p:nvSpPr>
        <p:spPr>
          <a:xfrm>
            <a:off x="479376" y="1600811"/>
            <a:ext cx="7488832" cy="19001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6.1.6</a:t>
            </a: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+1,      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+1,    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非到上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      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非到上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非一对一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0" lang="en-US" altLang="zh-CN" sz="24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     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655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536" y="4301900"/>
            <a:ext cx="2376488" cy="1278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655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872" y="4725144"/>
            <a:ext cx="2376488" cy="1278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6555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8368" y="5075276"/>
            <a:ext cx="2376488" cy="1278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  <p:sp>
        <p:nvSpPr>
          <p:cNvPr id="13" name="文本占位符 65537"/>
          <p:cNvSpPr txBox="1"/>
          <p:nvPr/>
        </p:nvSpPr>
        <p:spPr>
          <a:xfrm>
            <a:off x="407144" y="4064536"/>
            <a:ext cx="6264696" cy="202147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6.1.7</a:t>
            </a:r>
            <a:r>
              <a:rPr kumimoji="0" lang="zh-CN" altLang="en-US" sz="28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的关系图</a:t>
            </a:r>
          </a:p>
          <a:p>
            <a:pPr marL="400050" lvl="1" indent="0">
              <a:buNone/>
            </a:pP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非到上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：到上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非一对一的</a:t>
            </a:r>
          </a:p>
          <a:p>
            <a:pPr marL="400050" lvl="1" indent="0">
              <a:buNone/>
            </a:pP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：一一对应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一对一且到上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6" y="1700808"/>
            <a:ext cx="8785225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noProof="1"/>
              <a:t>3</a:t>
            </a:r>
            <a:r>
              <a:rPr lang="zh-CN" altLang="en-US" noProof="1"/>
              <a:t>种函数的关系图和关系矩阵的特性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839416" y="2348880"/>
            <a:ext cx="8785225" cy="37444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考察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</a:t>
            </a: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0" lang="zh-CN" altLang="en-US" sz="20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至多有一个指向它的箭头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0" lang="zh-CN" altLang="en-US" sz="20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映上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至少有一个指向它的箭头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0" lang="zh-CN" altLang="en-US" sz="20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有且仅一个指向它的箭头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考察矩阵的列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0" lang="zh-CN" altLang="en-US" sz="20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每列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至多有一个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0" lang="zh-CN" altLang="en-US" sz="20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映上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每列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至少有一个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0" lang="zh-CN" altLang="en-US" sz="20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每列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有且仅一个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函数的基本概念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  <p:sp>
        <p:nvSpPr>
          <p:cNvPr id="7" name="文本占位符 68609"/>
          <p:cNvSpPr txBox="1"/>
          <p:nvPr/>
        </p:nvSpPr>
        <p:spPr>
          <a:xfrm>
            <a:off x="407369" y="1714744"/>
            <a:ext cx="55446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noProof="1"/>
              <a:t>定理</a:t>
            </a:r>
            <a:r>
              <a:rPr lang="en-US" altLang="zh-CN" b="0" noProof="1"/>
              <a:t>6.1.1  </a:t>
            </a:r>
            <a:r>
              <a:rPr lang="zh-CN" altLang="en-US" b="0" noProof="1"/>
              <a:t>函数的复合是函数</a:t>
            </a:r>
          </a:p>
        </p:txBody>
      </p:sp>
      <p:sp>
        <p:nvSpPr>
          <p:cNvPr id="11" name="文本占位符 68609"/>
          <p:cNvSpPr txBox="1"/>
          <p:nvPr/>
        </p:nvSpPr>
        <p:spPr>
          <a:xfrm>
            <a:off x="911425" y="2351648"/>
            <a:ext cx="8352928" cy="5412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</a:p>
        </p:txBody>
      </p:sp>
      <p:sp>
        <p:nvSpPr>
          <p:cNvPr id="12" name="矩形: 圆角 11"/>
          <p:cNvSpPr/>
          <p:nvPr/>
        </p:nvSpPr>
        <p:spPr bwMode="auto">
          <a:xfrm>
            <a:off x="4367808" y="5841268"/>
            <a:ext cx="7344816" cy="504056"/>
          </a:xfrm>
          <a:prstGeom prst="roundRect">
            <a:avLst>
              <a:gd name="adj" fmla="val 2167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 algn="ctr">
              <a:lnSpc>
                <a:spcPct val="90000"/>
              </a:lnSpc>
              <a:spcBef>
                <a:spcPct val="50000"/>
              </a:spcBef>
              <a:buClr>
                <a:srgbClr val="FF9900"/>
              </a:buClr>
            </a:pPr>
            <a:r>
              <a:rPr lang="zh-CN" altLang="en-US" sz="2400" b="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函数作为关系可以进行关系运算</a:t>
            </a:r>
            <a:r>
              <a:rPr lang="en-US" altLang="zh-CN" sz="2400" b="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结果不一定是函数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1889" y="2779219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4" name="文本占位符 68609"/>
          <p:cNvSpPr txBox="1"/>
          <p:nvPr/>
        </p:nvSpPr>
        <p:spPr>
          <a:xfrm>
            <a:off x="1415480" y="2892903"/>
            <a:ext cx="8352928" cy="338331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kumimoji="0" lang="zh-CN" altLang="en-US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的关系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)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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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(</a:t>
            </a:r>
            <a:r>
              <a:rPr kumimoji="0" lang="en-US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∵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(</a:t>
            </a:r>
            <a:r>
              <a:rPr kumimoji="0" lang="en-US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∵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endParaRPr kumimoji="0" lang="en-US" altLang="zh-CN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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∴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综上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)=X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2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  <p:sp>
        <p:nvSpPr>
          <p:cNvPr id="4" name="文本占位符 100353"/>
          <p:cNvSpPr txBox="1"/>
          <p:nvPr/>
        </p:nvSpPr>
        <p:spPr>
          <a:xfrm>
            <a:off x="1487488" y="1772816"/>
            <a:ext cx="8713788" cy="37444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kumimoji="0" lang="zh-CN" altLang="en-US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证明 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(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f 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f 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0" lang="en-US" altLang="zh-CN" sz="2400" b="0" i="1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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endParaRPr kumimoji="0" lang="en-US" altLang="zh-CN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 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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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(</a:t>
            </a:r>
            <a:r>
              <a:rPr kumimoji="0" lang="en-US" altLang="en-US" sz="2400" b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∵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zh-CN" altLang="en-US" sz="2400" b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(</a:t>
            </a:r>
            <a:r>
              <a:rPr kumimoji="0" lang="en-US" altLang="en-US" sz="2400" b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∵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376" y="1868840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占位符 100353"/>
          <p:cNvSpPr>
            <a:spLocks noGrp="1"/>
          </p:cNvSpPr>
          <p:nvPr>
            <p:ph type="body" sz="half" idx="4294967295"/>
          </p:nvPr>
        </p:nvSpPr>
        <p:spPr>
          <a:xfrm>
            <a:off x="407368" y="1647029"/>
            <a:ext cx="10369550" cy="523220"/>
          </a:xfrm>
          <a:noFill/>
        </p:spPr>
        <p:txBody>
          <a:bodyPr wrap="square">
            <a:sp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kumimoji="1" lang="zh-CN" altLang="en-US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6.1.8</a:t>
            </a:r>
            <a:r>
              <a:rPr kumimoji="1" lang="zh-CN" altLang="en-US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40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sz="240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={1,2,3}</a:t>
            </a:r>
          </a:p>
        </p:txBody>
      </p:sp>
      <p:sp>
        <p:nvSpPr>
          <p:cNvPr id="12" name="文本占位符 118785"/>
          <p:cNvSpPr txBox="1"/>
          <p:nvPr/>
        </p:nvSpPr>
        <p:spPr bwMode="auto">
          <a:xfrm>
            <a:off x="1559496" y="2170916"/>
            <a:ext cx="8713788" cy="188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)=3,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)=2,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)=1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)=2,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)=1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)=3</a:t>
            </a:r>
          </a:p>
        </p:txBody>
      </p:sp>
      <p:sp>
        <p:nvSpPr>
          <p:cNvPr id="14" name="文本占位符 118785"/>
          <p:cNvSpPr txBox="1"/>
          <p:nvPr/>
        </p:nvSpPr>
        <p:spPr bwMode="auto">
          <a:xfrm>
            <a:off x="407368" y="4059571"/>
            <a:ext cx="8713788" cy="2044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FF9900"/>
              </a:buClr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 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6.1.9 </a:t>
            </a: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baseline="30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+1)</a:t>
            </a:r>
            <a:r>
              <a:rPr kumimoji="0" lang="en-US" altLang="zh-CN" sz="2400" b="0" kern="0" baseline="30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baseline="30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baseline="30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+1)</a:t>
            </a:r>
            <a:r>
              <a:rPr kumimoji="0" lang="en-US" altLang="zh-CN" sz="2400" b="0" kern="0" baseline="30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))=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+1)</a:t>
            </a:r>
            <a:r>
              <a:rPr kumimoji="0" lang="en-US" altLang="zh-CN" sz="2400" b="0" kern="0" baseline="30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+1)</a:t>
            </a:r>
            <a:r>
              <a:rPr kumimoji="0" lang="en-US" altLang="zh-CN" sz="2400" b="0" kern="0" baseline="30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407368" y="1628800"/>
            <a:ext cx="5544616" cy="52322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6.1.2 ——</a:t>
            </a: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函数复合的性质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1424" y="2152020"/>
            <a:ext cx="4608512" cy="19540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到上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到上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</a:t>
            </a:r>
          </a:p>
        </p:txBody>
      </p:sp>
      <p:sp>
        <p:nvSpPr>
          <p:cNvPr id="10" name="矩形 9"/>
          <p:cNvSpPr/>
          <p:nvPr/>
        </p:nvSpPr>
        <p:spPr>
          <a:xfrm>
            <a:off x="5447928" y="3189288"/>
            <a:ext cx="6559614" cy="316810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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 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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∴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到上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))=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</a:p>
          <a:p>
            <a:pPr marL="400050" lvl="1" indent="0">
              <a:spcBef>
                <a:spcPct val="0"/>
              </a:spcBef>
              <a:buNone/>
            </a:pP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(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 </a:t>
            </a:r>
            <a:r>
              <a:rPr lang="zh-CN" altLang="en-US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b="0" noProof="1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spcBef>
                <a:spcPct val="0"/>
              </a:spcBef>
              <a:buNone/>
            </a:pP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b="0" baseline="-2500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                        </a:t>
            </a:r>
            <a:r>
              <a:rPr lang="en-US" altLang="zh-CN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i="1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  <a:r>
              <a:rPr lang="en-US" altLang="zh-CN" sz="20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noProof="1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的简单推论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31904" y="2483805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</p:spTree>
    <p:extLst>
      <p:ext uri="{BB962C8B-B14F-4D97-AF65-F5344CB8AC3E}">
        <p14:creationId xmlns:p14="http://schemas.microsoft.com/office/powerpoint/2010/main" val="413298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 rot="639110">
            <a:off x="8199839" y="1980122"/>
            <a:ext cx="3801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kern="0" noProof="1">
                <a:solidFill>
                  <a:srgbClr val="FF7C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函数的逆不一定是函数</a:t>
            </a:r>
            <a:endParaRPr lang="zh-CN" altLang="en-US" sz="2800" b="0" dirty="0">
              <a:solidFill>
                <a:srgbClr val="FF7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1981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83"/>
          <a:stretch>
            <a:fillRect/>
          </a:stretch>
        </p:blipFill>
        <p:spPr bwMode="auto">
          <a:xfrm>
            <a:off x="9081163" y="4912250"/>
            <a:ext cx="2187624" cy="131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文本占位符 1198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556" y="3469332"/>
            <a:ext cx="2170231" cy="133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文本框 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0" t="14207" r="31369"/>
          <a:stretch>
            <a:fillRect/>
          </a:stretch>
        </p:blipFill>
        <p:spPr bwMode="auto">
          <a:xfrm>
            <a:off x="4678522" y="4994686"/>
            <a:ext cx="2448272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1981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1" t="15145" r="2669"/>
          <a:stretch>
            <a:fillRect/>
          </a:stretch>
        </p:blipFill>
        <p:spPr bwMode="auto">
          <a:xfrm>
            <a:off x="4695784" y="3469332"/>
            <a:ext cx="2413747" cy="137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1981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669"/>
          <a:stretch>
            <a:fillRect/>
          </a:stretch>
        </p:blipFill>
        <p:spPr bwMode="auto">
          <a:xfrm>
            <a:off x="905629" y="4943141"/>
            <a:ext cx="2187625" cy="1287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1198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29" y="3443297"/>
            <a:ext cx="2187625" cy="1383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占位符 119809"/>
          <p:cNvSpPr txBox="1"/>
          <p:nvPr/>
        </p:nvSpPr>
        <p:spPr>
          <a:xfrm>
            <a:off x="479377" y="1613656"/>
            <a:ext cx="5904656" cy="18153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6.1.10</a:t>
            </a: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的关系图</a:t>
            </a:r>
          </a:p>
          <a:p>
            <a:pPr marL="400050" lvl="1" indent="0">
              <a:buNone/>
            </a:pP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非到上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非函数</a:t>
            </a:r>
          </a:p>
          <a:p>
            <a:pPr marL="400050" lvl="1" indent="0">
              <a:buNone/>
            </a:pP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：到上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非一对一的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非函数</a:t>
            </a:r>
          </a:p>
          <a:p>
            <a:pPr marL="400050" lvl="1" indent="0">
              <a:buNone/>
            </a:pP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：一一对应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一对一且到上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是函数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 bwMode="auto">
          <a:xfrm>
            <a:off x="5087889" y="35191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DB0F45-FE9E-4549-B882-3C6D2EE9081F}"/>
              </a:ext>
            </a:extLst>
          </p:cNvPr>
          <p:cNvSpPr/>
          <p:nvPr/>
        </p:nvSpPr>
        <p:spPr>
          <a:xfrm>
            <a:off x="401712" y="3908108"/>
            <a:ext cx="287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i="1" kern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EB75F3-B677-41C9-972E-62E6B9B2AABE}"/>
              </a:ext>
            </a:extLst>
          </p:cNvPr>
          <p:cNvSpPr/>
          <p:nvPr/>
        </p:nvSpPr>
        <p:spPr>
          <a:xfrm>
            <a:off x="324768" y="5335055"/>
            <a:ext cx="535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kern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i="1" kern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kern="0" baseline="30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EC2DDC-2421-40BA-B6A3-909CF3925D40}"/>
              </a:ext>
            </a:extLst>
          </p:cNvPr>
          <p:cNvSpPr/>
          <p:nvPr/>
        </p:nvSpPr>
        <p:spPr>
          <a:xfrm>
            <a:off x="4088320" y="388711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i="1" kern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A20D3C-C226-4AF9-B8B8-F97376CFC620}"/>
              </a:ext>
            </a:extLst>
          </p:cNvPr>
          <p:cNvSpPr/>
          <p:nvPr/>
        </p:nvSpPr>
        <p:spPr>
          <a:xfrm>
            <a:off x="4031413" y="5314062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i="1" kern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en-US" altLang="zh-CN" sz="2400" kern="0" baseline="30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CED370-58C7-414F-941B-80CDD2C90E5F}"/>
              </a:ext>
            </a:extLst>
          </p:cNvPr>
          <p:cNvSpPr/>
          <p:nvPr/>
        </p:nvSpPr>
        <p:spPr>
          <a:xfrm>
            <a:off x="8525709" y="3908108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i="1" kern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4C3E52-EE7A-4FA9-8F02-FE55595D12C1}"/>
              </a:ext>
            </a:extLst>
          </p:cNvPr>
          <p:cNvSpPr/>
          <p:nvPr/>
        </p:nvSpPr>
        <p:spPr>
          <a:xfrm>
            <a:off x="8525709" y="5359647"/>
            <a:ext cx="527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i="1" kern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kern="0" baseline="30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79376" y="1700808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6.1.3——</a:t>
            </a:r>
            <a:r>
              <a:rPr lang="zh-CN" altLang="en-US" noProof="1"/>
              <a:t>函数逆的性质 </a:t>
            </a:r>
          </a:p>
        </p:txBody>
      </p:sp>
      <p:sp>
        <p:nvSpPr>
          <p:cNvPr id="6" name="文本占位符 99329"/>
          <p:cNvSpPr txBox="1"/>
          <p:nvPr/>
        </p:nvSpPr>
        <p:spPr>
          <a:xfrm>
            <a:off x="767219" y="2269613"/>
            <a:ext cx="5112568" cy="20467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 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 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也是一一对应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 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endParaRPr kumimoji="0" lang="en-US" altLang="zh-CN" sz="2400" b="0" i="1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占位符 99329"/>
          <p:cNvSpPr txBox="1"/>
          <p:nvPr/>
        </p:nvSpPr>
        <p:spPr>
          <a:xfrm>
            <a:off x="6190096" y="1827722"/>
            <a:ext cx="5522528" cy="24475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的关系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 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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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endParaRPr kumimoji="0" lang="en-US" altLang="zh-CN" sz="20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是一对一的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0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综上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kumimoji="0" lang="zh-CN" altLang="en-US" sz="20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15160" y="1744148"/>
            <a:ext cx="864096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zh-CN" altLang="en-US" sz="24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 </a:t>
            </a:r>
          </a:p>
        </p:txBody>
      </p:sp>
      <p:sp>
        <p:nvSpPr>
          <p:cNvPr id="11" name="文本占位符 99329"/>
          <p:cNvSpPr txBox="1"/>
          <p:nvPr/>
        </p:nvSpPr>
        <p:spPr>
          <a:xfrm>
            <a:off x="4679510" y="4437112"/>
            <a:ext cx="7056784" cy="20467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到上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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若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∵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)≠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∴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是一对一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综上</a:t>
            </a:r>
            <a:r>
              <a:rPr kumimoji="0" lang="en-US" altLang="zh-CN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0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9376" y="1598691"/>
            <a:ext cx="26642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6.1.3</a:t>
            </a:r>
            <a:endParaRPr lang="zh-CN" altLang="en-US" noProof="1"/>
          </a:p>
        </p:txBody>
      </p:sp>
      <p:sp>
        <p:nvSpPr>
          <p:cNvPr id="8" name="文本占位符 120833"/>
          <p:cNvSpPr txBox="1"/>
          <p:nvPr/>
        </p:nvSpPr>
        <p:spPr>
          <a:xfrm>
            <a:off x="500471" y="2492896"/>
            <a:ext cx="11305256" cy="417742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是一一对应，证明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也是一一对应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1800" b="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右推左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是函数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且其逆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也是函数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所以由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1800" b="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左推右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1" kern="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也是一一对应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再由定理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6.1.2(3),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上的一一对应。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</a:t>
            </a: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1" kern="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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endParaRPr kumimoji="0" lang="en-US" altLang="zh-CN" sz="2400" b="0" kern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y,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,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(y,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于是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(y,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后件唯一性</a:t>
            </a:r>
            <a:endParaRPr kumimoji="0" lang="en-US" altLang="zh-CN" sz="2400" b="0" i="1" kern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</a:t>
            </a:r>
            <a:r>
              <a:rPr kumimoji="0" lang="en-US" altLang="zh-CN" sz="2400" b="0" i="1" kern="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，因此，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</a:t>
            </a:r>
            <a:r>
              <a:rPr kumimoji="0" lang="en-US" altLang="zh-CN" sz="2400" b="0" i="1" kern="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endParaRPr kumimoji="0" lang="en-US" altLang="zh-CN" sz="2400" b="0" kern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综上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2400" b="0" kern="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1" kern="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5400" y="2044671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函数的复合和逆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124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2(1)(3), 4, 5, 9(1)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39725" y="1724660"/>
            <a:ext cx="11576050" cy="465201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设函数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。对任意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}。对于任意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</a:t>
            </a:r>
            <a:endParaRPr kumimoji="0" lang="pt-BR" altLang="zh-CN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f(A</a:t>
            </a:r>
            <a:r>
              <a:rPr kumimoji="0" lang="pt-BR" altLang="zh-CN" sz="2400" b="0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pt-BR" altLang="zh-CN" sz="2400" b="0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kumimoji="0" lang="zh-CN" altLang="pt-BR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举例说明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pt-BR" altLang="zh-CN" sz="2400" b="0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设函数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下列命题是否成立？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是一对一的当且仅当对任意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必有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kumimoji="0" lang="zh-CN" altLang="pt-BR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是一对一的当且仅当对任意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pt-BR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(b)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必有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pt-BR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kumimoji="0" lang="zh-CN" altLang="pt-BR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2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占位符 122881"/>
          <p:cNvSpPr txBox="1"/>
          <p:nvPr/>
        </p:nvSpPr>
        <p:spPr>
          <a:xfrm>
            <a:off x="477520" y="1628775"/>
            <a:ext cx="11432540" cy="4871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下图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展示了五个关系的关系图。问：这些关系中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哪些是函数？哪些是一对一的函数？哪些是到上的函数？哪些是一一对应 </a:t>
            </a:r>
            <a:r>
              <a:rPr kumimoji="0" lang="zh-CN" altLang="en-US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en-US" altLang="zh-CN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设函数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。命题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pt-BR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是一对一的当且仅当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pt-BR" altLang="zh-CN" sz="2400" b="0" i="1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都是一对一的</a:t>
            </a:r>
            <a:r>
              <a:rPr kumimoji="0" lang="en-US" altLang="zh-CN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kumimoji="0" lang="zh-CN" altLang="pt-BR" sz="2400" b="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是否成立？</a:t>
            </a:r>
          </a:p>
          <a:p>
            <a:pPr marL="0" indent="0">
              <a:lnSpc>
                <a:spcPct val="150000"/>
              </a:lnSpc>
            </a:pP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12288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74" y="2924944"/>
            <a:ext cx="9109075" cy="202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124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2(1)(3), 4, 5, 9(1)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2552</Words>
  <Application>Microsoft Office PowerPoint</Application>
  <PresentationFormat>宽屏</PresentationFormat>
  <Paragraphs>196</Paragraphs>
  <Slides>21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华文细黑</vt:lpstr>
      <vt:lpstr>楷体_GB2312</vt:lpstr>
      <vt:lpstr>宋体</vt:lpstr>
      <vt:lpstr>微软雅黑</vt:lpstr>
      <vt:lpstr>Arial</vt:lpstr>
      <vt:lpstr>Calibri</vt:lpstr>
      <vt:lpstr>Garamond</vt:lpstr>
      <vt:lpstr>Symbol</vt:lpstr>
      <vt:lpstr>Tahoma</vt:lpstr>
      <vt:lpstr>Times New Roman</vt:lpstr>
      <vt:lpstr>Times New Roman Italic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835</cp:revision>
  <dcterms:created xsi:type="dcterms:W3CDTF">2021-11-02T10:43:00Z</dcterms:created>
  <dcterms:modified xsi:type="dcterms:W3CDTF">2026-04-27T02:28:30Z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913CBEA2102D43E9BC8281F7B7E60EED_12</vt:lpwstr>
  </property>
</Properties>
</file>