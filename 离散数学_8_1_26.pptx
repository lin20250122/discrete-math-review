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7" r:id="rId2"/>
    <p:sldId id="398" r:id="rId3"/>
    <p:sldId id="376" r:id="rId4"/>
    <p:sldId id="377" r:id="rId5"/>
    <p:sldId id="338" r:id="rId6"/>
    <p:sldId id="423" r:id="rId7"/>
    <p:sldId id="418" r:id="rId8"/>
    <p:sldId id="426" r:id="rId9"/>
    <p:sldId id="427" r:id="rId10"/>
    <p:sldId id="280" r:id="rId11"/>
    <p:sldId id="428" r:id="rId12"/>
    <p:sldId id="438" r:id="rId13"/>
    <p:sldId id="440" r:id="rId14"/>
    <p:sldId id="281" r:id="rId15"/>
    <p:sldId id="441" r:id="rId16"/>
    <p:sldId id="429" r:id="rId17"/>
    <p:sldId id="442" r:id="rId18"/>
    <p:sldId id="399" r:id="rId19"/>
  </p:sldIdLst>
  <p:sldSz cx="12192000" cy="685800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FF7C80"/>
    <a:srgbClr val="CCFFCC"/>
    <a:srgbClr val="1A4589"/>
    <a:srgbClr val="FFFF00"/>
    <a:srgbClr val="FFCC99"/>
    <a:srgbClr val="FFCCFF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3" d="100"/>
          <a:sy n="73" d="100"/>
        </p:scale>
        <p:origin x="48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-2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9404151" y="11309"/>
            <a:ext cx="27640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具有特殊性质的图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871334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第八章 具有特殊性质的图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605658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23392" y="1840288"/>
            <a:ext cx="7272808" cy="62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图论古老而充满活力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直观、应用广泛</a:t>
            </a:r>
            <a:endParaRPr lang="zh-CN" altLang="en-US" sz="2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5827" y="3107279"/>
            <a:ext cx="5192142" cy="50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/>
              <a:t>  瑞士数学家</a:t>
            </a:r>
            <a:r>
              <a:rPr lang="en-US" altLang="zh-CN" sz="2600" dirty="0"/>
              <a:t>Euler</a:t>
            </a:r>
            <a:r>
              <a:rPr lang="zh-CN" altLang="en-US" sz="2600" dirty="0"/>
              <a:t>是图论之父</a:t>
            </a:r>
            <a:endParaRPr lang="zh-CN" altLang="en-US" sz="2600" noProof="1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7408" y="4277170"/>
            <a:ext cx="5976664" cy="205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世纪的普鲁士的哥尼斯堡镇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现加里宁格勒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被普雷格尔河支流分成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部分：河两岸、河中心岛、两条支流之间的部分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相互之间有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座桥连接。当时人们热衷于设计这样一条游览线路：从某个位置出发不重复地经过所有桥并最终返回出发点。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23391" y="2444748"/>
            <a:ext cx="7632849" cy="50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/>
              <a:t>  图论中的图是对象及其相互关联的图形表示</a:t>
            </a:r>
            <a:endParaRPr lang="zh-CN" altLang="en-US" sz="2600" noProof="1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28972" y="3748349"/>
            <a:ext cx="8923412" cy="50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9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Blip>
                <a:blip r:embed="rId4"/>
              </a:buBlip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600" dirty="0"/>
              <a:t>  Euler</a:t>
            </a:r>
            <a:r>
              <a:rPr lang="zh-CN" altLang="en-US" sz="2600" dirty="0"/>
              <a:t>用图论的方法解决了</a:t>
            </a:r>
            <a:r>
              <a:rPr lang="en-US" altLang="zh-CN" sz="2600" dirty="0"/>
              <a:t>(1736)</a:t>
            </a:r>
            <a:r>
              <a:rPr lang="zh-CN" altLang="en-US" sz="2600" dirty="0"/>
              <a:t>哥尼斯褒七桥问题</a:t>
            </a:r>
            <a:endParaRPr lang="zh-CN" altLang="en-US" sz="2600" noProof="1"/>
          </a:p>
        </p:txBody>
      </p:sp>
      <p:pic>
        <p:nvPicPr>
          <p:cNvPr id="11" name="Picture 4" descr="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181" y="4389419"/>
            <a:ext cx="30607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40" y="4002028"/>
            <a:ext cx="172085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" grpId="0" uiExpand="1" build="p"/>
      <p:bldP spid="6" grpId="0" uiExpand="1" build="p"/>
      <p:bldP spid="7" grpId="0" uiExpand="1" build="p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9746" y="1772816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主要内容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本章导读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7608" y="2470051"/>
            <a:ext cx="6093618" cy="359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28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8.1  </a:t>
            </a:r>
            <a:r>
              <a:rPr lang="zh-CN" altLang="en-US" dirty="0"/>
              <a:t>欧拉图</a:t>
            </a:r>
          </a:p>
          <a:p>
            <a:r>
              <a:rPr lang="en-US" altLang="zh-CN" dirty="0"/>
              <a:t>8.2  </a:t>
            </a:r>
            <a:r>
              <a:rPr lang="zh-CN" altLang="en-US" dirty="0"/>
              <a:t>哈密顿图</a:t>
            </a:r>
          </a:p>
          <a:p>
            <a:r>
              <a:rPr lang="en-US" altLang="zh-CN" dirty="0"/>
              <a:t>8.3  </a:t>
            </a:r>
            <a:r>
              <a:rPr lang="zh-CN" altLang="en-US" dirty="0"/>
              <a:t>平面图</a:t>
            </a:r>
          </a:p>
          <a:p>
            <a:r>
              <a:rPr lang="en-US" altLang="zh-CN" dirty="0"/>
              <a:t>8.4  </a:t>
            </a:r>
            <a:r>
              <a:rPr lang="zh-CN" altLang="en-US" dirty="0"/>
              <a:t>无向树</a:t>
            </a:r>
          </a:p>
          <a:p>
            <a:r>
              <a:rPr lang="en-US" altLang="zh-CN" dirty="0"/>
              <a:t>8.5  </a:t>
            </a:r>
            <a:r>
              <a:rPr lang="zh-CN" altLang="en-US" dirty="0"/>
              <a:t>有向树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55640" y="1797398"/>
            <a:ext cx="7583313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dirty="0">
                <a:solidFill>
                  <a:srgbClr val="FFCC99"/>
                </a:solidFill>
              </a:rPr>
              <a:t>本章介绍以下五种特殊图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理解欧拉图的基本概念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无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向欧拉图的性质和应用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欧拉图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415480" y="1948264"/>
            <a:ext cx="29847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欧拉图的概念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650028" y="3602554"/>
            <a:ext cx="35608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160564" y="1654911"/>
            <a:ext cx="239687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550611" y="1544158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欧拉通路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187200" y="3584558"/>
            <a:ext cx="239687" cy="744959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45975" y="3430420"/>
            <a:ext cx="451385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充要条件及推论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一笔画问题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545163" y="2049067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欧拉回路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545975" y="2602724"/>
            <a:ext cx="14060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欧拉图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24913" y="5026011"/>
            <a:ext cx="3411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8.1.3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有向欧拉图的性质</a:t>
            </a:r>
          </a:p>
        </p:txBody>
      </p:sp>
      <p:sp>
        <p:nvSpPr>
          <p:cNvPr id="13" name="AutoShape 8"/>
          <p:cNvSpPr/>
          <p:nvPr/>
        </p:nvSpPr>
        <p:spPr bwMode="auto">
          <a:xfrm>
            <a:off x="4225254" y="4965787"/>
            <a:ext cx="270259" cy="763014"/>
          </a:xfrm>
          <a:prstGeom prst="leftBrace">
            <a:avLst>
              <a:gd name="adj1" fmla="val 32163"/>
              <a:gd name="adj2" fmla="val 49149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519339" y="4792909"/>
            <a:ext cx="2625955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充要条件及推论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*磁鼓位置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5" grpId="0"/>
      <p:bldP spid="16" grpId="0"/>
      <p:bldP spid="11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911424" y="2420888"/>
            <a:ext cx="10369152" cy="2952328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欧拉通路：包含所有边的简单通路（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经过每条边一次且仅一次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欧拉回路：包含所有边的简单回路（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经过每条边一次且仅一次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欧拉图：具有欧拉回路且不含孤立点的图。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endParaRPr lang="en-US" altLang="zh-CN" sz="2000" b="1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zh-CN" altLang="en-US" sz="2200" b="1" dirty="0"/>
              <a:t>简单通路、简单回路</a:t>
            </a:r>
            <a:r>
              <a:rPr lang="zh-CN" altLang="en-US" sz="2200" dirty="0"/>
              <a:t>：没有重复边或者说所有边各异；</a:t>
            </a:r>
            <a:endParaRPr lang="en-US" altLang="zh-CN" sz="2200" dirty="0"/>
          </a:p>
          <a:p>
            <a:pPr marL="0" indent="0" algn="just">
              <a:lnSpc>
                <a:spcPct val="130000"/>
              </a:lnSpc>
              <a:buNone/>
            </a:pPr>
            <a:endParaRPr kumimoji="1" lang="en-US" altLang="zh-CN" sz="2400" kern="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endParaRPr kumimoji="1" lang="zh-CN" altLang="en-US" sz="2400" kern="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8.1.1 </a:t>
            </a:r>
            <a:r>
              <a:rPr lang="zh-CN" altLang="en-US" noProof="1"/>
              <a:t>欧拉图</a:t>
            </a:r>
            <a:endParaRPr lang="en-US" altLang="zh-CN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欧拉图的概念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9376" y="1556792"/>
            <a:ext cx="10585176" cy="63666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spcBef>
                <a:spcPct val="20000"/>
              </a:spcBef>
              <a:buNone/>
              <a:defRPr kumimoji="0" sz="2800" b="0" kern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8.1.1 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、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都是欧拉图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baseline="-25000" dirty="0">
                <a:solidFill>
                  <a:schemeClr val="bg1"/>
                </a:solidFill>
              </a:rPr>
              <a:t>4</a:t>
            </a:r>
            <a:r>
              <a:rPr lang="zh-CN" altLang="en-US" sz="2400" dirty="0">
                <a:solidFill>
                  <a:schemeClr val="bg1"/>
                </a:solidFill>
              </a:rPr>
              <a:t>不是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但有欧拉通路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11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588" y="2145930"/>
            <a:ext cx="6768752" cy="164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欧拉图的概念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B3F30D-BE40-4C96-BA72-8B5DE104DEB5}"/>
              </a:ext>
            </a:extLst>
          </p:cNvPr>
          <p:cNvSpPr/>
          <p:nvPr/>
        </p:nvSpPr>
        <p:spPr>
          <a:xfrm>
            <a:off x="450640" y="4005064"/>
            <a:ext cx="6391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kern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哥尼斯堡七桥问题有解</a:t>
            </a:r>
            <a:r>
              <a:rPr kumimoji="0" lang="zh-CN" altLang="en-US" sz="2400" b="0" kern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其图模型是</a:t>
            </a:r>
            <a:r>
              <a:rPr kumimoji="0" lang="zh-CN" altLang="en-US" sz="2400" b="0" kern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欧拉图</a:t>
            </a:r>
          </a:p>
        </p:txBody>
      </p:sp>
      <p:pic>
        <p:nvPicPr>
          <p:cNvPr id="6" name="Picture 4" descr="5">
            <a:extLst>
              <a:ext uri="{FF2B5EF4-FFF2-40B4-BE49-F238E27FC236}">
                <a16:creationId xmlns:a16="http://schemas.microsoft.com/office/drawing/2014/main" id="{308B4322-979D-499D-8F6F-D9EC0C36C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4581128"/>
            <a:ext cx="3406775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5">
            <a:extLst>
              <a:ext uri="{FF2B5EF4-FFF2-40B4-BE49-F238E27FC236}">
                <a16:creationId xmlns:a16="http://schemas.microsoft.com/office/drawing/2014/main" id="{1D3B9DAA-B6F0-4BF7-8DCE-8438BA106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4077072"/>
            <a:ext cx="1820863" cy="239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368" y="1628800"/>
            <a:ext cx="74168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8.1.1  </a:t>
            </a: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欧拉图的充要条件</a:t>
            </a:r>
            <a:endParaRPr lang="en-US" altLang="zh-CN" sz="2800" b="0" noProof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rgbClr val="FFC000"/>
              </a:buClr>
              <a:buSzPct val="80000"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连通图是欧拉图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其每个顶点的度均为偶数。</a:t>
            </a:r>
            <a:endParaRPr lang="en-US" altLang="zh-CN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3352" y="2778026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43472" y="2841826"/>
            <a:ext cx="2545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6744" y="3481733"/>
            <a:ext cx="5760640" cy="290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</a:p>
          <a:p>
            <a:pPr marL="0" indent="0" eaLnBrk="1" hangingPunct="1">
              <a:lnSpc>
                <a:spcPct val="12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是欧拉图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的一条欧拉回路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的任意一个顶点。</a:t>
            </a:r>
          </a:p>
          <a:p>
            <a:pPr marL="0" indent="0" eaLnBrk="1" hangingPunct="1">
              <a:lnSpc>
                <a:spcPct val="120000"/>
              </a:lnSpc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由于</a:t>
            </a:r>
            <a:r>
              <a:rPr lang="zh-CN" altLang="en-US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包含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的所有边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且每条边在</a:t>
            </a:r>
            <a:r>
              <a:rPr lang="zh-CN" altLang="en-US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中都不重复出现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的度数可通过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zh-CN" altLang="en-US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中的出现次数来计算：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zh-CN" altLang="en-US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中每出现一次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的度数就增加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。由此</a:t>
            </a:r>
            <a:r>
              <a:rPr lang="en-US" altLang="zh-CN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2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的度是偶数。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816080" y="3485926"/>
            <a:ext cx="4914428" cy="26899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buClr>
                <a:srgbClr val="FF9900"/>
              </a:buClr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200" dirty="0"/>
              <a:t>(2) </a:t>
            </a:r>
            <a:r>
              <a:rPr lang="zh-CN" altLang="en-US" sz="2200" dirty="0">
                <a:sym typeface="Symbol" panose="05050102010706020507" pitchFamily="18" charset="2"/>
              </a:rPr>
              <a:t></a:t>
            </a:r>
          </a:p>
          <a:p>
            <a:pPr>
              <a:lnSpc>
                <a:spcPct val="130000"/>
              </a:lnSpc>
            </a:pPr>
            <a:r>
              <a:rPr lang="zh-CN" altLang="en-US" sz="2200" dirty="0"/>
              <a:t>设</a:t>
            </a:r>
            <a:r>
              <a:rPr lang="en-US" altLang="zh-CN" sz="2200" i="1" dirty="0"/>
              <a:t>G</a:t>
            </a:r>
            <a:r>
              <a:rPr lang="zh-CN" altLang="en-US" sz="2200" dirty="0"/>
              <a:t>的每个顶点的度均为偶数。</a:t>
            </a:r>
          </a:p>
          <a:p>
            <a:pPr>
              <a:lnSpc>
                <a:spcPct val="130000"/>
              </a:lnSpc>
            </a:pPr>
            <a:r>
              <a:rPr lang="zh-CN" altLang="en-US" sz="2200" dirty="0"/>
              <a:t>若一个图有欧拉回路</a:t>
            </a:r>
            <a:r>
              <a:rPr lang="en-US" altLang="zh-CN" sz="2200" dirty="0"/>
              <a:t>, </a:t>
            </a:r>
            <a:r>
              <a:rPr lang="zh-CN" altLang="en-US" sz="2200" dirty="0"/>
              <a:t>则此回路必为最长的简单回路。</a:t>
            </a:r>
          </a:p>
          <a:p>
            <a:pPr>
              <a:lnSpc>
                <a:spcPct val="130000"/>
              </a:lnSpc>
            </a:pPr>
            <a:r>
              <a:rPr lang="zh-CN" altLang="en-US" sz="2200" dirty="0"/>
              <a:t>考虑</a:t>
            </a:r>
            <a:r>
              <a:rPr lang="en-US" altLang="zh-CN" sz="2200" i="1" dirty="0"/>
              <a:t>G</a:t>
            </a:r>
            <a:r>
              <a:rPr lang="zh-CN" altLang="en-US" sz="2200" dirty="0"/>
              <a:t>最长的简单回路</a:t>
            </a:r>
            <a:r>
              <a:rPr lang="en-US" altLang="zh-CN" sz="2200" dirty="0"/>
              <a:t>, </a:t>
            </a:r>
            <a:r>
              <a:rPr lang="zh-CN" altLang="en-US" sz="2200" dirty="0"/>
              <a:t>证明它是欧拉回路</a:t>
            </a:r>
            <a:r>
              <a:rPr lang="en-US" altLang="zh-CN" sz="2200" dirty="0"/>
              <a:t>, </a:t>
            </a:r>
            <a:r>
              <a:rPr lang="zh-CN" altLang="en-US" sz="2200" dirty="0"/>
              <a:t>即包含</a:t>
            </a:r>
            <a:r>
              <a:rPr lang="en-US" altLang="zh-CN" sz="2200" i="1" dirty="0"/>
              <a:t>G</a:t>
            </a:r>
            <a:r>
              <a:rPr lang="zh-CN" altLang="en-US" sz="2200" dirty="0"/>
              <a:t>所有的边。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4337"/>
          <p:cNvSpPr txBox="1"/>
          <p:nvPr/>
        </p:nvSpPr>
        <p:spPr bwMode="auto">
          <a:xfrm>
            <a:off x="407368" y="3573016"/>
            <a:ext cx="11377264" cy="284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90000"/>
              </a:lnSpc>
              <a:spcBef>
                <a:spcPct val="5000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None/>
              <a:defRPr sz="2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7C80"/>
                </a:solidFill>
              </a:rPr>
              <a:t>(</a:t>
            </a:r>
            <a:r>
              <a:rPr lang="en-US" altLang="zh-CN" sz="2400" i="1" dirty="0">
                <a:solidFill>
                  <a:srgbClr val="FF7C80"/>
                </a:solidFill>
              </a:rPr>
              <a:t>b</a:t>
            </a:r>
            <a:r>
              <a:rPr lang="en-US" altLang="zh-CN" sz="2400" dirty="0">
                <a:solidFill>
                  <a:srgbClr val="FF7C80"/>
                </a:solidFill>
              </a:rPr>
              <a:t>) </a:t>
            </a:r>
            <a:r>
              <a:rPr lang="zh-CN" altLang="en-US" sz="2400" dirty="0">
                <a:solidFill>
                  <a:srgbClr val="FF7C80"/>
                </a:solidFill>
              </a:rPr>
              <a:t>用反证法证明</a:t>
            </a:r>
            <a:r>
              <a:rPr lang="en-US" altLang="zh-CN" sz="2400" i="1" dirty="0">
                <a:solidFill>
                  <a:srgbClr val="FF7C80"/>
                </a:solidFill>
              </a:rPr>
              <a:t>G</a:t>
            </a:r>
            <a:r>
              <a:rPr lang="zh-CN" altLang="en-US" sz="2400" dirty="0">
                <a:solidFill>
                  <a:srgbClr val="FF7C80"/>
                </a:solidFill>
              </a:rPr>
              <a:t>的最长的简单回路是欧拉回路：</a:t>
            </a:r>
          </a:p>
          <a:p>
            <a:pPr marL="691515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dirty="0"/>
              <a:t>假设</a:t>
            </a:r>
            <a:r>
              <a:rPr lang="en-US" altLang="zh-CN" sz="2000" i="1" dirty="0"/>
              <a:t>G</a:t>
            </a:r>
            <a:r>
              <a:rPr lang="zh-CN" altLang="en-US" sz="2000" dirty="0"/>
              <a:t>的某条</a:t>
            </a:r>
            <a:r>
              <a:rPr lang="zh-CN" altLang="en-US" sz="2000" dirty="0">
                <a:solidFill>
                  <a:srgbClr val="FF3300"/>
                </a:solidFill>
              </a:rPr>
              <a:t>最长的</a:t>
            </a:r>
            <a:r>
              <a:rPr lang="zh-CN" altLang="en-US" sz="2000" dirty="0"/>
              <a:t>简单回路</a:t>
            </a:r>
            <a:r>
              <a:rPr lang="en-US" altLang="zh-CN" sz="2000" dirty="0"/>
              <a:t>C</a:t>
            </a:r>
            <a:r>
              <a:rPr lang="zh-CN" altLang="en-US" sz="2000" dirty="0"/>
              <a:t>不是欧拉回路</a:t>
            </a:r>
          </a:p>
          <a:p>
            <a:pPr marL="691515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下面证明</a:t>
            </a:r>
            <a:r>
              <a:rPr lang="en-US" altLang="zh-CN" sz="2000" i="1" dirty="0">
                <a:solidFill>
                  <a:srgbClr val="FFC000"/>
                </a:solidFill>
              </a:rPr>
              <a:t>G</a:t>
            </a:r>
            <a:r>
              <a:rPr lang="zh-CN" altLang="en-US" sz="2000" dirty="0">
                <a:solidFill>
                  <a:srgbClr val="FFC000"/>
                </a:solidFill>
              </a:rPr>
              <a:t>中存在更长的简单回路</a:t>
            </a:r>
            <a:r>
              <a:rPr lang="en-US" altLang="zh-CN" sz="2000" dirty="0">
                <a:solidFill>
                  <a:srgbClr val="FFC000"/>
                </a:solidFill>
              </a:rPr>
              <a:t>, </a:t>
            </a:r>
            <a:r>
              <a:rPr lang="zh-CN" altLang="en-US" sz="2000" dirty="0">
                <a:solidFill>
                  <a:srgbClr val="FFC000"/>
                </a:solidFill>
              </a:rPr>
              <a:t>而与假设矛盾</a:t>
            </a:r>
          </a:p>
          <a:p>
            <a:pPr marL="691515"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dirty="0"/>
              <a:t>设</a:t>
            </a:r>
            <a:r>
              <a:rPr lang="en-US" altLang="zh-CN" sz="2000" i="1" dirty="0"/>
              <a:t>C</a:t>
            </a:r>
            <a:r>
              <a:rPr lang="zh-CN" altLang="en-US" sz="2000" dirty="0"/>
              <a:t>上的边构成边集合</a:t>
            </a:r>
            <a:r>
              <a:rPr lang="en-US" altLang="zh-CN" sz="2000" i="1" dirty="0"/>
              <a:t>E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, </a:t>
            </a:r>
            <a:r>
              <a:rPr lang="zh-CN" altLang="en-US" sz="2000" dirty="0"/>
              <a:t>令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</a:t>
            </a:r>
            <a:r>
              <a:rPr lang="en-US" altLang="zh-CN" sz="2000" i="1" dirty="0"/>
              <a:t>G</a:t>
            </a:r>
            <a:r>
              <a:rPr lang="en-US" altLang="zh-CN" sz="2000" dirty="0"/>
              <a:t>(</a:t>
            </a:r>
            <a:r>
              <a:rPr lang="en-US" altLang="zh-CN" sz="2000" i="1" dirty="0"/>
              <a:t>E</a:t>
            </a:r>
            <a:r>
              <a:rPr lang="en-US" altLang="zh-CN" sz="2000" dirty="0"/>
              <a:t>-</a:t>
            </a:r>
            <a:r>
              <a:rPr lang="en-US" altLang="zh-CN" sz="2000" i="1" dirty="0"/>
              <a:t>E</a:t>
            </a:r>
            <a:r>
              <a:rPr lang="en-US" altLang="zh-CN" sz="2000" i="1" baseline="-25000" dirty="0"/>
              <a:t>C</a:t>
            </a:r>
            <a:r>
              <a:rPr lang="en-US" altLang="zh-CN" sz="2000" dirty="0"/>
              <a:t>)</a:t>
            </a:r>
            <a:r>
              <a:rPr lang="zh-CN" altLang="en-US" sz="2000" dirty="0"/>
              <a:t>。由假设</a:t>
            </a:r>
            <a:r>
              <a:rPr lang="en-US" altLang="zh-CN" sz="2000" dirty="0"/>
              <a:t>, E-E</a:t>
            </a:r>
            <a:r>
              <a:rPr lang="en-US" altLang="zh-CN" sz="2000" baseline="-25000" dirty="0"/>
              <a:t>C</a:t>
            </a:r>
            <a:r>
              <a:rPr lang="en-US" altLang="zh-CN" sz="2000" dirty="0"/>
              <a:t>≠</a:t>
            </a:r>
            <a:r>
              <a:rPr lang="en-US" altLang="zh-CN" sz="2000" dirty="0">
                <a:sym typeface="Symbol" panose="05050102010706020507" pitchFamily="18" charset="2"/>
              </a:rPr>
              <a:t></a:t>
            </a:r>
            <a:r>
              <a:rPr lang="en-US" altLang="zh-CN" sz="2000" dirty="0"/>
              <a:t>, </a:t>
            </a:r>
            <a:r>
              <a:rPr lang="zh-CN" altLang="en-US" sz="2000" dirty="0"/>
              <a:t>因而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不是空图。又因为</a:t>
            </a:r>
            <a:r>
              <a:rPr lang="en-US" altLang="zh-CN" sz="2000" dirty="0"/>
              <a:t>G</a:t>
            </a:r>
            <a:r>
              <a:rPr lang="zh-CN" altLang="en-US" sz="2000" dirty="0"/>
              <a:t>是连通图</a:t>
            </a:r>
            <a:r>
              <a:rPr lang="en-US" altLang="zh-CN" sz="2000" dirty="0"/>
              <a:t>, </a:t>
            </a:r>
            <a:r>
              <a:rPr lang="zh-CN" altLang="en-US" sz="2000" dirty="0"/>
              <a:t>所以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必含</a:t>
            </a:r>
            <a:r>
              <a:rPr lang="en-US" altLang="zh-CN" sz="2000" i="1" dirty="0"/>
              <a:t>C</a:t>
            </a:r>
            <a:r>
              <a:rPr lang="zh-CN" altLang="en-US" sz="2000" dirty="0"/>
              <a:t>上的顶点</a:t>
            </a:r>
            <a:r>
              <a:rPr lang="en-US" altLang="zh-CN" sz="2000" dirty="0"/>
              <a:t>, </a:t>
            </a:r>
            <a:r>
              <a:rPr lang="zh-CN" altLang="en-US" sz="2000" dirty="0"/>
              <a:t>不妨设</a:t>
            </a:r>
            <a:r>
              <a:rPr lang="en-US" altLang="zh-CN" sz="2000" dirty="0"/>
              <a:t>u</a:t>
            </a:r>
            <a:r>
              <a:rPr lang="zh-CN" altLang="en-US" sz="2000" dirty="0"/>
              <a:t>是这样的顶点。由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的定义</a:t>
            </a:r>
            <a:r>
              <a:rPr lang="en-US" altLang="zh-CN" sz="2000" dirty="0"/>
              <a:t>, 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的每个顶点的度均为大于</a:t>
            </a:r>
            <a:r>
              <a:rPr lang="en-US" altLang="zh-CN" sz="2000" dirty="0"/>
              <a:t>0</a:t>
            </a:r>
            <a:r>
              <a:rPr lang="zh-CN" altLang="en-US" sz="2000" dirty="0"/>
              <a:t>的偶数。于是</a:t>
            </a:r>
            <a:r>
              <a:rPr lang="en-US" altLang="zh-CN" sz="2000" dirty="0"/>
              <a:t>, </a:t>
            </a:r>
            <a:r>
              <a:rPr lang="zh-CN" altLang="en-US" sz="2000" dirty="0"/>
              <a:t>可以按照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)</a:t>
            </a:r>
            <a:r>
              <a:rPr lang="zh-CN" altLang="en-US" sz="2000" dirty="0"/>
              <a:t>的方法</a:t>
            </a:r>
            <a:r>
              <a:rPr lang="en-US" altLang="zh-CN" sz="2000" dirty="0"/>
              <a:t>, </a:t>
            </a:r>
            <a:r>
              <a:rPr lang="zh-CN" altLang="en-US" sz="2000" dirty="0"/>
              <a:t>在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中从</a:t>
            </a:r>
            <a:r>
              <a:rPr lang="en-US" altLang="zh-CN" sz="2000" i="1" dirty="0"/>
              <a:t>u</a:t>
            </a:r>
            <a:r>
              <a:rPr lang="zh-CN" altLang="en-US" sz="2000" dirty="0"/>
              <a:t>出发得到</a:t>
            </a:r>
            <a:r>
              <a:rPr lang="en-US" altLang="zh-CN" sz="2000" i="1" dirty="0"/>
              <a:t>G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中的简单回路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。</a:t>
            </a:r>
            <a:r>
              <a:rPr lang="en-US" altLang="zh-CN" sz="2000" i="1" dirty="0"/>
              <a:t>C</a:t>
            </a:r>
            <a:r>
              <a:rPr lang="zh-CN" altLang="en-US" sz="2000" dirty="0"/>
              <a:t>和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有公共顶点</a:t>
            </a:r>
            <a:r>
              <a:rPr lang="en-US" altLang="zh-CN" sz="2000" i="1" dirty="0"/>
              <a:t>u</a:t>
            </a:r>
            <a:r>
              <a:rPr lang="en-US" altLang="zh-CN" sz="2000" dirty="0"/>
              <a:t>, </a:t>
            </a:r>
            <a:r>
              <a:rPr lang="zh-CN" altLang="en-US" sz="2000" dirty="0"/>
              <a:t>所以可以将</a:t>
            </a:r>
            <a:r>
              <a:rPr lang="en-US" altLang="zh-CN" sz="2000" i="1" dirty="0"/>
              <a:t>C</a:t>
            </a:r>
            <a:r>
              <a:rPr lang="zh-CN" altLang="en-US" sz="2000" dirty="0"/>
              <a:t>和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在</a:t>
            </a:r>
            <a:r>
              <a:rPr lang="en-US" altLang="zh-CN" sz="2000" i="1" dirty="0"/>
              <a:t>u</a:t>
            </a:r>
            <a:r>
              <a:rPr lang="zh-CN" altLang="en-US" sz="2000" dirty="0"/>
              <a:t>处连接起来</a:t>
            </a:r>
            <a:r>
              <a:rPr lang="en-US" altLang="zh-CN" sz="2000" dirty="0"/>
              <a:t>, </a:t>
            </a:r>
            <a:r>
              <a:rPr lang="zh-CN" altLang="en-US" sz="2000" dirty="0"/>
              <a:t>得到一条</a:t>
            </a:r>
            <a:r>
              <a:rPr lang="en-US" altLang="zh-CN" sz="2000" i="1" dirty="0"/>
              <a:t>G</a:t>
            </a:r>
            <a:r>
              <a:rPr lang="zh-CN" altLang="en-US" sz="2000" dirty="0"/>
              <a:t>的简单回路</a:t>
            </a:r>
            <a:r>
              <a:rPr lang="en-US" altLang="zh-CN" sz="2000" dirty="0"/>
              <a:t>, </a:t>
            </a:r>
            <a:r>
              <a:rPr lang="zh-CN" altLang="en-US" sz="2000" dirty="0"/>
              <a:t>其长度显然大于</a:t>
            </a:r>
            <a:r>
              <a:rPr lang="en-US" altLang="zh-CN" sz="2000" i="1" dirty="0"/>
              <a:t>C</a:t>
            </a:r>
            <a:r>
              <a:rPr lang="zh-CN" altLang="en-US" sz="2000" dirty="0"/>
              <a:t>的长度。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11377264" cy="1778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buNone/>
              <a:defRPr/>
            </a:pPr>
            <a:r>
              <a:rPr lang="en-US" altLang="zh-CN" sz="2400" dirty="0">
                <a:solidFill>
                  <a:srgbClr val="FF7C80"/>
                </a:solidFill>
              </a:rPr>
              <a:t>(</a:t>
            </a:r>
            <a:r>
              <a:rPr lang="en-US" altLang="zh-CN" sz="2400" i="1" dirty="0">
                <a:solidFill>
                  <a:srgbClr val="FF7C80"/>
                </a:solidFill>
              </a:rPr>
              <a:t>a</a:t>
            </a:r>
            <a:r>
              <a:rPr lang="en-US" altLang="zh-CN" sz="2400" dirty="0">
                <a:solidFill>
                  <a:srgbClr val="FF7C80"/>
                </a:solidFill>
              </a:rPr>
              <a:t>) </a:t>
            </a:r>
            <a:r>
              <a:rPr lang="zh-CN" altLang="en-US" sz="2400" dirty="0">
                <a:solidFill>
                  <a:srgbClr val="FF7C80"/>
                </a:solidFill>
              </a:rPr>
              <a:t>用构造法证明</a:t>
            </a:r>
            <a:r>
              <a:rPr lang="en-US" altLang="zh-CN" sz="2400" i="1" dirty="0">
                <a:solidFill>
                  <a:srgbClr val="FF7C80"/>
                </a:solidFill>
              </a:rPr>
              <a:t>G</a:t>
            </a:r>
            <a:r>
              <a:rPr lang="zh-CN" altLang="en-US" sz="2400" dirty="0">
                <a:solidFill>
                  <a:srgbClr val="FF7C80"/>
                </a:solidFill>
              </a:rPr>
              <a:t>中有简单回路</a:t>
            </a:r>
            <a:r>
              <a:rPr lang="en-US" altLang="zh-CN" sz="2400" dirty="0">
                <a:solidFill>
                  <a:srgbClr val="FF7C80"/>
                </a:solidFill>
              </a:rPr>
              <a:t>, </a:t>
            </a:r>
            <a:r>
              <a:rPr lang="zh-CN" altLang="en-US" sz="2400" dirty="0">
                <a:solidFill>
                  <a:srgbClr val="FF7C80"/>
                </a:solidFill>
              </a:rPr>
              <a:t>即构造出一条简单回路：</a:t>
            </a:r>
          </a:p>
          <a:p>
            <a:pPr marL="685800" lvl="2" indent="0">
              <a:lnSpc>
                <a:spcPct val="130000"/>
              </a:lnSpc>
              <a:spcBef>
                <a:spcPts val="600"/>
              </a:spcBef>
              <a:buClr>
                <a:srgbClr val="FF9900"/>
              </a:buClr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从任意顶点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取与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关联的边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(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连通性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这样的边一定存在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为偶数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所以可以继续取与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关联的边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},…, 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最终必定取到一条边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从而得到一条简单回路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5537"/>
          <p:cNvSpPr txBox="1"/>
          <p:nvPr/>
        </p:nvSpPr>
        <p:spPr>
          <a:xfrm>
            <a:off x="523836" y="5614184"/>
            <a:ext cx="10369152" cy="576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 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哥尼斯堡七桥问题无解</a:t>
            </a: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其图模型不是</a:t>
            </a: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欧拉图。</a:t>
            </a:r>
          </a:p>
          <a:p>
            <a:pPr marL="0" indent="0">
              <a:buNone/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3836" y="1714488"/>
            <a:ext cx="10972764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8.1.1</a:t>
            </a: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的证明过程给出了一种构造欧拉回路的方法。</a:t>
            </a:r>
            <a:endParaRPr lang="en-US" altLang="zh-CN" sz="24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（先构造一条简单回路，然后从其上某个含有其他边的顶点出发，在剩下的边集上构造一条回路，然后把两个回路拼起来构成一个更大的回路，直至包含所有的边）</a:t>
            </a:r>
          </a:p>
        </p:txBody>
      </p:sp>
      <p:pic>
        <p:nvPicPr>
          <p:cNvPr id="5" name="Picture 5" descr="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264" y="2799553"/>
            <a:ext cx="2016225" cy="273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02C913-E48A-4D95-8D6E-D81157EA1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2912301"/>
            <a:ext cx="2693839" cy="244762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89AEF8-B5EE-4C87-8FDA-456DC30A9F78}"/>
              </a:ext>
            </a:extLst>
          </p:cNvPr>
          <p:cNvCxnSpPr>
            <a:cxnSpLocks/>
          </p:cNvCxnSpPr>
          <p:nvPr/>
        </p:nvCxnSpPr>
        <p:spPr bwMode="auto">
          <a:xfrm flipV="1">
            <a:off x="1301006" y="3052195"/>
            <a:ext cx="1173361" cy="946942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6D3ECE2-8444-4BBB-8356-323B57DF897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74367" y="3023671"/>
            <a:ext cx="1173361" cy="864096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576CF76-6EC5-41B1-8A92-AC3A27142659}"/>
              </a:ext>
            </a:extLst>
          </p:cNvPr>
          <p:cNvCxnSpPr>
            <a:cxnSpLocks/>
          </p:cNvCxnSpPr>
          <p:nvPr/>
        </p:nvCxnSpPr>
        <p:spPr bwMode="auto">
          <a:xfrm flipV="1">
            <a:off x="1301006" y="3887767"/>
            <a:ext cx="2253480" cy="139894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549FFD6-9ED5-46BC-AD82-B88D0A50A6D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04523" y="4011806"/>
            <a:ext cx="1123223" cy="569322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7030A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CB240F3-CCD9-4DDC-AD4B-6E0493C0BD04}"/>
              </a:ext>
            </a:extLst>
          </p:cNvPr>
          <p:cNvCxnSpPr>
            <a:cxnSpLocks/>
          </p:cNvCxnSpPr>
          <p:nvPr/>
        </p:nvCxnSpPr>
        <p:spPr bwMode="auto">
          <a:xfrm flipH="1">
            <a:off x="2431264" y="3916291"/>
            <a:ext cx="1123222" cy="690805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7030A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5D6161F-F0FA-4583-AB2F-9682810D94BC}"/>
              </a:ext>
            </a:extLst>
          </p:cNvPr>
          <p:cNvCxnSpPr>
            <a:cxnSpLocks/>
          </p:cNvCxnSpPr>
          <p:nvPr/>
        </p:nvCxnSpPr>
        <p:spPr bwMode="auto">
          <a:xfrm flipV="1">
            <a:off x="3143672" y="3916291"/>
            <a:ext cx="410815" cy="1168075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7030A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C568587-B831-49AD-8219-6EF128A0313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66134" y="5022766"/>
            <a:ext cx="1274020" cy="65487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7030A0"/>
            </a:solidFill>
            <a:prstDash val="solid"/>
            <a:round/>
            <a:headEnd type="oval" w="lg" len="lg"/>
            <a:tailEnd type="oval" w="lg" len="lg"/>
          </a:ln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A6D5E6C-72A3-478A-857D-45CD175A6E0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01005" y="4083308"/>
            <a:ext cx="491491" cy="961726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7030A0"/>
            </a:solidFill>
            <a:prstDash val="solid"/>
            <a:round/>
            <a:headEnd type="oval" w="lg" len="lg"/>
            <a:tailEnd type="oval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4337"/>
          <p:cNvSpPr txBox="1"/>
          <p:nvPr/>
        </p:nvSpPr>
        <p:spPr bwMode="auto">
          <a:xfrm>
            <a:off x="839416" y="2454797"/>
            <a:ext cx="10513168" cy="123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0" noProof="1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测试通信网络：以最小的代价检查系统中的每个链接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</a:t>
            </a:r>
            <a:r>
              <a:rPr lang="en-US" altLang="zh-CN" sz="2400" b="0" dirty="0">
                <a:solidFill>
                  <a:srgbClr val="FF7C8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rgbClr val="FF7C8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设计清扫垃圾的线路：每条街恰好经过一次</a:t>
            </a:r>
            <a:endParaRPr lang="en-US" altLang="zh-CN" sz="2400" b="0" dirty="0">
              <a:solidFill>
                <a:srgbClr val="FFCC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b="0" dirty="0">
              <a:solidFill>
                <a:srgbClr val="FFCC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741682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/>
              <a:t>   欧拉回路的应用</a:t>
            </a:r>
            <a:endParaRPr lang="zh-CN" alt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4337"/>
          <p:cNvSpPr txBox="1"/>
          <p:nvPr/>
        </p:nvSpPr>
        <p:spPr bwMode="auto">
          <a:xfrm>
            <a:off x="1487488" y="1820071"/>
            <a:ext cx="9901807" cy="97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indent="0">
              <a:lnSpc>
                <a:spcPct val="130000"/>
              </a:lnSpc>
              <a:spcBef>
                <a:spcPct val="0"/>
              </a:spcBef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连通无向图两个不同的顶点之间有欧拉通路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它们的度为奇数且其他顶点的度均为偶数</a:t>
            </a:r>
            <a:endParaRPr lang="en-US" altLang="zh-CN" sz="2400" b="0" dirty="0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5711" y="1702733"/>
            <a:ext cx="1656184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 dirty="0"/>
              <a:t>   推论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5711" y="2794274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9416" y="3429000"/>
            <a:ext cx="1101722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设</a:t>
            </a:r>
            <a:r>
              <a:rPr lang="en-US" altLang="zh-CN" i="1" dirty="0"/>
              <a:t>u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zh-CN" altLang="en-US" dirty="0"/>
              <a:t>是连通无向图</a:t>
            </a:r>
            <a:r>
              <a:rPr lang="en-US" altLang="zh-CN" i="1" dirty="0"/>
              <a:t>G</a:t>
            </a:r>
            <a:r>
              <a:rPr lang="zh-CN" altLang="en-US" dirty="0"/>
              <a:t>的两个不同的顶点</a:t>
            </a:r>
            <a:r>
              <a:rPr lang="en-US" altLang="zh-CN" dirty="0"/>
              <a:t>, 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中附加一条边</a:t>
            </a:r>
            <a:r>
              <a:rPr lang="en-US" altLang="zh-CN" i="1" dirty="0"/>
              <a:t>e</a:t>
            </a:r>
            <a:r>
              <a:rPr lang="en-US" altLang="zh-CN" dirty="0"/>
              <a:t>={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}, </a:t>
            </a:r>
            <a:r>
              <a:rPr lang="zh-CN" altLang="en-US" dirty="0"/>
              <a:t>得到图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    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i="1" dirty="0"/>
              <a:t>u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zh-CN" altLang="en-US" dirty="0"/>
              <a:t>之间有欧拉通路 </a:t>
            </a:r>
          </a:p>
          <a:p>
            <a:r>
              <a:rPr lang="zh-CN" altLang="en-US" dirty="0">
                <a:sym typeface="Symbol" panose="05050102010706020507" pitchFamily="18" charset="2"/>
              </a:rPr>
              <a:t>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有欧拉回路</a:t>
            </a:r>
          </a:p>
          <a:p>
            <a:r>
              <a:rPr lang="zh-CN" altLang="en-US" dirty="0">
                <a:sym typeface="Symbol" panose="05050102010706020507" pitchFamily="18" charset="2"/>
              </a:rPr>
              <a:t>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每个顶点的度均为偶数</a:t>
            </a:r>
          </a:p>
          <a:p>
            <a:r>
              <a:rPr lang="zh-CN" altLang="en-US" dirty="0">
                <a:sym typeface="Symbol" panose="05050102010706020507" pitchFamily="18" charset="2"/>
              </a:rPr>
              <a:t> 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i="1" dirty="0"/>
              <a:t>u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zh-CN" altLang="en-US" dirty="0"/>
              <a:t>的度为奇数</a:t>
            </a:r>
            <a:r>
              <a:rPr lang="en-US" altLang="zh-CN" dirty="0"/>
              <a:t>, </a:t>
            </a:r>
            <a:r>
              <a:rPr lang="zh-CN" altLang="en-US" dirty="0"/>
              <a:t>其他顶点的度均为偶数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5537"/>
          <p:cNvSpPr txBox="1"/>
          <p:nvPr/>
        </p:nvSpPr>
        <p:spPr>
          <a:xfrm>
            <a:off x="479376" y="1700808"/>
            <a:ext cx="4248472" cy="5760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8.1.3</a:t>
            </a:r>
            <a:r>
              <a:rPr lang="en-US" altLang="zh-CN" sz="28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一笔画问题</a:t>
            </a:r>
            <a:endParaRPr lang="zh-CN" alt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55640" y="2276872"/>
            <a:ext cx="6696744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可以一笔画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因为其中有欧拉通路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则不能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因为其中没有欧拉通路。</a:t>
            </a:r>
          </a:p>
        </p:txBody>
      </p:sp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3645024"/>
            <a:ext cx="7343775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无向欧拉图的性质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00808"/>
            <a:ext cx="8785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8.1.2  </a:t>
            </a:r>
            <a:r>
              <a:rPr lang="zh-CN" altLang="en-US" noProof="1"/>
              <a:t>有向欧拉图的充要条件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974155" y="2433719"/>
            <a:ext cx="9793088" cy="5963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弱连通有向图是欧拉图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其每个顶点的入度和出度都相等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有向欧拉图的性质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60450" y="3418706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74155" y="4168413"/>
            <a:ext cx="5112568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类似于定理</a:t>
            </a:r>
            <a:r>
              <a:rPr lang="en-US" altLang="zh-CN" dirty="0"/>
              <a:t>8.1.1</a:t>
            </a:r>
            <a:r>
              <a:rPr lang="zh-CN" altLang="en-US" dirty="0"/>
              <a:t>的证明。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4337"/>
          <p:cNvSpPr txBox="1"/>
          <p:nvPr/>
        </p:nvSpPr>
        <p:spPr bwMode="auto">
          <a:xfrm>
            <a:off x="974155" y="2289630"/>
            <a:ext cx="10657184" cy="112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zh-CN" altLang="en-US" dirty="0"/>
              <a:t>弱连通有向图两个不同的顶点之间有欧拉通路 </a:t>
            </a:r>
            <a:r>
              <a:rPr lang="zh-CN" altLang="en-US" dirty="0">
                <a:sym typeface="Symbol" panose="05050102010706020507" pitchFamily="18" charset="2"/>
              </a:rPr>
              <a:t> </a:t>
            </a:r>
            <a:r>
              <a:rPr lang="zh-CN" altLang="en-US" dirty="0"/>
              <a:t>其中一个顶点的入度与出度之差为</a:t>
            </a:r>
            <a:r>
              <a:rPr lang="en-US" altLang="zh-CN" dirty="0"/>
              <a:t>1, </a:t>
            </a:r>
            <a:r>
              <a:rPr lang="zh-CN" altLang="en-US" dirty="0"/>
              <a:t>另一个顶点的出度与入度之差为</a:t>
            </a:r>
            <a:r>
              <a:rPr lang="en-US" altLang="zh-CN" dirty="0"/>
              <a:t>1, </a:t>
            </a:r>
            <a:r>
              <a:rPr lang="zh-CN" altLang="en-US" dirty="0"/>
              <a:t>且其他顶点的入度和出度都相等。</a:t>
            </a:r>
            <a:endParaRPr lang="en-US" altLang="zh-CN" dirty="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360" y="1734601"/>
            <a:ext cx="172819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9900"/>
              </a:buClr>
              <a:defRPr/>
            </a:pPr>
            <a:r>
              <a:rPr lang="zh-CN" altLang="en-US" dirty="0"/>
              <a:t>   推论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0450" y="3418706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74155" y="4168413"/>
            <a:ext cx="5112568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hangingPunct="0">
              <a:lnSpc>
                <a:spcPct val="13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/>
              <a:t>类似于定理</a:t>
            </a:r>
            <a:r>
              <a:rPr lang="en-US" altLang="zh-CN" dirty="0"/>
              <a:t>8.1.1</a:t>
            </a:r>
            <a:r>
              <a:rPr lang="zh-CN" altLang="en-US" dirty="0"/>
              <a:t>推论的证明。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有向欧拉图的性质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5" name="矩形 103436"/>
          <p:cNvSpPr>
            <a:spLocks noChangeArrowheads="1"/>
          </p:cNvSpPr>
          <p:nvPr/>
        </p:nvSpPr>
        <p:spPr bwMode="auto">
          <a:xfrm>
            <a:off x="152400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文本占位符 119809"/>
          <p:cNvSpPr txBox="1"/>
          <p:nvPr/>
        </p:nvSpPr>
        <p:spPr>
          <a:xfrm>
            <a:off x="263352" y="1568453"/>
            <a:ext cx="12169352" cy="5254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8.1.4</a:t>
            </a: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磁鼓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位置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455365" y="2098071"/>
            <a:ext cx="9785325" cy="8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一磁鼓有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个扇区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每个扇区被赋予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1, 3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个探测器可读出三个相邻扇区。</a:t>
            </a:r>
            <a:endParaRPr lang="en-US" altLang="zh-CN" sz="2200" b="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要求对扇区进行赋值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使探测器的读数能描述磁鼓的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确切位置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3573016"/>
            <a:ext cx="2799840" cy="2185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/>
          <p:cNvSpPr txBox="1"/>
          <p:nvPr/>
        </p:nvSpPr>
        <p:spPr>
          <a:xfrm>
            <a:off x="3708550" y="3462972"/>
            <a:ext cx="7245234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上图的赋值不符合要求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当前读数是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010,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顺时针转两个扇区后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仍然是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010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有向欧拉图的性质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5" name="矩形 103436"/>
          <p:cNvSpPr>
            <a:spLocks noChangeArrowheads="1"/>
          </p:cNvSpPr>
          <p:nvPr/>
        </p:nvSpPr>
        <p:spPr bwMode="auto">
          <a:xfrm>
            <a:off x="152400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文本占位符 119809"/>
          <p:cNvSpPr txBox="1"/>
          <p:nvPr/>
        </p:nvSpPr>
        <p:spPr>
          <a:xfrm>
            <a:off x="263352" y="1568453"/>
            <a:ext cx="12169352" cy="5254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8.1.4</a:t>
            </a: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200" b="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磁鼓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位置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455365" y="2098071"/>
            <a:ext cx="9785325" cy="8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一磁鼓有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个扇区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每个扇区被赋予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1, 3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个探测器可读出三个相邻扇区。</a:t>
            </a:r>
            <a:endParaRPr lang="en-US" altLang="zh-CN" sz="2200" b="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要求对扇区进行赋值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使探测器的读数能描述磁鼓的确切位置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647728" y="3026637"/>
            <a:ext cx="815927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建立有向图模型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以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00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为顶点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顶点</a:t>
            </a:r>
            <a:r>
              <a:rPr lang="en-US" altLang="zh-CN" sz="20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到顶点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bc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有向边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且标记为</a:t>
            </a:r>
            <a:r>
              <a:rPr lang="en-US" altLang="zh-CN" sz="20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abc</a:t>
            </a:r>
            <a:endParaRPr lang="en-US" altLang="zh-CN" sz="20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 0-1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赋值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所有顶点的入度和出度都为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是欧拉图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有欧拉回路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从顶点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01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开始的欧拉回路：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(011,111,110,101,010,100,000,001)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在欧拉回路上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每条边上的标记的后两位恰是其后继有向边上的标记的前两位。可选择回路中每条边上的标记的第一位得到一个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位的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0-1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序列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01110100),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其中每个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位的子序列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恰为某边的标记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都互不相同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因为每条边上的标记都不同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从而得到满足要求的赋值。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8.1.3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有向欧拉图的性质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399427" y="2860112"/>
            <a:ext cx="2951075" cy="3571738"/>
            <a:chOff x="399427" y="2860112"/>
            <a:chExt cx="2951075" cy="357173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179" y="3558597"/>
              <a:ext cx="2146789" cy="2108680"/>
            </a:xfrm>
            <a:prstGeom prst="rect">
              <a:avLst/>
            </a:prstGeom>
          </p:spPr>
        </p:pic>
        <p:sp>
          <p:nvSpPr>
            <p:cNvPr id="4" name="椭圆 3"/>
            <p:cNvSpPr/>
            <p:nvPr/>
          </p:nvSpPr>
          <p:spPr bwMode="auto">
            <a:xfrm>
              <a:off x="1626545" y="3139062"/>
              <a:ext cx="504056" cy="470872"/>
            </a:xfrm>
            <a:prstGeom prst="ellips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1591417" y="5606853"/>
              <a:ext cx="504056" cy="470872"/>
            </a:xfrm>
            <a:prstGeom prst="ellipse">
              <a:avLst/>
            </a:prstGeom>
            <a:noFill/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" name="直接箭头连接符 7"/>
            <p:cNvCxnSpPr>
              <a:stCxn id="4" idx="3"/>
            </p:cNvCxnSpPr>
            <p:nvPr/>
          </p:nvCxnSpPr>
          <p:spPr bwMode="auto">
            <a:xfrm>
              <a:off x="1700362" y="3540976"/>
              <a:ext cx="140995" cy="10398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>
              <a:stCxn id="14" idx="1"/>
            </p:cNvCxnSpPr>
            <p:nvPr/>
          </p:nvCxnSpPr>
          <p:spPr bwMode="auto">
            <a:xfrm flipV="1">
              <a:off x="1665234" y="5574821"/>
              <a:ext cx="147564" cy="10099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文本框 18"/>
            <p:cNvSpPr txBox="1"/>
            <p:nvPr/>
          </p:nvSpPr>
          <p:spPr>
            <a:xfrm>
              <a:off x="1683648" y="3685803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00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99427" y="4443660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10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960652" y="4442208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26545" y="5119260"/>
              <a:ext cx="3785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11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27688" y="3799120"/>
              <a:ext cx="4924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100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424607" y="3799120"/>
              <a:ext cx="4924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001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633571" y="4203118"/>
              <a:ext cx="4924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010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33571" y="4622653"/>
              <a:ext cx="4924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101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383674" y="5094085"/>
              <a:ext cx="4810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011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31960" y="5094085"/>
              <a:ext cx="4810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110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46432" y="2860112"/>
              <a:ext cx="4924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000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47598" y="6093296"/>
              <a:ext cx="469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111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147/189</a:t>
            </a:r>
            <a:r>
              <a:rPr lang="zh-CN" alt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2, 3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844824"/>
            <a:ext cx="11576223" cy="40088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-50419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一房子的平面图如图。问能否从前门进去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最后从后门出去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走过所有的门且每扇门只经过一次？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pt-BR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对于有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个扇区和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个探测器的磁鼓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给出一种合理的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0-1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赋值。</a:t>
            </a:r>
            <a:endParaRPr lang="en-US" altLang="zh-CN" sz="2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770" y="2780928"/>
            <a:ext cx="34544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1591</Words>
  <Application>Microsoft Office PowerPoint</Application>
  <PresentationFormat>宽屏</PresentationFormat>
  <Paragraphs>135</Paragraphs>
  <Slides>18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华文细黑</vt:lpstr>
      <vt:lpstr>楷体_GB2312</vt:lpstr>
      <vt:lpstr>宋体</vt:lpstr>
      <vt:lpstr>微软雅黑</vt:lpstr>
      <vt:lpstr>Arial</vt:lpstr>
      <vt:lpstr>Calibri</vt:lpstr>
      <vt:lpstr>Garamond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891</cp:revision>
  <dcterms:created xsi:type="dcterms:W3CDTF">2008-05-09T05:16:00Z</dcterms:created>
  <dcterms:modified xsi:type="dcterms:W3CDTF">2026-06-08T02:18:36Z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2320E0C97F5A4616BD99917FF078EDD2_12</vt:lpwstr>
  </property>
  <property fmtid="{D5CDD505-2E9C-101B-9397-08002B2CF9AE}" pid="3" name="KSOProductBuildVer">
    <vt:lpwstr>2052-12.1.0.16729</vt:lpwstr>
  </property>
</Properties>
</file>