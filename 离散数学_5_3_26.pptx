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7" r:id="rId2"/>
    <p:sldId id="377" r:id="rId3"/>
    <p:sldId id="338" r:id="rId4"/>
    <p:sldId id="258" r:id="rId5"/>
    <p:sldId id="280" r:id="rId6"/>
    <p:sldId id="281" r:id="rId7"/>
    <p:sldId id="430" r:id="rId8"/>
    <p:sldId id="293" r:id="rId9"/>
    <p:sldId id="328" r:id="rId10"/>
    <p:sldId id="431" r:id="rId11"/>
    <p:sldId id="423" r:id="rId12"/>
    <p:sldId id="432" r:id="rId13"/>
    <p:sldId id="424" r:id="rId14"/>
    <p:sldId id="425" r:id="rId15"/>
    <p:sldId id="434" r:id="rId16"/>
    <p:sldId id="426" r:id="rId17"/>
    <p:sldId id="427" r:id="rId18"/>
    <p:sldId id="428" r:id="rId19"/>
    <p:sldId id="429" r:id="rId20"/>
    <p:sldId id="334" r:id="rId21"/>
    <p:sldId id="399" r:id="rId22"/>
  </p:sldIdLst>
  <p:sldSz cx="12192000" cy="6858000"/>
  <p:notesSz cx="6858000" cy="9144000"/>
  <p:custDataLst>
    <p:tags r:id="rId2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FFCC99"/>
    <a:srgbClr val="FF7C80"/>
    <a:srgbClr val="FFCCFF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98" autoAdjust="0"/>
    <p:restoredTop sz="86608" autoAdjust="0"/>
  </p:normalViewPr>
  <p:slideViewPr>
    <p:cSldViewPr showGuides="1">
      <p:cViewPr varScale="1">
        <p:scale>
          <a:sx n="68" d="100"/>
          <a:sy n="68" d="100"/>
        </p:scale>
        <p:origin x="139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1287900" y="24879"/>
            <a:ext cx="902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400" b="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918981" y="11309"/>
            <a:ext cx="129769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关系</a:t>
            </a:r>
            <a:endParaRPr lang="en-US" altLang="zh-CN" sz="14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EF952A-F37A-4A09-BB2E-170EDBA7CE7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第五章 关系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423592" y="4221088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983432" y="1772816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基本要求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47528" y="2417837"/>
            <a:ext cx="9001000" cy="11348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200000"/>
              </a:lnSpc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zh-CN" dirty="0"/>
              <a:t>关系的</a:t>
            </a:r>
            <a:r>
              <a:rPr lang="en-US" altLang="zh-CN" dirty="0"/>
              <a:t>5</a:t>
            </a:r>
            <a:r>
              <a:rPr lang="zh-CN" altLang="zh-CN" dirty="0"/>
              <a:t>种基本的特殊性质</a:t>
            </a:r>
            <a:r>
              <a:rPr lang="en-US" altLang="zh-CN" dirty="0"/>
              <a:t>(</a:t>
            </a:r>
            <a:r>
              <a:rPr lang="zh-CN" altLang="zh-CN" dirty="0"/>
              <a:t>自反、反自反、对称、反对称、传递</a:t>
            </a:r>
            <a:r>
              <a:rPr lang="en-US" altLang="zh-CN" dirty="0"/>
              <a:t>)</a:t>
            </a:r>
            <a:r>
              <a:rPr lang="zh-CN" altLang="zh-CN" dirty="0"/>
              <a:t>、闭包的概念及其基本性质</a:t>
            </a:r>
            <a:endParaRPr lang="en-US" altLang="zh-CN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76462" y="3792091"/>
            <a:ext cx="355138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dirty="0"/>
              <a:t>教学重点和难点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135560" y="4440163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关系的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种特殊性质和闭包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关系的特殊性质及其闭包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5" grpId="0" uiExpand="1" build="p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48245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本节内容要点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703512" y="2578391"/>
            <a:ext cx="29388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5.3.1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关系的特殊性质</a:t>
            </a:r>
            <a:endParaRPr lang="zh-CN" alt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265783" y="5344972"/>
            <a:ext cx="24672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5.3.2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关系的闭包</a:t>
            </a:r>
            <a:endParaRPr lang="zh-CN" alt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AutoShape 6"/>
          <p:cNvSpPr/>
          <p:nvPr/>
        </p:nvSpPr>
        <p:spPr bwMode="auto">
          <a:xfrm>
            <a:off x="4673973" y="2454337"/>
            <a:ext cx="339901" cy="1492717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979009" y="1484843"/>
            <a:ext cx="144016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自反性</a:t>
            </a:r>
            <a:endParaRPr lang="en-US" altLang="zh-CN" sz="1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反自反性</a:t>
            </a:r>
            <a:endParaRPr lang="en-US" altLang="zh-CN" sz="1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对称性</a:t>
            </a:r>
            <a:endParaRPr lang="en-US" altLang="zh-CN" sz="1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反对称性</a:t>
            </a:r>
            <a:endParaRPr lang="en-US" altLang="zh-CN" sz="1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传递性</a:t>
            </a:r>
          </a:p>
        </p:txBody>
      </p:sp>
      <p:sp>
        <p:nvSpPr>
          <p:cNvPr id="6" name="AutoShape 8"/>
          <p:cNvSpPr/>
          <p:nvPr/>
        </p:nvSpPr>
        <p:spPr bwMode="auto">
          <a:xfrm>
            <a:off x="4589388" y="5073833"/>
            <a:ext cx="339901" cy="1167746"/>
          </a:xfrm>
          <a:prstGeom prst="leftBrace">
            <a:avLst>
              <a:gd name="adj1" fmla="val 3216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984838" y="4867917"/>
            <a:ext cx="997770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t">
              <a:spcBef>
                <a:spcPct val="50000"/>
              </a:spcBef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应用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929289" y="2218224"/>
            <a:ext cx="187220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种特殊性质</a:t>
            </a:r>
            <a:endParaRPr lang="zh-CN" altLang="en-US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5076073" y="3731610"/>
            <a:ext cx="90653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判断</a:t>
            </a:r>
            <a:endParaRPr lang="zh-CN" altLang="en-US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6"/>
          <p:cNvSpPr/>
          <p:nvPr/>
        </p:nvSpPr>
        <p:spPr bwMode="auto">
          <a:xfrm>
            <a:off x="6631546" y="1707978"/>
            <a:ext cx="339901" cy="1577006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5" name="AutoShape 6"/>
          <p:cNvSpPr/>
          <p:nvPr/>
        </p:nvSpPr>
        <p:spPr bwMode="auto">
          <a:xfrm>
            <a:off x="5888661" y="3650573"/>
            <a:ext cx="207339" cy="664327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6075115" y="3554638"/>
            <a:ext cx="144016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关系图</a:t>
            </a:r>
            <a:endParaRPr lang="en-US" altLang="zh-CN" sz="1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关系矩阵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3" grpId="0"/>
      <p:bldP spid="4" grpId="0" animBg="1"/>
      <p:bldP spid="5" grpId="0"/>
      <p:bldP spid="6" grpId="0" animBg="1"/>
      <p:bldP spid="12" grpId="0"/>
      <p:bldP spid="10" grpId="0"/>
      <p:bldP spid="11" grpId="0"/>
      <p:bldP spid="7" grpId="0" animBg="1"/>
      <p:bldP spid="15" grpId="0" animBg="1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27448" y="2276872"/>
            <a:ext cx="7704856" cy="3096344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自反关系：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反自反关系： </a:t>
            </a:r>
            <a:r>
              <a:rPr lang="zh-CN" altLang="en-U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lang="en-US" altLang="zh-CN" sz="240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对称关系：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zh-CN" altLang="en-US" sz="24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反对称关系： </a:t>
            </a:r>
            <a:r>
              <a:rPr lang="zh-CN" altLang="en-US" sz="24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sz="2400" dirty="0" err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 err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lang="en-US" altLang="zh-CN" sz="2400" i="1" dirty="0" err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 err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(5)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传递关系：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关系的特殊性质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79376" y="1628800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定义</a:t>
            </a:r>
            <a:r>
              <a:rPr lang="en-US" altLang="zh-CN" dirty="0"/>
              <a:t>5.3.1  </a:t>
            </a:r>
            <a:r>
              <a:rPr lang="en-US" altLang="zh-CN" i="1" dirty="0"/>
              <a:t>R</a:t>
            </a:r>
            <a:r>
              <a:rPr lang="zh-CN" altLang="en-US" dirty="0"/>
              <a:t>：</a:t>
            </a:r>
            <a:r>
              <a:rPr lang="en-US" altLang="zh-CN" i="1" dirty="0"/>
              <a:t>X</a:t>
            </a:r>
            <a:r>
              <a:rPr lang="zh-CN" altLang="en-US" dirty="0"/>
              <a:t>上的关系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59496" y="1520999"/>
            <a:ext cx="8713787" cy="3816002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实数集上的≤关系是自反、反对称和传递的</a:t>
            </a:r>
            <a:r>
              <a:rPr lang="en-US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不是对称</a:t>
            </a:r>
            <a:r>
              <a:rPr lang="zh-CN" altLang="en-US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</a:t>
            </a:r>
            <a:r>
              <a:rPr lang="en-US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r>
              <a:rPr lang="en-US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3, </a:t>
            </a:r>
            <a:r>
              <a:rPr lang="zh-CN" altLang="en-US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</a:t>
            </a:r>
            <a:r>
              <a:rPr lang="en-US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3&gt;2, 3</a:t>
            </a:r>
            <a:r>
              <a:rPr lang="zh-CN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r>
              <a:rPr lang="en-US" altLang="zh-CN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不成立 </a:t>
            </a:r>
            <a:endParaRPr lang="zh-CN" altLang="zh-CN" sz="2400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实数集上的</a:t>
            </a:r>
            <a:r>
              <a:rPr lang="en-US" altLang="zh-CN" sz="24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</a:t>
            </a:r>
            <a:r>
              <a:rPr lang="zh-CN" altLang="en-US" sz="24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关系是反自反和反对称的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上的恒等关系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是自反、对称、反对称、传递的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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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5360" y="1628800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5.3.1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关系的特殊性质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86041" y="1665815"/>
            <a:ext cx="8713787" cy="3422258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={1,2,3},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={(1,1),(1,3),(2,3),(3,2)}</a:t>
            </a:r>
          </a:p>
          <a:p>
            <a:pPr marL="82550" indent="-8255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不是自反关系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因为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(2,2)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82550" indent="-8255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不是反自反关系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因为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(1,1)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82550" indent="-8255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不是对称关系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因为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(1,3)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(3,1)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82550" indent="-8255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R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不是反对称关系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因为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(2,3)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(3,2)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≠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</a:p>
          <a:p>
            <a:pPr marL="82550" indent="-8255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(5)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不是传递关系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因为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(1,3)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(3,2)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(1,2)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79376" y="1705744"/>
            <a:ext cx="15121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5.3.2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关系的特殊性质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919536" y="1556792"/>
            <a:ext cx="5616624" cy="1723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kumimoji="0" lang="en-US" altLang="zh-CN" sz="2400" b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/>
                <a:sym typeface="Symbol" panose="05050102010706020507" pitchFamily="18" charset="2"/>
              </a:rPr>
              <a:t>N</a:t>
            </a:r>
            <a:r>
              <a:rPr kumimoji="0" lang="en-US" altLang="zh-CN" sz="1600" b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/>
                <a:sym typeface="Symbol" panose="05050102010706020507" pitchFamily="18" charset="2"/>
              </a:rPr>
              <a:t>+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上的整除关系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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具有哪些性质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?</a:t>
            </a:r>
            <a:endParaRPr kumimoji="0" lang="zh-CN" altLang="en-US" sz="2400" b="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550" indent="-8255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400" b="0" i="1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2400" b="0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</a:t>
            </a:r>
            <a:r>
              <a:rPr kumimoji="0" lang="en-US" altLang="zh-CN" sz="2400" b="0" i="1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</a:p>
          <a:p>
            <a:pPr marL="82550" indent="-8255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zh-CN" altLang="en-US" sz="2400" b="0" kern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自反、反对称、传递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775520" y="3963875"/>
            <a:ext cx="79928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kumimoji="0" lang="zh-CN" altLang="en-US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有限集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|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|=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上不同的自反关系有多少？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79376" y="3963875"/>
            <a:ext cx="14401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5.3.4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79376" y="1694090"/>
            <a:ext cx="15121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5.3.3.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关系的特殊性质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8F905C6-AEB2-4AEF-B1AC-DFEFD7170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805" y="4683200"/>
            <a:ext cx="1249788" cy="4877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03387" y="2564904"/>
            <a:ext cx="8785225" cy="280878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既自反又反自反的关系是否存在？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既非自反又非反自反的关系是否存在？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自反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非反自反？     非自反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反自反？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反自反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非自反？     非反自反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自反？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上述“自反”改为“对称”或“传递”又如何？</a:t>
            </a: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关系的特殊性质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95400" y="1772816"/>
            <a:ext cx="1296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36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思考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E0EF7C-8F55-4F08-B9FD-5AE4261DE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583" y="2708970"/>
            <a:ext cx="4937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×</a:t>
            </a:r>
            <a:endParaRPr lang="zh-CN" alt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0C841B-08C3-4BA6-821C-D52B3CCEC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7860" y="3851892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×</a:t>
            </a:r>
            <a:endParaRPr lang="zh-CN" altLang="en-US" sz="2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F4B9DA-25ED-4053-AE56-6DBCF0BA4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7860" y="4355130"/>
            <a:ext cx="4937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</a:rPr>
              <a:t>×</a:t>
            </a:r>
            <a:endParaRPr lang="zh-CN" altLang="en-US" sz="24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EA1AE0-D644-46FB-A875-6880767B6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9283" y="3201095"/>
            <a:ext cx="35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99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4864FC-B119-4FA3-B584-F2BFC5244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6999" y="3851744"/>
            <a:ext cx="35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99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83E65F-6FD9-4261-B850-852EC43FF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769" y="4381734"/>
            <a:ext cx="35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99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271464" y="2276872"/>
            <a:ext cx="7056784" cy="3816424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自反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反自反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对称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反对称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endParaRPr lang="en-US" altLang="zh-CN" sz="240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(5)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传递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(6)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传递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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kern="12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/>
                <a:sym typeface="Symbol" panose="05050102010706020507" pitchFamily="18" charset="2"/>
              </a:rPr>
              <a:t>N</a:t>
            </a:r>
            <a:r>
              <a:rPr lang="en-US" altLang="zh-CN" sz="16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/>
                <a:sym typeface="Symbol" panose="05050102010706020507" pitchFamily="18" charset="2"/>
              </a:rPr>
              <a:t>+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i="1" baseline="30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altLang="zh-CN" sz="240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7368" y="1577419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定理</a:t>
            </a:r>
            <a:r>
              <a:rPr lang="en-US" altLang="zh-CN" dirty="0"/>
              <a:t>5.3.1  </a:t>
            </a:r>
            <a:r>
              <a:rPr lang="en-US" altLang="zh-CN" i="1" dirty="0"/>
              <a:t>R</a:t>
            </a:r>
            <a:r>
              <a:rPr lang="zh-CN" altLang="en-US" dirty="0"/>
              <a:t>：</a:t>
            </a:r>
            <a:r>
              <a:rPr lang="en-US" altLang="zh-CN" i="1" dirty="0"/>
              <a:t>X</a:t>
            </a:r>
            <a:r>
              <a:rPr lang="zh-CN" altLang="en-US" dirty="0"/>
              <a:t>上的关系</a:t>
            </a: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关系的特殊性质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2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2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2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12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2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2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911424" y="2002574"/>
            <a:ext cx="7056784" cy="52322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(5)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传递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(6)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传递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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kern="12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/>
                <a:sym typeface="Symbol" panose="05050102010706020507" pitchFamily="18" charset="2"/>
              </a:rPr>
              <a:t>N</a:t>
            </a:r>
            <a:r>
              <a:rPr lang="en-US" altLang="zh-CN" sz="16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/>
                <a:sym typeface="Symbol" panose="05050102010706020507" pitchFamily="18" charset="2"/>
              </a:rPr>
              <a:t>+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i="1" baseline="30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altLang="zh-CN" sz="240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7368" y="1577419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定理</a:t>
            </a:r>
            <a:r>
              <a:rPr lang="en-US" altLang="zh-CN" dirty="0"/>
              <a:t>5.3.1  </a:t>
            </a:r>
            <a:r>
              <a:rPr lang="en-US" altLang="zh-CN" i="1" dirty="0"/>
              <a:t>R</a:t>
            </a:r>
            <a:r>
              <a:rPr lang="zh-CN" altLang="en-US" dirty="0"/>
              <a:t>：</a:t>
            </a:r>
            <a:r>
              <a:rPr lang="en-US" altLang="zh-CN" i="1" dirty="0"/>
              <a:t>X</a:t>
            </a:r>
            <a:r>
              <a:rPr lang="zh-CN" altLang="en-US" dirty="0"/>
              <a:t>上的关系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88760" y="3632787"/>
            <a:ext cx="5149003" cy="2667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4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kern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传递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传递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</a:t>
            </a:r>
            <a:r>
              <a:rPr kumimoji="0" lang="en-US" altLang="zh-CN" sz="24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i="1" kern="0" baseline="30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sz="24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kumimoji="0" lang="en-US" altLang="zh-CN" sz="2400" b="0" i="1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4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设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000" b="0" kern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传递</a:t>
            </a:r>
          </a:p>
          <a:p>
            <a:pPr marL="0" indent="0" eaLnBrk="1" hangingPunct="1">
              <a:lnSpc>
                <a:spcPct val="140000"/>
              </a:lnSpc>
              <a:spcBef>
                <a:spcPts val="0"/>
              </a:spcBef>
              <a:buFontTx/>
              <a:buNone/>
              <a:defRPr/>
            </a:pP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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y,z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800100" lvl="2" indent="0" eaLnBrk="1" hangingPunct="1">
              <a:lnSpc>
                <a:spcPct val="140000"/>
              </a:lnSpc>
              <a:spcBef>
                <a:spcPts val="0"/>
              </a:spcBef>
              <a:buNone/>
              <a:defRPr/>
            </a:pP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000" b="0" kern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</a:p>
          <a:p>
            <a:pPr marL="800100" lvl="2" indent="0" eaLnBrk="1" hangingPunct="1">
              <a:lnSpc>
                <a:spcPct val="140000"/>
              </a:lnSpc>
              <a:spcBef>
                <a:spcPts val="0"/>
              </a:spcBef>
              <a:buNone/>
              <a:defRPr/>
            </a:pP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(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∵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000" b="0" kern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)</a:t>
            </a:r>
            <a:endParaRPr kumimoji="0" lang="zh-CN" altLang="en-US" sz="2000" b="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40000"/>
              </a:lnSpc>
              <a:spcBef>
                <a:spcPts val="0"/>
              </a:spcBef>
              <a:buFontTx/>
              <a:buNone/>
              <a:defRPr/>
            </a:pP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∴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传递 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637763" y="1988841"/>
            <a:ext cx="6408712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设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传递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/>
                <a:sym typeface="Symbol" panose="05050102010706020507" pitchFamily="18" charset="2"/>
              </a:rPr>
              <a:t>N</a:t>
            </a:r>
            <a:r>
              <a:rPr kumimoji="0" lang="en-US" altLang="zh-CN" sz="1600" b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/>
                <a:sym typeface="Symbol" panose="05050102010706020507" pitchFamily="18" charset="2"/>
              </a:rPr>
              <a:t>+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000" b="0" i="1" kern="0" baseline="30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kumimoji="0" lang="en-US" altLang="zh-CN" sz="2000" b="0" i="1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采用数学归纳法。</a:t>
            </a:r>
          </a:p>
          <a:p>
            <a:pPr marL="400050" lvl="1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=1, 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结论显然成立。</a:t>
            </a:r>
          </a:p>
          <a:p>
            <a:pPr marL="400050" lvl="1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假定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000" b="0" i="1" kern="0" baseline="30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000" b="0" i="1" kern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0" kern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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z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000" b="0" i="1" kern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(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由归纳假设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zh-CN" altLang="en-US" sz="2000" b="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(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∵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传递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zh-CN" altLang="en-US" sz="2000" b="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0" lang="en-US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∴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000" b="0" i="1" kern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0" kern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 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sz="2000" b="0" kern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27649" y="3207632"/>
            <a:ext cx="13975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证明：</a:t>
            </a: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关系的特殊性质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879976" y="5867749"/>
            <a:ext cx="4968552" cy="523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综合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就有</a:t>
            </a:r>
            <a:r>
              <a:rPr kumimoji="0" lang="zh-CN" altLang="en-US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0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000" b="0" i="1" kern="0" baseline="30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sz="20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kumimoji="0" lang="en-US" altLang="zh-CN" sz="2000" b="0" i="1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000"/>
                            </p:stCondLst>
                            <p:childTnLst>
                              <p:par>
                                <p:cTn id="6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0"/>
                            </p:stCondLst>
                            <p:childTnLst>
                              <p:par>
                                <p:cTn id="7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000"/>
                            </p:stCondLst>
                            <p:childTnLst>
                              <p:par>
                                <p:cTn id="8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000"/>
                            </p:stCondLst>
                            <p:childTnLst>
                              <p:par>
                                <p:cTn id="8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8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27448" y="2456892"/>
            <a:ext cx="8785225" cy="2844316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关系自反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其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矩阵对角线全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关系反自反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其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矩阵对角线全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关系对称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其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矩阵对称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关系反对称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其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矩阵任意对称位置上至少有一个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05912" y="1628800"/>
            <a:ext cx="6094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关系的性质与关系矩阵的性质 </a:t>
            </a: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关系的特殊性质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9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9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9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9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9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9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9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9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9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9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9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9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199456" y="2420888"/>
            <a:ext cx="10225136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关系自反 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其关系图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每个顶点都有环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关系反自反 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其关系图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每个顶点均无环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关系对称 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其关系图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每对顶点之间若有边则必有两条方向相反的边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关系反对称 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其关系图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每对顶点之间至多只有一条边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51384" y="1772816"/>
            <a:ext cx="77360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 </a:t>
            </a:r>
            <a:r>
              <a:rPr lang="zh-CN" altLang="en-US" dirty="0"/>
              <a:t>关系的性质与关系图的性质</a:t>
            </a: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关系的特殊性质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911424" y="3880555"/>
            <a:ext cx="8642350" cy="129614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闭包：包含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、具有性质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最小的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上的关系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上的关系；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：一种关系的性质     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9376" y="1628067"/>
            <a:ext cx="66501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闭包的基本思想      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11424" y="2056216"/>
            <a:ext cx="10945216" cy="112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 kumimoji="0" sz="2400" b="0" kern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关系</a:t>
            </a:r>
            <a:r>
              <a:rPr lang="en-US" altLang="zh-CN" i="1" dirty="0"/>
              <a:t>R</a:t>
            </a:r>
            <a:r>
              <a:rPr lang="zh-CN" altLang="en-US" dirty="0"/>
              <a:t>不具有性质</a:t>
            </a:r>
            <a:r>
              <a:rPr lang="en-US" altLang="zh-CN" i="1" dirty="0"/>
              <a:t>P</a:t>
            </a:r>
            <a:r>
              <a:rPr lang="en-US" altLang="zh-CN" dirty="0"/>
              <a:t>,</a:t>
            </a:r>
            <a:r>
              <a:rPr lang="zh-CN" altLang="en-US" dirty="0"/>
              <a:t> 在</a:t>
            </a:r>
            <a:r>
              <a:rPr lang="en-US" altLang="zh-CN" i="1" dirty="0"/>
              <a:t>R</a:t>
            </a:r>
            <a:r>
              <a:rPr lang="zh-CN" altLang="en-US" dirty="0"/>
              <a:t>中添加一些二元组</a:t>
            </a:r>
            <a:r>
              <a:rPr lang="en-US" altLang="zh-CN" dirty="0"/>
              <a:t>, </a:t>
            </a:r>
            <a:r>
              <a:rPr lang="zh-CN" altLang="en-US" dirty="0"/>
              <a:t>使之具有性质</a:t>
            </a:r>
            <a:r>
              <a:rPr lang="en-US" altLang="zh-CN" i="1" dirty="0"/>
              <a:t>P</a:t>
            </a:r>
            <a:r>
              <a:rPr lang="en-US" altLang="zh-CN" dirty="0"/>
              <a:t>, </a:t>
            </a:r>
            <a:r>
              <a:rPr lang="zh-CN" altLang="en-US" dirty="0"/>
              <a:t>并希望所添加的二元组尽可能的少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05456" y="3276474"/>
            <a:ext cx="66501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定义</a:t>
            </a:r>
            <a:r>
              <a:rPr lang="en-US" altLang="zh-CN" dirty="0"/>
              <a:t>5.3.2  </a:t>
            </a:r>
            <a:r>
              <a:rPr lang="en-US" altLang="zh-CN" i="1" dirty="0"/>
              <a:t>P</a:t>
            </a:r>
            <a:r>
              <a:rPr lang="zh-CN" altLang="en-US" dirty="0"/>
              <a:t>闭包</a:t>
            </a: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关系的闭包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ED668A9-9B71-404D-A382-A6EB0E7D4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756" y="5093202"/>
            <a:ext cx="11161240" cy="112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闭包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i="1" kern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上的关系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满足：</a:t>
            </a:r>
            <a:endParaRPr kumimoji="0" lang="en-US" altLang="zh-CN" sz="2400" b="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i="1" kern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 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i="1" kern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；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上的关系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i="1" kern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99456" y="2143907"/>
            <a:ext cx="10153128" cy="308529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上的关系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(1)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的自反闭包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上包含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的最小的自反关系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(2)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的对称闭包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上包含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的最小的对称关系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(3)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的传递闭包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上包含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的最小的传递关系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)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传递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上包含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的传递关系都包含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7368" y="1708095"/>
            <a:ext cx="6094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>
                <a:sym typeface="Symbol" panose="05050102010706020507" pitchFamily="18" charset="2"/>
              </a:rPr>
              <a:t>自反闭包、对称闭包和传递闭包 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关系的闭包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E301C9-E405-4E00-BA33-167C7B7D2C45}"/>
              </a:ext>
            </a:extLst>
          </p:cNvPr>
          <p:cNvSpPr/>
          <p:nvPr/>
        </p:nvSpPr>
        <p:spPr>
          <a:xfrm>
            <a:off x="911424" y="5229201"/>
            <a:ext cx="7879080" cy="470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思考：为什么不讨论“反自反闭包”和“反对称闭包”？</a:t>
            </a:r>
            <a:endParaRPr lang="en-US" altLang="zh-CN" sz="24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3A16B6-C3EC-425D-9651-AA351E285894}"/>
              </a:ext>
            </a:extLst>
          </p:cNvPr>
          <p:cNvSpPr/>
          <p:nvPr/>
        </p:nvSpPr>
        <p:spPr>
          <a:xfrm>
            <a:off x="3575720" y="5758013"/>
            <a:ext cx="6083717" cy="407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没法通过添加元素的方式使其具备反自反或反对称性</a:t>
            </a:r>
            <a:endParaRPr lang="en-US" altLang="zh-CN" sz="2000" b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47528" y="1707015"/>
            <a:ext cx="8928992" cy="175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b="0" dirty="0"/>
              <a:t>网络的拓扑结构和连通性与</a:t>
            </a:r>
            <a:r>
              <a:rPr lang="zh-CN" altLang="en-US" b="0" dirty="0">
                <a:sym typeface="Symbol" panose="05050102010706020507" pitchFamily="18" charset="2"/>
              </a:rPr>
              <a:t>传递闭包的联系</a:t>
            </a:r>
          </a:p>
          <a:p>
            <a:r>
              <a:rPr lang="zh-CN" altLang="en-US" b="0" dirty="0"/>
              <a:t>网络拓扑结构的数学模型是一个关系</a:t>
            </a:r>
          </a:p>
          <a:p>
            <a:r>
              <a:rPr lang="zh-CN" altLang="en-US" b="0" dirty="0"/>
              <a:t>任意两点的连通性的数学模型是上述关系的传递闭包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79376" y="1851031"/>
            <a:ext cx="1368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5.3.5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关系的闭包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091953" y="2244437"/>
            <a:ext cx="3744416" cy="2643341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</a:tabLst>
              <a:defRPr/>
            </a:pP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上的关系</a:t>
            </a:r>
            <a:endParaRPr lang="zh-CN" altLang="en-US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400050" lvl="1" indent="0" eaLnBrk="1" hangingPunct="1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</a:tabLst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</a:p>
          <a:p>
            <a:pPr marL="400050" lvl="1" indent="0" eaLnBrk="1" hangingPunct="1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</a:tabLst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∪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</a:p>
          <a:p>
            <a:pPr marL="400050" lvl="1" indent="0" eaLnBrk="1" hangingPunct="1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</a:tabLst>
              <a:defRPr/>
            </a:pPr>
            <a:r>
              <a:rPr lang="en-US" altLang="zh-CN" sz="2400" b="0" dirty="0">
                <a:solidFill>
                  <a:schemeClr val="bg1"/>
                </a:solidFill>
              </a:rPr>
              <a:t>(3)</a:t>
            </a:r>
            <a:endParaRPr lang="en-US" altLang="zh-CN" sz="2400" baseline="30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</a:tabLst>
              <a:defRPr/>
            </a:pP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</a:tabLst>
              <a:defRPr/>
            </a:pP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340" name="Rectangle 13"/>
          <p:cNvSpPr>
            <a:spLocks noChangeArrowheads="1"/>
          </p:cNvSpPr>
          <p:nvPr/>
        </p:nvSpPr>
        <p:spPr bwMode="auto">
          <a:xfrm>
            <a:off x="1524001" y="3020011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2" name="Rectangle 48"/>
          <p:cNvSpPr>
            <a:spLocks noChangeArrowheads="1"/>
          </p:cNvSpPr>
          <p:nvPr/>
        </p:nvSpPr>
        <p:spPr bwMode="auto">
          <a:xfrm>
            <a:off x="1524001" y="3088273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07368" y="1722828"/>
            <a:ext cx="84249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定理</a:t>
            </a:r>
            <a:r>
              <a:rPr lang="en-US" altLang="zh-CN" dirty="0"/>
              <a:t>5.3.2  </a:t>
            </a:r>
            <a:r>
              <a:rPr lang="zh-CN" altLang="en-US" dirty="0"/>
              <a:t>自反、对称、传递闭包的计算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492928" y="4887778"/>
                <a:ext cx="2267743" cy="1252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eaLnBrk="1" hangingPunct="1">
                  <a:lnSpc>
                    <a:spcPct val="130000"/>
                  </a:lnSpc>
                  <a:buNone/>
                  <a:tabLst>
                    <a:tab pos="0" algn="l"/>
                  </a:tabLst>
                  <a:defRPr/>
                </a:pPr>
                <a:r>
                  <a:rPr lang="zh-CN" altLang="en-US" sz="20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仅证明</a:t>
                </a:r>
                <a:r>
                  <a:rPr lang="en-US" altLang="zh-CN" sz="20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(3)</a:t>
                </a:r>
                <a:r>
                  <a:rPr lang="zh-CN" altLang="en-US" sz="20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000" b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lnSpc>
                    <a:spcPct val="130000"/>
                  </a:lnSpc>
                  <a:buNone/>
                  <a:tabLst>
                    <a:tab pos="0" algn="l"/>
                  </a:tabLst>
                  <a:defRPr/>
                </a:pPr>
                <a:r>
                  <a:rPr lang="zh-CN" altLang="en-US" sz="20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令</a:t>
                </a:r>
                <a:r>
                  <a:rPr lang="en-US" altLang="zh-CN" sz="2000" b="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supHide m:val="on"/>
                        <m:ctrlPr>
                          <a:rPr lang="en-US" altLang="zh-CN" sz="20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0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2000" b="0" i="1" smtClean="0">
                                <a:solidFill>
                                  <a:schemeClr val="bg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solidFill>
                                  <a:schemeClr val="bg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solidFill>
                                  <a:schemeClr val="bg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2000" b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lnSpc>
                    <a:spcPct val="130000"/>
                  </a:lnSpc>
                  <a:buNone/>
                  <a:tabLst>
                    <a:tab pos="0" algn="l"/>
                  </a:tabLst>
                  <a:defRPr/>
                </a:pPr>
                <a:r>
                  <a:rPr lang="en-US" altLang="zh-CN" sz="20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b="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0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显然</a:t>
                </a:r>
                <a:r>
                  <a:rPr lang="en-US" altLang="zh-CN" sz="20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000" b="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0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</a:t>
                </a:r>
                <a:r>
                  <a:rPr lang="en-US" altLang="zh-CN" sz="2000" b="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928" y="4887778"/>
                <a:ext cx="2267743" cy="1252522"/>
              </a:xfrm>
              <a:prstGeom prst="rect">
                <a:avLst/>
              </a:prstGeom>
              <a:blipFill>
                <a:blip r:embed="rId2"/>
                <a:stretch>
                  <a:fillRect l="-2957" b="-16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>
                <a:spLocks noChangeArrowheads="1"/>
              </p:cNvSpPr>
              <p:nvPr/>
            </p:nvSpPr>
            <p:spPr bwMode="auto">
              <a:xfrm>
                <a:off x="5785065" y="4409305"/>
                <a:ext cx="6116543" cy="19887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1085850" indent="-4572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646555" indent="-3810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2168525" indent="-3429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691130" indent="-3429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314833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360553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406273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451993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ts val="0"/>
                  </a:spcBef>
                  <a:buSzTx/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 </a:t>
                </a: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zh-CN" altLang="en-US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上包</a:t>
                </a:r>
                <a:r>
                  <a:rPr lang="zh-CN" altLang="en-US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含</a:t>
                </a: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</a:t>
                </a:r>
                <a:r>
                  <a:rPr lang="zh-CN" altLang="en-US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且传递</a:t>
                </a:r>
                <a:r>
                  <a:rPr lang="zh-CN" altLang="en-US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的</a:t>
                </a:r>
                <a:r>
                  <a:rPr lang="zh-CN" altLang="en-US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关系</a:t>
                </a: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0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endParaRPr lang="en-US" altLang="zh-CN" sz="20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buSzTx/>
                  <a:buNone/>
                  <a:defRPr/>
                </a:pPr>
                <a:r>
                  <a:rPr lang="en-US" altLang="zh-CN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     </a:t>
                </a: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0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传递 </a:t>
                </a:r>
                <a:r>
                  <a:rPr lang="zh-CN" altLang="en-US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</a:t>
                </a:r>
                <a:r>
                  <a:rPr lang="zh-CN" altLang="en-US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</a:t>
                </a:r>
                <a:r>
                  <a:rPr lang="en-US" altLang="zh-CN" sz="2000" b="0" i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000" b="0" dirty="0" err="1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2000" dirty="0" err="1">
                    <a:solidFill>
                      <a:srgbClr val="FFFFFF"/>
                    </a:solidFill>
                    <a:latin typeface="Garamond"/>
                    <a:sym typeface="Symbol" panose="05050102010706020507" pitchFamily="18" charset="2"/>
                  </a:rPr>
                  <a:t>N</a:t>
                </a:r>
                <a:r>
                  <a:rPr lang="en-US" altLang="zh-CN" sz="1400" dirty="0">
                    <a:solidFill>
                      <a:srgbClr val="FFFFFF"/>
                    </a:solidFill>
                    <a:latin typeface="Garamond"/>
                    <a:sym typeface="Symbol" panose="05050102010706020507" pitchFamily="18" charset="2"/>
                  </a:rPr>
                  <a:t>+</a:t>
                </a:r>
                <a:r>
                  <a:rPr lang="en-US" altLang="zh-CN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0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000" b="0" i="1" baseline="30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</a:t>
                </a: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0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(</a:t>
                </a:r>
                <a:r>
                  <a:rPr lang="zh-CN" altLang="en-US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5.3.1(6))</a:t>
                </a:r>
                <a:endParaRPr lang="zh-CN" altLang="en-US" sz="20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spcBef>
                    <a:spcPts val="0"/>
                  </a:spcBef>
                  <a:buSzTx/>
                  <a:buFont typeface="Wingdings" panose="05000000000000000000" pitchFamily="2" charset="2"/>
                  <a:buNone/>
                  <a:defRPr/>
                </a:pPr>
                <a:r>
                  <a:rPr lang="zh-CN" altLang="en-US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</a:t>
                </a: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 </a:t>
                </a: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0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</a:t>
                </a:r>
                <a:r>
                  <a:rPr lang="en-US" altLang="zh-CN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</a:t>
                </a:r>
                <a:r>
                  <a:rPr lang="en-US" altLang="zh-CN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000" b="0" i="1" baseline="30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</a:t>
                </a: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0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000" b="0" i="1" baseline="30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000" b="0" baseline="30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endParaRPr lang="en-US" altLang="zh-CN" sz="20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buSzTx/>
                  <a:buNone/>
                  <a:defRPr/>
                </a:pPr>
                <a:r>
                  <a:rPr lang="en-US" altLang="zh-CN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     ∴</a:t>
                </a: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R</a:t>
                </a:r>
                <a:r>
                  <a:rPr lang="en-US" altLang="zh-CN" sz="2000" b="0" i="1" baseline="30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</a:t>
                </a: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0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000" b="0" i="1" baseline="30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，故</a:t>
                </a: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T=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altLang="zh-CN" sz="2000" b="0" i="1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000" b="0" i="1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0" i="1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b="0" i="1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b="0" i="1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2000" b="0" i="1">
                                <a:solidFill>
                                  <a:schemeClr val="bg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>
                                <a:solidFill>
                                  <a:schemeClr val="bg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sz="2000" b="0" i="1">
                                <a:solidFill>
                                  <a:schemeClr val="bg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2000" b="0" i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</a:t>
                </a: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0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endParaRPr lang="en-US" altLang="zh-CN" sz="20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20000"/>
                  </a:lnSpc>
                  <a:spcBef>
                    <a:spcPts val="0"/>
                  </a:spcBef>
                  <a:buFont typeface="Wingdings" panose="05000000000000000000" pitchFamily="2" charset="2"/>
                  <a:buNone/>
                  <a:defRPr/>
                </a:pPr>
                <a:r>
                  <a:rPr lang="zh-CN" altLang="en-US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综上</a:t>
                </a:r>
                <a:r>
                  <a:rPr lang="en-US" altLang="zh-CN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zh-CN" altLang="en-US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sz="20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</a:t>
                </a:r>
                <a:r>
                  <a:rPr lang="zh-CN" altLang="en-US" sz="20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的传递闭包</a:t>
                </a:r>
                <a:endParaRPr lang="en-US" altLang="zh-CN" sz="20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85065" y="4409305"/>
                <a:ext cx="6116543" cy="1988741"/>
              </a:xfrm>
              <a:prstGeom prst="rect">
                <a:avLst/>
              </a:prstGeom>
              <a:blipFill>
                <a:blip r:embed="rId3"/>
                <a:stretch>
                  <a:fillRect l="-1097" t="-612" b="-703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400216" y="4892369"/>
            <a:ext cx="13975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证明：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762895" y="2286681"/>
            <a:ext cx="6094268" cy="2050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30000"/>
              </a:lnSpc>
              <a:buNone/>
              <a:tabLst>
                <a:tab pos="0" algn="l"/>
              </a:tabLst>
              <a:defRPr/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0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lang="en-US" altLang="zh-CN" sz="20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</a:p>
          <a:p>
            <a:pPr marL="0" indent="0" eaLnBrk="1" hangingPunct="1">
              <a:lnSpc>
                <a:spcPct val="130000"/>
              </a:lnSpc>
              <a:buNone/>
              <a:tabLst>
                <a:tab pos="0" algn="l"/>
              </a:tabLst>
              <a:defRPr/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</a:t>
            </a:r>
            <a:r>
              <a:rPr lang="en-US" altLang="zh-CN" sz="20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，使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i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z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i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</a:p>
          <a:p>
            <a:pPr marL="0" indent="0" eaLnBrk="1" hangingPunct="1">
              <a:lnSpc>
                <a:spcPct val="130000"/>
              </a:lnSpc>
              <a:buNone/>
              <a:tabLst>
                <a:tab pos="0" algn="l"/>
              </a:tabLst>
              <a:defRPr/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 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i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i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i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1+</a:t>
            </a:r>
            <a:r>
              <a:rPr lang="en-US" altLang="zh-CN" sz="2000" b="0" i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0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</a:p>
          <a:p>
            <a:pPr marL="0" indent="0" eaLnBrk="1" hangingPunct="1">
              <a:lnSpc>
                <a:spcPct val="130000"/>
              </a:lnSpc>
              <a:buNone/>
              <a:tabLst>
                <a:tab pos="0" algn="l"/>
              </a:tabLst>
              <a:defRPr/>
            </a:pPr>
            <a:r>
              <a:rPr lang="en-US" altLang="zh-CN" sz="20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</a:p>
          <a:p>
            <a:pPr marL="0" indent="0" eaLnBrk="1" hangingPunct="1">
              <a:lnSpc>
                <a:spcPct val="130000"/>
              </a:lnSpc>
              <a:buNone/>
              <a:tabLst>
                <a:tab pos="0" algn="l"/>
              </a:tabLst>
              <a:defRPr/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    ∴</a:t>
            </a:r>
            <a:r>
              <a:rPr lang="en-US" altLang="zh-CN" sz="20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0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上的传递关系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1235969" y="3777014"/>
                <a:ext cx="3456384" cy="994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altLang="zh-CN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969" y="3777014"/>
                <a:ext cx="3456384" cy="9943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关系的闭包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7"/>
          <p:cNvSpPr>
            <a:spLocks noChangeArrowheads="1"/>
          </p:cNvSpPr>
          <p:nvPr/>
        </p:nvSpPr>
        <p:spPr bwMode="auto">
          <a:xfrm>
            <a:off x="1524001" y="2905711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65" name="Rectangle 9"/>
          <p:cNvSpPr>
            <a:spLocks noChangeArrowheads="1"/>
          </p:cNvSpPr>
          <p:nvPr/>
        </p:nvSpPr>
        <p:spPr bwMode="auto">
          <a:xfrm>
            <a:off x="1524001" y="2905711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66" name="Rectangle 11"/>
          <p:cNvSpPr>
            <a:spLocks noChangeArrowheads="1"/>
          </p:cNvSpPr>
          <p:nvPr/>
        </p:nvSpPr>
        <p:spPr bwMode="auto">
          <a:xfrm>
            <a:off x="1524001" y="2905711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67" name="Rectangle 13"/>
          <p:cNvSpPr>
            <a:spLocks noChangeArrowheads="1"/>
          </p:cNvSpPr>
          <p:nvPr/>
        </p:nvSpPr>
        <p:spPr bwMode="auto">
          <a:xfrm>
            <a:off x="1524001" y="2802523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68" name="Rectangle 15"/>
          <p:cNvSpPr>
            <a:spLocks noChangeArrowheads="1"/>
          </p:cNvSpPr>
          <p:nvPr/>
        </p:nvSpPr>
        <p:spPr bwMode="auto">
          <a:xfrm>
            <a:off x="1524001" y="3042236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79376" y="1722992"/>
            <a:ext cx="6094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推论</a:t>
            </a:r>
            <a:endParaRPr lang="en-US" altLang="zh-CN" dirty="0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174572" y="2299762"/>
            <a:ext cx="8713787" cy="631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：有限集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上的关系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|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|=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493347" y="3429000"/>
            <a:ext cx="6094268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由定理</a:t>
            </a:r>
            <a:r>
              <a:rPr lang="en-US" altLang="zh-CN" dirty="0"/>
              <a:t>5.2.2</a:t>
            </a:r>
            <a:r>
              <a:rPr lang="zh-CN" altLang="en-US" dirty="0"/>
              <a:t>的推论</a:t>
            </a:r>
            <a:r>
              <a:rPr lang="en-US" altLang="zh-CN" dirty="0"/>
              <a:t>3</a:t>
            </a:r>
            <a:r>
              <a:rPr lang="zh-CN" altLang="en-US" dirty="0"/>
              <a:t>直接证明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66444" y="3492484"/>
            <a:ext cx="14162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证明：</a:t>
            </a: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关系的闭包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5531465" y="2102291"/>
                <a:ext cx="3456384" cy="11063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altLang="zh-CN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ctrlP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465" y="2102291"/>
                <a:ext cx="3456384" cy="11063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03512" y="1621236"/>
            <a:ext cx="9937104" cy="2088579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={1,2,3,4,5},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={(1,2),(2,3),(2,4),(4,5)} 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={(1,3),(1,4),(2,5)},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={(1,5)},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i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≥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={(1,2),(2,3),(2,4),(4,5),(1,3),(1,4),(2,5), (1,5)} 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6388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3721128"/>
            <a:ext cx="2520280" cy="2535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895" y="3709815"/>
            <a:ext cx="2936569" cy="2535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407368" y="1700808"/>
            <a:ext cx="14761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5.3.6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关系的闭包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54053" y="2171310"/>
            <a:ext cx="4248472" cy="154572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证明若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对称则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i="1" kern="12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对称</a:t>
            </a: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证明对称关系的并也对称</a:t>
            </a:r>
          </a:p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直接证明结论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87488" y="1544792"/>
            <a:ext cx="6094268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证明：若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en-US" altLang="zh-CN" i="1" dirty="0"/>
              <a:t>X</a:t>
            </a:r>
            <a:r>
              <a:rPr lang="zh-CN" altLang="en-US" dirty="0"/>
              <a:t>上的对称关系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  <a:r>
              <a:rPr lang="zh-CN" altLang="en-US" dirty="0"/>
              <a:t>也是。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516724" y="2125849"/>
            <a:ext cx="5519936" cy="23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indent="0" eaLnBrk="1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>
                <a:solidFill>
                  <a:srgbClr val="92D050"/>
                </a:solidFill>
              </a:rPr>
              <a:t>(2)</a:t>
            </a:r>
            <a:r>
              <a:rPr lang="zh-CN" altLang="en-US" dirty="0">
                <a:solidFill>
                  <a:srgbClr val="92D050"/>
                </a:solidFill>
              </a:rPr>
              <a:t>设</a:t>
            </a:r>
            <a:r>
              <a:rPr lang="en-US" altLang="zh-CN" i="1" dirty="0">
                <a:solidFill>
                  <a:srgbClr val="92D050"/>
                </a:solidFill>
              </a:rPr>
              <a:t>R</a:t>
            </a:r>
            <a:r>
              <a:rPr lang="zh-CN" altLang="en-US" dirty="0">
                <a:solidFill>
                  <a:srgbClr val="92D050"/>
                </a:solidFill>
              </a:rPr>
              <a:t>和</a:t>
            </a:r>
            <a:r>
              <a:rPr lang="en-US" altLang="zh-CN" i="1" dirty="0">
                <a:solidFill>
                  <a:srgbClr val="92D050"/>
                </a:solidFill>
              </a:rPr>
              <a:t>S</a:t>
            </a:r>
            <a:r>
              <a:rPr lang="zh-CN" altLang="en-US" dirty="0">
                <a:solidFill>
                  <a:srgbClr val="92D050"/>
                </a:solidFill>
              </a:rPr>
              <a:t>是</a:t>
            </a:r>
            <a:r>
              <a:rPr lang="en-US" altLang="zh-CN" dirty="0">
                <a:solidFill>
                  <a:srgbClr val="92D050"/>
                </a:solidFill>
              </a:rPr>
              <a:t>X</a:t>
            </a:r>
            <a:r>
              <a:rPr lang="zh-CN" altLang="en-US" dirty="0">
                <a:solidFill>
                  <a:srgbClr val="92D050"/>
                </a:solidFill>
              </a:rPr>
              <a:t>上的对称关系</a:t>
            </a:r>
          </a:p>
          <a:p>
            <a:r>
              <a:rPr lang="zh-CN" altLang="en-US" dirty="0">
                <a:solidFill>
                  <a:srgbClr val="92D050"/>
                </a:solidFill>
                <a:sym typeface="Symbol" panose="05050102010706020507" pitchFamily="18" charset="2"/>
              </a:rPr>
              <a:t></a:t>
            </a:r>
            <a:r>
              <a:rPr lang="fr-FR" altLang="zh-CN" dirty="0">
                <a:solidFill>
                  <a:srgbClr val="92D050"/>
                </a:solidFill>
              </a:rPr>
              <a:t>(</a:t>
            </a:r>
            <a:r>
              <a:rPr lang="fr-FR" altLang="zh-CN" i="1" dirty="0">
                <a:solidFill>
                  <a:srgbClr val="92D050"/>
                </a:solidFill>
              </a:rPr>
              <a:t>x</a:t>
            </a:r>
            <a:r>
              <a:rPr lang="fr-FR" altLang="zh-CN" dirty="0">
                <a:solidFill>
                  <a:srgbClr val="92D050"/>
                </a:solidFill>
              </a:rPr>
              <a:t>, </a:t>
            </a:r>
            <a:r>
              <a:rPr lang="fr-FR" altLang="zh-CN" i="1" dirty="0">
                <a:solidFill>
                  <a:srgbClr val="92D050"/>
                </a:solidFill>
              </a:rPr>
              <a:t>y</a:t>
            </a:r>
            <a:r>
              <a:rPr lang="fr-FR" altLang="zh-CN" dirty="0">
                <a:solidFill>
                  <a:srgbClr val="92D050"/>
                </a:solidFill>
              </a:rPr>
              <a:t>)</a:t>
            </a:r>
            <a:r>
              <a:rPr lang="zh-CN" altLang="fr-FR" dirty="0">
                <a:solidFill>
                  <a:srgbClr val="92D050"/>
                </a:solidFill>
              </a:rPr>
              <a:t>，</a:t>
            </a:r>
            <a:r>
              <a:rPr lang="en-US" altLang="zh-CN" dirty="0">
                <a:solidFill>
                  <a:srgbClr val="92D050"/>
                </a:solidFill>
              </a:rPr>
              <a:t>(</a:t>
            </a:r>
            <a:r>
              <a:rPr lang="en-US" altLang="zh-CN" i="1" dirty="0" err="1">
                <a:solidFill>
                  <a:srgbClr val="92D050"/>
                </a:solidFill>
              </a:rPr>
              <a:t>x</a:t>
            </a:r>
            <a:r>
              <a:rPr lang="en-US" altLang="zh-CN" dirty="0" err="1">
                <a:solidFill>
                  <a:srgbClr val="92D050"/>
                </a:solidFill>
              </a:rPr>
              <a:t>,</a:t>
            </a:r>
            <a:r>
              <a:rPr lang="en-US" altLang="zh-CN" i="1" dirty="0" err="1">
                <a:solidFill>
                  <a:srgbClr val="92D050"/>
                </a:solidFill>
              </a:rPr>
              <a:t>y</a:t>
            </a:r>
            <a:r>
              <a:rPr lang="en-US" altLang="zh-CN" dirty="0">
                <a:solidFill>
                  <a:srgbClr val="92D050"/>
                </a:solidFill>
              </a:rPr>
              <a:t>)</a:t>
            </a:r>
            <a:r>
              <a:rPr lang="en-US" altLang="zh-CN" dirty="0">
                <a:solidFill>
                  <a:srgbClr val="92D050"/>
                </a:solidFill>
                <a:sym typeface="Symbol" panose="05050102010706020507" pitchFamily="18" charset="2"/>
              </a:rPr>
              <a:t></a:t>
            </a:r>
            <a:r>
              <a:rPr lang="fr-FR" altLang="zh-CN" i="1" dirty="0">
                <a:solidFill>
                  <a:srgbClr val="92D050"/>
                </a:solidFill>
              </a:rPr>
              <a:t>R</a:t>
            </a:r>
            <a:r>
              <a:rPr lang="fr-FR" altLang="zh-CN" dirty="0">
                <a:solidFill>
                  <a:srgbClr val="92D050"/>
                </a:solidFill>
              </a:rPr>
              <a:t>∪</a:t>
            </a:r>
            <a:r>
              <a:rPr lang="fr-FR" altLang="zh-CN" i="1" dirty="0">
                <a:solidFill>
                  <a:srgbClr val="92D050"/>
                </a:solidFill>
              </a:rPr>
              <a:t>S</a:t>
            </a:r>
            <a:r>
              <a:rPr lang="fr-FR" altLang="zh-CN" dirty="0">
                <a:solidFill>
                  <a:srgbClr val="92D050"/>
                </a:solidFill>
              </a:rPr>
              <a:t> </a:t>
            </a:r>
            <a:r>
              <a:rPr lang="en-US" altLang="zh-CN" dirty="0">
                <a:solidFill>
                  <a:srgbClr val="92D050"/>
                </a:solidFill>
                <a:sym typeface="Symbol" panose="05050102010706020507" pitchFamily="18" charset="2"/>
              </a:rPr>
              <a:t> </a:t>
            </a:r>
            <a:r>
              <a:rPr lang="fr-FR" altLang="zh-CN" dirty="0">
                <a:solidFill>
                  <a:srgbClr val="92D050"/>
                </a:solidFill>
              </a:rPr>
              <a:t>(x, y)</a:t>
            </a:r>
            <a:r>
              <a:rPr lang="en-US" altLang="zh-CN" dirty="0">
                <a:solidFill>
                  <a:srgbClr val="92D050"/>
                </a:solidFill>
                <a:sym typeface="Symbol" panose="05050102010706020507" pitchFamily="18" charset="2"/>
              </a:rPr>
              <a:t></a:t>
            </a:r>
            <a:r>
              <a:rPr lang="fr-FR" altLang="zh-CN" i="1" dirty="0">
                <a:solidFill>
                  <a:srgbClr val="92D050"/>
                </a:solidFill>
              </a:rPr>
              <a:t>R</a:t>
            </a:r>
            <a:r>
              <a:rPr lang="fr-FR" altLang="zh-CN" dirty="0">
                <a:solidFill>
                  <a:srgbClr val="92D050"/>
                </a:solidFill>
                <a:sym typeface="Symbol" panose="05050102010706020507" pitchFamily="18" charset="2"/>
              </a:rPr>
              <a:t></a:t>
            </a:r>
            <a:r>
              <a:rPr lang="fr-FR" altLang="zh-CN" dirty="0">
                <a:solidFill>
                  <a:srgbClr val="92D050"/>
                </a:solidFill>
              </a:rPr>
              <a:t>(</a:t>
            </a:r>
            <a:r>
              <a:rPr lang="fr-FR" altLang="zh-CN" i="1" dirty="0">
                <a:solidFill>
                  <a:srgbClr val="92D050"/>
                </a:solidFill>
              </a:rPr>
              <a:t>x</a:t>
            </a:r>
            <a:r>
              <a:rPr lang="fr-FR" altLang="zh-CN" dirty="0">
                <a:solidFill>
                  <a:srgbClr val="92D050"/>
                </a:solidFill>
              </a:rPr>
              <a:t>, </a:t>
            </a:r>
            <a:r>
              <a:rPr lang="fr-FR" altLang="zh-CN" i="1" dirty="0">
                <a:solidFill>
                  <a:srgbClr val="92D050"/>
                </a:solidFill>
              </a:rPr>
              <a:t>y</a:t>
            </a:r>
            <a:r>
              <a:rPr lang="fr-FR" altLang="zh-CN" dirty="0">
                <a:solidFill>
                  <a:srgbClr val="92D050"/>
                </a:solidFill>
              </a:rPr>
              <a:t>)</a:t>
            </a:r>
            <a:r>
              <a:rPr lang="en-US" altLang="zh-CN" dirty="0">
                <a:solidFill>
                  <a:srgbClr val="92D050"/>
                </a:solidFill>
                <a:sym typeface="Symbol" panose="05050102010706020507" pitchFamily="18" charset="2"/>
              </a:rPr>
              <a:t></a:t>
            </a:r>
            <a:r>
              <a:rPr lang="fr-FR" altLang="zh-CN" i="1" dirty="0">
                <a:solidFill>
                  <a:srgbClr val="92D050"/>
                </a:solidFill>
              </a:rPr>
              <a:t>S</a:t>
            </a:r>
          </a:p>
          <a:p>
            <a:r>
              <a:rPr lang="en-US" altLang="zh-CN" dirty="0">
                <a:solidFill>
                  <a:srgbClr val="92D050"/>
                </a:solidFill>
              </a:rPr>
              <a:t>(</a:t>
            </a:r>
            <a:r>
              <a:rPr lang="en-US" altLang="zh-CN" i="1" dirty="0">
                <a:solidFill>
                  <a:srgbClr val="92D050"/>
                </a:solidFill>
              </a:rPr>
              <a:t>x</a:t>
            </a:r>
            <a:r>
              <a:rPr lang="en-US" altLang="zh-CN" dirty="0">
                <a:solidFill>
                  <a:srgbClr val="92D050"/>
                </a:solidFill>
              </a:rPr>
              <a:t>, </a:t>
            </a:r>
            <a:r>
              <a:rPr lang="en-US" altLang="zh-CN" i="1" dirty="0">
                <a:solidFill>
                  <a:srgbClr val="92D050"/>
                </a:solidFill>
              </a:rPr>
              <a:t>y</a:t>
            </a:r>
            <a:r>
              <a:rPr lang="en-US" altLang="zh-CN" dirty="0">
                <a:solidFill>
                  <a:srgbClr val="92D050"/>
                </a:solidFill>
              </a:rPr>
              <a:t>)</a:t>
            </a:r>
            <a:r>
              <a:rPr lang="en-US" altLang="zh-CN" dirty="0">
                <a:solidFill>
                  <a:srgbClr val="92D050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92D050"/>
                </a:solidFill>
              </a:rPr>
              <a:t>R</a:t>
            </a:r>
            <a:r>
              <a:rPr lang="fr-FR" altLang="zh-CN" dirty="0">
                <a:solidFill>
                  <a:srgbClr val="92D050"/>
                </a:solidFill>
              </a:rPr>
              <a:t> </a:t>
            </a:r>
            <a:r>
              <a:rPr lang="en-US" altLang="zh-CN" dirty="0">
                <a:solidFill>
                  <a:srgbClr val="92D050"/>
                </a:solidFill>
                <a:sym typeface="Symbol" panose="05050102010706020507" pitchFamily="18" charset="2"/>
              </a:rPr>
              <a:t> </a:t>
            </a:r>
            <a:r>
              <a:rPr lang="en-US" altLang="zh-CN" dirty="0">
                <a:solidFill>
                  <a:srgbClr val="92D050"/>
                </a:solidFill>
              </a:rPr>
              <a:t>(</a:t>
            </a:r>
            <a:r>
              <a:rPr lang="en-US" altLang="zh-CN" i="1" dirty="0">
                <a:solidFill>
                  <a:srgbClr val="92D050"/>
                </a:solidFill>
              </a:rPr>
              <a:t>y</a:t>
            </a:r>
            <a:r>
              <a:rPr lang="en-US" altLang="zh-CN" dirty="0">
                <a:solidFill>
                  <a:srgbClr val="92D050"/>
                </a:solidFill>
              </a:rPr>
              <a:t>, </a:t>
            </a:r>
            <a:r>
              <a:rPr lang="en-US" altLang="zh-CN" i="1" dirty="0">
                <a:solidFill>
                  <a:srgbClr val="92D050"/>
                </a:solidFill>
              </a:rPr>
              <a:t>x</a:t>
            </a:r>
            <a:r>
              <a:rPr lang="en-US" altLang="zh-CN" dirty="0">
                <a:solidFill>
                  <a:srgbClr val="92D050"/>
                </a:solidFill>
              </a:rPr>
              <a:t>)</a:t>
            </a:r>
            <a:r>
              <a:rPr lang="en-US" altLang="zh-CN" dirty="0">
                <a:solidFill>
                  <a:srgbClr val="92D050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92D050"/>
                </a:solidFill>
              </a:rPr>
              <a:t>R</a:t>
            </a:r>
            <a:r>
              <a:rPr lang="fr-FR" altLang="zh-CN" dirty="0">
                <a:solidFill>
                  <a:srgbClr val="92D050"/>
                </a:solidFill>
              </a:rPr>
              <a:t> </a:t>
            </a:r>
            <a:r>
              <a:rPr lang="en-US" altLang="zh-CN" dirty="0">
                <a:solidFill>
                  <a:srgbClr val="92D050"/>
                </a:solidFill>
                <a:sym typeface="Symbol" panose="05050102010706020507" pitchFamily="18" charset="2"/>
              </a:rPr>
              <a:t> </a:t>
            </a:r>
            <a:r>
              <a:rPr lang="en-US" altLang="zh-CN" dirty="0">
                <a:solidFill>
                  <a:srgbClr val="92D050"/>
                </a:solidFill>
              </a:rPr>
              <a:t>(</a:t>
            </a:r>
            <a:r>
              <a:rPr lang="en-US" altLang="zh-CN" i="1" dirty="0">
                <a:solidFill>
                  <a:srgbClr val="92D050"/>
                </a:solidFill>
              </a:rPr>
              <a:t>y</a:t>
            </a:r>
            <a:r>
              <a:rPr lang="en-US" altLang="zh-CN" dirty="0">
                <a:solidFill>
                  <a:srgbClr val="92D050"/>
                </a:solidFill>
              </a:rPr>
              <a:t>, </a:t>
            </a:r>
            <a:r>
              <a:rPr lang="en-US" altLang="zh-CN" i="1" dirty="0">
                <a:solidFill>
                  <a:srgbClr val="92D050"/>
                </a:solidFill>
              </a:rPr>
              <a:t>x</a:t>
            </a:r>
            <a:r>
              <a:rPr lang="en-US" altLang="zh-CN" dirty="0">
                <a:solidFill>
                  <a:srgbClr val="92D050"/>
                </a:solidFill>
              </a:rPr>
              <a:t>)</a:t>
            </a:r>
            <a:r>
              <a:rPr lang="en-US" altLang="zh-CN" dirty="0">
                <a:solidFill>
                  <a:srgbClr val="92D050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92D050"/>
                </a:solidFill>
              </a:rPr>
              <a:t>R</a:t>
            </a:r>
            <a:r>
              <a:rPr lang="en-US" altLang="zh-CN" dirty="0">
                <a:solidFill>
                  <a:srgbClr val="92D050"/>
                </a:solidFill>
              </a:rPr>
              <a:t>∪</a:t>
            </a:r>
            <a:r>
              <a:rPr lang="en-US" altLang="zh-CN" i="1" dirty="0">
                <a:solidFill>
                  <a:srgbClr val="92D050"/>
                </a:solidFill>
              </a:rPr>
              <a:t>S</a:t>
            </a:r>
          </a:p>
          <a:p>
            <a:r>
              <a:rPr lang="en-US" altLang="zh-CN" dirty="0">
                <a:solidFill>
                  <a:srgbClr val="92D050"/>
                </a:solidFill>
              </a:rPr>
              <a:t>(</a:t>
            </a:r>
            <a:r>
              <a:rPr lang="en-US" altLang="zh-CN" i="1" dirty="0">
                <a:solidFill>
                  <a:srgbClr val="92D050"/>
                </a:solidFill>
              </a:rPr>
              <a:t>x</a:t>
            </a:r>
            <a:r>
              <a:rPr lang="en-US" altLang="zh-CN" dirty="0">
                <a:solidFill>
                  <a:srgbClr val="92D050"/>
                </a:solidFill>
              </a:rPr>
              <a:t>, </a:t>
            </a:r>
            <a:r>
              <a:rPr lang="en-US" altLang="zh-CN" i="1" dirty="0">
                <a:solidFill>
                  <a:srgbClr val="92D050"/>
                </a:solidFill>
              </a:rPr>
              <a:t>y</a:t>
            </a:r>
            <a:r>
              <a:rPr lang="en-US" altLang="zh-CN" dirty="0">
                <a:solidFill>
                  <a:srgbClr val="92D050"/>
                </a:solidFill>
              </a:rPr>
              <a:t>)</a:t>
            </a:r>
            <a:r>
              <a:rPr lang="en-US" altLang="zh-CN" dirty="0">
                <a:solidFill>
                  <a:srgbClr val="92D050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92D050"/>
                </a:solidFill>
              </a:rPr>
              <a:t>S</a:t>
            </a:r>
            <a:r>
              <a:rPr lang="en-US" altLang="zh-CN" dirty="0">
                <a:solidFill>
                  <a:srgbClr val="92D050"/>
                </a:solidFill>
              </a:rPr>
              <a:t> </a:t>
            </a:r>
            <a:r>
              <a:rPr lang="en-US" altLang="zh-CN" dirty="0">
                <a:solidFill>
                  <a:srgbClr val="92D050"/>
                </a:solidFill>
                <a:sym typeface="Symbol" panose="05050102010706020507" pitchFamily="18" charset="2"/>
              </a:rPr>
              <a:t> </a:t>
            </a:r>
            <a:r>
              <a:rPr lang="en-US" altLang="zh-CN" dirty="0">
                <a:solidFill>
                  <a:srgbClr val="92D050"/>
                </a:solidFill>
              </a:rPr>
              <a:t>(</a:t>
            </a:r>
            <a:r>
              <a:rPr lang="en-US" altLang="zh-CN" i="1" dirty="0">
                <a:solidFill>
                  <a:srgbClr val="92D050"/>
                </a:solidFill>
              </a:rPr>
              <a:t>y</a:t>
            </a:r>
            <a:r>
              <a:rPr lang="en-US" altLang="zh-CN" dirty="0">
                <a:solidFill>
                  <a:srgbClr val="92D050"/>
                </a:solidFill>
              </a:rPr>
              <a:t>, </a:t>
            </a:r>
            <a:r>
              <a:rPr lang="en-US" altLang="zh-CN" i="1" dirty="0">
                <a:solidFill>
                  <a:srgbClr val="92D050"/>
                </a:solidFill>
              </a:rPr>
              <a:t>x</a:t>
            </a:r>
            <a:r>
              <a:rPr lang="en-US" altLang="zh-CN" dirty="0">
                <a:solidFill>
                  <a:srgbClr val="92D050"/>
                </a:solidFill>
              </a:rPr>
              <a:t>)</a:t>
            </a:r>
            <a:r>
              <a:rPr lang="en-US" altLang="zh-CN" dirty="0">
                <a:solidFill>
                  <a:srgbClr val="92D050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92D050"/>
                </a:solidFill>
                <a:sym typeface="Symbol" panose="05050102010706020507" pitchFamily="18" charset="2"/>
              </a:rPr>
              <a:t>S</a:t>
            </a:r>
            <a:r>
              <a:rPr lang="fr-FR" altLang="zh-CN" dirty="0">
                <a:solidFill>
                  <a:srgbClr val="92D050"/>
                </a:solidFill>
              </a:rPr>
              <a:t> </a:t>
            </a:r>
            <a:r>
              <a:rPr lang="en-US" altLang="zh-CN" dirty="0">
                <a:solidFill>
                  <a:srgbClr val="92D050"/>
                </a:solidFill>
                <a:sym typeface="Symbol" panose="05050102010706020507" pitchFamily="18" charset="2"/>
              </a:rPr>
              <a:t> </a:t>
            </a:r>
            <a:r>
              <a:rPr lang="en-US" altLang="zh-CN" dirty="0">
                <a:solidFill>
                  <a:srgbClr val="92D050"/>
                </a:solidFill>
              </a:rPr>
              <a:t>(</a:t>
            </a:r>
            <a:r>
              <a:rPr lang="en-US" altLang="zh-CN" i="1" dirty="0">
                <a:solidFill>
                  <a:srgbClr val="92D050"/>
                </a:solidFill>
              </a:rPr>
              <a:t>y</a:t>
            </a:r>
            <a:r>
              <a:rPr lang="en-US" altLang="zh-CN" dirty="0">
                <a:solidFill>
                  <a:srgbClr val="92D050"/>
                </a:solidFill>
              </a:rPr>
              <a:t>, </a:t>
            </a:r>
            <a:r>
              <a:rPr lang="en-US" altLang="zh-CN" i="1" dirty="0">
                <a:solidFill>
                  <a:srgbClr val="92D050"/>
                </a:solidFill>
              </a:rPr>
              <a:t>x</a:t>
            </a:r>
            <a:r>
              <a:rPr lang="en-US" altLang="zh-CN" dirty="0">
                <a:solidFill>
                  <a:srgbClr val="92D050"/>
                </a:solidFill>
              </a:rPr>
              <a:t>)</a:t>
            </a:r>
            <a:r>
              <a:rPr lang="en-US" altLang="zh-CN" dirty="0">
                <a:solidFill>
                  <a:srgbClr val="92D050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92D050"/>
                </a:solidFill>
              </a:rPr>
              <a:t>R</a:t>
            </a:r>
            <a:r>
              <a:rPr lang="en-US" altLang="zh-CN" dirty="0">
                <a:solidFill>
                  <a:srgbClr val="92D050"/>
                </a:solidFill>
              </a:rPr>
              <a:t>∪</a:t>
            </a:r>
            <a:r>
              <a:rPr lang="en-US" altLang="zh-CN" i="1" dirty="0">
                <a:solidFill>
                  <a:srgbClr val="92D050"/>
                </a:solidFill>
              </a:rPr>
              <a:t>S</a:t>
            </a:r>
          </a:p>
          <a:p>
            <a:r>
              <a:rPr lang="en-US" altLang="zh-CN" dirty="0">
                <a:solidFill>
                  <a:srgbClr val="92D050"/>
                </a:solidFill>
              </a:rPr>
              <a:t> ∴</a:t>
            </a:r>
            <a:r>
              <a:rPr lang="en-US" altLang="zh-CN" i="1" dirty="0">
                <a:solidFill>
                  <a:srgbClr val="92D050"/>
                </a:solidFill>
              </a:rPr>
              <a:t>R</a:t>
            </a:r>
            <a:r>
              <a:rPr lang="en-US" altLang="zh-CN" dirty="0">
                <a:solidFill>
                  <a:srgbClr val="92D050"/>
                </a:solidFill>
              </a:rPr>
              <a:t>∪</a:t>
            </a:r>
            <a:r>
              <a:rPr lang="en-US" altLang="zh-CN" i="1" dirty="0">
                <a:solidFill>
                  <a:srgbClr val="92D050"/>
                </a:solidFill>
              </a:rPr>
              <a:t>S</a:t>
            </a:r>
            <a:r>
              <a:rPr lang="zh-CN" altLang="en-US" dirty="0">
                <a:solidFill>
                  <a:srgbClr val="92D050"/>
                </a:solidFill>
              </a:rPr>
              <a:t>对称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5340" y="1636437"/>
            <a:ext cx="1416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5.3.7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07368" y="3983894"/>
            <a:ext cx="7632848" cy="2658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dirty="0"/>
              <a:t>(1)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en-US" altLang="zh-CN" i="1" dirty="0"/>
              <a:t>X</a:t>
            </a:r>
            <a:r>
              <a:rPr lang="zh-CN" altLang="en-US" dirty="0"/>
              <a:t>上的对称关系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), 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 (</a:t>
            </a:r>
            <a:r>
              <a:rPr lang="en-US" altLang="zh-CN" i="1" dirty="0"/>
              <a:t>x</a:t>
            </a:r>
            <a:r>
              <a:rPr lang="en-US" altLang="zh-CN" dirty="0"/>
              <a:t>=</a:t>
            </a:r>
            <a:r>
              <a:rPr lang="en-US" altLang="zh-CN" i="1" dirty="0"/>
              <a:t>x</a:t>
            </a:r>
            <a:r>
              <a:rPr lang="en-US" altLang="zh-CN" baseline="-25000" dirty="0"/>
              <a:t>0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,…,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=</a:t>
            </a:r>
            <a:r>
              <a:rPr lang="en-US" altLang="zh-CN" i="1" dirty="0"/>
              <a:t>y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i="1" baseline="30000" dirty="0">
                <a:sym typeface="Symbol" panose="05050102010706020507" pitchFamily="18" charset="2"/>
              </a:rPr>
              <a:t>n</a:t>
            </a:r>
            <a:r>
              <a:rPr lang="en-US" altLang="zh-CN" baseline="30000" dirty="0">
                <a:sym typeface="Symbol" panose="05050102010706020507" pitchFamily="18" charset="2"/>
              </a:rPr>
              <a:t>+1</a:t>
            </a:r>
            <a:r>
              <a:rPr lang="en-US" altLang="zh-CN" dirty="0"/>
              <a:t>, (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</a:t>
            </a:r>
            <a:r>
              <a:rPr lang="en-US" altLang="zh-CN" dirty="0"/>
              <a:t>,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i+1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ym typeface="Symbol" panose="05050102010706020507" pitchFamily="18" charset="2"/>
              </a:rPr>
              <a:t> (</a:t>
            </a:r>
            <a:r>
              <a:rPr lang="en-US" altLang="zh-CN" i="1" dirty="0"/>
              <a:t>y</a:t>
            </a:r>
            <a:r>
              <a:rPr lang="en-US" altLang="zh-CN" dirty="0"/>
              <a:t>=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-1</a:t>
            </a:r>
            <a:r>
              <a:rPr lang="en-US" altLang="zh-CN" dirty="0"/>
              <a:t>,…, </a:t>
            </a:r>
            <a:r>
              <a:rPr lang="en-US" altLang="zh-CN" i="1" dirty="0"/>
              <a:t>x</a:t>
            </a:r>
            <a:r>
              <a:rPr lang="en-US" altLang="zh-CN" baseline="-25000" dirty="0"/>
              <a:t>0</a:t>
            </a:r>
            <a:r>
              <a:rPr lang="en-US" altLang="zh-CN" dirty="0"/>
              <a:t>=</a:t>
            </a:r>
            <a:r>
              <a:rPr lang="en-US" altLang="zh-CN" i="1" dirty="0"/>
              <a:t>x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i="1" baseline="30000" dirty="0">
                <a:sym typeface="Symbol" panose="05050102010706020507" pitchFamily="18" charset="2"/>
              </a:rPr>
              <a:t>n</a:t>
            </a:r>
            <a:r>
              <a:rPr lang="en-US" altLang="zh-CN" baseline="30000" dirty="0">
                <a:sym typeface="Symbol" panose="05050102010706020507" pitchFamily="18" charset="2"/>
              </a:rPr>
              <a:t>+1</a:t>
            </a:r>
            <a:r>
              <a:rPr lang="en-US" altLang="zh-CN" dirty="0"/>
              <a:t>,(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i+1</a:t>
            </a:r>
            <a:r>
              <a:rPr lang="en-US" altLang="zh-CN" dirty="0"/>
              <a:t>,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  (</a:t>
            </a:r>
            <a:r>
              <a:rPr lang="en-US" altLang="en-US" dirty="0"/>
              <a:t>∵</a:t>
            </a:r>
            <a:r>
              <a:rPr lang="en-US" altLang="zh-CN" i="1" dirty="0"/>
              <a:t>R</a:t>
            </a:r>
            <a:r>
              <a:rPr lang="zh-CN" altLang="en-US" dirty="0"/>
              <a:t>对称</a:t>
            </a:r>
            <a:r>
              <a:rPr lang="en-US" altLang="zh-CN" dirty="0"/>
              <a:t>)</a:t>
            </a:r>
            <a:endParaRPr lang="zh-CN" altLang="en-US" dirty="0"/>
          </a:p>
          <a:p>
            <a:pPr>
              <a:lnSpc>
                <a:spcPct val="130000"/>
              </a:lnSpc>
            </a:pPr>
            <a:r>
              <a:rPr lang="zh-CN" altLang="en-US" dirty="0">
                <a:sym typeface="Symbol" panose="05050102010706020507" pitchFamily="18" charset="2"/>
              </a:rPr>
              <a:t> </a:t>
            </a:r>
            <a:r>
              <a:rPr lang="en-US" altLang="zh-CN" dirty="0"/>
              <a:t>(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</a:p>
          <a:p>
            <a:pPr>
              <a:lnSpc>
                <a:spcPct val="130000"/>
              </a:lnSpc>
            </a:pPr>
            <a:r>
              <a:rPr lang="en-US" altLang="zh-CN" dirty="0"/>
              <a:t>              ∴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zh-CN" altLang="en-US" dirty="0"/>
              <a:t>对称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3352" y="3629312"/>
            <a:ext cx="14162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证明：</a:t>
            </a: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关系的闭包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500"/>
                            </p:stCondLst>
                            <p:childTnLst>
                              <p:par>
                                <p:cTn id="8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4930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1070361" y="4978653"/>
                <a:ext cx="10714860" cy="1354571"/>
              </a:xfr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indent="0" eaLnBrk="1" hangingPunct="1">
                  <a:spcBef>
                    <a:spcPts val="0"/>
                  </a:spcBef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  <m:r>
                      <a:rPr kumimoji="1" lang="en-US" altLang="zh-CN" sz="2400" b="0" i="1" kern="120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  <m:r>
                      <a:rPr kumimoji="1" lang="en-US" altLang="zh-CN" sz="2400" b="0" i="1" kern="120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sSubSup>
                      <m:sSubSupPr>
                        <m:ctrlP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  <m:sup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kumimoji="1" lang="en-US" altLang="zh-CN" sz="2400" b="0" i="1" kern="120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∨…∨</m:t>
                    </m:r>
                    <m:sSubSup>
                      <m:sSubSupPr>
                        <m:ctrlP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  <m:sup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en-US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=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en-US" altLang="zh-CN" sz="2400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930" name="Rectang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1070361" y="4978653"/>
                <a:ext cx="10714860" cy="1354571"/>
              </a:xfrm>
              <a:blipFill rotWithShape="1">
                <a:blip r:embed="rId2"/>
                <a:stretch>
                  <a:fillRect l="-4" t="-19" r="2" b="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5" name="Rectangle 5"/>
          <p:cNvSpPr>
            <a:spLocks noChangeArrowheads="1"/>
          </p:cNvSpPr>
          <p:nvPr/>
        </p:nvSpPr>
        <p:spPr bwMode="auto">
          <a:xfrm>
            <a:off x="1524001" y="-169277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36" name="Rectangle 6"/>
          <p:cNvSpPr>
            <a:spLocks noChangeArrowheads="1"/>
          </p:cNvSpPr>
          <p:nvPr/>
        </p:nvSpPr>
        <p:spPr bwMode="auto">
          <a:xfrm>
            <a:off x="1524001" y="-169277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37" name="Rectangle 7"/>
          <p:cNvSpPr>
            <a:spLocks noChangeArrowheads="1"/>
          </p:cNvSpPr>
          <p:nvPr/>
        </p:nvSpPr>
        <p:spPr bwMode="auto">
          <a:xfrm>
            <a:off x="1524001" y="2827923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38" name="Rectangle 8"/>
          <p:cNvSpPr>
            <a:spLocks noChangeArrowheads="1"/>
          </p:cNvSpPr>
          <p:nvPr/>
        </p:nvSpPr>
        <p:spPr bwMode="auto">
          <a:xfrm>
            <a:off x="1524001" y="2902536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39" name="Rectangle 9"/>
          <p:cNvSpPr>
            <a:spLocks noChangeArrowheads="1"/>
          </p:cNvSpPr>
          <p:nvPr/>
        </p:nvSpPr>
        <p:spPr bwMode="auto">
          <a:xfrm>
            <a:off x="1524001" y="2902536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0" name="Rectangle 10"/>
          <p:cNvSpPr>
            <a:spLocks noChangeArrowheads="1"/>
          </p:cNvSpPr>
          <p:nvPr/>
        </p:nvSpPr>
        <p:spPr bwMode="auto">
          <a:xfrm>
            <a:off x="1524001" y="2902536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1" name="Rectangle 11"/>
          <p:cNvSpPr>
            <a:spLocks noChangeArrowheads="1"/>
          </p:cNvSpPr>
          <p:nvPr/>
        </p:nvSpPr>
        <p:spPr bwMode="auto">
          <a:xfrm>
            <a:off x="1524001" y="2902536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2" name="Rectangle 12"/>
          <p:cNvSpPr>
            <a:spLocks noChangeArrowheads="1"/>
          </p:cNvSpPr>
          <p:nvPr/>
        </p:nvSpPr>
        <p:spPr bwMode="auto">
          <a:xfrm>
            <a:off x="1524001" y="2902536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6" name="文本框 225"/>
          <p:cNvSpPr txBox="1"/>
          <p:nvPr/>
        </p:nvSpPr>
        <p:spPr>
          <a:xfrm>
            <a:off x="335360" y="1627417"/>
            <a:ext cx="62241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传递闭包的矩阵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Rectangle 2"/>
              <p:cNvSpPr txBox="1">
                <a:spLocks noChangeArrowheads="1"/>
              </p:cNvSpPr>
              <p:nvPr/>
            </p:nvSpPr>
            <p:spPr bwMode="auto">
              <a:xfrm>
                <a:off x="1065587" y="3664711"/>
                <a:ext cx="7875401" cy="1224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indent="0" eaLnBrk="1" hangingPunct="1">
                  <a:lnSpc>
                    <a:spcPct val="150000"/>
                  </a:lnSpc>
                  <a:spcBef>
                    <a:spcPts val="0"/>
                  </a:spcBef>
                  <a:buFontTx/>
                  <a:buNone/>
                  <a:defRPr sz="2400" b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dirty="0"/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 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229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5587" y="3664711"/>
                <a:ext cx="7875401" cy="1224323"/>
              </a:xfrm>
              <a:prstGeom prst="rect">
                <a:avLst/>
              </a:prstGeom>
              <a:blipFill rotWithShape="1">
                <a:blip r:embed="rId3"/>
                <a:stretch>
                  <a:fillRect l="-1" t="-10" r="2" b="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296461" y="3922244"/>
            <a:ext cx="1547799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5.3.8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Rectangle 2"/>
              <p:cNvSpPr txBox="1">
                <a:spLocks noChangeArrowheads="1"/>
              </p:cNvSpPr>
              <p:nvPr/>
            </p:nvSpPr>
            <p:spPr bwMode="auto">
              <a:xfrm>
                <a:off x="1235833" y="2105832"/>
                <a:ext cx="4148215" cy="13545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eaLnBrk="1" hangingPunct="1">
                  <a:lnSpc>
                    <a:spcPct val="150000"/>
                  </a:lnSpc>
                  <a:spcBef>
                    <a:spcPts val="0"/>
                  </a:spcBef>
                  <a:buFontTx/>
                  <a:buNone/>
                </a:pPr>
                <a:r>
                  <a:rPr kumimoji="1" lang="en-US" altLang="zh-CN" sz="2400" b="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</a:t>
                </a:r>
                <a:r>
                  <a:rPr kumimoji="1" lang="zh-CN" altLang="en-US" sz="2400" b="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kumimoji="1" lang="en-US" altLang="zh-CN" sz="2400" b="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kumimoji="1" lang="zh-CN" altLang="en-US" sz="2400" b="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上的关系</a:t>
                </a:r>
                <a:r>
                  <a:rPr kumimoji="1" lang="en-US" altLang="zh-CN" sz="2400" b="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|</a:t>
                </a:r>
                <a:r>
                  <a:rPr kumimoji="1" lang="en-US" altLang="zh-CN" sz="2400" b="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kumimoji="1" lang="en-US" altLang="zh-CN" sz="2400" b="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|=</a:t>
                </a:r>
                <a:r>
                  <a:rPr kumimoji="1" lang="en-US" altLang="zh-CN" sz="2400" b="0" i="1" kern="12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kumimoji="1" lang="en-US" altLang="zh-CN" sz="2400" b="0" kern="12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∈</a:t>
                </a:r>
                <a:r>
                  <a:rPr kumimoji="1" lang="en-US" altLang="zh-CN" sz="2400" b="0" i="1" kern="12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kumimoji="1" lang="en-US" altLang="zh-CN" sz="1600" b="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+</a:t>
                </a:r>
              </a:p>
              <a:p>
                <a:pPr marL="0" indent="0" eaLnBrk="1" hangingPunct="1">
                  <a:lnSpc>
                    <a:spcPct val="150000"/>
                  </a:lnSpc>
                  <a:spcBef>
                    <a:spcPts val="0"/>
                  </a:spcBef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  <m:r>
                      <a:rPr kumimoji="1" lang="en-US" altLang="zh-CN" sz="2400" b="0" i="1" kern="120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</m:sSub>
                    <m:r>
                      <a:rPr kumimoji="1" lang="en-US" altLang="zh-CN" sz="2400" b="0" i="1" kern="120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sSubSup>
                      <m:sSubSupPr>
                        <m:ctrlP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  <m:sup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kumimoji="1" lang="en-US" altLang="zh-CN" sz="2400" b="0" i="1" kern="120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∨…∨</m:t>
                    </m:r>
                    <m:sSubSup>
                      <m:sSubSupPr>
                        <m:ctrlP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sub>
                      <m:sup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kumimoji="1" lang="en-US" altLang="zh-CN" sz="2400" b="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2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35833" y="2105832"/>
                <a:ext cx="4148215" cy="1354571"/>
              </a:xfrm>
              <a:prstGeom prst="rect">
                <a:avLst/>
              </a:prstGeom>
              <a:blipFill>
                <a:blip r:embed="rId4"/>
                <a:stretch>
                  <a:fillRect l="-25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关系的闭包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4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 build="p"/>
      <p:bldP spid="226" grpId="0"/>
      <p:bldP spid="229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6336704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P104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11(2)(4)(5)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，*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15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，*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21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23(3)</a:t>
            </a: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7368" y="1556791"/>
            <a:ext cx="11449272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pt-BR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下列关系是否是自反、反自反、对称、反对称和传递的？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pt-BR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集合</a:t>
            </a:r>
            <a:r>
              <a:rPr lang="pt-BR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={1,2,…,9,10}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pt-BR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上的关系</a:t>
            </a:r>
            <a:r>
              <a:rPr lang="pt-BR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pt-BR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={(</a:t>
            </a:r>
            <a:r>
              <a:rPr lang="pt-BR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pt-BR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pt-BR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| </a:t>
            </a:r>
            <a:r>
              <a:rPr lang="pt-BR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pt-BR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pt-BR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=10}</a:t>
            </a:r>
            <a:endParaRPr lang="zh-CN" altLang="pt-BR" sz="22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pt-BR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任意集合</a:t>
            </a:r>
            <a:r>
              <a:rPr lang="pt-BR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上的恒等关系</a:t>
            </a:r>
            <a:r>
              <a:rPr lang="pt-BR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pt-BR" altLang="zh-CN" sz="2200" b="0" i="1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和空关系。</a:t>
            </a:r>
            <a:endParaRPr lang="zh-CN" altLang="en-US" sz="22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pt-BR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pt-BR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是所有人组成的集合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上的关系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2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2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aR</a:t>
            </a:r>
            <a:r>
              <a:rPr lang="en-US" altLang="zh-CN" sz="22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当且仅当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比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高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aR</a:t>
            </a:r>
            <a:r>
              <a:rPr lang="en-US" altLang="zh-CN" sz="22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当且仅当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有共同的祖父母。问关系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2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200" b="0" baseline="-250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是否是自反、反自反、对称、反对称、传递的？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下面的论证试图证明：如果集合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上的关系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是对称和传递的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那么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pt-BR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必定也是自反的。请指出其中的错误。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pt-BR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“由对称性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从</a:t>
            </a:r>
            <a:r>
              <a:rPr lang="en-US" altLang="zh-CN" sz="22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xRy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可推出</a:t>
            </a:r>
            <a:r>
              <a:rPr lang="en-US" altLang="zh-CN" sz="22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yRx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再由传递性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可从</a:t>
            </a:r>
            <a:r>
              <a:rPr lang="en-US" altLang="zh-CN" sz="22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xRy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yRx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推出</a:t>
            </a:r>
            <a:r>
              <a:rPr lang="en-US" altLang="zh-CN" sz="22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xRx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。于是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对任意</a:t>
            </a:r>
            <a:r>
              <a:rPr lang="en-US" altLang="zh-CN" sz="22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∈</a:t>
            </a:r>
            <a:r>
              <a:rPr lang="en-US" altLang="zh-CN" sz="22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xRx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成立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所以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是自反的”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2267</Words>
  <Application>Microsoft Office PowerPoint</Application>
  <PresentationFormat>宽屏</PresentationFormat>
  <Paragraphs>197</Paragraphs>
  <Slides>21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楷体_GB2312</vt:lpstr>
      <vt:lpstr>宋体</vt:lpstr>
      <vt:lpstr>微软雅黑</vt:lpstr>
      <vt:lpstr>Arial</vt:lpstr>
      <vt:lpstr>Cambria Math</vt:lpstr>
      <vt:lpstr>Garamond</vt:lpstr>
      <vt:lpstr>Symbol</vt:lpstr>
      <vt:lpstr>Tahoma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824</cp:revision>
  <dcterms:created xsi:type="dcterms:W3CDTF">2008-05-09T05:16:00Z</dcterms:created>
  <dcterms:modified xsi:type="dcterms:W3CDTF">2026-04-20T01:23:44Z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E782FC8F8D6D4DD28200B42A736F8574_13</vt:lpwstr>
  </property>
  <property fmtid="{D5CDD505-2E9C-101B-9397-08002B2CF9AE}" pid="3" name="KSOProductBuildVer">
    <vt:lpwstr>2052-12.1.0.16388</vt:lpwstr>
  </property>
</Properties>
</file>