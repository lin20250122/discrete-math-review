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7" r:id="rId2"/>
    <p:sldId id="338" r:id="rId3"/>
    <p:sldId id="361" r:id="rId4"/>
    <p:sldId id="339" r:id="rId5"/>
    <p:sldId id="376" r:id="rId6"/>
    <p:sldId id="362" r:id="rId7"/>
    <p:sldId id="363" r:id="rId8"/>
    <p:sldId id="364" r:id="rId9"/>
    <p:sldId id="365" r:id="rId10"/>
    <p:sldId id="366" r:id="rId11"/>
    <p:sldId id="387" r:id="rId12"/>
    <p:sldId id="386" r:id="rId13"/>
    <p:sldId id="380" r:id="rId14"/>
    <p:sldId id="377" r:id="rId15"/>
    <p:sldId id="367" r:id="rId16"/>
    <p:sldId id="378" r:id="rId17"/>
    <p:sldId id="379" r:id="rId18"/>
    <p:sldId id="368" r:id="rId19"/>
    <p:sldId id="385" r:id="rId20"/>
    <p:sldId id="381" r:id="rId21"/>
    <p:sldId id="369" r:id="rId22"/>
    <p:sldId id="382" r:id="rId23"/>
    <p:sldId id="383" r:id="rId24"/>
    <p:sldId id="295" r:id="rId25"/>
    <p:sldId id="384" r:id="rId26"/>
    <p:sldId id="296" r:id="rId27"/>
    <p:sldId id="270" r:id="rId28"/>
    <p:sldId id="356" r:id="rId29"/>
  </p:sldIdLst>
  <p:sldSz cx="12192000" cy="6858000"/>
  <p:notesSz cx="6858000" cy="9144000"/>
  <p:custDataLst>
    <p:tags r:id="rId3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FF7C80"/>
    <a:srgbClr val="FFCCFF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77" d="100"/>
          <a:sy n="77" d="100"/>
        </p:scale>
        <p:origin x="91" y="1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0904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0139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5019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416480" y="11309"/>
            <a:ext cx="17297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集合论</a:t>
            </a:r>
            <a:endParaRPr lang="en-US" altLang="zh-CN" sz="20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第一章 集合论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09800" y="4149080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 txBox="1">
            <a:spLocks noChangeArrowheads="1"/>
          </p:cNvSpPr>
          <p:nvPr/>
        </p:nvSpPr>
        <p:spPr bwMode="auto">
          <a:xfrm>
            <a:off x="2967250" y="1705792"/>
            <a:ext cx="6369109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1.2.1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集合的基本运算</a:t>
            </a:r>
          </a:p>
        </p:txBody>
      </p:sp>
      <p:sp>
        <p:nvSpPr>
          <p:cNvPr id="6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1" y="116632"/>
            <a:ext cx="4392487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集合的运算</a:t>
            </a: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2967250" y="2675769"/>
            <a:ext cx="5139683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1.2.2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幂集</a:t>
            </a: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2967250" y="3645746"/>
            <a:ext cx="5139683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1.2.3 </a:t>
            </a:r>
            <a:r>
              <a:rPr lang="en-US" altLang="zh-CN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元组和笛卡尔乘积</a:t>
            </a:r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2967250" y="4615723"/>
            <a:ext cx="5139683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1.2.4 </a:t>
            </a:r>
            <a:r>
              <a:rPr lang="zh-CN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广义并和广义交</a:t>
            </a:r>
            <a:endParaRPr lang="zh-CN" altLang="en-US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  <p:bldP spid="6" grpId="0" animBg="1"/>
      <p:bldP spid="23" grpId="0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28872" y="1575667"/>
            <a:ext cx="1126772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1.2.1 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集合的四种基本运算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</a:t>
            </a:r>
            <a:r>
              <a:rPr lang="en-US" altLang="zh-CN" sz="28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zh-CN" altLang="en-US" sz="28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、交</a:t>
            </a:r>
            <a:r>
              <a:rPr lang="en-US" altLang="zh-CN" sz="28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zh-CN" altLang="en-US" sz="28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、差－、补</a:t>
            </a:r>
            <a:r>
              <a:rPr lang="zh-CN" altLang="pt-BR" sz="28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ˉ</a:t>
            </a:r>
            <a:endParaRPr lang="zh-CN" altLang="en-US" sz="28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1.2.1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集合的基本运算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/>
              <p:cNvSpPr txBox="1">
                <a:spLocks noChangeArrowheads="1"/>
              </p:cNvSpPr>
              <p:nvPr/>
            </p:nvSpPr>
            <p:spPr bwMode="auto">
              <a:xfrm>
                <a:off x="1127448" y="2564904"/>
                <a:ext cx="10369152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600" b="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的并集：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的所有元素组成的集合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记为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endParaRPr lang="zh-CN" altLang="en-US" sz="26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7448" y="2564904"/>
                <a:ext cx="10369152" cy="791525"/>
              </a:xfrm>
              <a:prstGeom prst="rect">
                <a:avLst/>
              </a:prstGeom>
              <a:blipFill rotWithShape="1">
                <a:blip r:embed="rId4"/>
                <a:stretch>
                  <a:fillRect l="-3" t="-18" r="5" b="5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2"/>
              <p:cNvSpPr txBox="1">
                <a:spLocks noChangeArrowheads="1"/>
              </p:cNvSpPr>
              <p:nvPr/>
            </p:nvSpPr>
            <p:spPr bwMode="auto">
              <a:xfrm>
                <a:off x="1127448" y="3441273"/>
                <a:ext cx="10369152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600" b="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的交集：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的公共元素组成的集合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记为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endParaRPr lang="zh-CN" altLang="en-US" sz="26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7448" y="3441273"/>
                <a:ext cx="10369152" cy="791525"/>
              </a:xfrm>
              <a:prstGeom prst="rect">
                <a:avLst/>
              </a:prstGeom>
              <a:blipFill rotWithShape="1">
                <a:blip r:embed="rId5"/>
                <a:stretch>
                  <a:fillRect l="-3" t="-26" r="5" b="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151130" y="4317642"/>
            <a:ext cx="10369152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 b="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lang="en-US" altLang="zh-CN" sz="2600" b="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的差集：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属于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但不属于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的元素组成的集合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记为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lang="zh-CN" altLang="en-US" sz="26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1151130" y="5194011"/>
            <a:ext cx="10369152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补集：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不属于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的元素组成的集合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A, 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记为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Ā</a:t>
            </a:r>
            <a:endParaRPr lang="zh-CN" altLang="en-US" sz="26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3" grpId="0"/>
      <p:bldP spid="6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575667"/>
            <a:ext cx="2228724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"/>
              <p:cNvSpPr txBox="1">
                <a:spLocks noChangeArrowheads="1"/>
              </p:cNvSpPr>
              <p:nvPr/>
            </p:nvSpPr>
            <p:spPr bwMode="auto">
              <a:xfrm>
                <a:off x="1559496" y="1678883"/>
                <a:ext cx="4824536" cy="1944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(1)   {1, 2}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{2, 3}={1, 2, 3}</a:t>
                </a:r>
              </a:p>
              <a:p>
                <a: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600" b="0" noProof="1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{1, 2}</a:t>
                </a:r>
                <a:r>
                  <a:rPr lang="en-US" altLang="zh-CN" sz="2600" b="0" noProof="1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600" b="0" noProof="1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{2, 3}={2}</a:t>
                </a:r>
              </a:p>
              <a:p>
                <a: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600" b="0" noProof="1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{1, 2}-{2, 3}={1}</a:t>
                </a:r>
              </a:p>
            </p:txBody>
          </p:sp>
        </mc:Choice>
        <mc:Fallback xmlns="">
          <p:sp>
            <p:nvSpPr>
              <p:cNvPr id="25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9496" y="1678883"/>
                <a:ext cx="4824536" cy="1944216"/>
              </a:xfrm>
              <a:prstGeom prst="rect">
                <a:avLst/>
              </a:prstGeom>
              <a:blipFill rotWithShape="1">
                <a:blip r:embed="rId4"/>
                <a:stretch>
                  <a:fillRect l="-12" t="-30" r="8" b="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1.2.1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集合的基本运算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240016" y="1606875"/>
            <a:ext cx="4824536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  {1, 2}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{5, 6}=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endParaRPr lang="en-US" altLang="zh-CN" sz="2600" b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6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{1, 2}-{5, 6}={1, 2}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6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{1, 2}-{1, 2, 3}=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/>
              <p:cNvSpPr txBox="1">
                <a:spLocks noChangeArrowheads="1"/>
              </p:cNvSpPr>
              <p:nvPr/>
            </p:nvSpPr>
            <p:spPr bwMode="auto">
              <a:xfrm>
                <a:off x="1487488" y="4011931"/>
                <a:ext cx="10225136" cy="910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(3)   </a:t>
                </a:r>
                <a:r>
                  <a:rPr lang="zh-CN" altLang="en-US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若全集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</a:t>
                </a:r>
                <a:r>
                  <a:rPr lang="zh-CN" altLang="en-US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则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6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{1</m:t>
                        </m:r>
                        <m:r>
                          <a:rPr lang="en-US" altLang="zh-CN" sz="2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CN" sz="26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2}</m:t>
                        </m:r>
                      </m:e>
                    </m:acc>
                  </m:oMath>
                </a14:m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Z</a:t>
                </a:r>
                <a:r>
                  <a:rPr lang="en-US" altLang="zh-CN" sz="2800" b="0" baseline="-25000" dirty="0"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-{1, 2}={3, 4, 5, 6, …}</a:t>
                </a:r>
              </a:p>
            </p:txBody>
          </p:sp>
        </mc:Choice>
        <mc:Fallback xmlns="">
          <p:sp>
            <p:nvSpPr>
              <p:cNvPr id="8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7488" y="4011931"/>
                <a:ext cx="10225136" cy="910787"/>
              </a:xfrm>
              <a:prstGeom prst="rect">
                <a:avLst/>
              </a:prstGeom>
              <a:blipFill>
                <a:blip r:embed="rId5"/>
                <a:stretch>
                  <a:fillRect l="-1073" b="-4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2"/>
              <p:cNvSpPr txBox="1">
                <a:spLocks noChangeArrowheads="1"/>
              </p:cNvSpPr>
              <p:nvPr/>
            </p:nvSpPr>
            <p:spPr bwMode="auto">
              <a:xfrm>
                <a:off x="1487488" y="5167534"/>
                <a:ext cx="10225136" cy="7560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(4)   </a:t>
                </a:r>
                <a:r>
                  <a:rPr lang="zh-CN" altLang="en-US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若全集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</a:t>
                </a:r>
                <a:r>
                  <a:rPr lang="zh-CN" altLang="en-US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Z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则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6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{1</m:t>
                        </m:r>
                        <m:r>
                          <a:rPr lang="en-US" altLang="zh-CN" sz="2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CN" sz="26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2}</m:t>
                        </m:r>
                      </m:e>
                    </m:acc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Z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-{1, 2}={…, -3, -2, -1, 0, 3, 4, 5, 6, …}</a:t>
                </a:r>
              </a:p>
            </p:txBody>
          </p:sp>
        </mc:Choice>
        <mc:Fallback xmlns="">
          <p:sp>
            <p:nvSpPr>
              <p:cNvPr id="9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7488" y="5167534"/>
                <a:ext cx="10225136" cy="756084"/>
              </a:xfrm>
              <a:prstGeom prst="rect">
                <a:avLst/>
              </a:prstGeom>
              <a:blipFill rotWithShape="1">
                <a:blip r:embed="rId6"/>
                <a:stretch>
                  <a:fillRect l="-3" t="-71" b="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1" y="1575667"/>
            <a:ext cx="5089549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集合基本运算的文氏图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40186" y="4732002"/>
            <a:ext cx="101271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  <a:r>
              <a:rPr lang="en-US" altLang="zh-CN" sz="24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Symbol" panose="05050102010706020507" pitchFamily="18" charset="2"/>
              </a:rPr>
              <a:t>∩</a:t>
            </a:r>
            <a:r>
              <a:rPr lang="en-US" altLang="zh-CN" sz="24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B </a:t>
            </a:r>
          </a:p>
        </p:txBody>
      </p:sp>
      <p:grpSp>
        <p:nvGrpSpPr>
          <p:cNvPr id="17413" name="组合 17412"/>
          <p:cNvGrpSpPr/>
          <p:nvPr/>
        </p:nvGrpSpPr>
        <p:grpSpPr>
          <a:xfrm>
            <a:off x="1059273" y="2935578"/>
            <a:ext cx="1883893" cy="1330874"/>
            <a:chOff x="1059273" y="2924943"/>
            <a:chExt cx="1883893" cy="1330874"/>
          </a:xfrm>
        </p:grpSpPr>
        <p:grpSp>
          <p:nvGrpSpPr>
            <p:cNvPr id="16" name="组合 15"/>
            <p:cNvGrpSpPr/>
            <p:nvPr/>
          </p:nvGrpSpPr>
          <p:grpSpPr>
            <a:xfrm>
              <a:off x="1071701" y="2924944"/>
              <a:ext cx="1871465" cy="1330873"/>
              <a:chOff x="2245740" y="2516620"/>
              <a:chExt cx="1871465" cy="1330873"/>
            </a:xfrm>
            <a:pattFill prst="dkHorz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</p:grpSpPr>
          <p:sp>
            <p:nvSpPr>
              <p:cNvPr id="3" name="椭圆 2"/>
              <p:cNvSpPr/>
              <p:nvPr/>
            </p:nvSpPr>
            <p:spPr bwMode="auto">
              <a:xfrm>
                <a:off x="2245740" y="2516620"/>
                <a:ext cx="1330873" cy="1330873"/>
              </a:xfrm>
              <a:prstGeom prst="ellipse">
                <a:avLst/>
              </a:prstGeom>
              <a:grpFill/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" name="椭圆 3"/>
              <p:cNvSpPr/>
              <p:nvPr/>
            </p:nvSpPr>
            <p:spPr bwMode="auto">
              <a:xfrm>
                <a:off x="3083447" y="2678808"/>
                <a:ext cx="1033758" cy="1033758"/>
              </a:xfrm>
              <a:prstGeom prst="ellipse">
                <a:avLst/>
              </a:prstGeom>
              <a:grpFill/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1059273" y="2924943"/>
              <a:ext cx="1871465" cy="1330873"/>
              <a:chOff x="3639216" y="3362867"/>
              <a:chExt cx="1871465" cy="1330873"/>
            </a:xfrm>
          </p:grpSpPr>
          <p:sp>
            <p:nvSpPr>
              <p:cNvPr id="5" name="椭圆 4"/>
              <p:cNvSpPr/>
              <p:nvPr/>
            </p:nvSpPr>
            <p:spPr bwMode="auto">
              <a:xfrm>
                <a:off x="3639216" y="3362867"/>
                <a:ext cx="1330873" cy="1330873"/>
              </a:xfrm>
              <a:prstGeom prst="ellipse">
                <a:avLst/>
              </a:prstGeom>
              <a:noFill/>
              <a:ln w="19050" cap="flat" cmpd="sng" algn="ctr">
                <a:solidFill>
                  <a:srgbClr val="7030A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 bwMode="auto">
              <a:xfrm>
                <a:off x="4476923" y="3525055"/>
                <a:ext cx="1033758" cy="1033758"/>
              </a:xfrm>
              <a:prstGeom prst="ellipse">
                <a:avLst/>
              </a:prstGeom>
              <a:noFill/>
              <a:ln w="19050" cap="flat" cmpd="sng" algn="ctr">
                <a:solidFill>
                  <a:srgbClr val="92D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 flipH="1">
              <a:off x="1489937" y="3280884"/>
              <a:ext cx="28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i="1" dirty="0">
                  <a:solidFill>
                    <a:srgbClr val="7030A0"/>
                  </a:solidFill>
                </a:rPr>
                <a:t>A</a:t>
              </a:r>
              <a:endParaRPr lang="zh-CN" altLang="en-US" sz="2800" i="1" dirty="0">
                <a:solidFill>
                  <a:srgbClr val="7030A0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 flipH="1">
              <a:off x="2385852" y="3280884"/>
              <a:ext cx="28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i="1" dirty="0">
                  <a:solidFill>
                    <a:srgbClr val="00B050"/>
                  </a:solidFill>
                </a:rPr>
                <a:t>B</a:t>
              </a:r>
              <a:endParaRPr lang="zh-CN" altLang="en-US" sz="2800" i="1" dirty="0">
                <a:solidFill>
                  <a:srgbClr val="00B050"/>
                </a:solidFill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1494862" y="4732002"/>
            <a:ext cx="1012714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  <a:r>
              <a:rPr lang="en-US" altLang="zh-CN" sz="24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Symbol" panose="05050102010706020507" pitchFamily="18" charset="2"/>
              </a:rPr>
              <a:t>∪</a:t>
            </a:r>
            <a:r>
              <a:rPr lang="en-US" altLang="zh-CN" sz="24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B </a:t>
            </a:r>
          </a:p>
        </p:txBody>
      </p:sp>
      <p:grpSp>
        <p:nvGrpSpPr>
          <p:cNvPr id="17415" name="组合 17414"/>
          <p:cNvGrpSpPr/>
          <p:nvPr/>
        </p:nvGrpSpPr>
        <p:grpSpPr>
          <a:xfrm>
            <a:off x="6749921" y="2935579"/>
            <a:ext cx="1871465" cy="1330873"/>
            <a:chOff x="6637314" y="2860903"/>
            <a:chExt cx="1871465" cy="1330873"/>
          </a:xfrm>
        </p:grpSpPr>
        <p:grpSp>
          <p:nvGrpSpPr>
            <p:cNvPr id="46" name="组合 45"/>
            <p:cNvGrpSpPr/>
            <p:nvPr/>
          </p:nvGrpSpPr>
          <p:grpSpPr>
            <a:xfrm>
              <a:off x="6637314" y="2860903"/>
              <a:ext cx="1871465" cy="1330873"/>
              <a:chOff x="2245740" y="2516620"/>
              <a:chExt cx="1871465" cy="1330873"/>
            </a:xfrm>
            <a:pattFill prst="dkHorz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</p:grpSpPr>
          <p:sp>
            <p:nvSpPr>
              <p:cNvPr id="47" name="椭圆 46"/>
              <p:cNvSpPr/>
              <p:nvPr/>
            </p:nvSpPr>
            <p:spPr bwMode="auto">
              <a:xfrm>
                <a:off x="2245740" y="2516620"/>
                <a:ext cx="1330873" cy="1330873"/>
              </a:xfrm>
              <a:prstGeom prst="ellipse">
                <a:avLst/>
              </a:prstGeom>
              <a:grpFill/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 bwMode="auto">
              <a:xfrm>
                <a:off x="3083447" y="2678808"/>
                <a:ext cx="1033758" cy="1033758"/>
              </a:xfrm>
              <a:prstGeom prst="ellipse">
                <a:avLst/>
              </a:prstGeom>
              <a:grpFill/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6637314" y="2860903"/>
              <a:ext cx="1871465" cy="1330873"/>
              <a:chOff x="3639216" y="3362867"/>
              <a:chExt cx="1871465" cy="1330873"/>
            </a:xfrm>
          </p:grpSpPr>
          <p:sp>
            <p:nvSpPr>
              <p:cNvPr id="50" name="椭圆 49"/>
              <p:cNvSpPr/>
              <p:nvPr/>
            </p:nvSpPr>
            <p:spPr bwMode="auto">
              <a:xfrm>
                <a:off x="3639216" y="3362867"/>
                <a:ext cx="1330873" cy="1330873"/>
              </a:xfrm>
              <a:prstGeom prst="ellipse">
                <a:avLst/>
              </a:prstGeom>
              <a:noFill/>
              <a:ln w="19050" cap="flat" cmpd="sng" algn="ctr">
                <a:solidFill>
                  <a:srgbClr val="7030A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 bwMode="auto">
              <a:xfrm>
                <a:off x="4476923" y="3525055"/>
                <a:ext cx="1033758" cy="10337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92D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2" name="文本框 51"/>
            <p:cNvSpPr txBox="1"/>
            <p:nvPr/>
          </p:nvSpPr>
          <p:spPr>
            <a:xfrm flipH="1">
              <a:off x="7055550" y="3216843"/>
              <a:ext cx="28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i="1" dirty="0">
                  <a:solidFill>
                    <a:srgbClr val="7030A0"/>
                  </a:solidFill>
                </a:rPr>
                <a:t>A</a:t>
              </a:r>
              <a:endParaRPr lang="zh-CN" altLang="en-US" sz="2800" i="1" dirty="0">
                <a:solidFill>
                  <a:srgbClr val="7030A0"/>
                </a:solidFill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 flipH="1">
              <a:off x="7951465" y="3216843"/>
              <a:ext cx="28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i="1" dirty="0">
                  <a:solidFill>
                    <a:srgbClr val="00B050"/>
                  </a:solidFill>
                </a:rPr>
                <a:t>B</a:t>
              </a:r>
              <a:endParaRPr lang="zh-CN" altLang="en-US" sz="2800" i="1" dirty="0">
                <a:solidFill>
                  <a:srgbClr val="00B050"/>
                </a:solidFill>
              </a:endParaRPr>
            </a:p>
          </p:txBody>
        </p:sp>
      </p:grpSp>
      <p:sp>
        <p:nvSpPr>
          <p:cNvPr id="54" name="矩形 53"/>
          <p:cNvSpPr/>
          <p:nvPr/>
        </p:nvSpPr>
        <p:spPr>
          <a:xfrm>
            <a:off x="7218632" y="4732002"/>
            <a:ext cx="93404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  <a:r>
              <a:rPr lang="en-US" altLang="zh-CN" sz="24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sym typeface="Symbol" panose="05050102010706020507" pitchFamily="18" charset="2"/>
              </a:rPr>
              <a:t>-</a:t>
            </a:r>
            <a:r>
              <a:rPr lang="en-US" altLang="zh-CN" sz="24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B </a:t>
            </a:r>
          </a:p>
        </p:txBody>
      </p:sp>
      <p:grpSp>
        <p:nvGrpSpPr>
          <p:cNvPr id="17416" name="组合 17415"/>
          <p:cNvGrpSpPr/>
          <p:nvPr/>
        </p:nvGrpSpPr>
        <p:grpSpPr>
          <a:xfrm>
            <a:off x="9589031" y="2859587"/>
            <a:ext cx="1907569" cy="1482856"/>
            <a:chOff x="9589031" y="2859587"/>
            <a:chExt cx="1907569" cy="1482856"/>
          </a:xfrm>
        </p:grpSpPr>
        <p:sp>
          <p:nvSpPr>
            <p:cNvPr id="45" name="矩形 44"/>
            <p:cNvSpPr/>
            <p:nvPr/>
          </p:nvSpPr>
          <p:spPr bwMode="auto">
            <a:xfrm>
              <a:off x="9589031" y="2859587"/>
              <a:ext cx="1907569" cy="1482856"/>
            </a:xfrm>
            <a:prstGeom prst="rect">
              <a:avLst/>
            </a:prstGeom>
            <a:pattFill prst="dkHorz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9525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椭圆 58"/>
            <p:cNvSpPr/>
            <p:nvPr/>
          </p:nvSpPr>
          <p:spPr bwMode="auto">
            <a:xfrm>
              <a:off x="9877379" y="2935579"/>
              <a:ext cx="1330873" cy="1330873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 flipH="1">
              <a:off x="10400151" y="3339405"/>
              <a:ext cx="28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i="1" dirty="0">
                  <a:solidFill>
                    <a:srgbClr val="7030A0"/>
                  </a:solidFill>
                </a:rPr>
                <a:t>A</a:t>
              </a:r>
              <a:endParaRPr lang="zh-CN" altLang="en-US" sz="2800" i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63" name="矩形 62"/>
          <p:cNvSpPr/>
          <p:nvPr/>
        </p:nvSpPr>
        <p:spPr>
          <a:xfrm>
            <a:off x="10036458" y="4731617"/>
            <a:ext cx="1012714" cy="46243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pt-BR" altLang="zh-CN" sz="240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Ā</a:t>
            </a:r>
            <a:endParaRPr lang="en-US" altLang="zh-CN" sz="2400" i="1" noProof="1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grpSp>
        <p:nvGrpSpPr>
          <p:cNvPr id="17414" name="组合 17413"/>
          <p:cNvGrpSpPr/>
          <p:nvPr/>
        </p:nvGrpSpPr>
        <p:grpSpPr>
          <a:xfrm>
            <a:off x="3910811" y="2935579"/>
            <a:ext cx="1871465" cy="1330873"/>
            <a:chOff x="3577505" y="2924944"/>
            <a:chExt cx="1871465" cy="1330873"/>
          </a:xfrm>
        </p:grpSpPr>
        <p:grpSp>
          <p:nvGrpSpPr>
            <p:cNvPr id="38" name="组合 37"/>
            <p:cNvGrpSpPr/>
            <p:nvPr/>
          </p:nvGrpSpPr>
          <p:grpSpPr>
            <a:xfrm>
              <a:off x="3577505" y="2924944"/>
              <a:ext cx="1871465" cy="1330873"/>
              <a:chOff x="3639216" y="3362867"/>
              <a:chExt cx="1871465" cy="1330873"/>
            </a:xfrm>
          </p:grpSpPr>
          <p:sp>
            <p:nvSpPr>
              <p:cNvPr id="39" name="椭圆 38"/>
              <p:cNvSpPr/>
              <p:nvPr/>
            </p:nvSpPr>
            <p:spPr bwMode="auto">
              <a:xfrm>
                <a:off x="3639216" y="3362867"/>
                <a:ext cx="1330873" cy="1330873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7030A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 bwMode="auto">
              <a:xfrm>
                <a:off x="4476923" y="3525055"/>
                <a:ext cx="1033758" cy="103375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92D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 flipH="1">
              <a:off x="4008157" y="3280884"/>
              <a:ext cx="28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i="1" dirty="0">
                  <a:solidFill>
                    <a:srgbClr val="7030A0"/>
                  </a:solidFill>
                </a:rPr>
                <a:t>A</a:t>
              </a:r>
              <a:endParaRPr lang="zh-CN" altLang="en-US" sz="2800" i="1" dirty="0">
                <a:solidFill>
                  <a:srgbClr val="7030A0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 flipH="1">
              <a:off x="4904072" y="3280884"/>
              <a:ext cx="28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i="1" dirty="0">
                  <a:solidFill>
                    <a:srgbClr val="00B050"/>
                  </a:solidFill>
                </a:rPr>
                <a:t>B</a:t>
              </a:r>
              <a:endParaRPr lang="zh-CN" altLang="en-US" sz="2800" i="1" dirty="0">
                <a:solidFill>
                  <a:srgbClr val="00B050"/>
                </a:solidFill>
              </a:endParaRPr>
            </a:p>
          </p:txBody>
        </p:sp>
        <p:pic>
          <p:nvPicPr>
            <p:cNvPr id="17412" name="图片 174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01886" y="3131530"/>
              <a:ext cx="515513" cy="938970"/>
            </a:xfrm>
            <a:prstGeom prst="rect">
              <a:avLst/>
            </a:prstGeom>
          </p:spPr>
        </p:pic>
      </p:grpSp>
      <p:sp>
        <p:nvSpPr>
          <p:cNvPr id="7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1.2.1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集合的基本运算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8" grpId="0"/>
      <p:bldP spid="24" grpId="0"/>
      <p:bldP spid="54" grpId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464159" y="1700808"/>
            <a:ext cx="5659622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集合基本运算的谓词表示法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055440" y="2492333"/>
            <a:ext cx="7488832" cy="2304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pt-BR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A-B</a:t>
            </a:r>
            <a:r>
              <a:rPr lang="pt-BR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pt-BR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pt-BR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pt-BR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pt-BR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pt-BR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pt-BR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pt-BR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Ā</a:t>
            </a:r>
            <a:r>
              <a:rPr lang="pt-BR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pt-BR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U-A</a:t>
            </a:r>
            <a:r>
              <a:rPr lang="pt-BR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pt-BR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x|x</a:t>
            </a:r>
            <a:r>
              <a:rPr lang="pt-BR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pt-BR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2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64159" y="5069390"/>
            <a:ext cx="5659622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集合</a:t>
            </a:r>
            <a:r>
              <a:rPr lang="en-US" altLang="zh-CN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互不相交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199456" y="586091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8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8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8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l-GR" altLang="zh-CN" sz="28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Φ</a:t>
            </a:r>
            <a:endParaRPr lang="zh-CN" altLang="en-US" sz="2800" i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1.2.1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集合的基本运算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585961"/>
            <a:ext cx="432048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1.2.2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幂集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839416" y="2320337"/>
            <a:ext cx="11089232" cy="791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的所有子集所组成的集合称为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的幂集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记为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834467" y="3147901"/>
            <a:ext cx="144016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063552" y="3147901"/>
            <a:ext cx="9145016" cy="57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i="1" noProof="1">
                <a:solidFill>
                  <a:schemeClr val="bg1"/>
                </a:solidFill>
              </a:rPr>
              <a:t>P</a:t>
            </a:r>
            <a:r>
              <a:rPr lang="en-US" altLang="zh-CN" sz="2400" noProof="1">
                <a:solidFill>
                  <a:schemeClr val="bg1"/>
                </a:solidFill>
              </a:rPr>
              <a:t>({1})={</a:t>
            </a:r>
            <a:r>
              <a:rPr lang="en-US" altLang="zh-CN" sz="2400" i="1" noProof="1">
                <a:solidFill>
                  <a:schemeClr val="bg1"/>
                </a:solidFill>
                <a:sym typeface="Symbol" panose="05050102010706020507" pitchFamily="18" charset="2"/>
              </a:rPr>
              <a:t></a:t>
            </a:r>
            <a:r>
              <a:rPr lang="en-US" altLang="zh-CN" sz="2400" noProof="1">
                <a:solidFill>
                  <a:schemeClr val="bg1"/>
                </a:solidFill>
              </a:rPr>
              <a:t>, {1}}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1.2.2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幂集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80692" y="4058515"/>
            <a:ext cx="9145016" cy="57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i="1" noProof="1">
                <a:solidFill>
                  <a:schemeClr val="bg1"/>
                </a:solidFill>
              </a:rPr>
              <a:t>P</a:t>
            </a:r>
            <a:r>
              <a:rPr lang="en-US" altLang="zh-CN" sz="2400" noProof="1">
                <a:solidFill>
                  <a:schemeClr val="bg1"/>
                </a:solidFill>
              </a:rPr>
              <a:t>({1, 2, 3})={</a:t>
            </a:r>
            <a:r>
              <a:rPr lang="en-US" altLang="zh-CN" sz="2400" i="1" noProof="1">
                <a:solidFill>
                  <a:schemeClr val="bg1"/>
                </a:solidFill>
                <a:sym typeface="Symbol" panose="05050102010706020507" pitchFamily="18" charset="2"/>
              </a:rPr>
              <a:t></a:t>
            </a:r>
            <a:r>
              <a:rPr lang="en-US" altLang="zh-CN" sz="2400" noProof="1">
                <a:solidFill>
                  <a:schemeClr val="bg1"/>
                </a:solidFill>
              </a:rPr>
              <a:t>, {1}, {2}, {3}, {1, 2}, {1, 3}, {2, 3}, {1, 2, 3}}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991544" y="3605915"/>
            <a:ext cx="3996444" cy="57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i="1" noProof="1">
                <a:solidFill>
                  <a:schemeClr val="bg1"/>
                </a:solidFill>
              </a:rPr>
              <a:t>P</a:t>
            </a:r>
            <a:r>
              <a:rPr lang="en-US" altLang="zh-CN" sz="2400" noProof="1">
                <a:solidFill>
                  <a:schemeClr val="bg1"/>
                </a:solidFill>
              </a:rPr>
              <a:t>({1, 2})={</a:t>
            </a:r>
            <a:r>
              <a:rPr lang="en-US" altLang="zh-CN" sz="2400" i="1" noProof="1">
                <a:solidFill>
                  <a:schemeClr val="bg1"/>
                </a:solidFill>
                <a:sym typeface="Symbol" panose="05050102010706020507" pitchFamily="18" charset="2"/>
              </a:rPr>
              <a:t></a:t>
            </a:r>
            <a:r>
              <a:rPr lang="en-US" altLang="zh-CN" sz="2400" noProof="1">
                <a:solidFill>
                  <a:schemeClr val="bg1"/>
                </a:solidFill>
              </a:rPr>
              <a:t>, {1}, {2}, {1, 2}}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140826" y="2991186"/>
            <a:ext cx="3560946" cy="113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i="1" noProof="1">
                <a:solidFill>
                  <a:srgbClr val="FFFF00"/>
                </a:solidFill>
              </a:rPr>
              <a:t>P</a:t>
            </a:r>
            <a:r>
              <a:rPr lang="en-US" altLang="zh-CN" sz="2400" noProof="1">
                <a:solidFill>
                  <a:srgbClr val="FFFF00"/>
                </a:solidFill>
              </a:rPr>
              <a:t>(</a:t>
            </a:r>
            <a:r>
              <a:rPr lang="en-US" altLang="zh-CN" sz="2400" i="1" noProof="1">
                <a:solidFill>
                  <a:srgbClr val="FFFF00"/>
                </a:solidFill>
                <a:sym typeface="Symbol" panose="05050102010706020507" pitchFamily="18" charset="2"/>
              </a:rPr>
              <a:t></a:t>
            </a:r>
            <a:r>
              <a:rPr lang="en-US" altLang="zh-CN" sz="2400" noProof="1">
                <a:solidFill>
                  <a:srgbClr val="FFFF00"/>
                </a:solidFill>
              </a:rPr>
              <a:t>)={</a:t>
            </a:r>
            <a:r>
              <a:rPr lang="en-US" altLang="zh-CN" sz="2400" i="1" noProof="1">
                <a:solidFill>
                  <a:srgbClr val="FFFF00"/>
                </a:solidFill>
                <a:sym typeface="Symbol" panose="05050102010706020507" pitchFamily="18" charset="2"/>
              </a:rPr>
              <a:t></a:t>
            </a:r>
            <a:r>
              <a:rPr lang="en-US" altLang="zh-CN" sz="2400" noProof="1">
                <a:solidFill>
                  <a:srgbClr val="FFFF00"/>
                </a:solidFill>
              </a:rPr>
              <a:t>}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i="1" noProof="1">
                <a:solidFill>
                  <a:srgbClr val="FFFF00"/>
                </a:solidFill>
              </a:rPr>
              <a:t>P</a:t>
            </a:r>
            <a:r>
              <a:rPr lang="en-US" altLang="zh-CN" sz="2400" noProof="1">
                <a:solidFill>
                  <a:srgbClr val="FFFF00"/>
                </a:solidFill>
              </a:rPr>
              <a:t>(</a:t>
            </a:r>
            <a:r>
              <a:rPr lang="en-US" altLang="zh-CN" sz="2400" i="1" noProof="1">
                <a:solidFill>
                  <a:srgbClr val="FFFF00"/>
                </a:solidFill>
              </a:rPr>
              <a:t>P</a:t>
            </a:r>
            <a:r>
              <a:rPr lang="en-US" altLang="zh-CN" sz="2400" noProof="1">
                <a:solidFill>
                  <a:srgbClr val="FFFF00"/>
                </a:solidFill>
              </a:rPr>
              <a:t>(</a:t>
            </a:r>
            <a:r>
              <a:rPr lang="en-US" altLang="zh-CN" sz="2400" i="1" noProof="1">
                <a:solidFill>
                  <a:srgbClr val="FFFF00"/>
                </a:solidFill>
                <a:sym typeface="Symbol" panose="05050102010706020507" pitchFamily="18" charset="2"/>
              </a:rPr>
              <a:t></a:t>
            </a:r>
            <a:r>
              <a:rPr lang="en-US" altLang="zh-CN" sz="2400" noProof="1">
                <a:solidFill>
                  <a:srgbClr val="FFFF00"/>
                </a:solidFill>
              </a:rPr>
              <a:t>))=</a:t>
            </a:r>
            <a:r>
              <a:rPr lang="en-US" altLang="zh-CN" sz="2400" i="1" noProof="1">
                <a:solidFill>
                  <a:srgbClr val="FFFF00"/>
                </a:solidFill>
              </a:rPr>
              <a:t>P</a:t>
            </a:r>
            <a:r>
              <a:rPr lang="en-US" altLang="zh-CN" sz="2400" noProof="1">
                <a:solidFill>
                  <a:srgbClr val="FFFF00"/>
                </a:solidFill>
              </a:rPr>
              <a:t>({</a:t>
            </a:r>
            <a:r>
              <a:rPr lang="en-US" altLang="zh-CN" sz="2400" i="1" noProof="1">
                <a:solidFill>
                  <a:srgbClr val="FFFF00"/>
                </a:solidFill>
                <a:sym typeface="Symbol" panose="05050102010706020507" pitchFamily="18" charset="2"/>
              </a:rPr>
              <a:t></a:t>
            </a:r>
            <a:r>
              <a:rPr lang="en-US" altLang="zh-CN" sz="2400" noProof="1">
                <a:solidFill>
                  <a:srgbClr val="FFFF00"/>
                </a:solidFill>
              </a:rPr>
              <a:t>})={</a:t>
            </a:r>
            <a:r>
              <a:rPr lang="en-US" altLang="zh-CN" sz="2400" i="1" noProof="1">
                <a:solidFill>
                  <a:srgbClr val="FFFF00"/>
                </a:solidFill>
                <a:sym typeface="Symbol" panose="05050102010706020507" pitchFamily="18" charset="2"/>
              </a:rPr>
              <a:t></a:t>
            </a:r>
            <a:r>
              <a:rPr lang="en-US" altLang="zh-CN" sz="2400" noProof="1">
                <a:solidFill>
                  <a:srgbClr val="FFFF00"/>
                </a:solidFill>
              </a:rPr>
              <a:t>, {</a:t>
            </a:r>
            <a:r>
              <a:rPr lang="en-US" altLang="zh-CN" sz="2400" i="1" noProof="1">
                <a:solidFill>
                  <a:srgbClr val="FFFF00"/>
                </a:solidFill>
                <a:sym typeface="Symbol" panose="05050102010706020507" pitchFamily="18" charset="2"/>
              </a:rPr>
              <a:t></a:t>
            </a:r>
            <a:r>
              <a:rPr lang="en-US" altLang="zh-CN" sz="2400" noProof="1">
                <a:solidFill>
                  <a:srgbClr val="FFFF00"/>
                </a:solidFill>
              </a:rPr>
              <a:t>}}</a:t>
            </a:r>
            <a:endParaRPr lang="zh-CN" altLang="en-US" sz="2400" b="0" dirty="0">
              <a:solidFill>
                <a:srgbClr val="FFFF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865721" y="4637328"/>
            <a:ext cx="6090105" cy="1686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noProof="1">
                <a:solidFill>
                  <a:srgbClr val="92D050"/>
                </a:solidFill>
              </a:rPr>
              <a:t>{2, 4}</a:t>
            </a:r>
            <a:r>
              <a:rPr lang="en-US" altLang="zh-CN" sz="2400" noProof="1">
                <a:solidFill>
                  <a:srgbClr val="92D05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i="1" noProof="1">
                <a:solidFill>
                  <a:srgbClr val="92D050"/>
                </a:solidFill>
              </a:rPr>
              <a:t>P</a:t>
            </a:r>
            <a:r>
              <a:rPr lang="en-US" altLang="zh-CN" sz="2400" noProof="1">
                <a:solidFill>
                  <a:srgbClr val="92D050"/>
                </a:solidFill>
              </a:rPr>
              <a:t>(</a:t>
            </a:r>
            <a:r>
              <a:rPr lang="en-US" altLang="zh-CN" sz="2400" i="1" noProof="1">
                <a:solidFill>
                  <a:srgbClr val="92D050"/>
                </a:solidFill>
              </a:rPr>
              <a:t>N</a:t>
            </a:r>
            <a:r>
              <a:rPr lang="en-US" altLang="zh-CN" sz="2400" noProof="1">
                <a:solidFill>
                  <a:srgbClr val="92D050"/>
                </a:solidFill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noProof="1">
                <a:solidFill>
                  <a:srgbClr val="92D050"/>
                </a:solidFill>
              </a:rPr>
              <a:t>{1, 3, 5, 7, </a:t>
            </a:r>
            <a:r>
              <a:rPr lang="en-US" altLang="zh-CN" sz="2400" noProof="1">
                <a:solidFill>
                  <a:srgbClr val="92D050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400" noProof="1">
                <a:solidFill>
                  <a:srgbClr val="92D050"/>
                </a:solidFill>
              </a:rPr>
              <a:t>, 2</a:t>
            </a:r>
            <a:r>
              <a:rPr lang="en-US" altLang="zh-CN" sz="2400" i="1" noProof="1">
                <a:solidFill>
                  <a:srgbClr val="92D050"/>
                </a:solidFill>
              </a:rPr>
              <a:t>n</a:t>
            </a:r>
            <a:r>
              <a:rPr lang="en-US" altLang="zh-CN" sz="2400" noProof="1">
                <a:solidFill>
                  <a:srgbClr val="92D050"/>
                </a:solidFill>
              </a:rPr>
              <a:t>-1, </a:t>
            </a:r>
            <a:r>
              <a:rPr lang="en-US" altLang="zh-CN" sz="2400" noProof="1">
                <a:solidFill>
                  <a:srgbClr val="92D050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400" noProof="1">
                <a:solidFill>
                  <a:srgbClr val="92D050"/>
                </a:solidFill>
              </a:rPr>
              <a:t>}</a:t>
            </a:r>
            <a:r>
              <a:rPr lang="en-US" altLang="zh-CN" sz="2400" noProof="1">
                <a:solidFill>
                  <a:srgbClr val="92D05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i="1" noProof="1">
                <a:solidFill>
                  <a:srgbClr val="92D050"/>
                </a:solidFill>
              </a:rPr>
              <a:t>P</a:t>
            </a:r>
            <a:r>
              <a:rPr lang="en-US" altLang="zh-CN" sz="2400" noProof="1">
                <a:solidFill>
                  <a:srgbClr val="92D050"/>
                </a:solidFill>
              </a:rPr>
              <a:t>(</a:t>
            </a:r>
            <a:r>
              <a:rPr lang="en-US" altLang="zh-CN" sz="2400" i="1" noProof="1">
                <a:solidFill>
                  <a:srgbClr val="92D050"/>
                </a:solidFill>
              </a:rPr>
              <a:t>N</a:t>
            </a:r>
            <a:r>
              <a:rPr lang="en-US" altLang="zh-CN" sz="2400" noProof="1">
                <a:solidFill>
                  <a:srgbClr val="92D050"/>
                </a:solidFill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noProof="1">
                <a:solidFill>
                  <a:srgbClr val="92D050"/>
                </a:solidFill>
              </a:rPr>
              <a:t>{{1}, {2, 4}, {1, 3, 5, 7, </a:t>
            </a:r>
            <a:r>
              <a:rPr lang="en-US" altLang="zh-CN" sz="2400" noProof="1">
                <a:solidFill>
                  <a:srgbClr val="92D050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400" noProof="1">
                <a:solidFill>
                  <a:srgbClr val="92D050"/>
                </a:solidFill>
              </a:rPr>
              <a:t>}}</a:t>
            </a:r>
            <a:r>
              <a:rPr lang="en-US" altLang="zh-CN" sz="2400" noProof="1">
                <a:solidFill>
                  <a:srgbClr val="92D05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400" i="1" noProof="1">
                <a:solidFill>
                  <a:srgbClr val="92D050"/>
                </a:solidFill>
              </a:rPr>
              <a:t>P</a:t>
            </a:r>
            <a:r>
              <a:rPr lang="en-US" altLang="zh-CN" sz="2400" noProof="1">
                <a:solidFill>
                  <a:srgbClr val="92D050"/>
                </a:solidFill>
              </a:rPr>
              <a:t>(</a:t>
            </a:r>
            <a:r>
              <a:rPr lang="en-US" altLang="zh-CN" sz="2400" i="1" noProof="1">
                <a:solidFill>
                  <a:srgbClr val="92D050"/>
                </a:solidFill>
              </a:rPr>
              <a:t>N</a:t>
            </a:r>
            <a:r>
              <a:rPr lang="en-US" altLang="zh-CN" sz="2400" noProof="1">
                <a:solidFill>
                  <a:srgbClr val="92D050"/>
                </a:solidFill>
              </a:rPr>
              <a:t>)</a:t>
            </a:r>
            <a:endParaRPr lang="zh-CN" altLang="en-US" sz="2400" b="0" dirty="0">
              <a:solidFill>
                <a:srgbClr val="92D05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0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0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0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4000"/>
                            </p:stCondLst>
                            <p:childTnLst>
                              <p:par>
                                <p:cTn id="66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5" grpId="0"/>
      <p:bldP spid="2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585961"/>
            <a:ext cx="432048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幂集的基本性质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15480" y="2402390"/>
            <a:ext cx="4968552" cy="1819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幂集是集合族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en-US" altLang="zh-CN" sz="2600" i="1" noProof="1">
                <a:solidFill>
                  <a:schemeClr val="bg1"/>
                </a:solidFill>
                <a:sym typeface="Symbol" panose="05050102010706020507" pitchFamily="18" charset="2"/>
              </a:rPr>
              <a:t>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i="1" noProof="1">
                <a:solidFill>
                  <a:schemeClr val="bg1"/>
                </a:solidFill>
              </a:rPr>
              <a:t>P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i="1" noProof="1">
                <a:solidFill>
                  <a:schemeClr val="bg1"/>
                </a:solidFill>
              </a:rPr>
              <a:t>A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600" i="1" noProof="1">
                <a:solidFill>
                  <a:schemeClr val="bg1"/>
                </a:solidFill>
              </a:rPr>
              <a:t>A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i="1" noProof="1">
                <a:solidFill>
                  <a:schemeClr val="bg1"/>
                </a:solidFill>
              </a:rPr>
              <a:t>P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i="1" noProof="1">
                <a:solidFill>
                  <a:schemeClr val="bg1"/>
                </a:solidFill>
              </a:rPr>
              <a:t>A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en-US" altLang="zh-CN" sz="2600" i="1" noProof="1">
                <a:solidFill>
                  <a:schemeClr val="bg1"/>
                </a:solidFill>
              </a:rPr>
              <a:t>X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i="1" noProof="1">
                <a:solidFill>
                  <a:schemeClr val="bg1"/>
                </a:solidFill>
              </a:rPr>
              <a:t>P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i="1" noProof="1">
                <a:solidFill>
                  <a:schemeClr val="bg1"/>
                </a:solidFill>
              </a:rPr>
              <a:t>A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600" i="1" noProof="1">
                <a:solidFill>
                  <a:schemeClr val="bg1"/>
                </a:solidFill>
              </a:rPr>
              <a:t>X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600" i="1" noProof="1">
                <a:solidFill>
                  <a:schemeClr val="bg1"/>
                </a:solidFill>
              </a:rPr>
              <a:t>A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1.2.2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幂集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407368" y="1772816"/>
            <a:ext cx="1584176" cy="432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1.2.4</a:t>
            </a:r>
            <a:endParaRPr lang="zh-CN" altLang="en-US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30161" y="3062351"/>
            <a:ext cx="9865096" cy="307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令   </a:t>
            </a:r>
            <a:r>
              <a:rPr lang="en-US" altLang="zh-CN" sz="2200" i="1" noProof="1">
                <a:solidFill>
                  <a:schemeClr val="bg1"/>
                </a:solidFill>
              </a:rPr>
              <a:t>T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200" i="1" noProof="1">
                <a:solidFill>
                  <a:schemeClr val="bg1"/>
                </a:solidFill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200" i="1" noProof="1">
                <a:solidFill>
                  <a:schemeClr val="bg1"/>
                </a:solidFill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}|</a:t>
            </a:r>
            <a:r>
              <a:rPr lang="en-US" altLang="zh-CN" sz="2200" i="1" noProof="1">
                <a:solidFill>
                  <a:schemeClr val="bg1"/>
                </a:solidFill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i="1" noProof="1">
                <a:solidFill>
                  <a:schemeClr val="bg1"/>
                </a:solidFill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solidFill>
                  <a:schemeClr val="bg1"/>
                </a:solidFill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 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显然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solidFill>
                  <a:schemeClr val="bg1"/>
                </a:solidFill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solidFill>
                  <a:schemeClr val="bg1"/>
                </a:solidFill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lang="en-US" altLang="zh-CN" sz="2200" i="1" noProof="1">
                <a:solidFill>
                  <a:schemeClr val="bg1"/>
                </a:solidFill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solidFill>
                  <a:schemeClr val="bg1"/>
                </a:solidFill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, </a:t>
            </a:r>
            <a:r>
              <a:rPr lang="en-US" altLang="zh-CN" sz="2200" i="1" noProof="1">
                <a:solidFill>
                  <a:schemeClr val="bg1"/>
                </a:solidFill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solidFill>
                  <a:schemeClr val="bg1"/>
                </a:solidFill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lang="en-US" altLang="zh-CN" sz="2200" i="1" noProof="1">
                <a:solidFill>
                  <a:schemeClr val="bg1"/>
                </a:solidFill>
              </a:rPr>
              <a:t>T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。所以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solidFill>
                  <a:schemeClr val="bg1"/>
                </a:solidFill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solidFill>
                  <a:schemeClr val="bg1"/>
                </a:solidFill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lang="en-US" altLang="zh-CN" sz="2200" i="1" noProof="1">
                <a:solidFill>
                  <a:schemeClr val="bg1"/>
                </a:solidFill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solidFill>
                  <a:schemeClr val="bg1"/>
                </a:solidFill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200" i="1" noProof="1">
                <a:solidFill>
                  <a:schemeClr val="bg1"/>
                </a:solidFill>
              </a:rPr>
              <a:t>T</a:t>
            </a:r>
            <a:endParaRPr lang="zh-CN" altLang="en-US" sz="22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 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对于任意</a:t>
            </a:r>
            <a:r>
              <a:rPr lang="en-US" altLang="zh-CN" sz="2200" i="1" noProof="1">
                <a:solidFill>
                  <a:schemeClr val="bg1"/>
                </a:solidFill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i="1" noProof="1">
                <a:solidFill>
                  <a:schemeClr val="bg1"/>
                </a:solidFill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solidFill>
                  <a:schemeClr val="bg1"/>
                </a:solidFill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200" i="1" noProof="1">
                <a:solidFill>
                  <a:schemeClr val="bg1"/>
                </a:solidFill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200" i="1" noProof="1">
                <a:solidFill>
                  <a:schemeClr val="bg1"/>
                </a:solidFill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200" i="1" noProof="1">
                <a:solidFill>
                  <a:schemeClr val="bg1"/>
                </a:solidFill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200" i="1" noProof="1">
                <a:solidFill>
                  <a:schemeClr val="bg1"/>
                </a:solidFill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solidFill>
                  <a:schemeClr val="bg1"/>
                </a:solidFill>
              </a:rPr>
              <a:t>X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200" i="1" noProof="1">
                <a:solidFill>
                  <a:schemeClr val="bg1"/>
                </a:solidFill>
              </a:rPr>
              <a:t>B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的子集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从而</a:t>
            </a:r>
            <a:r>
              <a:rPr lang="en-US" altLang="zh-CN" sz="2200" i="1" noProof="1">
                <a:solidFill>
                  <a:schemeClr val="bg1"/>
                </a:solidFill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i="1" noProof="1">
                <a:solidFill>
                  <a:schemeClr val="bg1"/>
                </a:solidFill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solidFill>
                  <a:schemeClr val="bg1"/>
                </a:solidFill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若</a:t>
            </a:r>
            <a:r>
              <a:rPr lang="en-US" altLang="zh-CN" sz="2200" i="1" noProof="1">
                <a:solidFill>
                  <a:schemeClr val="bg1"/>
                </a:solidFill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i="1" noProof="1">
                <a:solidFill>
                  <a:schemeClr val="bg1"/>
                </a:solidFill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200" i="1" noProof="1">
                <a:solidFill>
                  <a:schemeClr val="bg1"/>
                </a:solidFill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200" i="1" noProof="1">
                <a:solidFill>
                  <a:schemeClr val="bg1"/>
                </a:solidFill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-{</a:t>
            </a:r>
            <a:r>
              <a:rPr lang="en-US" altLang="zh-CN" sz="2200" i="1" noProof="1">
                <a:solidFill>
                  <a:schemeClr val="bg1"/>
                </a:solidFill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})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200" i="1" noProof="1">
                <a:solidFill>
                  <a:schemeClr val="bg1"/>
                </a:solidFill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},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200" i="1" noProof="1">
                <a:solidFill>
                  <a:schemeClr val="bg1"/>
                </a:solidFill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-{</a:t>
            </a:r>
            <a:r>
              <a:rPr lang="en-US" altLang="zh-CN" sz="2200" i="1" noProof="1">
                <a:solidFill>
                  <a:schemeClr val="bg1"/>
                </a:solidFill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i="1" noProof="1">
                <a:solidFill>
                  <a:schemeClr val="bg1"/>
                </a:solidFill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solidFill>
                  <a:schemeClr val="bg1"/>
                </a:solidFill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从而</a:t>
            </a:r>
            <a:r>
              <a:rPr lang="en-US" altLang="zh-CN" sz="2200" i="1" noProof="1">
                <a:solidFill>
                  <a:schemeClr val="bg1"/>
                </a:solidFill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i="1" noProof="1">
                <a:solidFill>
                  <a:schemeClr val="bg1"/>
                </a:solidFill>
              </a:rPr>
              <a:t>T</a:t>
            </a:r>
            <a:endParaRPr lang="en-US" altLang="zh-CN" sz="22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总之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solidFill>
                  <a:schemeClr val="bg1"/>
                </a:solidFill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i="1" noProof="1">
                <a:solidFill>
                  <a:schemeClr val="bg1"/>
                </a:solidFill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solidFill>
                  <a:schemeClr val="bg1"/>
                </a:solidFill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200" i="1" noProof="1">
                <a:solidFill>
                  <a:schemeClr val="bg1"/>
                </a:solidFill>
              </a:rPr>
              <a:t>T</a:t>
            </a:r>
            <a:endParaRPr lang="en-US" altLang="zh-CN" sz="22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因此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solidFill>
                  <a:schemeClr val="bg1"/>
                </a:solidFill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solidFill>
                  <a:schemeClr val="bg1"/>
                </a:solidFill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i="1" noProof="1">
                <a:solidFill>
                  <a:schemeClr val="bg1"/>
                </a:solidFill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solidFill>
                  <a:schemeClr val="bg1"/>
                </a:solidFill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200" i="1" noProof="1">
                <a:solidFill>
                  <a:schemeClr val="bg1"/>
                </a:solidFill>
              </a:rPr>
              <a:t>T</a:t>
            </a:r>
            <a:endParaRPr lang="zh-CN" altLang="en-US" sz="22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83832" y="5968816"/>
            <a:ext cx="717769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ct val="90000"/>
              </a:lnSpc>
            </a:pPr>
            <a:r>
              <a:rPr lang="zh-CN" altLang="en-US" sz="2400" b="0" noProof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上例实际上给出了一种求有限集合幂集的递归算法 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861217" y="1516569"/>
            <a:ext cx="9693702" cy="794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}, 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}|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  <a:endParaRPr lang="zh-CN" altLang="en-US" sz="24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99540" y="2460136"/>
            <a:ext cx="1314025" cy="432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08629" y="2332499"/>
            <a:ext cx="9208640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0" noProof="1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证明等式两端相互包含</a:t>
            </a:r>
            <a:r>
              <a:rPr lang="en-US" altLang="zh-CN" sz="2400" b="0" noProof="1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由集合间包含关系的反对称性得到等式。</a:t>
            </a:r>
            <a:endParaRPr lang="en-US" altLang="zh-CN" sz="2400" b="0" noProof="1">
              <a:solidFill>
                <a:srgbClr val="FF7C8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1.2.2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幂集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8" grpId="0"/>
      <p:bldP spid="3" grpId="0"/>
      <p:bldP spid="12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585961"/>
            <a:ext cx="11632008" cy="1263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补充</a:t>
            </a:r>
            <a:r>
              <a:rPr lang="en-US" altLang="zh-CN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下列包含关系是否总成立？或在什么条件下成立？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  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   (2)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804" y="3068960"/>
            <a:ext cx="4686156" cy="338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6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1)</a:t>
            </a:r>
            <a:r>
              <a:rPr lang="zh-CN" altLang="en-US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总成立。</a:t>
            </a:r>
            <a:endParaRPr lang="zh-CN" altLang="en-US" sz="2400" b="0" noProof="1">
              <a:solidFill>
                <a:srgbClr val="FFCCFF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20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20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lang="en-US" altLang="zh-CN" sz="2000" b="0" i="1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∴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068164" y="2938463"/>
            <a:ext cx="5816004" cy="3514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  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总成立。</a:t>
            </a:r>
            <a:endParaRPr lang="en-US" altLang="zh-CN" sz="2400" b="0" noProof="1">
              <a:solidFill>
                <a:srgbClr val="FFC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P(A∪B)</a:t>
            </a:r>
            <a:endParaRPr lang="en-US" altLang="zh-CN" sz="20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lang="en-US" altLang="zh-CN" sz="20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lang="en-US" altLang="zh-CN" sz="2000" b="0" i="1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 P(A)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或者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 P(B)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 P(A) ∪P(B)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∴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b="0" noProof="1">
              <a:solidFill>
                <a:srgbClr val="FFC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5360" y="3092885"/>
            <a:ext cx="95976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noProof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1.2.2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幂集</a:t>
            </a:r>
          </a:p>
        </p:txBody>
      </p:sp>
      <p:sp>
        <p:nvSpPr>
          <p:cNvPr id="2" name="爆炸形: 14 pt  1">
            <a:extLst>
              <a:ext uri="{FF2B5EF4-FFF2-40B4-BE49-F238E27FC236}">
                <a16:creationId xmlns:a16="http://schemas.microsoft.com/office/drawing/2014/main" id="{7B80B469-8778-4F0D-B971-696AAE0765AB}"/>
              </a:ext>
            </a:extLst>
          </p:cNvPr>
          <p:cNvSpPr/>
          <p:nvPr/>
        </p:nvSpPr>
        <p:spPr bwMode="auto">
          <a:xfrm>
            <a:off x="9192344" y="4028627"/>
            <a:ext cx="2448272" cy="2071053"/>
          </a:xfrm>
          <a:prstGeom prst="irregularSeal2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对不对？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585961"/>
            <a:ext cx="11632008" cy="1263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补充</a:t>
            </a:r>
            <a:r>
              <a:rPr lang="en-US" altLang="zh-CN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下列包含关系是否总成立？或在什么条件下成立？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  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   (2)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804" y="3068960"/>
            <a:ext cx="4686156" cy="338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6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1)</a:t>
            </a:r>
            <a:r>
              <a:rPr lang="zh-CN" altLang="en-US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总成立。</a:t>
            </a:r>
            <a:endParaRPr lang="zh-CN" altLang="en-US" sz="2400" b="0" noProof="1">
              <a:solidFill>
                <a:srgbClr val="FFCCFF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20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20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lang="en-US" altLang="zh-CN" sz="2000" b="0" i="1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∴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068164" y="2938463"/>
            <a:ext cx="5816004" cy="3514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  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总成立。</a:t>
            </a:r>
            <a:endParaRPr lang="en-US" altLang="zh-CN" sz="2400" b="0" noProof="1">
              <a:solidFill>
                <a:srgbClr val="FFC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P(A∪B)</a:t>
            </a:r>
            <a:endParaRPr lang="en-US" altLang="zh-CN" sz="20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000" b="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000" b="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A∪</a:t>
            </a:r>
            <a:r>
              <a:rPr lang="en-US" altLang="zh-CN" sz="2000" b="0" i="1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lang="en-US" altLang="zh-CN" sz="2000" b="0" noProof="1">
              <a:solidFill>
                <a:srgbClr val="FFFF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2000" b="0" i="1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lang="en-US" altLang="zh-CN" sz="2000" b="0" i="1" noProof="1">
              <a:solidFill>
                <a:srgbClr val="FFFF00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 P(A)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或者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 P(B)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 P(A) ∪P(B)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∴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b="0" noProof="1">
              <a:solidFill>
                <a:srgbClr val="FFC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5360" y="3092885"/>
            <a:ext cx="95976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noProof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1.2.2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幂集</a:t>
            </a:r>
          </a:p>
        </p:txBody>
      </p:sp>
      <p:sp>
        <p:nvSpPr>
          <p:cNvPr id="3" name="乘号 2">
            <a:extLst>
              <a:ext uri="{FF2B5EF4-FFF2-40B4-BE49-F238E27FC236}">
                <a16:creationId xmlns:a16="http://schemas.microsoft.com/office/drawing/2014/main" id="{DBC9E98E-7BBD-41D3-8BE8-99672F9D4AC6}"/>
              </a:ext>
            </a:extLst>
          </p:cNvPr>
          <p:cNvSpPr/>
          <p:nvPr/>
        </p:nvSpPr>
        <p:spPr bwMode="auto">
          <a:xfrm>
            <a:off x="8328248" y="4365104"/>
            <a:ext cx="648072" cy="558885"/>
          </a:xfrm>
          <a:prstGeom prst="mathMultiply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FFFF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2404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585961"/>
            <a:ext cx="11632008" cy="1263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补充</a:t>
            </a:r>
            <a:r>
              <a:rPr lang="en-US" altLang="zh-CN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下列包含关系是否总成立？或在什么条件下成立？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  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   (2)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804" y="3133075"/>
            <a:ext cx="4686156" cy="338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6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1)</a:t>
            </a:r>
            <a:r>
              <a:rPr lang="zh-CN" altLang="en-US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总成立。</a:t>
            </a:r>
            <a:endParaRPr lang="zh-CN" altLang="en-US" sz="2400" b="0" noProof="1">
              <a:solidFill>
                <a:srgbClr val="FFCCFF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20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20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lang="en-US" altLang="zh-CN" sz="2000" b="0" i="1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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∴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068164" y="3068960"/>
            <a:ext cx="5816004" cy="2619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不一定成立。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={1},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={2},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={1, 2}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)={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{1}},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)={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{2}}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)={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{1}, {2}}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)={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{1}, {2}, {1, 2}}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35360" y="3166861"/>
            <a:ext cx="95976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noProof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1.2.2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幂集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2896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314626" y="1556791"/>
            <a:ext cx="11632008" cy="1338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6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6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6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补充</a:t>
            </a:r>
            <a:r>
              <a:rPr lang="en-US" altLang="zh-CN" sz="26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600" b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下列包含关系是否总成立？或在什么条件下成立？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  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   (2)</a:t>
            </a:r>
            <a:r>
              <a:rPr lang="zh-CN" altLang="en-US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95896" y="3053261"/>
            <a:ext cx="95976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noProof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335572" y="2978417"/>
            <a:ext cx="10513168" cy="316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  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400" b="0" noProof="1">
              <a:solidFill>
                <a:srgbClr val="FFC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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不妨设  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则  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于是  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B)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类似地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于是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 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从而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)∪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于是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或 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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1.2.2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幂集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1559496" y="1585901"/>
            <a:ext cx="576064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集合和序列有什么区别？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1.2.3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元组和笛卡尔乘积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559496" y="2491489"/>
            <a:ext cx="7272808" cy="1685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集合：若干对象组合成的整体</a:t>
            </a:r>
            <a:r>
              <a:rPr lang="en-US" altLang="zh-CN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无序组合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序列：若干对象组合成的整体</a:t>
            </a:r>
            <a:r>
              <a:rPr lang="en-US" altLang="zh-CN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有序组合</a:t>
            </a:r>
            <a:endParaRPr lang="zh-CN" altLang="en-US" sz="2000" b="0" noProof="1">
              <a:solidFill>
                <a:srgbClr val="FFCCFF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335360" y="1586984"/>
            <a:ext cx="1548172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0" grpId="0"/>
      <p:bldP spid="11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610700"/>
            <a:ext cx="432048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1.2.3 </a:t>
            </a:r>
            <a:r>
              <a:rPr lang="en-US" altLang="zh-CN" sz="28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元组</a:t>
            </a:r>
            <a:endParaRPr lang="zh-CN" altLang="en-US" sz="28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1.2.3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元组和笛卡尔乘积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83432" y="2378289"/>
            <a:ext cx="10945216" cy="1221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600" b="0" i="1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个对象组成的序列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串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i="1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元组。记为</a:t>
            </a:r>
            <a:r>
              <a:rPr lang="en-US" altLang="zh-CN" sz="2600" b="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0" i="1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b="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en-US" altLang="zh-CN" sz="2600" b="0" i="1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600" b="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…,  </a:t>
            </a:r>
            <a:r>
              <a:rPr lang="en-US" altLang="zh-CN" sz="2600" b="0" i="1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i="1" baseline="-2500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600" b="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6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i="1" baseline="-2500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6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6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=1, 2, …, </a:t>
            </a:r>
            <a:r>
              <a:rPr lang="en-US" altLang="zh-CN" sz="26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6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称为该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元组的第</a:t>
            </a:r>
            <a:r>
              <a:rPr lang="en-US" altLang="zh-CN" sz="26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个坐标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7408" y="3970716"/>
            <a:ext cx="10945216" cy="62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二元组也称为有序偶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67408" y="4915060"/>
            <a:ext cx="10945216" cy="1220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如果两个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元组对应的坐标均相同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那么称这两个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元组相等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即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…,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i="1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 (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…,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i="1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i="1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i="1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=1, 2, …,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1" grpId="0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585961"/>
            <a:ext cx="432048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几点说明：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1.2.3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元组和笛卡尔乘积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28179" y="4505917"/>
            <a:ext cx="109452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元组与含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个元素的集合的区别和联系</a:t>
            </a:r>
          </a:p>
          <a:p>
            <a:pPr marL="0" indent="0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都是多个个体构成的整体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元组还包括构成过程中的次序</a:t>
            </a:r>
          </a:p>
          <a:p>
            <a:pPr marL="0" indent="0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a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≠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)≠(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而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}={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28179" y="2746133"/>
            <a:ext cx="7511305" cy="45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数学上用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元组为序列建模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28179" y="3645024"/>
            <a:ext cx="6093618" cy="45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本课程主要讨论二元组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1" grpId="0"/>
      <p:bldP spid="8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585961"/>
            <a:ext cx="432048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1.2.3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元组和笛卡尔乘积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23392" y="2213890"/>
            <a:ext cx="11305256" cy="3022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arenBoth"/>
            </a:pP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笛卡儿直角坐标系下的点表示为两个实数的序列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可用二元组表示：</a:t>
            </a:r>
            <a:endParaRPr lang="en-US" altLang="zh-CN" sz="26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(4, 2), (2, 4) , 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但不能用集合表示。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arenBoth" startAt="2"/>
            </a:pP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英语单词是若干个字母组成的序列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可用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元组表示：</a:t>
            </a:r>
            <a:endParaRPr lang="en-US" altLang="zh-CN" sz="26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(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(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(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(3)  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点和单词都不能表示为集合</a:t>
            </a:r>
            <a:r>
              <a:rPr lang="en-US" altLang="zh-CN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6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因为个体在构成整体时与序相关。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347184" y="1508227"/>
            <a:ext cx="4524680" cy="730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1.2.4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笛卡尔乘积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3908" y="2238486"/>
            <a:ext cx="11089232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N+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…,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i="1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 {(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…,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i="1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)|1≤</a:t>
            </a:r>
            <a:r>
              <a:rPr lang="en-US" altLang="en-US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≤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i="1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i="1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…,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i="1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的笛卡儿乘积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记为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i="1" baseline="-25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US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en-US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记为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400" b="0" i="1" baseline="30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7184" y="3453749"/>
            <a:ext cx="10945216" cy="288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zh-CN" altLang="en-US" sz="28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1.2.5  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={1, 2, 3}, B={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lang="en-US" altLang="en-US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={(1,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(2,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(3,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(1,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(2,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(3,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lang="en-US" altLang="en-US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={(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a, 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1), (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2), (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3), (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1), (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2), (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3)}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30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={(1, 1), (1, 2), (1, 3), (2, 1), (2, 2), (2, 3), (3, 1), (3, 2), (3, 3)}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baseline="30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={(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(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(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(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1.2.3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元组和笛卡尔乘积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572075"/>
            <a:ext cx="6696744" cy="743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={0, 1}, </a:t>
            </a:r>
            <a:r>
              <a:rPr lang="en-US" altLang="zh-CN" sz="28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={1, 2}, </a:t>
            </a:r>
            <a:r>
              <a:rPr lang="en-US" altLang="zh-CN" sz="2800" b="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={0, 1, 2}</a:t>
            </a:r>
            <a:endParaRPr lang="zh-CN" altLang="en-US" sz="28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91544" y="2350580"/>
            <a:ext cx="9496679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={(0, 1, 0), (0, 1, 1), (0, 1, 2), (0, 2, 0), (0, 2, 1), (0, 2, 2), (1, 1, 0), (1, 1, 1), (1, 1, 2), (1, 2, 0), (1, 2, 1), (1, 2, 2)}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75177" y="4074014"/>
            <a:ext cx="11213045" cy="1227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080135">
              <a:lnSpc>
                <a:spcPct val="150000"/>
              </a:lnSpc>
            </a:pPr>
            <a:r>
              <a:rPr lang="zh-CN" altLang="en-US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补充</a:t>
            </a:r>
            <a:r>
              <a:rPr lang="en-US" altLang="zh-CN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ECNU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所有学生组成的集合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ECNU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开设的所有课程的集合。</a:t>
            </a:r>
            <a:endParaRPr lang="en-US" altLang="zh-CN" sz="24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-1080135">
              <a:lnSpc>
                <a:spcPct val="150000"/>
              </a:lnSpc>
            </a:pP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可用来表示学生选课的所有可能情况。</a:t>
            </a:r>
            <a:endParaRPr lang="zh-CN" altLang="en-US" sz="2400" noProof="1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1.2.3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元组和笛卡尔乘积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3392" y="1772816"/>
            <a:ext cx="10945216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的充要条件是什么？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1.2.3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元组和笛卡尔乘积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23392" y="2651395"/>
            <a:ext cx="10945216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解： 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 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lang="zh-CN" altLang="en-US" sz="2800" noProof="1"/>
          </a:p>
        </p:txBody>
      </p:sp>
      <p:sp>
        <p:nvSpPr>
          <p:cNvPr id="12" name="文本框 11"/>
          <p:cNvSpPr txBox="1"/>
          <p:nvPr/>
        </p:nvSpPr>
        <p:spPr>
          <a:xfrm>
            <a:off x="623392" y="4028627"/>
            <a:ext cx="10945216" cy="122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0" noProof="1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注：</a:t>
            </a:r>
            <a:r>
              <a:rPr lang="zh-CN" altLang="en-US" sz="2800" b="0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i="1" baseline="-2500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b</a:t>
            </a:r>
            <a:r>
              <a:rPr lang="en-US" altLang="zh-CN" sz="2400" b="0" i="1" baseline="-2500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i="1" baseline="-2500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a</a:t>
            </a:r>
            <a:r>
              <a:rPr lang="en-US" altLang="zh-CN" sz="2400" b="0" i="1" baseline="-2500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i="1" baseline="-2500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=b</a:t>
            </a:r>
            <a:r>
              <a:rPr lang="en-US" altLang="zh-CN" sz="2400" b="0" i="1" baseline="-2500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A=B</a:t>
            </a:r>
          </a:p>
          <a:p>
            <a:pPr>
              <a:lnSpc>
                <a:spcPct val="150000"/>
              </a:lnSpc>
            </a:pP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还要考虑特殊情况：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endParaRPr lang="zh-CN" altLang="en-US" sz="2400" noProof="1">
              <a:solidFill>
                <a:srgbClr val="FFCCFF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479376" y="1538391"/>
            <a:ext cx="5616624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多个集合的并</a:t>
            </a: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广义并和广义交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51484" y="2210478"/>
            <a:ext cx="9289032" cy="168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pt-BR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集合的并运算满足结合律：</a:t>
            </a:r>
            <a:r>
              <a:rPr lang="pt-BR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pt-BR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pt-BR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pt-BR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pt-BR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pt-BR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∪(</a:t>
            </a:r>
            <a:r>
              <a:rPr lang="pt-BR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pt-BR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pt-BR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pt-BR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pt-BR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个集合的并简记为：</a:t>
            </a:r>
            <a:r>
              <a:rPr lang="pt-BR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pt-BR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pt-BR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pt-BR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可推广到</a:t>
            </a:r>
            <a:r>
              <a:rPr lang="pt-BR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pt-BR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个集合的并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79376" y="4188713"/>
            <a:ext cx="864096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多个集合的交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27448" y="505799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pt-BR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具有类似的性质和记法： </a:t>
            </a:r>
            <a:r>
              <a:rPr lang="pt-BR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pt-BR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pt-BR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endParaRPr lang="zh-CN" altLang="pt-BR" sz="2400" b="0" i="1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0" grpId="0"/>
      <p:bldP spid="8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1919536" y="1702992"/>
            <a:ext cx="7619009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pt-BR" sz="2800" b="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集合的并和交</a:t>
            </a:r>
            <a:r>
              <a:rPr lang="zh-CN" altLang="en-US" sz="2800" b="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能推广到</a:t>
            </a:r>
            <a:r>
              <a:rPr lang="zh-CN" altLang="pt-BR" sz="2800" b="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无限多个集合</a:t>
            </a:r>
            <a:r>
              <a:rPr lang="zh-CN" altLang="en-US" sz="2800" b="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pt-BR" sz="2800" b="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广义并和广义交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97732" y="1704050"/>
            <a:ext cx="193880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703512" y="3284984"/>
            <a:ext cx="9357026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pt-BR" sz="2800" b="0" noProof="1">
                <a:solidFill>
                  <a:srgbClr val="FFCC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不能从多个集合的并和交运算简单地推广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0" noProof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对比：</a:t>
            </a:r>
            <a:r>
              <a:rPr lang="zh-CN" altLang="pt-BR" sz="2800" b="0" noProof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无穷级数求和不能从多个实数的和运算简单地推广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420188" y="1590083"/>
            <a:ext cx="5315771" cy="618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1.2.5(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广义并和广义交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5400" y="2348880"/>
            <a:ext cx="11089232" cy="3901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i="1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是集合族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集合族</a:t>
            </a:r>
            <a:r>
              <a:rPr lang="en-US" altLang="zh-CN" sz="24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的广义并：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所有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的元素中的元素所组成的集合。记为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∪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存在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使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noProof="1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的广义交：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中所有元素的公共元素所组成的集合。 记为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∩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对任意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与上述有限多个集合的并和交的简单推广相容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(4) ∪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∩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无定义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广义并和广义交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文本占位符 107521"/>
          <p:cNvSpPr>
            <a:spLocks noGrp="1"/>
          </p:cNvSpPr>
          <p:nvPr>
            <p:ph type="body" idx="4294967295"/>
          </p:nvPr>
        </p:nvSpPr>
        <p:spPr>
          <a:xfrm>
            <a:off x="479376" y="1642271"/>
            <a:ext cx="11449272" cy="73076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1.2.7</a:t>
            </a:r>
            <a:r>
              <a:rPr lang="zh-CN" altLang="en-US" sz="28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集合族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={{1, 2}, {2, {3}}, {1, 2, {{3}}}</a:t>
            </a: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广义并和广义交</a:t>
            </a:r>
          </a:p>
        </p:txBody>
      </p:sp>
      <p:sp>
        <p:nvSpPr>
          <p:cNvPr id="3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占位符 107521"/>
          <p:cNvSpPr txBox="1"/>
          <p:nvPr/>
        </p:nvSpPr>
        <p:spPr bwMode="auto">
          <a:xfrm>
            <a:off x="695400" y="2656833"/>
            <a:ext cx="5184576" cy="1017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kumimoji="0" lang="zh-CN" altLang="en-US" sz="2800" kern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</a:t>
            </a:r>
            <a:r>
              <a:rPr kumimoji="0" lang="en-US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∪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={1, 2, {3}, {{3}}}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∩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={2}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广义并和广义交</a:t>
            </a:r>
          </a:p>
        </p:txBody>
      </p:sp>
      <p:sp>
        <p:nvSpPr>
          <p:cNvPr id="3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文本占位符 107521"/>
          <p:cNvSpPr txBox="1"/>
          <p:nvPr/>
        </p:nvSpPr>
        <p:spPr bwMode="auto">
          <a:xfrm>
            <a:off x="468519" y="1680256"/>
            <a:ext cx="11449272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kumimoji="0" lang="en-US" altLang="zh-CN" sz="2800" b="0" kern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kumimoji="0" lang="zh-CN" altLang="en-US" sz="2800" b="0" kern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带下标集的集合族的广义并和广义交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zh-CN" altLang="en-US" sz="28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是集合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对任意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是集合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集合族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pt-BR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pt-BR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en-US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∪</a:t>
            </a:r>
            <a:r>
              <a:rPr kumimoji="0" lang="pt-BR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0" lang="pt-BR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pt-BR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0" lang="pt-BR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pt-BR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</a:t>
            </a:r>
            <a:r>
              <a:rPr lang="pt-BR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pt-BR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kumimoji="0" lang="pt-BR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0" lang="pt-BR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也记为</a:t>
            </a:r>
            <a:endParaRPr kumimoji="0" lang="en-US" altLang="zh-CN" sz="2400" b="0" kern="0" baseline="-250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en-US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∩</a:t>
            </a:r>
            <a:r>
              <a:rPr kumimoji="0" lang="pt-BR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0" lang="pt-BR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pt-BR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kumimoji="0" lang="pt-BR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0" lang="pt-BR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pt-BR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pt-BR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pt-BR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kumimoji="0" lang="pt-BR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0" lang="pt-BR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也记为 </a:t>
            </a:r>
            <a:endParaRPr kumimoji="0" lang="en-US" altLang="zh-CN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879976" y="2852936"/>
                <a:ext cx="892809" cy="8030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supHide m:val="on"/>
                          <m:ctrlPr>
                            <a:rPr lang="zh-CN" altLang="en-US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zh-CN" altLang="en-US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zh-CN" altLang="en-US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76" y="2852936"/>
                <a:ext cx="892809" cy="803040"/>
              </a:xfrm>
              <a:prstGeom prst="rect">
                <a:avLst/>
              </a:prstGeom>
              <a:blipFill rotWithShape="1">
                <a:blip r:embed="rId2"/>
                <a:stretch>
                  <a:fillRect l="-57" t="-64" r="57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879976" y="3598744"/>
                <a:ext cx="892809" cy="8030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supHide m:val="on"/>
                          <m:ctrlPr>
                            <a:rPr lang="zh-CN" altLang="en-US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zh-CN" altLang="en-US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zh-CN" altLang="en-US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76" y="3598744"/>
                <a:ext cx="892809" cy="803040"/>
              </a:xfrm>
              <a:prstGeom prst="rect">
                <a:avLst/>
              </a:prstGeom>
              <a:blipFill rotWithShape="1">
                <a:blip r:embed="rId3"/>
                <a:stretch>
                  <a:fillRect l="-57" t="-25" r="57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文本占位符 108545"/>
          <p:cNvSpPr>
            <a:spLocks noGrp="1"/>
          </p:cNvSpPr>
          <p:nvPr>
            <p:ph type="body" idx="4294967295"/>
          </p:nvPr>
        </p:nvSpPr>
        <p:spPr>
          <a:xfrm>
            <a:off x="748231" y="1786733"/>
            <a:ext cx="9144000" cy="437857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noProof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noProof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800" noProof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补充</a:t>
            </a:r>
            <a:r>
              <a:rPr lang="en-US" altLang="zh-CN" sz="2800" noProof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800" noProof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28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8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8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+1, </a:t>
            </a:r>
            <a:r>
              <a:rPr lang="en-US" altLang="zh-CN" sz="28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+2, …}, </a:t>
            </a:r>
            <a:r>
              <a:rPr lang="en-US" altLang="zh-CN" sz="28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=1, 2,  …</a:t>
            </a:r>
          </a:p>
          <a:p>
            <a:pPr>
              <a:spcBef>
                <a:spcPts val="0"/>
              </a:spcBef>
            </a:pPr>
            <a:endParaRPr lang="en-US" altLang="zh-CN" sz="2800" b="1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=</a:t>
            </a:r>
            <a:r>
              <a:rPr lang="en-US" altLang="zh-CN" sz="28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={1, 2, 3, …, }</a:t>
            </a:r>
            <a:endParaRPr lang="zh-CN" altLang="en-US" sz="28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en-US" sz="28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8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8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+1, </a:t>
            </a:r>
            <a:r>
              <a:rPr lang="en-US" altLang="zh-CN" sz="28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+2 …}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8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=</a:t>
            </a:r>
            <a:r>
              <a:rPr lang="en-US" altLang="zh-CN" sz="28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={1, 2, 3, …, }</a:t>
            </a:r>
            <a:endParaRPr lang="zh-CN" altLang="en-US" sz="28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8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  <a:r>
              <a:rPr lang="en-US" altLang="zh-CN" sz="28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endParaRPr lang="zh-CN" altLang="en-US" sz="2800" i="1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8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广义并和广义交</a:t>
            </a:r>
          </a:p>
        </p:txBody>
      </p:sp>
      <p:sp>
        <p:nvSpPr>
          <p:cNvPr id="3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206767" y="2420888"/>
                <a:ext cx="898066" cy="936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ctrlPr>
                            <a:rPr lang="zh-CN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767" y="2420888"/>
                <a:ext cx="898066" cy="936090"/>
              </a:xfrm>
              <a:prstGeom prst="rect">
                <a:avLst/>
              </a:prstGeom>
              <a:blipFill rotWithShape="1">
                <a:blip r:embed="rId2"/>
                <a:stretch>
                  <a:fillRect l="-30" t="-29" r="49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199757" y="3284984"/>
                <a:ext cx="898066" cy="936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ctrlPr>
                            <a:rPr lang="zh-CN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757" y="3284984"/>
                <a:ext cx="898066" cy="936090"/>
              </a:xfrm>
              <a:prstGeom prst="rect">
                <a:avLst/>
              </a:prstGeom>
              <a:blipFill rotWithShape="1">
                <a:blip r:embed="rId3"/>
                <a:stretch>
                  <a:fillRect l="-27" t="-14" r="4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199757" y="4221088"/>
                <a:ext cx="1068178" cy="883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supHide m:val="on"/>
                          <m:ctrlPr>
                            <a:rPr lang="zh-CN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757" y="4221088"/>
                <a:ext cx="1068178" cy="8834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/>
              <p:cNvSpPr txBox="1"/>
              <p:nvPr/>
            </p:nvSpPr>
            <p:spPr>
              <a:xfrm>
                <a:off x="1199757" y="5128825"/>
                <a:ext cx="1068178" cy="883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supHide m:val="on"/>
                          <m:ctrlPr>
                            <a:rPr lang="zh-CN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757" y="5128825"/>
                <a:ext cx="1068178" cy="8834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8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85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85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85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6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5" name="文本占位符 28674"/>
              <p:cNvSpPr>
                <a:spLocks noGrp="1"/>
              </p:cNvSpPr>
              <p:nvPr>
                <p:ph type="body" idx="4294967295"/>
              </p:nvPr>
            </p:nvSpPr>
            <p:spPr>
              <a:xfrm>
                <a:off x="479376" y="1702605"/>
                <a:ext cx="5616624" cy="5742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zh-CN" sz="2800" b="1" noProof="1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例</a:t>
                </a:r>
                <a:r>
                  <a:rPr lang="en-US" altLang="zh-CN" sz="2800" b="1" noProof="1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1.2.8</a:t>
                </a:r>
                <a:r>
                  <a:rPr lang="en-US" altLang="zh-CN" sz="2800" noProof="1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800" noProof="1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</a:t>
                </a:r>
                <a:r>
                  <a:rPr lang="en-US" altLang="zh-CN" sz="240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∈</a:t>
                </a:r>
                <a:r>
                  <a:rPr lang="en-US" altLang="zh-CN" sz="2400" i="1" noProof="1"/>
                  <a:t>Z</a:t>
                </a:r>
                <a:r>
                  <a:rPr lang="en-US" altLang="zh-CN" sz="2400" i="1" baseline="-25000" noProof="1"/>
                  <a:t>+</a:t>
                </a:r>
                <a:r>
                  <a:rPr lang="en-US" altLang="zh-CN" sz="240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40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i="1" baseline="-2500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={</a:t>
                </a:r>
                <a:r>
                  <a:rPr lang="en-US" altLang="zh-CN" sz="240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</a:t>
                </a:r>
                <a:r>
                  <a:rPr lang="en-US" altLang="zh-CN" sz="240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0&lt;</a:t>
                </a:r>
                <a:r>
                  <a:rPr lang="en-US" altLang="zh-CN" sz="240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&lt;1+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240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}</a:t>
                </a:r>
              </a:p>
            </p:txBody>
          </p:sp>
        </mc:Choice>
        <mc:Fallback xmlns="">
          <p:sp>
            <p:nvSpPr>
              <p:cNvPr id="28675" name="文本占位符 2867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79376" y="1702605"/>
                <a:ext cx="5616624" cy="574268"/>
              </a:xfrm>
              <a:blipFill>
                <a:blip r:embed="rId2"/>
                <a:stretch>
                  <a:fillRect l="-2280" t="-6316" b="-2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2"/>
          <p:cNvSpPr txBox="1">
            <a:spLocks noChangeArrowheads="1"/>
          </p:cNvSpPr>
          <p:nvPr/>
        </p:nvSpPr>
        <p:spPr bwMode="auto">
          <a:xfrm>
            <a:off x="5159896" y="252453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1.2.4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广义并和广义交</a:t>
            </a:r>
          </a:p>
        </p:txBody>
      </p:sp>
      <p:sp>
        <p:nvSpPr>
          <p:cNvPr id="3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271464" y="2377247"/>
                <a:ext cx="1718804" cy="890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supHide m:val="on"/>
                          <m:ctrlPr>
                            <a:rPr lang="zh-CN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nary>
                      <m:r>
                        <a:rPr lang="en-US" altLang="zh-CN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？</m:t>
                      </m:r>
                    </m:oMath>
                  </m:oMathPara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64" y="2377247"/>
                <a:ext cx="1718804" cy="890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315631" y="3221196"/>
                <a:ext cx="1718804" cy="890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supHide m:val="on"/>
                          <m:ctrlPr>
                            <a:rPr lang="zh-CN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nary>
                      <m:r>
                        <a:rPr lang="en-US" altLang="zh-CN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？</m:t>
                      </m:r>
                    </m:oMath>
                  </m:oMathPara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631" y="3221196"/>
                <a:ext cx="1718804" cy="8904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占位符 28674"/>
          <p:cNvSpPr txBox="1"/>
          <p:nvPr/>
        </p:nvSpPr>
        <p:spPr bwMode="auto">
          <a:xfrm>
            <a:off x="6240016" y="1718629"/>
            <a:ext cx="5472608" cy="570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kumimoji="0" lang="zh-CN" altLang="en-US" sz="2800" b="1" kern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kern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1.2.9</a:t>
            </a:r>
            <a:r>
              <a:rPr kumimoji="0" lang="zh-CN" altLang="en-US" sz="2800" b="0" kern="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是集合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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≠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kumimoji="0" lang="en-US" altLang="zh-CN" sz="24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0" indent="0">
              <a:buFontTx/>
              <a:buNone/>
            </a:pPr>
            <a:r>
              <a:rPr kumimoji="0" lang="en-US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   </a:t>
            </a:r>
          </a:p>
          <a:p>
            <a:pPr marL="0" indent="0">
              <a:buFontTx/>
              <a:buNone/>
            </a:pPr>
            <a:r>
              <a:rPr kumimoji="0" lang="pt-BR" altLang="zh-CN" sz="24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	</a:t>
            </a:r>
            <a:endParaRPr kumimoji="0" lang="en-US" altLang="zh-CN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kumimoji="0" lang="en-US" altLang="zh-CN" sz="2400" b="0" kern="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/>
              <p:cNvSpPr txBox="1"/>
              <p:nvPr/>
            </p:nvSpPr>
            <p:spPr>
              <a:xfrm>
                <a:off x="7543701" y="2327200"/>
                <a:ext cx="1613262" cy="8819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supHide m:val="on"/>
                          <m:ctrlPr>
                            <a:rPr lang="zh-CN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zh-CN" altLang="en-US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sub>
                          </m:sSub>
                        </m:e>
                      </m:nary>
                      <m:r>
                        <a:rPr lang="en-US" altLang="zh-CN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？</m:t>
                      </m:r>
                    </m:oMath>
                  </m:oMathPara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701" y="2327200"/>
                <a:ext cx="1613262" cy="881973"/>
              </a:xfrm>
              <a:prstGeom prst="rect">
                <a:avLst/>
              </a:prstGeom>
              <a:blipFill rotWithShape="1">
                <a:blip r:embed="rId5"/>
                <a:stretch>
                  <a:fillRect l="-33" t="-63" r="16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/>
              <p:cNvSpPr txBox="1"/>
              <p:nvPr/>
            </p:nvSpPr>
            <p:spPr>
              <a:xfrm>
                <a:off x="7587868" y="3171149"/>
                <a:ext cx="1613262" cy="8819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supHide m:val="on"/>
                          <m:ctrlPr>
                            <a:rPr lang="zh-CN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altLang="zh-CN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zh-CN" altLang="en-US" sz="20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sub>
                          </m:sSub>
                        </m:e>
                      </m:nary>
                      <m:r>
                        <a:rPr lang="en-US" altLang="zh-CN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？</m:t>
                      </m:r>
                    </m:oMath>
                  </m:oMathPara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868" y="3171149"/>
                <a:ext cx="1613262" cy="881973"/>
              </a:xfrm>
              <a:prstGeom prst="rect">
                <a:avLst/>
              </a:prstGeom>
              <a:blipFill rotWithShape="1">
                <a:blip r:embed="rId6"/>
                <a:stretch>
                  <a:fillRect l="-16" t="-67" r="38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23EE2D45-7BE5-40E0-8A8F-39D622E4A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036" y="2492896"/>
            <a:ext cx="1614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FF00"/>
                </a:solidFill>
              </a:rPr>
              <a:t>{x|0&lt;x&lt;2}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22DBB44-345A-43D0-A2D3-12F15F288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11" y="3356496"/>
            <a:ext cx="1614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FF00"/>
                </a:solidFill>
              </a:rPr>
              <a:t>{x|0&lt;x≤1}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B40770-588F-4290-9781-B76794A94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0376" y="2442788"/>
            <a:ext cx="374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FF00"/>
                </a:solidFill>
              </a:rPr>
              <a:t>B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CEC378-FD24-4B87-AB86-88CE01AD06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6891" y="3170338"/>
            <a:ext cx="2816596" cy="7803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  <p:bldP spid="4" grpId="0"/>
      <p:bldP spid="5" grpId="0"/>
      <p:bldP spid="43" grpId="0"/>
      <p:bldP spid="44" grpId="0"/>
      <p:bldP spid="45" grpId="0"/>
      <p:bldP spid="10" grpId="0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5231904" y="-113709"/>
            <a:ext cx="5903995" cy="1430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endParaRPr lang="en-US" altLang="zh-CN" sz="4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</a:t>
            </a: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6, 15, 16(1), 19, 20(3), *17</a:t>
            </a:r>
            <a:endParaRPr lang="zh-CN" altLang="en-US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7433" y="1802958"/>
            <a:ext cx="5112568" cy="445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ECNU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二年级学生的集合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ECNU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必须学习离散数学的学生的集合。请用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ECNU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不必学习离散数学的二年级的学生的集合。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是集合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下列命题是否必定成立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?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(1)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(2)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(3) {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(4) {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是任意集合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endParaRPr lang="en-US" altLang="zh-CN" sz="20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63952" y="1802958"/>
            <a:ext cx="6093618" cy="252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是任意集合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)×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是否成立？为什么？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是集合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证明：若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均非空集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那么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*6.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编写一个程序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输入任意一个正整数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输出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({1, 2, …,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})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的所有元素。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9" grpId="0"/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3449</Words>
  <Application>Microsoft Office PowerPoint</Application>
  <PresentationFormat>宽屏</PresentationFormat>
  <Paragraphs>276</Paragraphs>
  <Slides>28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楷体_GB2312</vt:lpstr>
      <vt:lpstr>宋体</vt:lpstr>
      <vt:lpstr>微软雅黑</vt:lpstr>
      <vt:lpstr>Arial</vt:lpstr>
      <vt:lpstr>Calibri</vt:lpstr>
      <vt:lpstr>Cambria Math</vt:lpstr>
      <vt:lpstr>Garamond</vt:lpstr>
      <vt:lpstr>Symbol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719</cp:revision>
  <dcterms:created xsi:type="dcterms:W3CDTF">2008-05-09T05:16:00Z</dcterms:created>
  <dcterms:modified xsi:type="dcterms:W3CDTF">2026-03-02T03:59:51Z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2FD294D9237846698849D4B390E3BD7A_13</vt:lpwstr>
  </property>
  <property fmtid="{D5CDD505-2E9C-101B-9397-08002B2CF9AE}" pid="3" name="KSOProductBuildVer">
    <vt:lpwstr>2052-12.1.0.16388</vt:lpwstr>
  </property>
</Properties>
</file>