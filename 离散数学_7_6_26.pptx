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51" r:id="rId2"/>
    <p:sldId id="377" r:id="rId3"/>
    <p:sldId id="441" r:id="rId4"/>
    <p:sldId id="436" r:id="rId5"/>
    <p:sldId id="448" r:id="rId6"/>
    <p:sldId id="450" r:id="rId7"/>
    <p:sldId id="399" r:id="rId8"/>
  </p:sldIdLst>
  <p:sldSz cx="12192000" cy="6858000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CC"/>
    <a:srgbClr val="FFCCFF"/>
    <a:srgbClr val="FFCC99"/>
    <a:srgbClr val="FF7C80"/>
    <a:srgbClr val="1A458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62" d="100"/>
          <a:sy n="62" d="100"/>
        </p:scale>
        <p:origin x="82" y="30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-2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096528" y="11309"/>
            <a:ext cx="20496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图论基础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第七章 图论基础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293096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12155" y="3356992"/>
            <a:ext cx="7704856" cy="51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不同的对象及其联系可能具有相似性</a:t>
            </a:r>
            <a:endParaRPr lang="en-US" altLang="zh-CN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7.6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图的同构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155" y="1678803"/>
            <a:ext cx="10967689" cy="12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图的本质：</a:t>
            </a:r>
            <a:r>
              <a:rPr lang="zh-CN" altLang="en-US" sz="2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对象及其联系的抽象表示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具体图形不唯一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9527329" cy="296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7.6.1</a:t>
            </a:r>
            <a:r>
              <a:rPr lang="zh-CN" altLang="en-US" sz="2400" dirty="0"/>
              <a:t>  </a:t>
            </a:r>
            <a:r>
              <a:rPr lang="zh-CN" altLang="en-US" dirty="0"/>
              <a:t>图同构</a:t>
            </a:r>
          </a:p>
          <a:p>
            <a:pPr marL="0" indent="0"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简单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向图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=(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,</a:t>
            </a:r>
            <a:r>
              <a:rPr lang="en-US" altLang="zh-CN" sz="2400" i="1" dirty="0">
                <a:solidFill>
                  <a:schemeClr val="bg1"/>
                </a:solidFill>
              </a:rPr>
              <a:t>E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), 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en-US" altLang="zh-CN" sz="2400" dirty="0">
                <a:solidFill>
                  <a:schemeClr val="bg1"/>
                </a:solidFill>
              </a:rPr>
              <a:t>=(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en-US" altLang="zh-CN" sz="2400" dirty="0">
                <a:solidFill>
                  <a:schemeClr val="bg1"/>
                </a:solidFill>
              </a:rPr>
              <a:t>,</a:t>
            </a:r>
            <a:r>
              <a:rPr lang="en-US" altLang="zh-CN" sz="2400" i="1" dirty="0">
                <a:solidFill>
                  <a:schemeClr val="bg1"/>
                </a:solidFill>
              </a:rPr>
              <a:t>E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与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同构：</a:t>
            </a:r>
            <a:r>
              <a:rPr lang="zh-CN" altLang="en-US" sz="2400" dirty="0">
                <a:solidFill>
                  <a:schemeClr val="bg1"/>
                </a:solidFill>
                <a:sym typeface="Symbol" panose="05050102010706020507" pitchFamily="18" charset="2"/>
              </a:rPr>
              <a:t></a:t>
            </a:r>
            <a:r>
              <a:rPr lang="zh-CN" altLang="en-US" sz="2400" dirty="0">
                <a:solidFill>
                  <a:schemeClr val="bg1"/>
                </a:solidFill>
              </a:rPr>
              <a:t>一一对应</a:t>
            </a:r>
            <a:r>
              <a:rPr lang="en-US" altLang="zh-CN" sz="2400" i="1" dirty="0">
                <a:solidFill>
                  <a:schemeClr val="bg1"/>
                </a:solidFill>
              </a:rPr>
              <a:t>f</a:t>
            </a:r>
            <a:r>
              <a:rPr lang="zh-CN" altLang="en-US" sz="2400" dirty="0">
                <a:solidFill>
                  <a:schemeClr val="bg1"/>
                </a:solidFill>
              </a:rPr>
              <a:t>：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</a:p>
          <a:p>
            <a:pPr marL="0" indent="0">
              <a:buNone/>
            </a:pPr>
            <a:r>
              <a:rPr lang="en-US" altLang="zh-CN" sz="2400" baseline="-25000" dirty="0">
                <a:solidFill>
                  <a:schemeClr val="bg1"/>
                </a:solidFill>
              </a:rPr>
              <a:t>                                          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i="1" dirty="0">
                <a:solidFill>
                  <a:schemeClr val="bg1"/>
                </a:solidFill>
              </a:rPr>
              <a:t>u</a:t>
            </a:r>
            <a:r>
              <a:rPr lang="en-US" altLang="zh-CN" sz="2400" dirty="0">
                <a:solidFill>
                  <a:schemeClr val="bg1"/>
                </a:solidFill>
              </a:rPr>
              <a:t>,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, {</a:t>
            </a:r>
            <a:r>
              <a:rPr lang="en-US" altLang="zh-CN" sz="2400" i="1" dirty="0" err="1">
                <a:solidFill>
                  <a:schemeClr val="bg1"/>
                </a:solidFill>
              </a:rPr>
              <a:t>u</a:t>
            </a:r>
            <a:r>
              <a:rPr lang="en-US" altLang="zh-CN" sz="2400" dirty="0" err="1">
                <a:solidFill>
                  <a:schemeClr val="bg1"/>
                </a:solidFill>
              </a:rPr>
              <a:t>,</a:t>
            </a:r>
            <a:r>
              <a:rPr lang="en-US" altLang="zh-CN" sz="2400" i="1" dirty="0" err="1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</a:rPr>
              <a:t>}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chemeClr val="bg1"/>
                </a:solidFill>
              </a:rPr>
              <a:t>E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 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 </a:t>
            </a:r>
            <a:r>
              <a:rPr lang="en-US" altLang="zh-CN" sz="2400" dirty="0">
                <a:solidFill>
                  <a:schemeClr val="bg1"/>
                </a:solidFill>
              </a:rPr>
              <a:t>{</a:t>
            </a:r>
            <a:r>
              <a:rPr lang="en-US" altLang="zh-CN" sz="2400" i="1" dirty="0">
                <a:solidFill>
                  <a:schemeClr val="bg1"/>
                </a:solidFill>
              </a:rPr>
              <a:t>f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u</a:t>
            </a:r>
            <a:r>
              <a:rPr lang="en-US" altLang="zh-CN" sz="2400" dirty="0">
                <a:solidFill>
                  <a:schemeClr val="bg1"/>
                </a:solidFill>
              </a:rPr>
              <a:t>),</a:t>
            </a:r>
            <a:r>
              <a:rPr lang="en-US" altLang="zh-CN" sz="2400" i="1" dirty="0">
                <a:solidFill>
                  <a:schemeClr val="bg1"/>
                </a:solidFill>
              </a:rPr>
              <a:t>f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</a:rPr>
              <a:t>)}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chemeClr val="bg1"/>
                </a:solidFill>
              </a:rPr>
              <a:t>E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                        (</a:t>
            </a:r>
            <a:r>
              <a:rPr lang="zh-CN" altLang="en-US" sz="2400" dirty="0">
                <a:solidFill>
                  <a:schemeClr val="bg1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i="1" dirty="0">
                <a:solidFill>
                  <a:schemeClr val="bg1"/>
                </a:solidFill>
              </a:rPr>
              <a:t>u</a:t>
            </a:r>
            <a:r>
              <a:rPr lang="en-US" altLang="zh-CN" sz="2400" dirty="0">
                <a:solidFill>
                  <a:schemeClr val="bg1"/>
                </a:solidFill>
              </a:rPr>
              <a:t>,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, (</a:t>
            </a:r>
            <a:r>
              <a:rPr lang="en-US" altLang="zh-CN" sz="2400" i="1" dirty="0" err="1">
                <a:solidFill>
                  <a:schemeClr val="bg1"/>
                </a:solidFill>
              </a:rPr>
              <a:t>u</a:t>
            </a:r>
            <a:r>
              <a:rPr lang="en-US" altLang="zh-CN" sz="2400" dirty="0" err="1">
                <a:solidFill>
                  <a:schemeClr val="bg1"/>
                </a:solidFill>
              </a:rPr>
              <a:t>,</a:t>
            </a:r>
            <a:r>
              <a:rPr lang="en-US" altLang="zh-CN" sz="2400" i="1" dirty="0" err="1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chemeClr val="bg1"/>
                </a:solidFill>
              </a:rPr>
              <a:t>E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 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f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u</a:t>
            </a:r>
            <a:r>
              <a:rPr lang="en-US" altLang="zh-CN" sz="2400" dirty="0">
                <a:solidFill>
                  <a:schemeClr val="bg1"/>
                </a:solidFill>
              </a:rPr>
              <a:t>),</a:t>
            </a:r>
            <a:r>
              <a:rPr lang="en-US" altLang="zh-CN" sz="2400" i="1" dirty="0">
                <a:solidFill>
                  <a:schemeClr val="bg1"/>
                </a:solidFill>
              </a:rPr>
              <a:t>f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v</a:t>
            </a:r>
            <a:r>
              <a:rPr lang="en-US" altLang="zh-CN" sz="2400" dirty="0">
                <a:solidFill>
                  <a:schemeClr val="bg1"/>
                </a:solidFill>
              </a:rPr>
              <a:t>))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chemeClr val="bg1"/>
                </a:solidFill>
              </a:rPr>
              <a:t>E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7.6 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图的同构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118" y="4719992"/>
            <a:ext cx="9887371" cy="5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图同构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顶点集之间存在保持相邻关系的一一对应</a:t>
            </a:r>
          </a:p>
        </p:txBody>
      </p:sp>
      <p:sp>
        <p:nvSpPr>
          <p:cNvPr id="11" name="文本框 10"/>
          <p:cNvSpPr txBox="1"/>
          <p:nvPr/>
        </p:nvSpPr>
        <p:spPr>
          <a:xfrm rot="10800000" flipV="1">
            <a:off x="576251" y="5445224"/>
            <a:ext cx="9023275" cy="597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同构的图具有相同的性质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本质上是相同的图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486221"/>
            <a:ext cx="11089232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7.6.1  </a:t>
            </a:r>
            <a:r>
              <a:rPr lang="zh-CN" altLang="en-US" sz="2400" noProof="1">
                <a:solidFill>
                  <a:schemeClr val="bg1"/>
                </a:solidFill>
              </a:rPr>
              <a:t>判断下列图的同构关系</a:t>
            </a:r>
            <a:r>
              <a:rPr lang="zh-CN" altLang="en-US" sz="2400" dirty="0">
                <a:solidFill>
                  <a:schemeClr val="bg1"/>
                </a:solidFill>
              </a:rPr>
              <a:t>？</a:t>
            </a:r>
            <a:endParaRPr lang="zh-CN" altLang="en-US" sz="2400" noProof="1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40367" y="4712592"/>
            <a:ext cx="9431806" cy="1318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None/>
              <a:defRPr sz="2400" b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与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zh-CN" altLang="en-US" dirty="0"/>
              <a:t>同构：</a:t>
            </a:r>
            <a:r>
              <a:rPr lang="en-US" altLang="zh-CN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,2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,3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3</a:t>
            </a:r>
            <a:r>
              <a:rPr lang="en-US" altLang="zh-CN" dirty="0"/>
              <a:t>,4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</a:p>
          <a:p>
            <a:r>
              <a:rPr lang="en-US" altLang="zh-CN" i="1" dirty="0"/>
              <a:t>G</a:t>
            </a:r>
            <a:r>
              <a:rPr lang="en-US" altLang="zh-CN" baseline="-25000" dirty="0"/>
              <a:t>3</a:t>
            </a:r>
            <a:r>
              <a:rPr lang="zh-CN" altLang="en-US" dirty="0"/>
              <a:t>与</a:t>
            </a:r>
            <a:r>
              <a:rPr lang="en-US" altLang="zh-CN" i="1" dirty="0"/>
              <a:t>G</a:t>
            </a:r>
            <a:r>
              <a:rPr lang="en-US" altLang="zh-CN" baseline="-25000" dirty="0"/>
              <a:t>4</a:t>
            </a:r>
            <a:r>
              <a:rPr lang="zh-CN" altLang="en-US" dirty="0"/>
              <a:t>同构：</a:t>
            </a:r>
            <a:r>
              <a:rPr lang="en-US" altLang="zh-CN" i="1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baseline="-25000" dirty="0"/>
              <a:t>3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baseline="-25000" dirty="0"/>
              <a:t>5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3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baseline="-25000" dirty="0"/>
              <a:t>4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5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baseline="-25000" dirty="0"/>
              <a:t>6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i="1" dirty="0"/>
              <a:t>v</a:t>
            </a:r>
            <a:r>
              <a:rPr lang="en-US" altLang="zh-CN" baseline="-25000" dirty="0"/>
              <a:t>6</a:t>
            </a:r>
            <a:endParaRPr lang="zh-CN" altLang="pt-BR" baseline="-25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23392" y="4802284"/>
            <a:ext cx="88636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解：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pic>
        <p:nvPicPr>
          <p:cNvPr id="21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827" y="2185252"/>
            <a:ext cx="7489825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7.6 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图的同构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9" y="1630266"/>
            <a:ext cx="851435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defRPr/>
            </a:pPr>
            <a:r>
              <a:rPr lang="zh-CN" altLang="en-US" dirty="0"/>
              <a:t>图同构的必要条件：具有相同的数学</a:t>
            </a:r>
            <a:r>
              <a:rPr lang="en-US" altLang="zh-CN" dirty="0"/>
              <a:t>(</a:t>
            </a:r>
            <a:r>
              <a:rPr lang="zh-CN" altLang="en-US" dirty="0"/>
              <a:t>抽象</a:t>
            </a:r>
            <a:r>
              <a:rPr lang="en-US" altLang="zh-CN" dirty="0"/>
              <a:t>)</a:t>
            </a:r>
            <a:r>
              <a:rPr lang="zh-CN" altLang="en-US" dirty="0"/>
              <a:t>性质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4243" y="4416455"/>
            <a:ext cx="8197736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None/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7.6.2</a:t>
            </a:r>
            <a:r>
              <a:rPr lang="zh-CN" altLang="en-US" dirty="0"/>
              <a:t>  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与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不同构：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含度为</a:t>
            </a:r>
            <a:r>
              <a:rPr lang="en-US" altLang="zh-CN" sz="2400" dirty="0"/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4</a:t>
            </a:r>
            <a:r>
              <a:rPr lang="zh-CN" altLang="en-US" sz="2400" dirty="0"/>
              <a:t>的顶点</a:t>
            </a:r>
            <a:r>
              <a:rPr lang="en-US" altLang="zh-CN" sz="2400" dirty="0"/>
              <a:t>, </a:t>
            </a:r>
            <a:r>
              <a:rPr lang="zh-CN" altLang="en-US" sz="2400" dirty="0"/>
              <a:t>而</a:t>
            </a:r>
            <a:r>
              <a:rPr lang="en-US" altLang="zh-CN" sz="2400" i="1" dirty="0"/>
              <a:t>G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没有</a:t>
            </a:r>
            <a:r>
              <a:rPr lang="zh-CN" altLang="en-US" dirty="0"/>
              <a:t> 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743037" y="2185385"/>
            <a:ext cx="6280484" cy="196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顶点数相同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边数相同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连通性相同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具有相同度数的顶点（顶点的度数列相同）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979" y="3429000"/>
            <a:ext cx="2952750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7.6 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图的同构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51384" y="1703823"/>
            <a:ext cx="110892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7.6.3 </a:t>
            </a:r>
            <a:r>
              <a:rPr lang="en-US" altLang="zh-CN" i="1" dirty="0">
                <a:solidFill>
                  <a:schemeClr val="bg1"/>
                </a:solidFill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与</a:t>
            </a:r>
            <a:r>
              <a:rPr lang="en-US" altLang="zh-CN" i="1" dirty="0">
                <a:solidFill>
                  <a:schemeClr val="bg1"/>
                </a:solidFill>
              </a:rPr>
              <a:t>G</a:t>
            </a:r>
            <a:r>
              <a:rPr lang="en-US" altLang="zh-CN" baseline="-25000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不同构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zh-CN" altLang="en-US" dirty="0">
                <a:solidFill>
                  <a:schemeClr val="bg1"/>
                </a:solidFill>
              </a:rPr>
              <a:t>但满足上述四个图同构的必要条件。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58556" y="4149080"/>
            <a:ext cx="9850012" cy="2242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如果它们同构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则它们度为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的顶点一一对应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且这个一一对应在这些顶点之间保持相邻关系。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但是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在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中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有两对度为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的顶点相邻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而在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中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有</a:t>
            </a:r>
            <a:r>
              <a:rPr lang="en-US" altLang="zh-CN" sz="2400" dirty="0">
                <a:solidFill>
                  <a:schemeClr val="bg1"/>
                </a:solidFill>
              </a:rPr>
              <a:t>4</a:t>
            </a:r>
            <a:r>
              <a:rPr lang="zh-CN" altLang="en-US" sz="2400" dirty="0">
                <a:solidFill>
                  <a:schemeClr val="bg1"/>
                </a:solidFill>
              </a:rPr>
              <a:t>对度为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的顶点相邻，故这两个图不同构。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35360" y="4293096"/>
            <a:ext cx="99832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8" y="2425286"/>
            <a:ext cx="5040411" cy="1723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7.6 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图的同构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155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26, 29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652364"/>
            <a:ext cx="11576223" cy="40808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个顶点的不同构的简单无向图有多少个？</a:t>
            </a:r>
            <a:endParaRPr lang="zh-CN" altLang="pt-BR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证明：若无向图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不是连通图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则其补图必为连通图。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416</Words>
  <Application>Microsoft Office PowerPoint</Application>
  <PresentationFormat>宽屏</PresentationFormat>
  <Paragraphs>39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华文细黑</vt:lpstr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900</cp:revision>
  <dcterms:created xsi:type="dcterms:W3CDTF">2008-05-09T05:16:00Z</dcterms:created>
  <dcterms:modified xsi:type="dcterms:W3CDTF">2026-06-08T02:06:48Z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DB5C837DA37E436397C7143F8C837F78_12</vt:lpwstr>
  </property>
  <property fmtid="{D5CDD505-2E9C-101B-9397-08002B2CF9AE}" pid="3" name="KSOProductBuildVer">
    <vt:lpwstr>2052-12.1.0.16729</vt:lpwstr>
  </property>
</Properties>
</file>