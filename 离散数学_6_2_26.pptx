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7" r:id="rId2"/>
    <p:sldId id="377" r:id="rId3"/>
    <p:sldId id="338" r:id="rId4"/>
    <p:sldId id="431" r:id="rId5"/>
    <p:sldId id="432" r:id="rId6"/>
    <p:sldId id="423" r:id="rId7"/>
    <p:sldId id="430" r:id="rId8"/>
    <p:sldId id="434" r:id="rId9"/>
    <p:sldId id="435" r:id="rId10"/>
    <p:sldId id="436" r:id="rId11"/>
    <p:sldId id="420" r:id="rId12"/>
    <p:sldId id="416" r:id="rId13"/>
    <p:sldId id="281" r:id="rId14"/>
    <p:sldId id="409" r:id="rId15"/>
    <p:sldId id="421" r:id="rId16"/>
    <p:sldId id="410" r:id="rId17"/>
    <p:sldId id="411" r:id="rId18"/>
    <p:sldId id="424" r:id="rId19"/>
    <p:sldId id="413" r:id="rId20"/>
    <p:sldId id="425" r:id="rId21"/>
    <p:sldId id="414" r:id="rId22"/>
    <p:sldId id="427" r:id="rId23"/>
    <p:sldId id="428" r:id="rId24"/>
    <p:sldId id="429" r:id="rId25"/>
    <p:sldId id="399" r:id="rId26"/>
  </p:sldIdLst>
  <p:sldSz cx="12192000" cy="6858000"/>
  <p:notesSz cx="6858000" cy="9144000"/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FF"/>
    <a:srgbClr val="FFCC9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62" d="100"/>
          <a:sy n="62" d="100"/>
        </p:scale>
        <p:origin x="82" y="4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02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9781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18090" y="11430"/>
            <a:ext cx="20281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函数</a:t>
            </a:r>
            <a:endParaRPr lang="en-US" altLang="zh-CN" sz="2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第六章 函数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127448" y="1988840"/>
            <a:ext cx="302433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基本要求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5560" y="2709842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基数是集合</a:t>
            </a:r>
            <a:r>
              <a:rPr lang="en-US" altLang="zh-CN" dirty="0">
                <a:solidFill>
                  <a:srgbClr val="FFC000"/>
                </a:solidFill>
              </a:rPr>
              <a:t>“</a:t>
            </a:r>
            <a:r>
              <a:rPr lang="zh-CN" altLang="en-US" dirty="0">
                <a:solidFill>
                  <a:srgbClr val="FFC000"/>
                </a:solidFill>
              </a:rPr>
              <a:t>大小</a:t>
            </a:r>
            <a:r>
              <a:rPr lang="en-US" altLang="zh-CN" dirty="0">
                <a:solidFill>
                  <a:srgbClr val="FFC000"/>
                </a:solidFill>
              </a:rPr>
              <a:t>”</a:t>
            </a:r>
            <a:r>
              <a:rPr lang="zh-CN" altLang="en-US" dirty="0"/>
              <a:t>的度量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76462" y="3792091"/>
            <a:ext cx="355138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eaLnBrk="1" hangingPunct="1">
              <a:spcBef>
                <a:spcPct val="20000"/>
              </a:spcBef>
              <a:buNone/>
              <a:defRPr sz="32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dirty="0"/>
              <a:t>教学重点和难点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2135560" y="4440163"/>
            <a:ext cx="9001000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集合</a:t>
            </a:r>
            <a:r>
              <a:rPr lang="en-US" altLang="zh-CN" dirty="0">
                <a:solidFill>
                  <a:srgbClr val="FFC000"/>
                </a:solidFill>
              </a:rPr>
              <a:t>“</a:t>
            </a:r>
            <a:r>
              <a:rPr lang="zh-CN" altLang="en-US" dirty="0">
                <a:solidFill>
                  <a:srgbClr val="FFC000"/>
                </a:solidFill>
              </a:rPr>
              <a:t>大小</a:t>
            </a:r>
            <a:r>
              <a:rPr lang="en-US" altLang="zh-CN" dirty="0">
                <a:solidFill>
                  <a:srgbClr val="FFC000"/>
                </a:solidFill>
              </a:rPr>
              <a:t>”</a:t>
            </a:r>
            <a:r>
              <a:rPr lang="zh-CN" altLang="en-US" dirty="0"/>
              <a:t>的比较借助于一一对应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集合的基数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5" grpId="0" uiExpand="1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4943872" y="116632"/>
            <a:ext cx="48245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本节内容要点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718817" y="2365131"/>
            <a:ext cx="25681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32646" y="3921442"/>
            <a:ext cx="1920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可数集</a:t>
            </a:r>
          </a:p>
        </p:txBody>
      </p:sp>
      <p:sp>
        <p:nvSpPr>
          <p:cNvPr id="4" name="AutoShape 6"/>
          <p:cNvSpPr/>
          <p:nvPr/>
        </p:nvSpPr>
        <p:spPr bwMode="auto">
          <a:xfrm>
            <a:off x="4152701" y="2226757"/>
            <a:ext cx="268486" cy="709801"/>
          </a:xfrm>
          <a:prstGeom prst="leftBrace">
            <a:avLst>
              <a:gd name="adj1" fmla="val 3220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421187" y="2060507"/>
            <a:ext cx="7052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大小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相等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8"/>
          <p:cNvSpPr/>
          <p:nvPr/>
        </p:nvSpPr>
        <p:spPr bwMode="auto">
          <a:xfrm>
            <a:off x="4182765" y="3831507"/>
            <a:ext cx="268486" cy="743460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511378" y="3682914"/>
            <a:ext cx="577296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可列集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性质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可列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可数个可数集的并仍可数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421187" y="2537849"/>
            <a:ext cx="278611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性质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endParaRPr lang="zh-CN" altLang="en-US" sz="2200" b="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07369" y="5393689"/>
            <a:ext cx="36852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  <p:sp>
        <p:nvSpPr>
          <p:cNvPr id="18" name="AutoShape 8"/>
          <p:cNvSpPr/>
          <p:nvPr/>
        </p:nvSpPr>
        <p:spPr bwMode="auto">
          <a:xfrm>
            <a:off x="4122639" y="5280797"/>
            <a:ext cx="268487" cy="743460"/>
          </a:xfrm>
          <a:prstGeom prst="leftBrace">
            <a:avLst>
              <a:gd name="adj1" fmla="val 32163"/>
              <a:gd name="adj2" fmla="val 50000"/>
            </a:avLst>
          </a:prstGeom>
          <a:noFill/>
          <a:ln w="9525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C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4421187" y="5155161"/>
            <a:ext cx="5772967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势</a:t>
            </a:r>
            <a:endParaRPr lang="en-US" altLang="zh-CN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性质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可数与不可数的关系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幂集的势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 animBg="1"/>
      <p:bldP spid="5" grpId="0"/>
      <p:bldP spid="6" grpId="0" animBg="1"/>
      <p:bldP spid="15" grpId="0"/>
      <p:bldP spid="17" grpId="0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B27B0022-5EA5-4C15-B269-9CE9521FEF4D}"/>
              </a:ext>
            </a:extLst>
          </p:cNvPr>
          <p:cNvSpPr txBox="1">
            <a:spLocks/>
          </p:cNvSpPr>
          <p:nvPr/>
        </p:nvSpPr>
        <p:spPr>
          <a:xfrm>
            <a:off x="695400" y="1772816"/>
            <a:ext cx="8229600" cy="41052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ts val="1200"/>
              </a:spcAft>
              <a:defRPr/>
            </a:pPr>
            <a:r>
              <a:rPr kumimoji="0" lang="zh-CN" altLang="en-US" sz="2800" b="1" kern="0" dirty="0">
                <a:latin typeface="+mn-ea"/>
              </a:rPr>
              <a:t>比较集合大小的方法</a:t>
            </a:r>
            <a:endParaRPr kumimoji="0" lang="en-US" altLang="zh-CN" sz="2800" b="1" kern="0" dirty="0">
              <a:latin typeface="+mn-ea"/>
            </a:endParaRPr>
          </a:p>
          <a:p>
            <a:pPr marL="0" indent="0">
              <a:buFontTx/>
              <a:buNone/>
              <a:defRPr/>
            </a:pPr>
            <a:r>
              <a:rPr kumimoji="0" lang="zh-CN" altLang="en-US" sz="2400" b="0" kern="0" dirty="0"/>
              <a:t>（</a:t>
            </a:r>
            <a:r>
              <a:rPr kumimoji="0" lang="en-US" altLang="zh-CN" sz="2400" b="0" kern="0" dirty="0"/>
              <a:t>1</a:t>
            </a:r>
            <a:r>
              <a:rPr kumimoji="0" lang="zh-CN" altLang="en-US" sz="2400" b="0" kern="0" dirty="0"/>
              <a:t>）有限集（计数、数数）</a:t>
            </a:r>
            <a:endParaRPr kumimoji="0" lang="en-US" altLang="zh-CN" sz="2400" b="0" kern="0" dirty="0"/>
          </a:p>
          <a:p>
            <a:pPr marL="0" indent="0">
              <a:buFontTx/>
              <a:buNone/>
              <a:defRPr/>
            </a:pPr>
            <a:r>
              <a:rPr kumimoji="0" lang="en-US" altLang="zh-CN" sz="2400" b="0" kern="0" dirty="0"/>
              <a:t>          A={1,2,3}</a:t>
            </a:r>
            <a:r>
              <a:rPr kumimoji="0" lang="zh-CN" altLang="en-US" sz="2400" b="0" kern="0" dirty="0"/>
              <a:t>， </a:t>
            </a:r>
            <a:r>
              <a:rPr kumimoji="0" lang="en-US" altLang="zh-CN" sz="2400" b="0" kern="0" dirty="0"/>
              <a:t>B={</a:t>
            </a:r>
            <a:r>
              <a:rPr kumimoji="0" lang="en-US" altLang="zh-CN" sz="2400" b="0" kern="0" dirty="0" err="1"/>
              <a:t>a,b,c,d,e,f</a:t>
            </a:r>
            <a:r>
              <a:rPr kumimoji="0" lang="en-US" altLang="zh-CN" sz="2400" b="0" kern="0" dirty="0"/>
              <a:t>}</a:t>
            </a:r>
            <a:r>
              <a:rPr kumimoji="0" lang="zh-CN" altLang="en-US" sz="2400" b="0" kern="0" dirty="0"/>
              <a:t>，</a:t>
            </a:r>
            <a:r>
              <a:rPr kumimoji="0" lang="en-US" altLang="zh-CN" sz="2400" b="0" kern="0" dirty="0"/>
              <a:t>|A|&lt;|B|</a:t>
            </a:r>
          </a:p>
          <a:p>
            <a:pPr marL="0" indent="0">
              <a:buFontTx/>
              <a:buNone/>
              <a:defRPr/>
            </a:pPr>
            <a:endParaRPr kumimoji="0" lang="en-US" altLang="zh-CN" sz="2400" b="0" kern="0" dirty="0"/>
          </a:p>
          <a:p>
            <a:pPr marL="0" indent="0">
              <a:buFontTx/>
              <a:buNone/>
              <a:defRPr/>
            </a:pPr>
            <a:r>
              <a:rPr kumimoji="0" lang="zh-CN" altLang="en-US" sz="2400" b="0" kern="0" dirty="0"/>
              <a:t>（</a:t>
            </a:r>
            <a:r>
              <a:rPr kumimoji="0" lang="en-US" altLang="zh-CN" sz="2400" b="0" kern="0" dirty="0"/>
              <a:t>2</a:t>
            </a:r>
            <a:r>
              <a:rPr kumimoji="0" lang="zh-CN" altLang="en-US" sz="2400" b="0" kern="0" dirty="0"/>
              <a:t>）无限集：</a:t>
            </a:r>
            <a:r>
              <a:rPr kumimoji="0" lang="en-US" altLang="zh-CN" sz="2400" b="0" kern="0" dirty="0"/>
              <a:t>          </a:t>
            </a:r>
          </a:p>
          <a:p>
            <a:pPr marL="0" indent="0">
              <a:buFontTx/>
              <a:buNone/>
              <a:defRPr/>
            </a:pPr>
            <a:r>
              <a:rPr kumimoji="0" lang="en-US" altLang="zh-CN" sz="2400" b="0" kern="0" dirty="0"/>
              <a:t>          N={0,1,2,3…} </a:t>
            </a:r>
          </a:p>
          <a:p>
            <a:pPr marL="0" indent="0">
              <a:buFontTx/>
              <a:buNone/>
              <a:defRPr/>
            </a:pPr>
            <a:r>
              <a:rPr kumimoji="0" lang="en-US" altLang="zh-CN" sz="2400" b="0" kern="0" dirty="0"/>
              <a:t>          Z={…-3,-2,-1,0,1,2,3…}</a:t>
            </a:r>
          </a:p>
          <a:p>
            <a:pPr marL="0" indent="0">
              <a:buFontTx/>
              <a:buNone/>
              <a:defRPr/>
            </a:pPr>
            <a:r>
              <a:rPr kumimoji="0" lang="en-US" altLang="zh-CN" sz="2400" b="0" kern="0" dirty="0"/>
              <a:t>          R</a:t>
            </a:r>
          </a:p>
          <a:p>
            <a:pPr marL="0" indent="0">
              <a:buFontTx/>
              <a:buNone/>
              <a:defRPr/>
            </a:pPr>
            <a:endParaRPr kumimoji="0" lang="en-US" altLang="zh-CN" sz="2400" b="0" kern="0" dirty="0"/>
          </a:p>
        </p:txBody>
      </p:sp>
      <p:pic>
        <p:nvPicPr>
          <p:cNvPr id="14" name="图片 1">
            <a:extLst>
              <a:ext uri="{FF2B5EF4-FFF2-40B4-BE49-F238E27FC236}">
                <a16:creationId xmlns:a16="http://schemas.microsoft.com/office/drawing/2014/main" id="{0C8F7749-084B-4A86-972C-5A7A39A76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799" y="3896375"/>
            <a:ext cx="2546722" cy="254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7">
            <a:extLst>
              <a:ext uri="{FF2B5EF4-FFF2-40B4-BE49-F238E27FC236}">
                <a16:creationId xmlns:a16="http://schemas.microsoft.com/office/drawing/2014/main" id="{B9D29CAC-80D6-4E9B-AF87-72EA0BF25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6501" y="5365749"/>
            <a:ext cx="23503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00"/>
                </a:solidFill>
              </a:rPr>
              <a:t>没法计数，</a:t>
            </a:r>
            <a:endParaRPr lang="en-US" altLang="zh-CN" sz="2400" dirty="0">
              <a:solidFill>
                <a:srgbClr val="FFFF00"/>
              </a:solidFill>
            </a:endParaRP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FF00"/>
                </a:solidFill>
              </a:rPr>
              <a:t>如何比较大小？</a:t>
            </a:r>
            <a:endParaRPr lang="en-US" altLang="zh-CN" sz="2400" dirty="0">
              <a:solidFill>
                <a:srgbClr val="FFFF00"/>
              </a:solidFill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3E138FE-3601-43DF-BFFC-A5E7BF99F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537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>
            <a:extLst>
              <a:ext uri="{FF2B5EF4-FFF2-40B4-BE49-F238E27FC236}">
                <a16:creationId xmlns:a16="http://schemas.microsoft.com/office/drawing/2014/main" id="{D3E138FE-3601-43DF-BFFC-A5E7BF99F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773A8E-F91C-4198-9226-8D790A98E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01" y="1628800"/>
            <a:ext cx="9569823" cy="4737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defRPr/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1638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意大利天文学家</a:t>
            </a:r>
            <a:r>
              <a:rPr lang="en-US" altLang="zh-CN" sz="2400" dirty="0" err="1">
                <a:solidFill>
                  <a:schemeClr val="bg1"/>
                </a:solidFill>
                <a:latin typeface="宋体" panose="02010600030101010101" pitchFamily="2" charset="-122"/>
              </a:rPr>
              <a:t>Galieo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比较集合大小的困惑：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buNone/>
              <a:defRPr/>
            </a:pPr>
            <a:r>
              <a:rPr lang="en-US" altLang="zh-CN" sz="2400" dirty="0">
                <a:solidFill>
                  <a:srgbClr val="FFFF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rgbClr val="FFFF00"/>
                </a:solidFill>
                <a:latin typeface="宋体" panose="02010600030101010101" pitchFamily="2" charset="-122"/>
              </a:rPr>
              <a:t>“部分”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等于</a:t>
            </a:r>
            <a:r>
              <a:rPr lang="zh-CN" altLang="en-US" sz="2400" dirty="0">
                <a:solidFill>
                  <a:srgbClr val="FFFF00"/>
                </a:solidFill>
                <a:latin typeface="宋体" panose="02010600030101010101" pitchFamily="2" charset="-122"/>
              </a:rPr>
              <a:t>“整体”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？</a:t>
            </a:r>
            <a:endParaRPr lang="zh-CN" altLang="zh-CN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N={0,1,2,3,…}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 N</a:t>
            </a:r>
            <a:r>
              <a:rPr lang="en-US" altLang="zh-CN" sz="2400" baseline="30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(2)</a:t>
            </a:r>
            <a:r>
              <a:rPr lang="en-US" altLang="zh-CN" sz="24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={0,1,4,9,…}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buFont typeface="Arial" panose="020B0604020202020204" pitchFamily="34" charset="0"/>
              <a:buNone/>
              <a:defRPr/>
            </a:pPr>
            <a:endParaRPr lang="zh-CN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CC7900"/>
              </a:buClr>
              <a:buSzTx/>
              <a:defRPr/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1874-1897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德国数学家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Cantor</a:t>
            </a:r>
            <a:endParaRPr lang="zh-CN" altLang="zh-CN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冲破传统观念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提出集合元素个数之间严格比较大小的标准：</a:t>
            </a:r>
            <a:endParaRPr lang="en-US" altLang="zh-CN" sz="2400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solidFill>
                  <a:srgbClr val="FFFF00"/>
                </a:solidFill>
                <a:latin typeface="宋体" panose="02010600030101010101" pitchFamily="2" charset="-122"/>
              </a:rPr>
              <a:t>  一一配对</a:t>
            </a:r>
            <a:r>
              <a:rPr lang="en-US" altLang="zh-CN" sz="2400" dirty="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FF00"/>
                </a:solidFill>
                <a:latin typeface="宋体" panose="02010600030101010101" pitchFamily="2" charset="-122"/>
              </a:rPr>
              <a:t>愚人比宝法</a:t>
            </a:r>
            <a:r>
              <a:rPr lang="en-US" altLang="zh-CN" sz="2400" dirty="0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</a:p>
        </p:txBody>
      </p:sp>
      <p:pic>
        <p:nvPicPr>
          <p:cNvPr id="7" name="Picture 2" descr="https://gimg2.baidu.com/image_search/src=http%3A%2F%2Fpic3.zhimg.com%2Fv2-a32f4aa9da93a2f8dc818f3f38238a62_r.jpg&amp;refer=http%3A%2F%2Fpic3.zhimg.com&amp;app=2002&amp;size=f9999,10000&amp;q=a80&amp;n=0&amp;g=0n&amp;fmt=jpeg?sec=1638520807&amp;t=7aeb6f25d2a785b342b90dce2b9ae429">
            <a:extLst>
              <a:ext uri="{FF2B5EF4-FFF2-40B4-BE49-F238E27FC236}">
                <a16:creationId xmlns:a16="http://schemas.microsoft.com/office/drawing/2014/main" id="{9A175B2D-9FC5-48C1-AA60-7703696A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7" y="2891643"/>
            <a:ext cx="2883723" cy="309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3">
            <a:extLst>
              <a:ext uri="{FF2B5EF4-FFF2-40B4-BE49-F238E27FC236}">
                <a16:creationId xmlns:a16="http://schemas.microsoft.com/office/drawing/2014/main" id="{0159B380-6A48-4220-AA4D-34113E215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263" y="2446760"/>
            <a:ext cx="33057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计数本质上也是一一配对</a:t>
            </a:r>
            <a:endParaRPr lang="zh-CN" altLang="en-US" sz="2200" dirty="0"/>
          </a:p>
        </p:txBody>
      </p:sp>
      <p:sp>
        <p:nvSpPr>
          <p:cNvPr id="9" name="矩形 5">
            <a:extLst>
              <a:ext uri="{FF2B5EF4-FFF2-40B4-BE49-F238E27FC236}">
                <a16:creationId xmlns:a16="http://schemas.microsoft.com/office/drawing/2014/main" id="{8168850F-615D-4B5D-AC60-5612A9DD5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603" y="6021288"/>
            <a:ext cx="515237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 一一配对</a:t>
            </a:r>
            <a:r>
              <a:rPr lang="en-US" altLang="zh-CN" sz="2200" dirty="0">
                <a:solidFill>
                  <a:srgbClr val="FFFF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愚人比宝法</a:t>
            </a:r>
            <a:r>
              <a:rPr lang="en-US" altLang="zh-CN" sz="2200" dirty="0">
                <a:solidFill>
                  <a:srgbClr val="FFFF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适用于所有集合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799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11424" y="2636912"/>
            <a:ext cx="6093618" cy="224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defRPr/>
            </a:pP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6.2.1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Y,</a:t>
            </a:r>
            <a:r>
              <a:rPr lang="zh-CN" altLang="en-US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0" i="1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sz="2400" b="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有限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到上（满射） 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|≥|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一对一（单射） 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|≤|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</a:p>
          <a:p>
            <a:pPr lvl="2">
              <a:lnSpc>
                <a:spcPct val="150000"/>
              </a:lnSpc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一一对应（双射） 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|=|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CEC699-EC80-470C-87F4-E2C29512B48A}"/>
              </a:ext>
            </a:extLst>
          </p:cNvPr>
          <p:cNvSpPr txBox="1"/>
          <p:nvPr/>
        </p:nvSpPr>
        <p:spPr>
          <a:xfrm>
            <a:off x="505261" y="1844824"/>
            <a:ext cx="10009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宋体" panose="02010600030101010101" pitchFamily="2" charset="-122"/>
              </a:rPr>
              <a:t>一一配对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愚人比宝法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数学抽象：两个集合之间的</a:t>
            </a:r>
            <a:r>
              <a:rPr lang="zh-CN" altLang="en-US" dirty="0">
                <a:latin typeface="宋体" panose="02010600030101010101" pitchFamily="2" charset="-122"/>
              </a:rPr>
              <a:t>函数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6.2.1 </a:t>
            </a:r>
            <a:r>
              <a:rPr lang="zh-CN" altLang="en-US" noProof="1"/>
              <a:t>集合等势</a:t>
            </a:r>
            <a:endParaRPr lang="en-US" altLang="zh-CN" noProof="1"/>
          </a:p>
        </p:txBody>
      </p:sp>
      <p:sp>
        <p:nvSpPr>
          <p:cNvPr id="8" name="文本框 7"/>
          <p:cNvSpPr txBox="1"/>
          <p:nvPr/>
        </p:nvSpPr>
        <p:spPr>
          <a:xfrm>
            <a:off x="1101788" y="2257821"/>
            <a:ext cx="8810636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ym typeface="Symbol" panose="05050102010706020507" pitchFamily="18" charset="2"/>
              </a:rPr>
              <a:t>集合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与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等势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~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：存在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到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的一一对应。</a:t>
            </a:r>
            <a:endParaRPr lang="zh-CN" alt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64805" y="2924944"/>
            <a:ext cx="9843405" cy="33508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342900" indent="-342900"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CC99"/>
                </a:solidFill>
              </a:rPr>
              <a:t>有限集合等势与所含元素个数相同的概念相符</a:t>
            </a:r>
          </a:p>
          <a:p>
            <a:r>
              <a:rPr lang="zh-CN" altLang="en-US" dirty="0"/>
              <a:t>    有限集等势 </a:t>
            </a:r>
            <a:r>
              <a:rPr lang="zh-CN" altLang="en-US" dirty="0">
                <a:sym typeface="Symbol" panose="05050102010706020507" pitchFamily="18" charset="2"/>
              </a:rPr>
              <a:t> </a:t>
            </a:r>
            <a:r>
              <a:rPr lang="zh-CN" altLang="en-US" dirty="0"/>
              <a:t>它们所含元素的个数相同</a:t>
            </a:r>
          </a:p>
          <a:p>
            <a:r>
              <a:rPr lang="zh-CN" altLang="en-US" dirty="0"/>
              <a:t>    有限集不可能与无限集等势</a:t>
            </a:r>
          </a:p>
          <a:p>
            <a:pPr marL="342900" indent="-342900"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CC99"/>
                </a:solidFill>
              </a:rPr>
              <a:t>集合等势是所含元素数量的</a:t>
            </a:r>
            <a:r>
              <a:rPr lang="en-US" altLang="zh-CN" dirty="0">
                <a:solidFill>
                  <a:srgbClr val="FFCC99"/>
                </a:solidFill>
              </a:rPr>
              <a:t>“</a:t>
            </a:r>
            <a:r>
              <a:rPr lang="zh-CN" altLang="en-US" dirty="0">
                <a:solidFill>
                  <a:srgbClr val="FFCC99"/>
                </a:solidFill>
              </a:rPr>
              <a:t>程度</a:t>
            </a:r>
            <a:r>
              <a:rPr lang="en-US" altLang="zh-CN" dirty="0">
                <a:solidFill>
                  <a:srgbClr val="FFCC99"/>
                </a:solidFill>
              </a:rPr>
              <a:t>(</a:t>
            </a:r>
            <a:r>
              <a:rPr lang="zh-CN" altLang="en-US" dirty="0">
                <a:solidFill>
                  <a:srgbClr val="FFCC99"/>
                </a:solidFill>
              </a:rPr>
              <a:t>非绝对个数</a:t>
            </a:r>
            <a:r>
              <a:rPr lang="en-US" altLang="zh-CN" dirty="0">
                <a:solidFill>
                  <a:srgbClr val="FFCC99"/>
                </a:solidFill>
              </a:rPr>
              <a:t>)”</a:t>
            </a:r>
            <a:r>
              <a:rPr lang="zh-CN" altLang="en-US" dirty="0">
                <a:solidFill>
                  <a:srgbClr val="FFCC99"/>
                </a:solidFill>
              </a:rPr>
              <a:t>相同</a:t>
            </a:r>
          </a:p>
          <a:p>
            <a:r>
              <a:rPr lang="zh-CN" altLang="en-US" dirty="0"/>
              <a:t>    无限集与其真子集等势是可能的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7C80"/>
                </a:solidFill>
              </a:rPr>
              <a:t>原因</a:t>
            </a:r>
            <a:r>
              <a:rPr lang="en-US" altLang="zh-CN" dirty="0">
                <a:solidFill>
                  <a:srgbClr val="FF7C80"/>
                </a:solidFill>
              </a:rPr>
              <a:t>?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有限集不可能与其真子集等势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7C80"/>
                </a:solidFill>
              </a:rPr>
              <a:t>原因</a:t>
            </a:r>
            <a:r>
              <a:rPr lang="en-US" altLang="zh-CN" dirty="0">
                <a:solidFill>
                  <a:srgbClr val="FF7C80"/>
                </a:solidFill>
              </a:rPr>
              <a:t>?</a:t>
            </a:r>
            <a:r>
              <a:rPr lang="en-US" altLang="zh-CN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556B7C8-BD8F-4163-8F0F-58F1580CA564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1700808"/>
            <a:ext cx="8713788" cy="43926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defRPr/>
            </a:pPr>
            <a:r>
              <a:rPr kumimoji="0" lang="zh-CN" altLang="en-US" sz="2800" b="1" kern="0" dirty="0">
                <a:latin typeface="Times New Roman" panose="02020603050405020304" pitchFamily="18" charset="0"/>
              </a:rPr>
              <a:t>例  </a:t>
            </a:r>
            <a:r>
              <a:rPr kumimoji="0" lang="zh-CN" altLang="en-US" sz="28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集合等势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Z~N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800" b="1" kern="0" dirty="0">
                <a:latin typeface="+mn-ea"/>
              </a:rPr>
              <a:t> </a:t>
            </a:r>
            <a:r>
              <a:rPr kumimoji="0" lang="zh-CN" altLang="en-US" sz="2400" b="1" kern="0" dirty="0">
                <a:latin typeface="+mn-ea"/>
              </a:rPr>
              <a:t>证：</a:t>
            </a:r>
            <a:endParaRPr kumimoji="0" lang="en-US" altLang="zh-CN" sz="2400" b="1" kern="0" dirty="0">
              <a:latin typeface="+mn-ea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kumimoji="0" lang="en-US" altLang="zh-CN" sz="2400" b="0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ZN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1" kern="0" dirty="0">
                <a:latin typeface="Times New Roman" panose="02020603050405020304" pitchFamily="18" charset="0"/>
              </a:rPr>
              <a:t>          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Z</a:t>
            </a:r>
            <a:r>
              <a:rPr kumimoji="0"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…,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-3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-2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-1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0,  </a:t>
            </a:r>
            <a:r>
              <a:rPr kumimoji="0" lang="en-US" altLang="zh-CN" sz="24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1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…</a:t>
            </a:r>
            <a:r>
              <a:rPr kumimoji="0" lang="zh-CN" altLang="en-US" sz="2400" b="1" kern="0" dirty="0">
                <a:latin typeface="Times New Roman" panose="02020603050405020304" pitchFamily="18" charset="0"/>
              </a:rPr>
              <a:t> </a:t>
            </a:r>
            <a:endParaRPr kumimoji="0" lang="en-US" altLang="zh-CN" sz="2400" b="1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en-US" altLang="zh-CN" sz="2400" b="1" kern="0" dirty="0">
                <a:latin typeface="Times New Roman" panose="02020603050405020304" pitchFamily="18" charset="0"/>
              </a:rPr>
              <a:t>        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en-US" altLang="zh-CN" sz="2400" b="1" kern="0" dirty="0">
                <a:latin typeface="Times New Roman" panose="02020603050405020304" pitchFamily="18" charset="0"/>
              </a:rPr>
              <a:t>          N</a:t>
            </a:r>
            <a:r>
              <a:rPr kumimoji="0" lang="zh-CN" altLang="en-US" sz="2400" b="1" kern="0" dirty="0">
                <a:latin typeface="Times New Roman" panose="02020603050405020304" pitchFamily="18" charset="0"/>
              </a:rPr>
              <a:t>：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0, 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1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3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5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  </a:t>
            </a:r>
            <a:r>
              <a:rPr kumimoji="0"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kumimoji="0" lang="en-US" altLang="zh-CN" sz="2400" b="1" kern="0" dirty="0">
                <a:latin typeface="Times New Roman" panose="02020603050405020304" pitchFamily="18" charset="0"/>
              </a:rPr>
              <a:t>,…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1" kern="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567A8F2E-F2DE-4957-B056-1B18A61E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79" y="3437534"/>
            <a:ext cx="3638550" cy="928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9A78273-C9A2-4BE5-9589-723E09733223}"/>
              </a:ext>
            </a:extLst>
          </p:cNvPr>
          <p:cNvCxnSpPr>
            <a:cxnSpLocks/>
          </p:cNvCxnSpPr>
          <p:nvPr/>
        </p:nvCxnSpPr>
        <p:spPr>
          <a:xfrm flipH="1">
            <a:off x="2423741" y="5013920"/>
            <a:ext cx="1728788" cy="431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5F8AC2C-B6E9-4309-81E4-12A5AD9C5D1E}"/>
              </a:ext>
            </a:extLst>
          </p:cNvPr>
          <p:cNvCxnSpPr>
            <a:cxnSpLocks/>
          </p:cNvCxnSpPr>
          <p:nvPr/>
        </p:nvCxnSpPr>
        <p:spPr>
          <a:xfrm flipH="1">
            <a:off x="3865192" y="5013920"/>
            <a:ext cx="1008063" cy="431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5ED6567-7588-4B1D-8046-129364CC2B8B}"/>
              </a:ext>
            </a:extLst>
          </p:cNvPr>
          <p:cNvCxnSpPr>
            <a:cxnSpLocks/>
          </p:cNvCxnSpPr>
          <p:nvPr/>
        </p:nvCxnSpPr>
        <p:spPr>
          <a:xfrm flipH="1">
            <a:off x="4579567" y="5013920"/>
            <a:ext cx="690563" cy="431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521F8BC-40B4-49FB-9023-24AC3C5BD9B2}"/>
              </a:ext>
            </a:extLst>
          </p:cNvPr>
          <p:cNvCxnSpPr>
            <a:cxnSpLocks/>
          </p:cNvCxnSpPr>
          <p:nvPr/>
        </p:nvCxnSpPr>
        <p:spPr>
          <a:xfrm flipH="1">
            <a:off x="3144466" y="5013920"/>
            <a:ext cx="1435100" cy="431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7F1BAEC-F82F-4554-A630-F82B1C55B167}"/>
              </a:ext>
            </a:extLst>
          </p:cNvPr>
          <p:cNvCxnSpPr>
            <a:cxnSpLocks/>
          </p:cNvCxnSpPr>
          <p:nvPr/>
        </p:nvCxnSpPr>
        <p:spPr>
          <a:xfrm flipH="1">
            <a:off x="2741242" y="5013920"/>
            <a:ext cx="1008063" cy="4318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67F743A-68A1-4220-B2B7-2D86A997B17F}"/>
              </a:ext>
            </a:extLst>
          </p:cNvPr>
          <p:cNvCxnSpPr>
            <a:cxnSpLocks/>
          </p:cNvCxnSpPr>
          <p:nvPr/>
        </p:nvCxnSpPr>
        <p:spPr>
          <a:xfrm>
            <a:off x="3296866" y="5013920"/>
            <a:ext cx="147638" cy="4318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5EB3202-729F-42DB-BB40-D164EFD50488}"/>
              </a:ext>
            </a:extLst>
          </p:cNvPr>
          <p:cNvCxnSpPr>
            <a:cxnSpLocks/>
          </p:cNvCxnSpPr>
          <p:nvPr/>
        </p:nvCxnSpPr>
        <p:spPr>
          <a:xfrm>
            <a:off x="2841255" y="5013920"/>
            <a:ext cx="1381125" cy="4318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41E5432-6F54-4620-863F-CCF0496E8D26}"/>
              </a:ext>
            </a:extLst>
          </p:cNvPr>
          <p:cNvSpPr/>
          <p:nvPr/>
        </p:nvSpPr>
        <p:spPr>
          <a:xfrm>
            <a:off x="5270130" y="5825399"/>
            <a:ext cx="67687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zh-CN" altLang="en-US" sz="2200" kern="0" dirty="0">
                <a:solidFill>
                  <a:schemeClr val="bg1"/>
                </a:solidFill>
              </a:rPr>
              <a:t> 则 </a:t>
            </a:r>
            <a:r>
              <a:rPr kumimoji="0" lang="en-US" altLang="zh-CN" sz="2200" i="1" kern="0" dirty="0">
                <a:solidFill>
                  <a:schemeClr val="bg1"/>
                </a:solidFill>
              </a:rPr>
              <a:t>f </a:t>
            </a:r>
            <a:r>
              <a:rPr kumimoji="0" lang="zh-CN" altLang="en-US" sz="2200" kern="0" dirty="0">
                <a:solidFill>
                  <a:schemeClr val="bg1"/>
                </a:solidFill>
              </a:rPr>
              <a:t>是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Z</a:t>
            </a:r>
            <a:r>
              <a:rPr kumimoji="0" lang="zh-CN" altLang="en-US" sz="2200" kern="0" dirty="0">
                <a:solidFill>
                  <a:schemeClr val="bg1"/>
                </a:solidFill>
              </a:rPr>
              <a:t>到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N</a:t>
            </a:r>
            <a:r>
              <a:rPr kumimoji="0" lang="zh-CN" altLang="en-US" sz="2200" kern="0" dirty="0">
                <a:solidFill>
                  <a:schemeClr val="bg1"/>
                </a:solidFill>
              </a:rPr>
              <a:t>的</a:t>
            </a:r>
            <a:r>
              <a:rPr kumimoji="0" lang="zh-CN" altLang="en-US" sz="2200" kern="0" dirty="0">
                <a:solidFill>
                  <a:srgbClr val="FFFF00"/>
                </a:solidFill>
              </a:rPr>
              <a:t>一一对应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(</a:t>
            </a:r>
            <a:r>
              <a:rPr kumimoji="0" lang="zh-CN" altLang="en-US" sz="2200" kern="0" dirty="0">
                <a:solidFill>
                  <a:schemeClr val="bg1"/>
                </a:solidFill>
              </a:rPr>
              <a:t>双射函数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), </a:t>
            </a:r>
            <a:r>
              <a:rPr kumimoji="0" lang="zh-CN" altLang="en-US" sz="2200" kern="0" dirty="0">
                <a:solidFill>
                  <a:schemeClr val="bg1"/>
                </a:solidFill>
              </a:rPr>
              <a:t>从而证明了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Z</a:t>
            </a:r>
            <a:r>
              <a:rPr kumimoji="0" lang="en-US" altLang="zh-CN" sz="2200" b="0" kern="0" dirty="0">
                <a:solidFill>
                  <a:schemeClr val="bg1"/>
                </a:solidFill>
                <a:sym typeface="Symbol" panose="05050102010706020507" pitchFamily="18" charset="2"/>
              </a:rPr>
              <a:t>~</a:t>
            </a:r>
            <a:r>
              <a:rPr kumimoji="0" lang="en-US" altLang="zh-CN" sz="2200" kern="0" dirty="0">
                <a:solidFill>
                  <a:schemeClr val="bg1"/>
                </a:solidFill>
              </a:rPr>
              <a:t>N.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38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370A07C5-148A-412C-8E8D-EC356D24E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59" y="3081362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-2/1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7042CA5D-569A-4F42-983C-AEF1767CC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744" y="2873400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[5]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613420FA-E3AB-4ED9-A199-35C76850D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5259" y="3081362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-1/1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BD37408E-045D-46A1-849E-49BAC35D4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144" y="2873400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[4]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BE7F2F17-0928-49D9-8D83-A88A056D0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59" y="3081362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-3/1</a:t>
            </a: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BF930E65-E518-4686-A3A2-4EBE32C37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020" y="2873400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[18]</a:t>
            </a:r>
          </a:p>
        </p:txBody>
      </p:sp>
      <p:sp>
        <p:nvSpPr>
          <p:cNvPr id="25" name="Text Box 11">
            <a:extLst>
              <a:ext uri="{FF2B5EF4-FFF2-40B4-BE49-F238E27FC236}">
                <a16:creationId xmlns:a16="http://schemas.microsoft.com/office/drawing/2014/main" id="{911055F5-66D2-4C9E-8B94-43F6D15DB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884" y="3081362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2/1</a:t>
            </a: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338B5343-4FF5-4196-A9F7-4C96BEAD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057" y="2873400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[10]</a:t>
            </a:r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48FB787B-0568-49F7-A0C2-7C4CBEAB4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6097" y="3081362"/>
            <a:ext cx="569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3/1</a:t>
            </a:r>
          </a:p>
        </p:txBody>
      </p:sp>
      <p:sp>
        <p:nvSpPr>
          <p:cNvPr id="28" name="Text Box 14">
            <a:extLst>
              <a:ext uri="{FF2B5EF4-FFF2-40B4-BE49-F238E27FC236}">
                <a16:creationId xmlns:a16="http://schemas.microsoft.com/office/drawing/2014/main" id="{57685317-169B-42E8-BFFC-057E5C6A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270" y="2873400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[11]</a:t>
            </a:r>
          </a:p>
        </p:txBody>
      </p:sp>
      <p:sp>
        <p:nvSpPr>
          <p:cNvPr id="29" name="Text Box 16">
            <a:extLst>
              <a:ext uri="{FF2B5EF4-FFF2-40B4-BE49-F238E27FC236}">
                <a16:creationId xmlns:a16="http://schemas.microsoft.com/office/drawing/2014/main" id="{1A40FD9D-0ED2-4742-B87D-67ACBA2BA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809" y="3081362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73E486FC-94B1-4E4D-836D-0A4BEBDB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959" y="2873399"/>
            <a:ext cx="444500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[0]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5611A478-7444-4344-9F2B-12D2A802B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384" y="3081362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1/1</a:t>
            </a: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145977FA-B8C3-4E6C-A59C-864F64687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682" y="2873400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[1]</a:t>
            </a:r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913549EC-C399-45E3-B754-30C4CCFAD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59" y="3873525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-2/2</a:t>
            </a:r>
          </a:p>
        </p:txBody>
      </p:sp>
      <p:sp>
        <p:nvSpPr>
          <p:cNvPr id="34" name="Text Box 22">
            <a:extLst>
              <a:ext uri="{FF2B5EF4-FFF2-40B4-BE49-F238E27FC236}">
                <a16:creationId xmlns:a16="http://schemas.microsoft.com/office/drawing/2014/main" id="{82A9B689-E146-48C7-9973-3816DD7D5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5259" y="3873525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-1/2</a:t>
            </a:r>
          </a:p>
        </p:txBody>
      </p:sp>
      <p:sp>
        <p:nvSpPr>
          <p:cNvPr id="35" name="Text Box 23">
            <a:extLst>
              <a:ext uri="{FF2B5EF4-FFF2-40B4-BE49-F238E27FC236}">
                <a16:creationId xmlns:a16="http://schemas.microsoft.com/office/drawing/2014/main" id="{BEA3C5B3-D37A-4888-B0A0-78AA33C6D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144" y="3665562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[3]</a:t>
            </a:r>
          </a:p>
        </p:txBody>
      </p:sp>
      <p:sp>
        <p:nvSpPr>
          <p:cNvPr id="36" name="Text Box 24">
            <a:extLst>
              <a:ext uri="{FF2B5EF4-FFF2-40B4-BE49-F238E27FC236}">
                <a16:creationId xmlns:a16="http://schemas.microsoft.com/office/drawing/2014/main" id="{66635FB2-1E51-48F7-B40E-A3255B95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59" y="3873525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-3/2</a:t>
            </a:r>
          </a:p>
        </p:txBody>
      </p:sp>
      <p:sp>
        <p:nvSpPr>
          <p:cNvPr id="37" name="Text Box 25">
            <a:extLst>
              <a:ext uri="{FF2B5EF4-FFF2-40B4-BE49-F238E27FC236}">
                <a16:creationId xmlns:a16="http://schemas.microsoft.com/office/drawing/2014/main" id="{A0236294-9BF3-452A-BD0D-E08DEC523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007" y="3606825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[17]</a:t>
            </a:r>
          </a:p>
        </p:txBody>
      </p:sp>
      <p:sp>
        <p:nvSpPr>
          <p:cNvPr id="38" name="Text Box 27">
            <a:extLst>
              <a:ext uri="{FF2B5EF4-FFF2-40B4-BE49-F238E27FC236}">
                <a16:creationId xmlns:a16="http://schemas.microsoft.com/office/drawing/2014/main" id="{A719449A-4189-406E-8DE7-3D937D911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884" y="3873525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2/2</a:t>
            </a:r>
          </a:p>
        </p:txBody>
      </p:sp>
      <p:sp>
        <p:nvSpPr>
          <p:cNvPr id="39" name="Text Box 28">
            <a:extLst>
              <a:ext uri="{FF2B5EF4-FFF2-40B4-BE49-F238E27FC236}">
                <a16:creationId xmlns:a16="http://schemas.microsoft.com/office/drawing/2014/main" id="{82243288-2702-4802-B85D-70D5C542B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6097" y="3873525"/>
            <a:ext cx="569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3/2</a:t>
            </a:r>
          </a:p>
        </p:txBody>
      </p:sp>
      <p:sp>
        <p:nvSpPr>
          <p:cNvPr id="40" name="Text Box 29">
            <a:extLst>
              <a:ext uri="{FF2B5EF4-FFF2-40B4-BE49-F238E27FC236}">
                <a16:creationId xmlns:a16="http://schemas.microsoft.com/office/drawing/2014/main" id="{D8D20C0C-E683-4D19-922F-644B3C167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270" y="3665562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[12]</a:t>
            </a:r>
          </a:p>
        </p:txBody>
      </p:sp>
      <p:sp>
        <p:nvSpPr>
          <p:cNvPr id="41" name="Text Box 31">
            <a:extLst>
              <a:ext uri="{FF2B5EF4-FFF2-40B4-BE49-F238E27FC236}">
                <a16:creationId xmlns:a16="http://schemas.microsoft.com/office/drawing/2014/main" id="{C7F73DCF-ECBC-4326-8E2F-CF013D2AE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809" y="3873525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0/2</a:t>
            </a:r>
          </a:p>
        </p:txBody>
      </p:sp>
      <p:sp>
        <p:nvSpPr>
          <p:cNvPr id="42" name="Text Box 32">
            <a:extLst>
              <a:ext uri="{FF2B5EF4-FFF2-40B4-BE49-F238E27FC236}">
                <a16:creationId xmlns:a16="http://schemas.microsoft.com/office/drawing/2014/main" id="{5AFA3592-1981-43D5-A2B3-EB5514EC6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384" y="3873525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</a:t>
            </a:r>
          </a:p>
        </p:txBody>
      </p:sp>
      <p:sp>
        <p:nvSpPr>
          <p:cNvPr id="43" name="Text Box 33">
            <a:extLst>
              <a:ext uri="{FF2B5EF4-FFF2-40B4-BE49-F238E27FC236}">
                <a16:creationId xmlns:a16="http://schemas.microsoft.com/office/drawing/2014/main" id="{3D32534D-2865-40EA-935D-BA984C0B0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682" y="3665562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[2]</a:t>
            </a:r>
          </a:p>
        </p:txBody>
      </p:sp>
      <p:sp>
        <p:nvSpPr>
          <p:cNvPr id="44" name="Text Box 35">
            <a:extLst>
              <a:ext uri="{FF2B5EF4-FFF2-40B4-BE49-F238E27FC236}">
                <a16:creationId xmlns:a16="http://schemas.microsoft.com/office/drawing/2014/main" id="{9E36A162-1A59-442C-A7FA-1BA160507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59" y="4703787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-2/3</a:t>
            </a:r>
          </a:p>
        </p:txBody>
      </p:sp>
      <p:sp>
        <p:nvSpPr>
          <p:cNvPr id="45" name="Text Box 36">
            <a:extLst>
              <a:ext uri="{FF2B5EF4-FFF2-40B4-BE49-F238E27FC236}">
                <a16:creationId xmlns:a16="http://schemas.microsoft.com/office/drawing/2014/main" id="{C693291D-53E8-47B0-8B2F-EAFA62A6F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744" y="4495825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[6]</a:t>
            </a:r>
          </a:p>
        </p:txBody>
      </p:sp>
      <p:sp>
        <p:nvSpPr>
          <p:cNvPr id="46" name="Text Box 37">
            <a:extLst>
              <a:ext uri="{FF2B5EF4-FFF2-40B4-BE49-F238E27FC236}">
                <a16:creationId xmlns:a16="http://schemas.microsoft.com/office/drawing/2014/main" id="{290E6CA8-854F-4D12-9885-00548CFDE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5259" y="4703787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-1/3</a:t>
            </a:r>
          </a:p>
        </p:txBody>
      </p:sp>
      <p:sp>
        <p:nvSpPr>
          <p:cNvPr id="47" name="Text Box 38">
            <a:extLst>
              <a:ext uri="{FF2B5EF4-FFF2-40B4-BE49-F238E27FC236}">
                <a16:creationId xmlns:a16="http://schemas.microsoft.com/office/drawing/2014/main" id="{8B00832F-0EBD-4E47-947D-601CC9365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144" y="4495825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[7]</a:t>
            </a:r>
          </a:p>
        </p:txBody>
      </p:sp>
      <p:sp>
        <p:nvSpPr>
          <p:cNvPr id="48" name="Text Box 39">
            <a:extLst>
              <a:ext uri="{FF2B5EF4-FFF2-40B4-BE49-F238E27FC236}">
                <a16:creationId xmlns:a16="http://schemas.microsoft.com/office/drawing/2014/main" id="{2B1EE6AC-321D-4D23-8E51-6D357FE1B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59" y="4703787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-3/3</a:t>
            </a:r>
          </a:p>
        </p:txBody>
      </p:sp>
      <p:sp>
        <p:nvSpPr>
          <p:cNvPr id="49" name="Text Box 41">
            <a:extLst>
              <a:ext uri="{FF2B5EF4-FFF2-40B4-BE49-F238E27FC236}">
                <a16:creationId xmlns:a16="http://schemas.microsoft.com/office/drawing/2014/main" id="{BB62D3E1-648A-4F06-AFC5-B83FFC12C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884" y="4703787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2/3</a:t>
            </a:r>
          </a:p>
        </p:txBody>
      </p:sp>
      <p:sp>
        <p:nvSpPr>
          <p:cNvPr id="50" name="Text Box 42">
            <a:extLst>
              <a:ext uri="{FF2B5EF4-FFF2-40B4-BE49-F238E27FC236}">
                <a16:creationId xmlns:a16="http://schemas.microsoft.com/office/drawing/2014/main" id="{3EFBD586-DF44-4BE7-A386-FF5C34799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9182" y="4495825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[9]</a:t>
            </a:r>
          </a:p>
        </p:txBody>
      </p:sp>
      <p:sp>
        <p:nvSpPr>
          <p:cNvPr id="51" name="Text Box 43">
            <a:extLst>
              <a:ext uri="{FF2B5EF4-FFF2-40B4-BE49-F238E27FC236}">
                <a16:creationId xmlns:a16="http://schemas.microsoft.com/office/drawing/2014/main" id="{B25BB1E0-69EC-4B80-B5A7-0DDD13EFA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6097" y="4703787"/>
            <a:ext cx="569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3/3</a:t>
            </a:r>
          </a:p>
        </p:txBody>
      </p:sp>
      <p:sp>
        <p:nvSpPr>
          <p:cNvPr id="52" name="Text Box 45">
            <a:extLst>
              <a:ext uri="{FF2B5EF4-FFF2-40B4-BE49-F238E27FC236}">
                <a16:creationId xmlns:a16="http://schemas.microsoft.com/office/drawing/2014/main" id="{1DF3343E-81BB-401D-A1C4-8D7CB66FD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809" y="4703787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0/3</a:t>
            </a:r>
          </a:p>
        </p:txBody>
      </p:sp>
      <p:sp>
        <p:nvSpPr>
          <p:cNvPr id="53" name="Text Box 46">
            <a:extLst>
              <a:ext uri="{FF2B5EF4-FFF2-40B4-BE49-F238E27FC236}">
                <a16:creationId xmlns:a16="http://schemas.microsoft.com/office/drawing/2014/main" id="{991DA3E9-F528-4593-A7AA-A587DE8A7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384" y="4703787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1/3</a:t>
            </a:r>
          </a:p>
        </p:txBody>
      </p:sp>
      <p:sp>
        <p:nvSpPr>
          <p:cNvPr id="54" name="Text Box 47">
            <a:extLst>
              <a:ext uri="{FF2B5EF4-FFF2-40B4-BE49-F238E27FC236}">
                <a16:creationId xmlns:a16="http://schemas.microsoft.com/office/drawing/2014/main" id="{9C2DD970-C38D-4362-A984-2222E865B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682" y="4495825"/>
            <a:ext cx="444352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[8]</a:t>
            </a:r>
          </a:p>
        </p:txBody>
      </p:sp>
      <p:sp>
        <p:nvSpPr>
          <p:cNvPr id="55" name="Text Box 49">
            <a:extLst>
              <a:ext uri="{FF2B5EF4-FFF2-40B4-BE49-F238E27FC236}">
                <a16:creationId xmlns:a16="http://schemas.microsoft.com/office/drawing/2014/main" id="{B6B9578D-B3F9-44BC-BC3A-A782154F5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859" y="5495950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-2/4</a:t>
            </a:r>
          </a:p>
        </p:txBody>
      </p:sp>
      <p:sp>
        <p:nvSpPr>
          <p:cNvPr id="56" name="Text Box 50">
            <a:extLst>
              <a:ext uri="{FF2B5EF4-FFF2-40B4-BE49-F238E27FC236}">
                <a16:creationId xmlns:a16="http://schemas.microsoft.com/office/drawing/2014/main" id="{CC97685D-8911-4EFB-81CD-C5CC0BC22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5259" y="5495950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-1/4</a:t>
            </a:r>
          </a:p>
        </p:txBody>
      </p:sp>
      <p:sp>
        <p:nvSpPr>
          <p:cNvPr id="57" name="Text Box 51">
            <a:extLst>
              <a:ext uri="{FF2B5EF4-FFF2-40B4-BE49-F238E27FC236}">
                <a16:creationId xmlns:a16="http://schemas.microsoft.com/office/drawing/2014/main" id="{CE9F4D53-9DC0-486F-977A-DEF55A4CC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020" y="5287987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[15]</a:t>
            </a:r>
          </a:p>
        </p:txBody>
      </p:sp>
      <p:sp>
        <p:nvSpPr>
          <p:cNvPr id="58" name="Text Box 52">
            <a:extLst>
              <a:ext uri="{FF2B5EF4-FFF2-40B4-BE49-F238E27FC236}">
                <a16:creationId xmlns:a16="http://schemas.microsoft.com/office/drawing/2014/main" id="{52C69FDF-3459-40CD-9209-BE9442EAE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59" y="5495950"/>
            <a:ext cx="698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-3/4</a:t>
            </a:r>
          </a:p>
        </p:txBody>
      </p:sp>
      <p:sp>
        <p:nvSpPr>
          <p:cNvPr id="59" name="Text Box 53">
            <a:extLst>
              <a:ext uri="{FF2B5EF4-FFF2-40B4-BE49-F238E27FC236}">
                <a16:creationId xmlns:a16="http://schemas.microsoft.com/office/drawing/2014/main" id="{012E411F-FBFB-4514-A1CD-B0E26DF7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020" y="5287987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[16]</a:t>
            </a:r>
          </a:p>
        </p:txBody>
      </p:sp>
      <p:sp>
        <p:nvSpPr>
          <p:cNvPr id="60" name="Text Box 55">
            <a:extLst>
              <a:ext uri="{FF2B5EF4-FFF2-40B4-BE49-F238E27FC236}">
                <a16:creationId xmlns:a16="http://schemas.microsoft.com/office/drawing/2014/main" id="{E7B604B9-0516-4C45-90BF-D0641C4EA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884" y="5495950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2/4</a:t>
            </a:r>
          </a:p>
        </p:txBody>
      </p:sp>
      <p:sp>
        <p:nvSpPr>
          <p:cNvPr id="61" name="Text Box 56">
            <a:extLst>
              <a:ext uri="{FF2B5EF4-FFF2-40B4-BE49-F238E27FC236}">
                <a16:creationId xmlns:a16="http://schemas.microsoft.com/office/drawing/2014/main" id="{A043CEED-5D5C-44BE-B7FD-325DA9BB9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6097" y="5495950"/>
            <a:ext cx="569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3/4</a:t>
            </a:r>
          </a:p>
        </p:txBody>
      </p:sp>
      <p:sp>
        <p:nvSpPr>
          <p:cNvPr id="62" name="Text Box 57">
            <a:extLst>
              <a:ext uri="{FF2B5EF4-FFF2-40B4-BE49-F238E27FC236}">
                <a16:creationId xmlns:a16="http://schemas.microsoft.com/office/drawing/2014/main" id="{C457A1A6-BD2C-4DE4-938E-B45222B80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270" y="5287987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[13]</a:t>
            </a:r>
          </a:p>
        </p:txBody>
      </p:sp>
      <p:sp>
        <p:nvSpPr>
          <p:cNvPr id="63" name="Text Box 59">
            <a:extLst>
              <a:ext uri="{FF2B5EF4-FFF2-40B4-BE49-F238E27FC236}">
                <a16:creationId xmlns:a16="http://schemas.microsoft.com/office/drawing/2014/main" id="{EF801980-B09F-4549-835D-6FA251A25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3809" y="5495950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0/4</a:t>
            </a:r>
          </a:p>
        </p:txBody>
      </p:sp>
      <p:sp>
        <p:nvSpPr>
          <p:cNvPr id="64" name="Text Box 60">
            <a:extLst>
              <a:ext uri="{FF2B5EF4-FFF2-40B4-BE49-F238E27FC236}">
                <a16:creationId xmlns:a16="http://schemas.microsoft.com/office/drawing/2014/main" id="{AC6C5BCB-8E90-4E83-B9D3-FFB6A7D57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8384" y="5495950"/>
            <a:ext cx="56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</a:p>
        </p:txBody>
      </p:sp>
      <p:sp>
        <p:nvSpPr>
          <p:cNvPr id="65" name="Text Box 61">
            <a:extLst>
              <a:ext uri="{FF2B5EF4-FFF2-40B4-BE49-F238E27FC236}">
                <a16:creationId xmlns:a16="http://schemas.microsoft.com/office/drawing/2014/main" id="{7D913055-4341-4DBB-B792-591B24DF1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557" y="5287987"/>
            <a:ext cx="530915" cy="29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aseline="-250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[14]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93FF9766-65D6-48C9-BB78-0DAD1C5BB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3146" y="3925912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" name="Text Box 66">
            <a:extLst>
              <a:ext uri="{FF2B5EF4-FFF2-40B4-BE49-F238E27FC236}">
                <a16:creationId xmlns:a16="http://schemas.microsoft.com/office/drawing/2014/main" id="{5A3D3274-40EC-4ED6-A745-23211D316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47180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" name="Text Box 67">
            <a:extLst>
              <a:ext uri="{FF2B5EF4-FFF2-40B4-BE49-F238E27FC236}">
                <a16:creationId xmlns:a16="http://schemas.microsoft.com/office/drawing/2014/main" id="{B71BF77B-B77E-47EC-9073-706CDE245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5510237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" name="Text Box 68">
            <a:extLst>
              <a:ext uri="{FF2B5EF4-FFF2-40B4-BE49-F238E27FC236}">
                <a16:creationId xmlns:a16="http://schemas.microsoft.com/office/drawing/2014/main" id="{64DEDC52-B6DD-46A1-A55E-28072A4C8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9496" y="3097237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Text Box 69">
            <a:extLst>
              <a:ext uri="{FF2B5EF4-FFF2-40B4-BE49-F238E27FC236}">
                <a16:creationId xmlns:a16="http://schemas.microsoft.com/office/drawing/2014/main" id="{A45D3EBD-DE40-4223-8A31-5D1707F71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5846" y="38894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Text Box 70">
            <a:extLst>
              <a:ext uri="{FF2B5EF4-FFF2-40B4-BE49-F238E27FC236}">
                <a16:creationId xmlns:a16="http://schemas.microsoft.com/office/drawing/2014/main" id="{4A2EDBC5-97B8-49F4-B2ED-CC70CAD17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5846" y="47180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" name="Text Box 71">
            <a:extLst>
              <a:ext uri="{FF2B5EF4-FFF2-40B4-BE49-F238E27FC236}">
                <a16:creationId xmlns:a16="http://schemas.microsoft.com/office/drawing/2014/main" id="{54E37007-800E-4495-B0A2-596609F06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1246" y="5511824"/>
            <a:ext cx="442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73" name="Text Box 72">
            <a:extLst>
              <a:ext uri="{FF2B5EF4-FFF2-40B4-BE49-F238E27FC236}">
                <a16:creationId xmlns:a16="http://schemas.microsoft.com/office/drawing/2014/main" id="{9B073B26-2B8C-4A12-AF47-04636B34D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959" y="59785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" name="Line 73">
            <a:extLst>
              <a:ext uri="{FF2B5EF4-FFF2-40B4-BE49-F238E27FC236}">
                <a16:creationId xmlns:a16="http://schemas.microsoft.com/office/drawing/2014/main" id="{7C1A7001-7BFF-433F-8402-28EDC2357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584" y="3314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4">
            <a:extLst>
              <a:ext uri="{FF2B5EF4-FFF2-40B4-BE49-F238E27FC236}">
                <a16:creationId xmlns:a16="http://schemas.microsoft.com/office/drawing/2014/main" id="{2ABF4C1F-B7AD-46F4-97E3-1AFD7254A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0171" y="3478236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75">
            <a:extLst>
              <a:ext uri="{FF2B5EF4-FFF2-40B4-BE49-F238E27FC236}">
                <a16:creationId xmlns:a16="http://schemas.microsoft.com/office/drawing/2014/main" id="{2BE74A86-8FAA-49CD-822D-B4092EC23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584" y="4106886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76">
            <a:extLst>
              <a:ext uri="{FF2B5EF4-FFF2-40B4-BE49-F238E27FC236}">
                <a16:creationId xmlns:a16="http://schemas.microsoft.com/office/drawing/2014/main" id="{88BAC1A4-7295-4750-8305-F89A74FEA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2009" y="4116411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77">
            <a:extLst>
              <a:ext uri="{FF2B5EF4-FFF2-40B4-BE49-F238E27FC236}">
                <a16:creationId xmlns:a16="http://schemas.microsoft.com/office/drawing/2014/main" id="{A519053D-E1B8-4DE6-89D1-C4BD8D561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584" y="3478236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78">
            <a:extLst>
              <a:ext uri="{FF2B5EF4-FFF2-40B4-BE49-F238E27FC236}">
                <a16:creationId xmlns:a16="http://schemas.microsoft.com/office/drawing/2014/main" id="{3363445B-8994-4D8C-A9DA-699287EF9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171" y="3314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79">
            <a:extLst>
              <a:ext uri="{FF2B5EF4-FFF2-40B4-BE49-F238E27FC236}">
                <a16:creationId xmlns:a16="http://schemas.microsoft.com/office/drawing/2014/main" id="{49E4C513-0B18-4038-83D0-06576EF5E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734" y="3494111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Line 80">
            <a:extLst>
              <a:ext uri="{FF2B5EF4-FFF2-40B4-BE49-F238E27FC236}">
                <a16:creationId xmlns:a16="http://schemas.microsoft.com/office/drawing/2014/main" id="{F7FE5C6B-92DD-445C-900A-A9D459665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3734" y="4286274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81">
            <a:extLst>
              <a:ext uri="{FF2B5EF4-FFF2-40B4-BE49-F238E27FC236}">
                <a16:creationId xmlns:a16="http://schemas.microsoft.com/office/drawing/2014/main" id="{D24CABD0-CFF0-4A87-8A46-E2280FE2F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171" y="4937149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2">
            <a:extLst>
              <a:ext uri="{FF2B5EF4-FFF2-40B4-BE49-F238E27FC236}">
                <a16:creationId xmlns:a16="http://schemas.microsoft.com/office/drawing/2014/main" id="{FA3F94D2-3DB4-4A00-B3D2-1B30B7B0D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3759" y="4937149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83">
            <a:extLst>
              <a:ext uri="{FF2B5EF4-FFF2-40B4-BE49-F238E27FC236}">
                <a16:creationId xmlns:a16="http://schemas.microsoft.com/office/drawing/2014/main" id="{24A2DF4B-EC4F-4F45-9F34-9EF9C4D99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2621" y="4937149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84">
            <a:extLst>
              <a:ext uri="{FF2B5EF4-FFF2-40B4-BE49-F238E27FC236}">
                <a16:creationId xmlns:a16="http://schemas.microsoft.com/office/drawing/2014/main" id="{C49838C0-3BC5-4084-80F7-DE18F1C02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6084" y="4937149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85">
            <a:extLst>
              <a:ext uri="{FF2B5EF4-FFF2-40B4-BE49-F238E27FC236}">
                <a16:creationId xmlns:a16="http://schemas.microsoft.com/office/drawing/2014/main" id="{DE87B156-A6D3-4DC3-B970-00485142A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3321" y="4249761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86">
            <a:extLst>
              <a:ext uri="{FF2B5EF4-FFF2-40B4-BE49-F238E27FC236}">
                <a16:creationId xmlns:a16="http://schemas.microsoft.com/office/drawing/2014/main" id="{FF314F8C-7290-4C4E-88CA-2552A0692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3321" y="3459186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87">
            <a:extLst>
              <a:ext uri="{FF2B5EF4-FFF2-40B4-BE49-F238E27FC236}">
                <a16:creationId xmlns:a16="http://schemas.microsoft.com/office/drawing/2014/main" id="{D1545807-7842-4E1D-AB5C-161A26BB5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7796" y="3354411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88">
            <a:extLst>
              <a:ext uri="{FF2B5EF4-FFF2-40B4-BE49-F238E27FC236}">
                <a16:creationId xmlns:a16="http://schemas.microsoft.com/office/drawing/2014/main" id="{2DD7C54F-21BF-4B07-8A47-714451F00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9946" y="3524274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Line 89">
            <a:extLst>
              <a:ext uri="{FF2B5EF4-FFF2-40B4-BE49-F238E27FC236}">
                <a16:creationId xmlns:a16="http://schemas.microsoft.com/office/drawing/2014/main" id="{0F27013D-263C-489F-8AF1-255701762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9946" y="4249761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90">
            <a:extLst>
              <a:ext uri="{FF2B5EF4-FFF2-40B4-BE49-F238E27FC236}">
                <a16:creationId xmlns:a16="http://schemas.microsoft.com/office/drawing/2014/main" id="{6842C368-5F28-4CB0-B407-40EEA6746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9946" y="5114949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Line 91">
            <a:extLst>
              <a:ext uri="{FF2B5EF4-FFF2-40B4-BE49-F238E27FC236}">
                <a16:creationId xmlns:a16="http://schemas.microsoft.com/office/drawing/2014/main" id="{0A6DE66E-1D1F-46DB-A94B-50DEABB2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7796" y="573407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Line 92">
            <a:extLst>
              <a:ext uri="{FF2B5EF4-FFF2-40B4-BE49-F238E27FC236}">
                <a16:creationId xmlns:a16="http://schemas.microsoft.com/office/drawing/2014/main" id="{D1794C5E-567B-4883-9824-64CA7B835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2271" y="5727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Line 93">
            <a:extLst>
              <a:ext uri="{FF2B5EF4-FFF2-40B4-BE49-F238E27FC236}">
                <a16:creationId xmlns:a16="http://schemas.microsoft.com/office/drawing/2014/main" id="{43326183-69A5-4BD6-B830-E0848CE30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584" y="5727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94">
            <a:extLst>
              <a:ext uri="{FF2B5EF4-FFF2-40B4-BE49-F238E27FC236}">
                <a16:creationId xmlns:a16="http://schemas.microsoft.com/office/drawing/2014/main" id="{4567F8BA-6EA9-45DF-8294-C82F1ACC9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3759" y="5727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95">
            <a:extLst>
              <a:ext uri="{FF2B5EF4-FFF2-40B4-BE49-F238E27FC236}">
                <a16:creationId xmlns:a16="http://schemas.microsoft.com/office/drawing/2014/main" id="{5B0E7706-A2CD-411E-B36F-7A0ABBAAD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9171" y="5727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Line 96">
            <a:extLst>
              <a:ext uri="{FF2B5EF4-FFF2-40B4-BE49-F238E27FC236}">
                <a16:creationId xmlns:a16="http://schemas.microsoft.com/office/drawing/2014/main" id="{73262A64-CC88-4616-A3CD-63F0370079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7109" y="5727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97">
            <a:extLst>
              <a:ext uri="{FF2B5EF4-FFF2-40B4-BE49-F238E27FC236}">
                <a16:creationId xmlns:a16="http://schemas.microsoft.com/office/drawing/2014/main" id="{172BE241-B023-4F0A-9BC0-A59A6AD0F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1209" y="5078436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98">
            <a:extLst>
              <a:ext uri="{FF2B5EF4-FFF2-40B4-BE49-F238E27FC236}">
                <a16:creationId xmlns:a16="http://schemas.microsoft.com/office/drawing/2014/main" id="{FC165274-34DD-44A7-8A5E-AFDF31A2A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1209" y="4249761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99">
            <a:extLst>
              <a:ext uri="{FF2B5EF4-FFF2-40B4-BE49-F238E27FC236}">
                <a16:creationId xmlns:a16="http://schemas.microsoft.com/office/drawing/2014/main" id="{0448A675-A555-4124-A596-53856B721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1209" y="3459186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Line 100">
            <a:extLst>
              <a:ext uri="{FF2B5EF4-FFF2-40B4-BE49-F238E27FC236}">
                <a16:creationId xmlns:a16="http://schemas.microsoft.com/office/drawing/2014/main" id="{2FB769E6-5161-4338-8244-5CE829AFFA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3146" y="3314724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" name="Picture 101" descr="Ellip073">
            <a:extLst>
              <a:ext uri="{FF2B5EF4-FFF2-40B4-BE49-F238E27FC236}">
                <a16:creationId xmlns:a16="http://schemas.microsoft.com/office/drawing/2014/main" id="{D2203AC1-B4CB-4C75-BE65-467A2F2C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234" y="5876702"/>
            <a:ext cx="100806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Text Box 102">
            <a:extLst>
              <a:ext uri="{FF2B5EF4-FFF2-40B4-BE49-F238E27FC236}">
                <a16:creationId xmlns:a16="http://schemas.microsoft.com/office/drawing/2014/main" id="{28B8F1C3-2ACA-43F7-BAD8-B715A47B6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5634" y="5805264"/>
            <a:ext cx="703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PLAY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E3A0369-3EFB-4E64-A717-57A3A5618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496" y="1628800"/>
            <a:ext cx="82296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tabLst>
                <a:tab pos="1352550" algn="l"/>
              </a:tabLst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N~Q</a:t>
            </a:r>
          </a:p>
          <a:p>
            <a:pPr>
              <a:spcBef>
                <a:spcPts val="1200"/>
              </a:spcBef>
              <a:buClrTx/>
              <a:buSzTx/>
              <a:buNone/>
            </a:pP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</a:rPr>
              <a:t>  证：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Text Box 65">
            <a:extLst>
              <a:ext uri="{FF2B5EF4-FFF2-40B4-BE49-F238E27FC236}">
                <a16:creationId xmlns:a16="http://schemas.microsoft.com/office/drawing/2014/main" id="{E98CF5B5-3606-48A2-93FA-F3C5275FE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909" y="30607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" name="Text Box 72">
            <a:extLst>
              <a:ext uri="{FF2B5EF4-FFF2-40B4-BE49-F238E27FC236}">
                <a16:creationId xmlns:a16="http://schemas.microsoft.com/office/drawing/2014/main" id="{96AEB653-3F05-485C-A784-AAC1CA76E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0209" y="5996012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7" name="Text Box 72">
            <a:extLst>
              <a:ext uri="{FF2B5EF4-FFF2-40B4-BE49-F238E27FC236}">
                <a16:creationId xmlns:a16="http://schemas.microsoft.com/office/drawing/2014/main" id="{7797BD3E-CC6F-4A5D-B56E-961B87DE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446" y="59944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8" name="Text Box 72">
            <a:extLst>
              <a:ext uri="{FF2B5EF4-FFF2-40B4-BE49-F238E27FC236}">
                <a16:creationId xmlns:a16="http://schemas.microsoft.com/office/drawing/2014/main" id="{2393952C-EDB4-41F5-8B44-D920AC93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509" y="59944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9" name="Text Box 72">
            <a:extLst>
              <a:ext uri="{FF2B5EF4-FFF2-40B4-BE49-F238E27FC236}">
                <a16:creationId xmlns:a16="http://schemas.microsoft.com/office/drawing/2014/main" id="{506DF487-7C6D-4B9B-8E23-CAD46E70E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921" y="5999187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0" name="Text Box 72">
            <a:extLst>
              <a:ext uri="{FF2B5EF4-FFF2-40B4-BE49-F238E27FC236}">
                <a16:creationId xmlns:a16="http://schemas.microsoft.com/office/drawing/2014/main" id="{D213FDC0-5897-4F01-959C-EB9E8636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7421" y="59785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1" name="Text Box 72">
            <a:extLst>
              <a:ext uri="{FF2B5EF4-FFF2-40B4-BE49-F238E27FC236}">
                <a16:creationId xmlns:a16="http://schemas.microsoft.com/office/drawing/2014/main" id="{5DB1F049-1A4F-4E4E-BE27-05467BA12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046" y="59944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FF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21E1FF9-4D36-412B-AAC1-0ABD015CC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621" y="2135212"/>
            <a:ext cx="6440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双射函数  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: N→Q, 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下方的有理数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.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43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ntr" presetSubtype="10" repeatCount="indefinit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15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2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6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7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8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15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2500"/>
                            </p:stCondLst>
                            <p:childTnLst>
                              <p:par>
                                <p:cTn id="1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3500"/>
                            </p:stCondLst>
                            <p:childTnLst>
                              <p:par>
                                <p:cTn id="1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4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5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6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7500"/>
                            </p:stCondLst>
                            <p:childTnLst>
                              <p:par>
                                <p:cTn id="1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8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9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0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15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2500"/>
                            </p:stCondLst>
                            <p:childTnLst>
                              <p:par>
                                <p:cTn id="1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3500"/>
                            </p:stCondLst>
                            <p:childTnLst>
                              <p:par>
                                <p:cTn id="1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4500"/>
                            </p:stCondLst>
                            <p:childTnLst>
                              <p:par>
                                <p:cTn id="1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5500"/>
                            </p:stCondLst>
                            <p:childTnLst>
                              <p:par>
                                <p:cTn id="1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6500"/>
                            </p:stCondLst>
                            <p:childTnLst>
                              <p:par>
                                <p:cTn id="1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37500"/>
                            </p:stCondLst>
                            <p:childTnLst>
                              <p:par>
                                <p:cTn id="1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8500"/>
                            </p:stCondLst>
                            <p:childTnLst>
                              <p:par>
                                <p:cTn id="1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9500"/>
                            </p:stCondLst>
                            <p:childTnLst>
                              <p:par>
                                <p:cTn id="1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0500"/>
                            </p:stCondLst>
                            <p:childTnLst>
                              <p:par>
                                <p:cTn id="1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41500"/>
                            </p:stCondLst>
                            <p:childTnLst>
                              <p:par>
                                <p:cTn id="1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2500"/>
                            </p:stCondLst>
                            <p:childTnLst>
                              <p:par>
                                <p:cTn id="19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3500"/>
                            </p:stCondLst>
                            <p:childTnLst>
                              <p:par>
                                <p:cTn id="20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4500"/>
                            </p:stCondLst>
                            <p:childTnLst>
                              <p:par>
                                <p:cTn id="2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5500"/>
                            </p:stCondLst>
                            <p:childTnLst>
                              <p:par>
                                <p:cTn id="2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6500"/>
                            </p:stCondLst>
                            <p:childTnLst>
                              <p:par>
                                <p:cTn id="2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5" grpId="0"/>
      <p:bldP spid="37" grpId="0"/>
      <p:bldP spid="40" grpId="0"/>
      <p:bldP spid="43" grpId="0"/>
      <p:bldP spid="45" grpId="0"/>
      <p:bldP spid="47" grpId="0"/>
      <p:bldP spid="50" grpId="0"/>
      <p:bldP spid="54" grpId="0"/>
      <p:bldP spid="57" grpId="0"/>
      <p:bldP spid="59" grpId="0"/>
      <p:bldP spid="62" grpId="0"/>
      <p:bldP spid="65" grpId="0"/>
      <p:bldP spid="103" grpId="0"/>
      <p:bldP spid="103" grpId="1"/>
      <p:bldP spid="1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9BB9DA4-3982-4651-AD3C-AF75B492062A}"/>
              </a:ext>
            </a:extLst>
          </p:cNvPr>
          <p:cNvSpPr txBox="1">
            <a:spLocks noChangeArrowheads="1"/>
          </p:cNvSpPr>
          <p:nvPr/>
        </p:nvSpPr>
        <p:spPr>
          <a:xfrm>
            <a:off x="970368" y="1763714"/>
            <a:ext cx="8713787" cy="59055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defRPr/>
            </a:pPr>
            <a:r>
              <a:rPr kumimoji="0" lang="zh-CN" altLang="en-US" sz="2800" b="1" kern="0" dirty="0">
                <a:latin typeface="Times New Roman" panose="02020603050405020304" pitchFamily="18" charset="0"/>
              </a:rPr>
              <a:t>例  </a:t>
            </a:r>
            <a:r>
              <a:rPr kumimoji="0" lang="zh-CN" altLang="en-US" sz="28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集合等势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(0,1)~R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f(x)=tan(x-1/2)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800" b="1" kern="0" dirty="0">
                <a:latin typeface="+mn-ea"/>
                <a:sym typeface="Symbol" panose="05050102010706020507" pitchFamily="18" charset="2"/>
              </a:rPr>
              <a:t>课后拓展</a:t>
            </a:r>
            <a:r>
              <a:rPr kumimoji="0" lang="zh-CN" altLang="en-US" sz="2800" b="1" kern="0" dirty="0">
                <a:solidFill>
                  <a:srgbClr val="FFFF00"/>
                </a:solidFill>
                <a:latin typeface="+mn-ea"/>
                <a:sym typeface="Symbol" panose="05050102010706020507" pitchFamily="18" charset="2"/>
              </a:rPr>
              <a:t>：</a:t>
            </a:r>
            <a:endParaRPr kumimoji="0" lang="en-US" altLang="zh-CN" sz="2800" b="1" kern="0" dirty="0">
              <a:solidFill>
                <a:srgbClr val="FFFF00"/>
              </a:solidFill>
              <a:latin typeface="+mn-ea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任何实数区间都与实数集合</a:t>
            </a:r>
            <a:r>
              <a:rPr kumimoji="0" lang="en-US" altLang="zh-CN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R</a:t>
            </a:r>
            <a:r>
              <a:rPr kumimoji="0" lang="zh-CN" altLang="en-US" sz="2400" b="1" kern="0" dirty="0">
                <a:solidFill>
                  <a:srgbClr val="FFFF00"/>
                </a:solidFill>
                <a:latin typeface="Times New Roman" panose="02020603050405020304" pitchFamily="18" charset="0"/>
              </a:rPr>
              <a:t>等势</a:t>
            </a:r>
            <a:endParaRPr kumimoji="0" lang="en-US" altLang="zh-CN" sz="2400" b="1" kern="0" dirty="0">
              <a:solidFill>
                <a:srgbClr val="FFFF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kumimoji="0" lang="en-US" altLang="zh-CN" sz="2400" b="0" kern="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A={</a:t>
            </a:r>
            <a:r>
              <a:rPr kumimoji="0" lang="en-US" altLang="zh-CN" sz="2400" b="0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a,b,c,d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}~N</a:t>
            </a:r>
            <a:r>
              <a:rPr kumimoji="0" lang="en-US" altLang="zh-CN" sz="2400" b="0" kern="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={1,2,3,4}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f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AN</a:t>
            </a:r>
            <a:r>
              <a:rPr kumimoji="0" lang="en-US" altLang="zh-CN" sz="2400" b="0" kern="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kumimoji="0" lang="zh-CN" altLang="en-US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0" lang="en-US" altLang="zh-CN" sz="2400" b="0" kern="0" dirty="0">
                <a:latin typeface="Times New Roman" panose="02020603050405020304" pitchFamily="18" charset="0"/>
                <a:sym typeface="Symbol" panose="05050102010706020507" pitchFamily="18" charset="2"/>
              </a:rPr>
              <a:t>f(a)=1, f(b)=2, f(c)=3, f(d)=4</a:t>
            </a:r>
          </a:p>
        </p:txBody>
      </p:sp>
      <p:pic>
        <p:nvPicPr>
          <p:cNvPr id="20" name="图片 2">
            <a:extLst>
              <a:ext uri="{FF2B5EF4-FFF2-40B4-BE49-F238E27FC236}">
                <a16:creationId xmlns:a16="http://schemas.microsoft.com/office/drawing/2014/main" id="{832BC2EE-4754-4E88-8C67-6000CBBFA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26" y="1763714"/>
            <a:ext cx="2879725" cy="332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1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07368" y="1700808"/>
            <a:ext cx="11161240" cy="1792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2800" b="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等势的性质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自反性：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en-US" altLang="zh-CN" sz="2200" b="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对称性：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对任意两个集合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lang="en-US" altLang="zh-CN" sz="2200" b="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200" b="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传递性：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对任意三个集合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9416" y="3729044"/>
            <a:ext cx="11017224" cy="2689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上的一一对应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所以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</a:p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zh-CN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存在一一对应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000" b="0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的一一对应 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0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对任意集合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 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存在一一对应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</a:p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的一一对应</a:t>
            </a:r>
          </a:p>
          <a:p>
            <a:pPr lvl="1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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5360" y="3729044"/>
            <a:ext cx="93610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集合的等势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7368" y="1625084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定义</a:t>
            </a:r>
            <a:r>
              <a:rPr lang="en-US" altLang="zh-CN" noProof="1"/>
              <a:t>6.2.2  </a:t>
            </a:r>
            <a:r>
              <a:rPr lang="zh-CN" altLang="en-US" noProof="1"/>
              <a:t>可数集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83432" y="2211748"/>
            <a:ext cx="10369152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noProof="1"/>
              <a:t>(1)</a:t>
            </a:r>
            <a:r>
              <a:rPr lang="zh-CN" altLang="en-US" noProof="1"/>
              <a:t> 有限集</a:t>
            </a:r>
            <a:endParaRPr lang="en-US" altLang="zh-CN" noProof="1"/>
          </a:p>
          <a:p>
            <a:pPr>
              <a:lnSpc>
                <a:spcPct val="130000"/>
              </a:lnSpc>
            </a:pPr>
            <a:r>
              <a:rPr lang="en-US" altLang="zh-CN" noProof="1"/>
              <a:t>(2)</a:t>
            </a:r>
            <a:r>
              <a:rPr lang="zh-CN" altLang="en-US" noProof="1"/>
              <a:t> 与</a:t>
            </a:r>
            <a:r>
              <a:rPr lang="en-US" altLang="zh-CN" i="1" noProof="1"/>
              <a:t>N</a:t>
            </a:r>
            <a:r>
              <a:rPr lang="zh-CN" altLang="en-US" noProof="1"/>
              <a:t>等势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367808" y="2148304"/>
            <a:ext cx="7272808" cy="24096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noProof="1">
                <a:solidFill>
                  <a:srgbClr val="FFCCFF"/>
                </a:solidFill>
              </a:rPr>
              <a:t>例</a:t>
            </a:r>
            <a:r>
              <a:rPr lang="en-US" altLang="zh-CN" sz="2200" noProof="1">
                <a:solidFill>
                  <a:srgbClr val="FFCCFF"/>
                </a:solidFill>
              </a:rPr>
              <a:t>6.2.3</a:t>
            </a:r>
            <a:r>
              <a:rPr lang="zh-CN" altLang="en-US" sz="2200" noProof="1">
                <a:solidFill>
                  <a:srgbClr val="FFCCFF"/>
                </a:solidFill>
              </a:rPr>
              <a:t>  </a:t>
            </a:r>
            <a:endParaRPr lang="en-US" altLang="zh-CN" sz="2200" noProof="1">
              <a:solidFill>
                <a:srgbClr val="FFCCFF"/>
              </a:solidFill>
            </a:endParaRP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sym typeface="Symbol" panose="05050102010706020507" pitchFamily="18" charset="2"/>
              </a:rPr>
              <a:t>(1){</a:t>
            </a:r>
            <a:r>
              <a:rPr lang="en-US" altLang="zh-CN" sz="2200" i="1" dirty="0" err="1">
                <a:sym typeface="Symbol" panose="05050102010706020507" pitchFamily="18" charset="2"/>
              </a:rPr>
              <a:t>a,b,c,d</a:t>
            </a:r>
            <a:r>
              <a:rPr lang="en-US" altLang="zh-CN" sz="2200" dirty="0">
                <a:sym typeface="Symbol" panose="05050102010706020507" pitchFamily="18" charset="2"/>
              </a:rPr>
              <a:t>}, {</a:t>
            </a:r>
            <a:r>
              <a:rPr lang="en-US" altLang="zh-CN" sz="2200" i="1" dirty="0" err="1">
                <a:sym typeface="Symbol" panose="05050102010706020507" pitchFamily="18" charset="2"/>
              </a:rPr>
              <a:t>e,f,g,h</a:t>
            </a:r>
            <a:r>
              <a:rPr lang="en-US" altLang="zh-CN" sz="2200" dirty="0">
                <a:sym typeface="Symbol" panose="05050102010706020507" pitchFamily="18" charset="2"/>
              </a:rPr>
              <a:t>}, </a:t>
            </a:r>
            <a:r>
              <a:rPr lang="en-US" altLang="zh-CN" sz="2200" i="1" dirty="0">
                <a:sym typeface="Symbol" panose="05050102010706020507" pitchFamily="18" charset="2"/>
              </a:rPr>
              <a:t>N</a:t>
            </a:r>
            <a:r>
              <a:rPr lang="en-US" altLang="zh-CN" sz="2200" baseline="-25000" dirty="0">
                <a:sym typeface="Symbol" panose="05050102010706020507" pitchFamily="18" charset="2"/>
              </a:rPr>
              <a:t>4</a:t>
            </a:r>
            <a:r>
              <a:rPr lang="zh-CN" altLang="en-US" sz="2200" dirty="0">
                <a:sym typeface="Symbol" panose="05050102010706020507" pitchFamily="18" charset="2"/>
              </a:rPr>
              <a:t>是可数集</a:t>
            </a: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sym typeface="Symbol" panose="05050102010706020507" pitchFamily="18" charset="2"/>
              </a:rPr>
              <a:t>(2)</a:t>
            </a:r>
            <a:r>
              <a:rPr lang="zh-CN" altLang="en-US" sz="2200" dirty="0">
                <a:sym typeface="Symbol" panose="05050102010706020507" pitchFamily="18" charset="2"/>
              </a:rPr>
              <a:t>非负偶数集合</a:t>
            </a:r>
            <a:r>
              <a:rPr lang="en-US" altLang="zh-CN" sz="2200" i="1" dirty="0">
                <a:sym typeface="Symbol" panose="05050102010706020507" pitchFamily="18" charset="2"/>
              </a:rPr>
              <a:t>M</a:t>
            </a:r>
            <a:r>
              <a:rPr lang="zh-CN" altLang="en-US" sz="2200" dirty="0">
                <a:sym typeface="Symbol" panose="05050102010706020507" pitchFamily="18" charset="2"/>
              </a:rPr>
              <a:t>是可数集</a:t>
            </a:r>
            <a:r>
              <a:rPr lang="en-US" altLang="zh-CN" sz="2200" dirty="0"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sym typeface="Symbol" panose="05050102010706020507" pitchFamily="18" charset="2"/>
              </a:rPr>
              <a:t>f</a:t>
            </a:r>
            <a:r>
              <a:rPr lang="zh-CN" altLang="en-US" sz="2200" dirty="0">
                <a:sym typeface="Symbol" panose="05050102010706020507" pitchFamily="18" charset="2"/>
              </a:rPr>
              <a:t>：</a:t>
            </a:r>
            <a:r>
              <a:rPr lang="en-US" altLang="zh-CN" sz="2200" i="1" dirty="0">
                <a:sym typeface="Symbol" panose="05050102010706020507" pitchFamily="18" charset="2"/>
              </a:rPr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</a:t>
            </a:r>
            <a:r>
              <a:rPr lang="en-US" altLang="zh-CN" sz="2200" i="1" dirty="0">
                <a:sym typeface="Symbol" panose="05050102010706020507" pitchFamily="18" charset="2"/>
              </a:rPr>
              <a:t>M</a:t>
            </a:r>
            <a:r>
              <a:rPr lang="en-US" altLang="zh-CN" sz="2200" dirty="0">
                <a:sym typeface="Symbol" panose="05050102010706020507" pitchFamily="18" charset="2"/>
              </a:rPr>
              <a:t>, </a:t>
            </a:r>
            <a:r>
              <a:rPr lang="en-US" altLang="zh-CN" sz="2200" i="1" dirty="0">
                <a:sym typeface="Symbol" panose="05050102010706020507" pitchFamily="18" charset="2"/>
              </a:rPr>
              <a:t>f</a:t>
            </a:r>
            <a:r>
              <a:rPr lang="en-US" altLang="zh-CN" sz="2200" dirty="0">
                <a:sym typeface="Symbol" panose="05050102010706020507" pitchFamily="18" charset="2"/>
              </a:rPr>
              <a:t>(</a:t>
            </a:r>
            <a:r>
              <a:rPr lang="en-US" altLang="zh-CN" sz="2200" i="1" dirty="0">
                <a:sym typeface="Symbol" panose="05050102010706020507" pitchFamily="18" charset="2"/>
              </a:rPr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)=2</a:t>
            </a:r>
            <a:r>
              <a:rPr lang="en-US" altLang="zh-CN" sz="2200" i="1" dirty="0">
                <a:sym typeface="Symbol" panose="05050102010706020507" pitchFamily="18" charset="2"/>
              </a:rPr>
              <a:t>n</a:t>
            </a:r>
            <a:r>
              <a:rPr lang="en-US" altLang="zh-CN" sz="2200" dirty="0">
                <a:sym typeface="Symbol" panose="05050102010706020507" pitchFamily="18" charset="2"/>
              </a:rPr>
              <a:t>)</a:t>
            </a:r>
            <a:endParaRPr lang="zh-CN" altLang="en-US" sz="2200" dirty="0">
              <a:sym typeface="Symbol" panose="05050102010706020507" pitchFamily="18" charset="2"/>
            </a:endParaRP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>
                <a:sym typeface="Symbol" panose="05050102010706020507" pitchFamily="18" charset="2"/>
              </a:rPr>
              <a:t>(3)</a:t>
            </a:r>
            <a:r>
              <a:rPr lang="en-US" altLang="zh-CN" sz="2200" i="1" dirty="0">
                <a:sym typeface="Symbol" panose="05050102010706020507" pitchFamily="18" charset="2"/>
              </a:rPr>
              <a:t>Z</a:t>
            </a:r>
            <a:r>
              <a:rPr lang="zh-CN" altLang="en-US" sz="2200" dirty="0">
                <a:sym typeface="Symbol" panose="05050102010706020507" pitchFamily="18" charset="2"/>
              </a:rPr>
              <a:t>是可数集</a:t>
            </a:r>
          </a:p>
          <a:p>
            <a:pPr marL="0" indent="0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dirty="0">
                <a:sym typeface="Symbol" panose="05050102010706020507" pitchFamily="18" charset="2"/>
              </a:rPr>
              <a:t>              </a:t>
            </a:r>
            <a:r>
              <a:rPr lang="en-US" altLang="zh-CN" sz="2200" i="1" dirty="0">
                <a:sym typeface="Symbol" panose="05050102010706020507" pitchFamily="18" charset="2"/>
              </a:rPr>
              <a:t>f</a:t>
            </a:r>
            <a:r>
              <a:rPr lang="zh-CN" altLang="en-US" sz="2200" dirty="0">
                <a:sym typeface="Symbol" panose="05050102010706020507" pitchFamily="18" charset="2"/>
              </a:rPr>
              <a:t>：</a:t>
            </a:r>
            <a:r>
              <a:rPr lang="en-US" altLang="zh-CN" sz="2200" i="1" dirty="0">
                <a:sym typeface="Symbol" panose="05050102010706020507" pitchFamily="18" charset="2"/>
              </a:rPr>
              <a:t>Z</a:t>
            </a:r>
            <a:r>
              <a:rPr lang="en-US" altLang="zh-CN" sz="2200" dirty="0">
                <a:sym typeface="Symbol" panose="05050102010706020507" pitchFamily="18" charset="2"/>
              </a:rPr>
              <a:t></a:t>
            </a:r>
            <a:r>
              <a:rPr lang="en-US" altLang="zh-CN" sz="2200" i="1" dirty="0">
                <a:sym typeface="Symbol" panose="05050102010706020507" pitchFamily="18" charset="2"/>
              </a:rPr>
              <a:t>N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可数集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/>
        </p:nvGraphicFramePr>
        <p:xfrm>
          <a:off x="5591944" y="4621382"/>
          <a:ext cx="2580568" cy="812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r:id="rId3" imgW="1574165" imgH="480060" progId="Equation.DSMT4">
                  <p:embed/>
                </p:oleObj>
              </mc:Choice>
              <mc:Fallback>
                <p:oleObj r:id="rId3" imgW="1574165" imgH="4800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4621382"/>
                        <a:ext cx="2580568" cy="8128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2641"/>
          <p:cNvSpPr txBox="1"/>
          <p:nvPr/>
        </p:nvSpPr>
        <p:spPr>
          <a:xfrm>
            <a:off x="479376" y="1700808"/>
            <a:ext cx="8785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6.2.2   </a:t>
            </a:r>
            <a:r>
              <a:rPr lang="zh-CN" altLang="en-US" noProof="1"/>
              <a:t>可数集与序列</a:t>
            </a:r>
          </a:p>
        </p:txBody>
      </p:sp>
      <p:sp>
        <p:nvSpPr>
          <p:cNvPr id="8" name="文本占位符 112641"/>
          <p:cNvSpPr txBox="1"/>
          <p:nvPr/>
        </p:nvSpPr>
        <p:spPr>
          <a:xfrm>
            <a:off x="1253462" y="2429311"/>
            <a:ext cx="9685076" cy="6549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 存在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元素序列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含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的所有元素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且无重复元素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0" lang="en-US" altLang="zh-CN" sz="20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65146" y="3335394"/>
            <a:ext cx="10369152" cy="304593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dirty="0"/>
              <a:t>假定</a:t>
            </a:r>
            <a:r>
              <a:rPr lang="en-US" altLang="zh-CN" sz="2000" i="1" dirty="0"/>
              <a:t>A</a:t>
            </a:r>
            <a:r>
              <a:rPr lang="zh-CN" altLang="en-US" sz="2000" dirty="0"/>
              <a:t>是无限集</a:t>
            </a:r>
            <a:r>
              <a:rPr lang="en-US" altLang="zh-CN" sz="2000" dirty="0"/>
              <a:t>(</a:t>
            </a:r>
            <a:r>
              <a:rPr lang="en-US" altLang="zh-CN" sz="2000" i="1" dirty="0"/>
              <a:t>A</a:t>
            </a:r>
            <a:r>
              <a:rPr lang="zh-CN" altLang="en-US" sz="2000" dirty="0"/>
              <a:t>有限的情况显然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(</a:t>
            </a:r>
            <a:r>
              <a:rPr lang="zh-CN" altLang="en-US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) </a:t>
            </a:r>
            <a:r>
              <a:rPr lang="zh-CN" altLang="en-US" sz="2000" dirty="0"/>
              <a:t>设集合</a:t>
            </a:r>
            <a:r>
              <a:rPr lang="en-US" altLang="zh-CN" sz="2000" i="1" dirty="0"/>
              <a:t>A</a:t>
            </a:r>
            <a:r>
              <a:rPr lang="zh-CN" altLang="en-US" sz="2000" dirty="0"/>
              <a:t>可数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     </a:t>
            </a:r>
            <a:r>
              <a:rPr lang="en-US" altLang="zh-CN" sz="2000" i="1" dirty="0"/>
              <a:t>A</a:t>
            </a:r>
            <a:r>
              <a:rPr lang="en-US" altLang="zh-CN" sz="2000" dirty="0"/>
              <a:t>~</a:t>
            </a:r>
            <a:r>
              <a:rPr lang="en-US" altLang="zh-CN" sz="2000" i="1" dirty="0"/>
              <a:t>N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 </a:t>
            </a:r>
            <a:r>
              <a:rPr lang="zh-CN" altLang="en-US" sz="2000" dirty="0"/>
              <a:t>一一对应</a:t>
            </a:r>
            <a:r>
              <a:rPr lang="en-US" altLang="zh-CN" sz="2000" i="1" dirty="0"/>
              <a:t>f</a:t>
            </a:r>
            <a:r>
              <a:rPr lang="zh-CN" altLang="en-US" sz="2000" dirty="0"/>
              <a:t>：</a:t>
            </a:r>
            <a:r>
              <a:rPr lang="en-US" altLang="zh-CN" sz="2000" i="1" dirty="0"/>
              <a:t>N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dirty="0"/>
              <a:t>{</a:t>
            </a:r>
            <a:r>
              <a:rPr lang="en-US" altLang="zh-CN" sz="2000" i="1" dirty="0"/>
              <a:t>f</a:t>
            </a:r>
            <a:r>
              <a:rPr lang="en-US" altLang="zh-CN" sz="2000" dirty="0"/>
              <a:t>(0),</a:t>
            </a:r>
            <a:r>
              <a:rPr lang="en-US" altLang="zh-CN" sz="2000" i="1" dirty="0"/>
              <a:t>f</a:t>
            </a:r>
            <a:r>
              <a:rPr lang="en-US" altLang="zh-CN" sz="2000" dirty="0"/>
              <a:t>(1),</a:t>
            </a:r>
            <a:r>
              <a:rPr lang="en-US" altLang="zh-CN" sz="2000" i="1" dirty="0"/>
              <a:t>f</a:t>
            </a:r>
            <a:r>
              <a:rPr lang="en-US" altLang="zh-CN" sz="2000" dirty="0"/>
              <a:t>(2),…,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),…}=</a:t>
            </a:r>
            <a:r>
              <a:rPr lang="en-US" altLang="zh-CN" sz="2000" i="1" dirty="0">
                <a:sym typeface="Symbol" panose="05050102010706020507" pitchFamily="18" charset="2"/>
              </a:rPr>
              <a:t>A </a:t>
            </a:r>
            <a:r>
              <a:rPr lang="en-US" altLang="zh-CN" sz="2000" dirty="0">
                <a:sym typeface="Symbol" panose="05050102010706020507" pitchFamily="18" charset="2"/>
              </a:rPr>
              <a:t>       (</a:t>
            </a:r>
            <a:r>
              <a:rPr lang="en-US" altLang="en-US" sz="2000" dirty="0">
                <a:sym typeface="Symbol" panose="05050102010706020507" pitchFamily="18" charset="2"/>
              </a:rPr>
              <a:t>∵</a:t>
            </a:r>
            <a:r>
              <a:rPr lang="en-US" altLang="zh-CN" sz="2000" i="1" dirty="0">
                <a:latin typeface="Times New Roman Italic" panose="02020503050405090304" charset="0"/>
                <a:cs typeface="Times New Roman Italic" panose="02020503050405090304" charset="0"/>
              </a:rPr>
              <a:t>f</a:t>
            </a:r>
            <a:r>
              <a:rPr lang="zh-CN" altLang="en-US" sz="2000" dirty="0"/>
              <a:t>到上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     且序列</a:t>
            </a:r>
            <a:r>
              <a:rPr lang="en-US" altLang="zh-CN" sz="2000" i="1" dirty="0"/>
              <a:t>f</a:t>
            </a:r>
            <a:r>
              <a:rPr lang="en-US" altLang="zh-CN" sz="2000" dirty="0"/>
              <a:t>(0),</a:t>
            </a:r>
            <a:r>
              <a:rPr lang="en-US" altLang="zh-CN" sz="2000" i="1" dirty="0"/>
              <a:t>f</a:t>
            </a:r>
            <a:r>
              <a:rPr lang="en-US" altLang="zh-CN" sz="2000" dirty="0"/>
              <a:t>(1),</a:t>
            </a:r>
            <a:r>
              <a:rPr lang="en-US" altLang="zh-CN" sz="2000" i="1" dirty="0"/>
              <a:t>f</a:t>
            </a:r>
            <a:r>
              <a:rPr lang="en-US" altLang="zh-CN" sz="2000" dirty="0"/>
              <a:t>(2),…,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),…</a:t>
            </a:r>
            <a:r>
              <a:rPr lang="zh-CN" altLang="en-US" sz="2000" dirty="0"/>
              <a:t>中无重复元素       </a:t>
            </a:r>
            <a:r>
              <a:rPr lang="en-US" altLang="zh-CN" sz="2000" dirty="0"/>
              <a:t>(</a:t>
            </a:r>
            <a:r>
              <a:rPr lang="en-US" altLang="en-US" sz="2000" dirty="0">
                <a:sym typeface="Symbol" panose="05050102010706020507" pitchFamily="18" charset="2"/>
              </a:rPr>
              <a:t>∵</a:t>
            </a:r>
            <a:r>
              <a:rPr lang="en-US" altLang="zh-CN" sz="2000" i="1" dirty="0"/>
              <a:t>f</a:t>
            </a:r>
            <a:r>
              <a:rPr lang="zh-CN" altLang="en-US" sz="2000" dirty="0"/>
              <a:t>一对一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(</a:t>
            </a:r>
            <a:r>
              <a:rPr lang="zh-CN" altLang="en-US" sz="2000" dirty="0">
                <a:sym typeface="Symbol" panose="05050102010706020507" pitchFamily="18" charset="2"/>
              </a:rPr>
              <a:t></a:t>
            </a:r>
            <a:r>
              <a:rPr lang="en-US" altLang="zh-CN" sz="2000" dirty="0"/>
              <a:t>) </a:t>
            </a:r>
            <a:r>
              <a:rPr lang="zh-CN" altLang="en-US" sz="2000" dirty="0">
                <a:sym typeface="Symbol" panose="05050102010706020507" pitchFamily="18" charset="2"/>
              </a:rPr>
              <a:t>存在</a:t>
            </a:r>
            <a:r>
              <a:rPr lang="zh-CN" altLang="en-US" sz="2000" dirty="0"/>
              <a:t>无重复元素的</a:t>
            </a:r>
            <a:r>
              <a:rPr lang="en-US" altLang="zh-CN" sz="2000" i="1" dirty="0"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的</a:t>
            </a:r>
            <a:r>
              <a:rPr lang="zh-CN" altLang="en-US" sz="2000" dirty="0"/>
              <a:t>元素的序列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,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n</a:t>
            </a:r>
            <a:r>
              <a:rPr lang="en-US" altLang="zh-CN" sz="2000" dirty="0"/>
              <a:t>,…</a:t>
            </a:r>
          </a:p>
          <a:p>
            <a:pPr>
              <a:lnSpc>
                <a:spcPct val="120000"/>
              </a:lnSpc>
            </a:pPr>
            <a:r>
              <a:rPr lang="en-US" altLang="zh-CN" sz="2000" dirty="0"/>
              <a:t>           {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,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n</a:t>
            </a:r>
            <a:r>
              <a:rPr lang="en-US" altLang="zh-CN" sz="2000" dirty="0"/>
              <a:t>,…}=</a:t>
            </a:r>
            <a:r>
              <a:rPr lang="en-US" altLang="zh-CN" sz="2000" i="1" dirty="0"/>
              <a:t>A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定义函数</a:t>
            </a:r>
            <a:r>
              <a:rPr lang="en-US" altLang="zh-CN" sz="2000" i="1" dirty="0"/>
              <a:t>f</a:t>
            </a:r>
            <a:r>
              <a:rPr lang="zh-CN" altLang="en-US" sz="2000" dirty="0"/>
              <a:t>：</a:t>
            </a:r>
            <a:r>
              <a:rPr lang="en-US" altLang="zh-CN" sz="2000" i="1" dirty="0"/>
              <a:t>N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A</a:t>
            </a:r>
            <a:r>
              <a:rPr lang="zh-CN" altLang="en-US" sz="2000" dirty="0"/>
              <a:t>如下：</a:t>
            </a:r>
            <a:r>
              <a:rPr lang="zh-CN" altLang="en-US" sz="2000" dirty="0">
                <a:sym typeface="Symbol" panose="05050102010706020507" pitchFamily="18" charset="2"/>
              </a:rPr>
              <a:t></a:t>
            </a:r>
            <a:r>
              <a:rPr lang="en-US" altLang="zh-CN" sz="2000" i="1" dirty="0" err="1"/>
              <a:t>n</a:t>
            </a:r>
            <a:r>
              <a:rPr lang="en-US" altLang="zh-CN" sz="2000" dirty="0" err="1">
                <a:sym typeface="Symbol" panose="05050102010706020507" pitchFamily="18" charset="2"/>
              </a:rPr>
              <a:t></a:t>
            </a:r>
            <a:r>
              <a:rPr lang="en-US" altLang="zh-CN" sz="2000" i="1" dirty="0" err="1"/>
              <a:t>N</a:t>
            </a:r>
            <a:r>
              <a:rPr lang="en-US" altLang="zh-CN" sz="2000" dirty="0"/>
              <a:t>,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)=</a:t>
            </a:r>
            <a:r>
              <a:rPr lang="en-US" altLang="zh-CN" sz="2000" i="1" dirty="0"/>
              <a:t> a</a:t>
            </a:r>
            <a:r>
              <a:rPr lang="en-US" altLang="zh-CN" sz="2000" i="1" baseline="-25000" dirty="0"/>
              <a:t>n</a:t>
            </a:r>
            <a:r>
              <a:rPr lang="en-US" altLang="zh-CN" sz="2000" dirty="0"/>
              <a:t>, </a:t>
            </a:r>
            <a:r>
              <a:rPr lang="en-US" altLang="zh-CN" sz="2000" i="1" dirty="0"/>
              <a:t>f</a:t>
            </a:r>
            <a:r>
              <a:rPr lang="zh-CN" altLang="en-US" sz="2000" dirty="0"/>
              <a:t>是一一对应 </a:t>
            </a:r>
            <a:r>
              <a:rPr lang="zh-CN" altLang="en-US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A</a:t>
            </a:r>
            <a:r>
              <a:rPr lang="en-US" altLang="zh-CN" sz="2000" dirty="0"/>
              <a:t>~</a:t>
            </a:r>
            <a:r>
              <a:rPr lang="en-US" altLang="zh-CN" sz="2000" i="1" dirty="0"/>
              <a:t>N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 </a:t>
            </a:r>
            <a:r>
              <a:rPr lang="en-US" altLang="zh-CN" sz="2000" i="1" dirty="0"/>
              <a:t>A</a:t>
            </a:r>
            <a:r>
              <a:rPr lang="zh-CN" altLang="en-US" sz="2000" dirty="0"/>
              <a:t>可数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97488" y="3263386"/>
            <a:ext cx="93610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8609"/>
          <p:cNvSpPr txBox="1"/>
          <p:nvPr/>
        </p:nvSpPr>
        <p:spPr>
          <a:xfrm>
            <a:off x="407368" y="1714744"/>
            <a:ext cx="86409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0" noProof="1"/>
              <a:t>定理</a:t>
            </a:r>
            <a:r>
              <a:rPr lang="en-US" altLang="zh-CN" b="0" noProof="1"/>
              <a:t>6.2.3  </a:t>
            </a:r>
            <a:r>
              <a:rPr lang="zh-CN" altLang="en-US" b="0" noProof="1"/>
              <a:t>可数个可数集的并是可数集。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96174" y="2403361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43472" y="2450212"/>
            <a:ext cx="10585176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Clr>
                <a:srgbClr val="FF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假设无限可数个互不相交的无限可数集作并，</a:t>
            </a:r>
            <a:r>
              <a:rPr lang="zh-CN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把可数个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集合</a:t>
            </a:r>
            <a:r>
              <a:rPr lang="zh-CN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排列成一个无限序列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03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,…}</a:t>
            </a:r>
          </a:p>
          <a:p>
            <a:pPr marL="0" indent="0"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↗  ↗  ↗</a:t>
            </a:r>
          </a:p>
          <a:p>
            <a:pPr marL="0" indent="0"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,…}</a:t>
            </a:r>
            <a:b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↗  ↗  ↗</a:t>
            </a:r>
          </a:p>
          <a:p>
            <a:pPr marL="0" indent="0">
              <a:lnSpc>
                <a:spcPct val="7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23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,…}</a:t>
            </a:r>
            <a:b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↗  ↗  ↗</a:t>
            </a:r>
          </a:p>
          <a:p>
            <a:pPr marL="0" indent="0">
              <a:lnSpc>
                <a:spcPct val="70000"/>
              </a:lnSpc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30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31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32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33</a:t>
            </a: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,…}</a:t>
            </a:r>
          </a:p>
          <a:p>
            <a:pPr marL="0" indent="0">
              <a:lnSpc>
                <a:spcPct val="70000"/>
              </a:lnSpc>
              <a:spcBef>
                <a:spcPct val="0"/>
              </a:spcBef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…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中的元素可按箭头所示的顺序排成一个无限不重复的序列</a:t>
            </a:r>
            <a:endParaRPr lang="en-US" altLang="zh-CN" sz="22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2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2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i="1" baseline="-25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ij</a:t>
            </a: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在序列中的位置为</a:t>
            </a:r>
            <a:endParaRPr lang="en-US" altLang="zh-CN" sz="22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∴ 可数</a:t>
            </a:r>
            <a:endParaRPr lang="zh-CN" altLang="en-US" sz="22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415480" y="5157192"/>
                <a:ext cx="1032516" cy="400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5157192"/>
                <a:ext cx="1032516" cy="400685"/>
              </a:xfrm>
              <a:prstGeom prst="rect">
                <a:avLst/>
              </a:prstGeom>
              <a:blipFill>
                <a:blip r:embed="rId4"/>
                <a:stretch>
                  <a:fillRect b="-7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799856" y="5649399"/>
                <a:ext cx="1032516" cy="833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5649399"/>
                <a:ext cx="1032516" cy="833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0" grpId="0"/>
      <p:bldP spid="10" grpId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00353"/>
          <p:cNvSpPr txBox="1"/>
          <p:nvPr/>
        </p:nvSpPr>
        <p:spPr>
          <a:xfrm>
            <a:off x="551384" y="1554038"/>
            <a:ext cx="8713788" cy="720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6.2.4 </a:t>
            </a: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有限字母表上的所有字符串组成一个可数集。</a:t>
            </a:r>
            <a:endParaRPr kumimoji="0" lang="en-US" altLang="zh-CN" sz="2800" b="0" kern="0" baseline="-25000" noProof="1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7368" y="243447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8" name="文本占位符 100353"/>
          <p:cNvSpPr txBox="1"/>
          <p:nvPr/>
        </p:nvSpPr>
        <p:spPr>
          <a:xfrm>
            <a:off x="1472754" y="2531382"/>
            <a:ext cx="9252422" cy="2985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：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有限字母表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zh-CN" altLang="en-US" sz="2400" b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上的字符串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：所有字符串的集合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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：非空字符串的集合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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</a:t>
            </a:r>
            <a:r>
              <a:rPr lang="en-US" altLang="zh-CN" sz="2400" b="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长度为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的字符串集合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                                    有限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</a:t>
            </a:r>
            <a:endParaRPr lang="pt-BR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是可数集。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466824" y="4581128"/>
                <a:ext cx="1558825" cy="844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p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zh-CN" altLang="en-US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b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824" y="4581128"/>
                <a:ext cx="1558825" cy="8440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文本占位符 100353"/>
          <p:cNvSpPr>
            <a:spLocks noGrp="1"/>
          </p:cNvSpPr>
          <p:nvPr>
            <p:ph type="body" sz="half" idx="4294967295"/>
          </p:nvPr>
        </p:nvSpPr>
        <p:spPr>
          <a:xfrm>
            <a:off x="407368" y="1647029"/>
            <a:ext cx="6480720" cy="5232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kumimoji="1" lang="en-US" altLang="zh-CN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6.2.4    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开区间</a:t>
            </a:r>
            <a:r>
              <a:rPr kumimoji="1" lang="en-US" altLang="zh-CN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(0,1)</a:t>
            </a:r>
            <a:r>
              <a:rPr kumimoji="1" lang="zh-CN" altLang="en-US" sz="2800" kern="1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不是可数集。</a:t>
            </a:r>
          </a:p>
        </p:txBody>
      </p:sp>
      <p:sp>
        <p:nvSpPr>
          <p:cNvPr id="14" name="文本占位符 118785"/>
          <p:cNvSpPr txBox="1"/>
          <p:nvPr/>
        </p:nvSpPr>
        <p:spPr bwMode="auto">
          <a:xfrm>
            <a:off x="1191994" y="2207307"/>
            <a:ext cx="7838005" cy="412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采用反证法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假定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(0,1)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是可数集。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把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(0,1)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上的实数排列成一个无限不重复的序列：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写出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的十进制无限小数的形式：</a:t>
            </a:r>
            <a:endParaRPr lang="zh-CN" altLang="pt-BR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=0.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12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13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=0.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21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22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23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endParaRPr lang="zh-CN" altLang="en-US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=0.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31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32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33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无限十进制小数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r=0.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…(0,1)={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但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200" b="0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200" b="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从而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(0,1)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由上述矛盾可知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反证假设不能成立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(0,1)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不可数。</a:t>
            </a: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5951984" y="3573016"/>
          <a:ext cx="21558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r:id="rId3" imgW="1203960" imgH="509270" progId="Equation.DSMT4">
                  <p:embed/>
                </p:oleObj>
              </mc:Choice>
              <mc:Fallback>
                <p:oleObj r:id="rId3" imgW="1203960" imgH="50927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3573016"/>
                        <a:ext cx="2155825" cy="9207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52485" y="2199035"/>
            <a:ext cx="93610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8" name="矩形: 圆角 7"/>
          <p:cNvSpPr/>
          <p:nvPr/>
        </p:nvSpPr>
        <p:spPr bwMode="auto">
          <a:xfrm rot="992577">
            <a:off x="9117599" y="2028223"/>
            <a:ext cx="2772053" cy="5232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400" b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不可数的集合存在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25049" y="3802558"/>
            <a:ext cx="456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令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build="p"/>
      <p:bldP spid="7" grpId="0"/>
      <p:bldP spid="8" grpId="0" animBg="1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407368" y="1628800"/>
            <a:ext cx="5544616" cy="5232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6.2.3 ——</a:t>
            </a: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集合的基数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势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7408" y="2152020"/>
            <a:ext cx="11017224" cy="15650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342900">
              <a:lnSpc>
                <a:spcPct val="120000"/>
              </a:lnSpc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互相等势的集合归于一类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不等势的集合不归在一类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赋予每一类一个记号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即该类集合的基数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势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记为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342900">
              <a:lnSpc>
                <a:spcPct val="120000"/>
              </a:lnSpc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有限集的基数用其计数表示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自然数集的基数记为</a:t>
            </a:r>
            <a:r>
              <a:rPr lang="en-US" altLang="zh-CN" sz="24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ℵ</a:t>
            </a:r>
            <a:r>
              <a:rPr lang="en-US" altLang="zh-CN" sz="2400" b="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实数集的基数记为</a:t>
            </a:r>
            <a:r>
              <a:rPr lang="en-US" altLang="zh-CN" sz="2400" b="0" i="1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ℵ</a:t>
            </a:r>
            <a:r>
              <a:rPr lang="en-US" altLang="zh-CN" sz="2400" b="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34290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400" b="0" noProof="1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8516" y="4005064"/>
            <a:ext cx="10009112" cy="208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5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基数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势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定义的合理性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一个集合不会有两个不同的基数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∵等势关系是等价关系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可数无限集的基数都是</a:t>
            </a:r>
            <a:r>
              <a:rPr lang="en-US" altLang="zh-CN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基数是广义的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计数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”</a:t>
            </a:r>
            <a:endParaRPr lang="zh-CN" altLang="en-US" sz="2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文本占位符 49153"/>
          <p:cNvSpPr>
            <a:spLocks noGrp="1"/>
          </p:cNvSpPr>
          <p:nvPr>
            <p:ph type="body" sz="half" idx="4294967295"/>
          </p:nvPr>
        </p:nvSpPr>
        <p:spPr>
          <a:xfrm>
            <a:off x="407368" y="1628800"/>
            <a:ext cx="5544616" cy="52322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6.2.4 ——</a:t>
            </a: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集合的基数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zh-CN" altLang="en-US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势</a:t>
            </a:r>
            <a:r>
              <a:rPr kumimoji="1" lang="en-US" altLang="zh-CN" sz="2800" kern="1200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1" lang="zh-CN" altLang="en-US" sz="2400" kern="1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18" name="矩形 49164"/>
          <p:cNvSpPr>
            <a:spLocks noChangeArrowheads="1"/>
          </p:cNvSpPr>
          <p:nvPr/>
        </p:nvSpPr>
        <p:spPr bwMode="auto">
          <a:xfrm>
            <a:off x="1524000" y="3189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1424" y="2152021"/>
            <a:ext cx="10873208" cy="15650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1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Tx/>
              <a:buNone/>
              <a:defRPr/>
            </a:pP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Tx/>
              <a:buNone/>
              <a:defRPr/>
            </a:pP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|&lt;|</a:t>
            </a:r>
            <a:r>
              <a:rPr lang="en-US" altLang="zh-CN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|≠|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400" b="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07368" y="3990324"/>
            <a:ext cx="609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&lt;</a:t>
            </a:r>
            <a:r>
              <a:rPr lang="en-US" altLang="zh-CN" i="1" dirty="0"/>
              <a:t>c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81344" y="1776802"/>
            <a:ext cx="8208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定理</a:t>
            </a:r>
            <a:r>
              <a:rPr lang="en-US" altLang="zh-CN" noProof="1"/>
              <a:t>6.2.5——</a:t>
            </a:r>
            <a:r>
              <a:rPr lang="zh-CN" altLang="en-US" noProof="1"/>
              <a:t>任意无限集都含可数的无限子集</a:t>
            </a:r>
          </a:p>
        </p:txBody>
      </p:sp>
      <p:sp>
        <p:nvSpPr>
          <p:cNvPr id="9" name="文本占位符 99329"/>
          <p:cNvSpPr txBox="1"/>
          <p:nvPr/>
        </p:nvSpPr>
        <p:spPr>
          <a:xfrm>
            <a:off x="1919536" y="2513294"/>
            <a:ext cx="7128792" cy="5232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从无限集中逐个选取元素构成一个无限可数子集。</a:t>
            </a:r>
            <a:endParaRPr kumimoji="0" lang="zh-CN" altLang="en-US" sz="2400" b="0" kern="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1234" y="2428798"/>
            <a:ext cx="1008301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4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 </a:t>
            </a:r>
          </a:p>
        </p:txBody>
      </p:sp>
      <p:sp>
        <p:nvSpPr>
          <p:cNvPr id="11" name="文本占位符 99329"/>
          <p:cNvSpPr txBox="1"/>
          <p:nvPr/>
        </p:nvSpPr>
        <p:spPr>
          <a:xfrm>
            <a:off x="478561" y="3542316"/>
            <a:ext cx="1065521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dirty="0">
                <a:solidFill>
                  <a:srgbClr val="FFCC99"/>
                </a:solidFill>
              </a:rPr>
              <a:t>可数无限集是</a:t>
            </a:r>
            <a:r>
              <a:rPr lang="en-US" altLang="zh-CN" sz="2400" dirty="0">
                <a:solidFill>
                  <a:srgbClr val="FFCC99"/>
                </a:solidFill>
              </a:rPr>
              <a:t>“</a:t>
            </a:r>
            <a:r>
              <a:rPr lang="zh-CN" altLang="en-US" sz="2400" dirty="0">
                <a:solidFill>
                  <a:srgbClr val="FFCC99"/>
                </a:solidFill>
              </a:rPr>
              <a:t>最小</a:t>
            </a:r>
            <a:r>
              <a:rPr lang="en-US" altLang="zh-CN" sz="2400" dirty="0">
                <a:solidFill>
                  <a:srgbClr val="FFCC99"/>
                </a:solidFill>
              </a:rPr>
              <a:t>”</a:t>
            </a:r>
            <a:r>
              <a:rPr lang="zh-CN" altLang="en-US" sz="2400" dirty="0">
                <a:solidFill>
                  <a:srgbClr val="FFCC99"/>
                </a:solidFill>
              </a:rPr>
              <a:t>的无限集</a:t>
            </a:r>
            <a:r>
              <a:rPr lang="en-US" altLang="zh-CN" sz="2400" dirty="0">
                <a:solidFill>
                  <a:srgbClr val="FFCC99"/>
                </a:solidFill>
              </a:rPr>
              <a:t>, </a:t>
            </a:r>
            <a:r>
              <a:rPr lang="en-US" altLang="zh-CN" sz="2400" i="1" dirty="0">
                <a:solidFill>
                  <a:srgbClr val="FFCC99"/>
                </a:solidFill>
              </a:rPr>
              <a:t>a</a:t>
            </a:r>
            <a:r>
              <a:rPr lang="zh-CN" altLang="en-US" sz="2400" dirty="0">
                <a:solidFill>
                  <a:srgbClr val="FFCC99"/>
                </a:solidFill>
              </a:rPr>
              <a:t>是最小的无限基数 </a:t>
            </a:r>
          </a:p>
          <a:p>
            <a:r>
              <a:rPr lang="zh-CN" altLang="en-US" sz="2400" dirty="0">
                <a:solidFill>
                  <a:srgbClr val="FFCC99"/>
                </a:solidFill>
                <a:sym typeface="Symbol" panose="05050102010706020507" pitchFamily="18" charset="2"/>
              </a:rPr>
              <a:t></a:t>
            </a:r>
            <a:r>
              <a:rPr lang="zh-CN" altLang="en-US" sz="2400" dirty="0">
                <a:solidFill>
                  <a:srgbClr val="FFCC99"/>
                </a:solidFill>
              </a:rPr>
              <a:t>无限集</a:t>
            </a:r>
            <a:r>
              <a:rPr lang="en-US" altLang="zh-CN" sz="2400" i="1" dirty="0">
                <a:solidFill>
                  <a:srgbClr val="FFCC99"/>
                </a:solidFill>
              </a:rPr>
              <a:t>X</a:t>
            </a:r>
            <a:r>
              <a:rPr lang="zh-CN" altLang="en-US" sz="2400" dirty="0">
                <a:solidFill>
                  <a:srgbClr val="FFCC99"/>
                </a:solidFill>
              </a:rPr>
              <a:t>和无限可数集</a:t>
            </a:r>
            <a:r>
              <a:rPr lang="en-US" altLang="zh-CN" sz="2400" i="1" dirty="0">
                <a:solidFill>
                  <a:srgbClr val="FFCC99"/>
                </a:solidFill>
              </a:rPr>
              <a:t>A</a:t>
            </a:r>
            <a:r>
              <a:rPr lang="en-US" altLang="zh-CN" sz="2400" dirty="0">
                <a:solidFill>
                  <a:srgbClr val="FFCC99"/>
                </a:solidFill>
              </a:rPr>
              <a:t>, |</a:t>
            </a:r>
            <a:r>
              <a:rPr lang="en-US" altLang="zh-CN" sz="2400" i="1" dirty="0">
                <a:solidFill>
                  <a:srgbClr val="FFCC99"/>
                </a:solidFill>
              </a:rPr>
              <a:t>A</a:t>
            </a:r>
            <a:r>
              <a:rPr lang="en-US" altLang="zh-CN" sz="2400" dirty="0">
                <a:solidFill>
                  <a:srgbClr val="FFCC99"/>
                </a:solidFill>
              </a:rPr>
              <a:t>|=</a:t>
            </a:r>
            <a:r>
              <a:rPr lang="en-US" altLang="zh-CN" sz="2400" i="1" dirty="0">
                <a:solidFill>
                  <a:srgbClr val="FFCC99"/>
                </a:solidFill>
              </a:rPr>
              <a:t>a</a:t>
            </a:r>
            <a:r>
              <a:rPr lang="en-US" altLang="zh-CN" sz="2400" dirty="0">
                <a:solidFill>
                  <a:srgbClr val="FFCC99"/>
                </a:solidFill>
              </a:rPr>
              <a:t>≤|</a:t>
            </a:r>
            <a:r>
              <a:rPr lang="en-US" altLang="zh-CN" sz="2400" i="1" dirty="0">
                <a:solidFill>
                  <a:srgbClr val="FFCC99"/>
                </a:solidFill>
              </a:rPr>
              <a:t>X</a:t>
            </a:r>
            <a:r>
              <a:rPr lang="en-US" altLang="zh-CN" sz="2400" dirty="0">
                <a:solidFill>
                  <a:srgbClr val="FFCC99"/>
                </a:solidFill>
              </a:rPr>
              <a:t>|</a:t>
            </a:r>
            <a:endParaRPr lang="zh-CN" altLang="en-US" sz="2400" noProof="1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20833"/>
          <p:cNvSpPr txBox="1"/>
          <p:nvPr/>
        </p:nvSpPr>
        <p:spPr>
          <a:xfrm>
            <a:off x="1415480" y="2348880"/>
            <a:ext cx="9217024" cy="4178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~{{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}|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|≠|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采用康托尔对角线方法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采用反证法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假设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一一对应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令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)}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坏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元素集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例如，若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a1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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a1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坏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元素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好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元素集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即满足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的元素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例如，若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a2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zh-CN" altLang="en-US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，则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a2</a:t>
            </a:r>
            <a:r>
              <a:rPr lang="zh-CN" altLang="en-US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好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元素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满足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f(a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这样的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必定存在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因为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a)a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好</a:t>
            </a:r>
            <a:r>
              <a:rPr lang="en-US" altLang="zh-CN" sz="2200" b="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仅由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坏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元素组成，矛盾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坏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200" b="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包含所有的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坏</a:t>
            </a:r>
            <a:r>
              <a:rPr lang="en-US" altLang="zh-CN" sz="2200" b="0" dirty="0">
                <a:solidFill>
                  <a:srgbClr val="FF7C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元素，矛盾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综合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|≠|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)|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9" y="1484784"/>
            <a:ext cx="9361040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Tx/>
              <a:defRPr/>
            </a:pPr>
            <a:r>
              <a:rPr lang="zh-CN" altLang="en-US" noProof="1"/>
              <a:t>  定理</a:t>
            </a:r>
            <a:r>
              <a:rPr lang="en-US" altLang="zh-CN" noProof="1"/>
              <a:t>6.2.6   </a:t>
            </a:r>
            <a:r>
              <a:rPr lang="zh-CN" altLang="en-US" sz="2400" dirty="0"/>
              <a:t>对于任意集合</a:t>
            </a:r>
            <a:r>
              <a:rPr lang="en-US" altLang="zh-CN" sz="2400" i="1" dirty="0"/>
              <a:t>A</a:t>
            </a:r>
            <a:r>
              <a:rPr lang="en-US" altLang="zh-CN" sz="2400" dirty="0"/>
              <a:t>, |</a:t>
            </a:r>
            <a:r>
              <a:rPr lang="en-US" altLang="zh-CN" sz="2400" i="1" dirty="0"/>
              <a:t>A</a:t>
            </a:r>
            <a:r>
              <a:rPr lang="en-US" altLang="zh-CN" sz="2400" dirty="0"/>
              <a:t>|&lt;|</a:t>
            </a:r>
            <a:r>
              <a:rPr lang="en-US" altLang="zh-CN" sz="2400" i="1" dirty="0"/>
              <a:t>P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)|, </a:t>
            </a:r>
            <a:r>
              <a:rPr lang="en-US" altLang="zh-CN" sz="2400" i="1" dirty="0"/>
              <a:t>P</a:t>
            </a:r>
            <a:r>
              <a:rPr lang="en-US" altLang="zh-CN" sz="2400" dirty="0"/>
              <a:t>(</a:t>
            </a:r>
            <a:r>
              <a:rPr lang="en-US" altLang="zh-CN" sz="2400" i="1" dirty="0"/>
              <a:t>A</a:t>
            </a:r>
            <a:r>
              <a:rPr lang="en-US" altLang="zh-CN" sz="2400" dirty="0"/>
              <a:t>)</a:t>
            </a:r>
            <a:r>
              <a:rPr lang="zh-CN" altLang="en-US" sz="2400" dirty="0"/>
              <a:t>的基数表示为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|</a:t>
            </a:r>
            <a:r>
              <a:rPr lang="en-US" altLang="zh-CN" sz="2400" i="1" baseline="30000" dirty="0"/>
              <a:t>A</a:t>
            </a:r>
            <a:r>
              <a:rPr lang="en-US" altLang="zh-CN" sz="2400" baseline="30000" dirty="0"/>
              <a:t>|</a:t>
            </a:r>
            <a:r>
              <a:rPr lang="en-US" altLang="zh-CN" sz="2400" dirty="0"/>
              <a:t> </a:t>
            </a:r>
            <a:endParaRPr lang="zh-CN" altLang="en-US" sz="2400" noProof="1"/>
          </a:p>
        </p:txBody>
      </p:sp>
      <p:sp>
        <p:nvSpPr>
          <p:cNvPr id="6" name="文本框 5"/>
          <p:cNvSpPr txBox="1"/>
          <p:nvPr/>
        </p:nvSpPr>
        <p:spPr>
          <a:xfrm>
            <a:off x="410414" y="2276890"/>
            <a:ext cx="103180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40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20833"/>
          <p:cNvSpPr txBox="1"/>
          <p:nvPr/>
        </p:nvSpPr>
        <p:spPr>
          <a:xfrm>
            <a:off x="623392" y="1772816"/>
            <a:ext cx="3000775" cy="5760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285750" indent="-342900" eaLnBrk="0" hangingPunct="0">
              <a:lnSpc>
                <a:spcPct val="9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2</a:t>
            </a:r>
            <a:r>
              <a:rPr lang="en-US" altLang="zh-CN" sz="2800" i="1" baseline="30000" dirty="0"/>
              <a:t>a</a:t>
            </a:r>
            <a:r>
              <a:rPr lang="en-US" altLang="zh-CN" sz="2800" dirty="0"/>
              <a:t>=</a:t>
            </a:r>
            <a:r>
              <a:rPr lang="en-US" altLang="zh-CN" sz="2800" i="1" dirty="0"/>
              <a:t>c</a:t>
            </a:r>
            <a:r>
              <a:rPr lang="en-US" altLang="zh-CN" sz="2800" dirty="0"/>
              <a:t>(</a:t>
            </a:r>
            <a:r>
              <a:rPr lang="zh-CN" altLang="en-US" sz="2800" dirty="0"/>
              <a:t>证明略</a:t>
            </a:r>
            <a:r>
              <a:rPr lang="en-US" altLang="zh-CN" sz="2800" dirty="0"/>
              <a:t>)</a:t>
            </a:r>
            <a:r>
              <a:rPr lang="zh-CN" altLang="en-US" sz="2800" dirty="0"/>
              <a:t>   </a:t>
            </a:r>
          </a:p>
        </p:txBody>
      </p:sp>
      <p:sp>
        <p:nvSpPr>
          <p:cNvPr id="6" name="文本占位符 120833"/>
          <p:cNvSpPr txBox="1"/>
          <p:nvPr/>
        </p:nvSpPr>
        <p:spPr>
          <a:xfrm>
            <a:off x="622648" y="2564904"/>
            <a:ext cx="7344816" cy="5760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285750" indent="-342900" eaLnBrk="0" hangingPunct="0">
              <a:lnSpc>
                <a:spcPct val="9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/>
              <a:t>连续统假设：不存在集合</a:t>
            </a:r>
            <a:r>
              <a:rPr lang="en-US" altLang="zh-CN" sz="2800" i="1" dirty="0"/>
              <a:t>S</a:t>
            </a:r>
            <a:r>
              <a:rPr lang="zh-CN" altLang="en-US" sz="2800" dirty="0"/>
              <a:t>满足</a:t>
            </a:r>
            <a:r>
              <a:rPr lang="en-US" altLang="zh-CN" sz="2800" i="1" dirty="0"/>
              <a:t>a</a:t>
            </a:r>
            <a:r>
              <a:rPr lang="en-US" altLang="zh-CN" sz="2800" dirty="0"/>
              <a:t>&lt;|</a:t>
            </a:r>
            <a:r>
              <a:rPr lang="en-US" altLang="zh-CN" sz="2800" i="1" dirty="0"/>
              <a:t>S</a:t>
            </a:r>
            <a:r>
              <a:rPr lang="en-US" altLang="zh-CN" sz="2800" dirty="0"/>
              <a:t>|&lt;</a:t>
            </a:r>
            <a:r>
              <a:rPr lang="en-US" altLang="zh-CN" sz="2800" i="1" dirty="0"/>
              <a:t>c</a:t>
            </a:r>
          </a:p>
        </p:txBody>
      </p:sp>
      <p:sp>
        <p:nvSpPr>
          <p:cNvPr id="9" name="文本占位符 120833"/>
          <p:cNvSpPr txBox="1"/>
          <p:nvPr/>
        </p:nvSpPr>
        <p:spPr>
          <a:xfrm>
            <a:off x="1271464" y="3284984"/>
            <a:ext cx="5436118" cy="50768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285750" indent="-342900" eaLnBrk="0" hangingPunct="0">
              <a:lnSpc>
                <a:spcPct val="9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FF7C80"/>
                </a:solidFill>
              </a:rPr>
              <a:t>至今未彻底解决</a:t>
            </a:r>
            <a:r>
              <a:rPr lang="en-US" altLang="zh-CN" dirty="0">
                <a:solidFill>
                  <a:srgbClr val="FF7C80"/>
                </a:solidFill>
              </a:rPr>
              <a:t>, </a:t>
            </a:r>
            <a:r>
              <a:rPr lang="zh-CN" altLang="en-US" dirty="0">
                <a:solidFill>
                  <a:srgbClr val="FF7C80"/>
                </a:solidFill>
              </a:rPr>
              <a:t>有争论</a:t>
            </a:r>
            <a:r>
              <a:rPr lang="en-US" altLang="zh-CN" dirty="0">
                <a:solidFill>
                  <a:srgbClr val="FF7C80"/>
                </a:solidFill>
              </a:rPr>
              <a:t>, </a:t>
            </a:r>
            <a:r>
              <a:rPr lang="zh-CN" altLang="en-US" dirty="0">
                <a:solidFill>
                  <a:srgbClr val="FF7C80"/>
                </a:solidFill>
              </a:rPr>
              <a:t>甚至涉及哲学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07462-D1CC-4074-862B-C849DF566B81}"/>
              </a:ext>
            </a:extLst>
          </p:cNvPr>
          <p:cNvSpPr txBox="1"/>
          <p:nvPr/>
        </p:nvSpPr>
        <p:spPr>
          <a:xfrm>
            <a:off x="588934" y="4509120"/>
            <a:ext cx="9361040" cy="50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lnSpc>
                <a:spcPct val="95000"/>
              </a:lnSpc>
              <a:spcBef>
                <a:spcPct val="0"/>
              </a:spcBef>
              <a:defRPr/>
            </a:pPr>
            <a:r>
              <a:rPr lang="zh-CN" altLang="en-US" noProof="1"/>
              <a:t>  定理</a:t>
            </a:r>
            <a:r>
              <a:rPr lang="en-US" altLang="zh-CN" noProof="1"/>
              <a:t>6.2.7   </a:t>
            </a:r>
            <a:r>
              <a:rPr lang="zh-CN" altLang="en-US" sz="2400" dirty="0"/>
              <a:t>集合</a:t>
            </a:r>
            <a:r>
              <a:rPr lang="en-US" altLang="zh-CN" sz="2400" i="1" dirty="0"/>
              <a:t>A</a:t>
            </a:r>
            <a:r>
              <a:rPr lang="zh-CN" altLang="en-US" sz="2400" dirty="0"/>
              <a:t>和</a:t>
            </a:r>
            <a:r>
              <a:rPr lang="en-US" altLang="zh-CN" sz="2400" i="1" dirty="0"/>
              <a:t>B</a:t>
            </a:r>
            <a:r>
              <a:rPr lang="en-US" altLang="zh-CN" sz="2400" dirty="0"/>
              <a:t>, |</a:t>
            </a:r>
            <a:r>
              <a:rPr lang="en-US" altLang="zh-CN" sz="2400" i="1" dirty="0"/>
              <a:t>A</a:t>
            </a:r>
            <a:r>
              <a:rPr lang="en-US" altLang="zh-CN" sz="2400" dirty="0"/>
              <a:t>|≤|</a:t>
            </a:r>
            <a:r>
              <a:rPr lang="en-US" altLang="zh-CN" sz="2400" i="1" dirty="0"/>
              <a:t>B</a:t>
            </a:r>
            <a:r>
              <a:rPr lang="en-US" altLang="zh-CN" sz="2400" dirty="0"/>
              <a:t>|</a:t>
            </a:r>
            <a:r>
              <a:rPr lang="en-US" altLang="zh-CN" sz="2400" dirty="0">
                <a:sym typeface="Symbol" panose="05050102010706020507" pitchFamily="18" charset="2"/>
              </a:rPr>
              <a:t></a:t>
            </a:r>
            <a:r>
              <a:rPr lang="en-US" altLang="zh-CN" sz="2400" dirty="0"/>
              <a:t>|</a:t>
            </a:r>
            <a:r>
              <a:rPr lang="en-US" altLang="zh-CN" sz="2400" i="1" dirty="0"/>
              <a:t>B</a:t>
            </a:r>
            <a:r>
              <a:rPr lang="en-US" altLang="zh-CN" sz="2400" dirty="0"/>
              <a:t>|≤|</a:t>
            </a:r>
            <a:r>
              <a:rPr lang="en-US" altLang="zh-CN" sz="2400" i="1" dirty="0"/>
              <a:t>A</a:t>
            </a:r>
            <a:r>
              <a:rPr lang="en-US" altLang="zh-CN" sz="2400" dirty="0"/>
              <a:t>| </a:t>
            </a:r>
            <a:r>
              <a:rPr lang="en-US" altLang="zh-CN" sz="2400" dirty="0">
                <a:sym typeface="Symbol" panose="05050102010706020507" pitchFamily="18" charset="2"/>
              </a:rPr>
              <a:t> </a:t>
            </a:r>
            <a:r>
              <a:rPr lang="en-US" altLang="zh-CN" sz="2400" dirty="0"/>
              <a:t>|</a:t>
            </a:r>
            <a:r>
              <a:rPr lang="en-US" altLang="zh-CN" sz="2400" i="1" dirty="0"/>
              <a:t>A</a:t>
            </a:r>
            <a:r>
              <a:rPr lang="en-US" altLang="zh-CN" sz="2400" dirty="0"/>
              <a:t>|=|</a:t>
            </a:r>
            <a:r>
              <a:rPr lang="en-US" altLang="zh-CN" sz="2400" i="1" dirty="0"/>
              <a:t>B</a:t>
            </a:r>
            <a:r>
              <a:rPr lang="en-US" altLang="zh-CN" sz="2400" dirty="0"/>
              <a:t>|</a:t>
            </a:r>
          </a:p>
        </p:txBody>
      </p:sp>
      <p:sp>
        <p:nvSpPr>
          <p:cNvPr id="13" name="文本占位符 120833">
            <a:extLst>
              <a:ext uri="{FF2B5EF4-FFF2-40B4-BE49-F238E27FC236}">
                <a16:creationId xmlns:a16="http://schemas.microsoft.com/office/drawing/2014/main" id="{A090DCB2-36A2-416D-ABB1-79BEFBC073EF}"/>
              </a:ext>
            </a:extLst>
          </p:cNvPr>
          <p:cNvSpPr txBox="1"/>
          <p:nvPr/>
        </p:nvSpPr>
        <p:spPr>
          <a:xfrm>
            <a:off x="732950" y="5266250"/>
            <a:ext cx="10151871" cy="50167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buSzTx/>
              <a:buFont typeface="Wingdings" panose="05000000000000000000" pitchFamily="2" charset="2"/>
              <a:buNone/>
              <a:defRPr/>
            </a:pPr>
            <a:r>
              <a:rPr lang="zh-CN" altLang="en-US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证明：略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00353"/>
          <p:cNvSpPr txBox="1"/>
          <p:nvPr/>
        </p:nvSpPr>
        <p:spPr>
          <a:xfrm>
            <a:off x="479376" y="1649173"/>
            <a:ext cx="7560840" cy="720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6.2.5 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证明可数集的子集必定也是可数集。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7368" y="243447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</a:p>
        </p:txBody>
      </p:sp>
      <p:sp>
        <p:nvSpPr>
          <p:cNvPr id="8" name="文本占位符 100353"/>
          <p:cNvSpPr txBox="1"/>
          <p:nvPr/>
        </p:nvSpPr>
        <p:spPr>
          <a:xfrm>
            <a:off x="1487487" y="2402478"/>
            <a:ext cx="9361041" cy="37444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假设</a:t>
            </a: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为可数集，</a:t>
            </a:r>
            <a:r>
              <a:rPr lang="en-US" altLang="zh-CN" sz="2400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的子集</a:t>
            </a: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是有限集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则它是可数集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是无限集，则需证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 (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由定理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6.2.5)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00050" lvl="1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00353"/>
          <p:cNvSpPr txBox="1"/>
          <p:nvPr/>
        </p:nvSpPr>
        <p:spPr>
          <a:xfrm>
            <a:off x="392905" y="1552958"/>
            <a:ext cx="5112568" cy="720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0" lang="zh-CN" altLang="en-US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kumimoji="0" lang="en-US" altLang="zh-CN" sz="2800" b="0" kern="0" noProof="1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6.2.6 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证明有理数集</a:t>
            </a:r>
            <a:r>
              <a:rPr lang="en-US" altLang="zh-CN" sz="2800" b="0" i="1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800" b="0" dirty="0">
                <a:solidFill>
                  <a:srgbClr val="FFCC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79376" y="241723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8" name="文本占位符 100353"/>
          <p:cNvSpPr txBox="1"/>
          <p:nvPr/>
        </p:nvSpPr>
        <p:spPr>
          <a:xfrm>
            <a:off x="1559496" y="2378659"/>
            <a:ext cx="8713788" cy="355080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从而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{0}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</a:t>
            </a:r>
            <a:r>
              <a:rPr lang="en-US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定义函数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)=2</a:t>
            </a:r>
            <a:r>
              <a:rPr lang="en-US" altLang="zh-CN" sz="2200" b="0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sz="2200" b="0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唯一的正既约分数表示 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定义函数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是一一对应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en-US" altLang="zh-CN" sz="2400" b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|≤|</a:t>
            </a:r>
            <a:r>
              <a:rPr lang="en-US" altLang="zh-CN" sz="22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可数个可数集的并是一个可数集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9376" y="1700808"/>
            <a:ext cx="7992888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90000"/>
              </a:lnSpc>
              <a:defRPr/>
            </a:pPr>
            <a:r>
              <a:rPr lang="zh-CN" altLang="en-US" noProof="1"/>
              <a:t>定理</a:t>
            </a:r>
            <a:r>
              <a:rPr lang="en-US" altLang="zh-CN" noProof="1"/>
              <a:t>6.2.8  </a:t>
            </a:r>
            <a:r>
              <a:rPr lang="zh-CN" altLang="en-US" dirty="0"/>
              <a:t>任意无限集都有与其等势的真子集。</a:t>
            </a:r>
            <a:endParaRPr lang="zh-CN" altLang="en-US" noProof="1"/>
          </a:p>
        </p:txBody>
      </p:sp>
      <p:sp>
        <p:nvSpPr>
          <p:cNvPr id="8" name="文本占位符 120833"/>
          <p:cNvSpPr txBox="1"/>
          <p:nvPr/>
        </p:nvSpPr>
        <p:spPr>
          <a:xfrm>
            <a:off x="1696744" y="2348880"/>
            <a:ext cx="7560840" cy="330865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是无限集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,…,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,…}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是其一个无限可数子集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-{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∩(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∩(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endParaRPr lang="en-US" altLang="zh-CN" sz="2400" b="0" i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pt-BR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∴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pt-BR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en-US" altLang="zh-CN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: 圆角 2"/>
          <p:cNvSpPr/>
          <p:nvPr/>
        </p:nvSpPr>
        <p:spPr bwMode="auto">
          <a:xfrm>
            <a:off x="7241360" y="5189486"/>
            <a:ext cx="4032448" cy="9361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 algn="ctr">
              <a:lnSpc>
                <a:spcPct val="120000"/>
              </a:lnSpc>
              <a:defRPr/>
            </a:pPr>
            <a:r>
              <a:rPr lang="zh-CN" altLang="en-US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有限集不与其任何真子集等势</a:t>
            </a:r>
          </a:p>
          <a:p>
            <a:pPr marL="0" indent="0" algn="ctr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无限集可用上述特征来定义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384" y="2282730"/>
            <a:ext cx="1247800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</a:t>
            </a:r>
            <a:r>
              <a:rPr kumimoji="0" lang="en-US" altLang="zh-CN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6.2.3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无限集和集合的基数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12,*13, 16, *18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39608" y="1724371"/>
            <a:ext cx="11576223" cy="43689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集合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不能被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整除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是否是可数集？若是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则给出自然数集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与它之间的一个一一对应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设集合族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中的集合都是两两不相交的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pt-BR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≠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且对任意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pt-BR" altLang="zh-CN" sz="2400" b="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的所有函数所组成的集合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|</a:t>
            </a:r>
            <a:r>
              <a:rPr lang="en-US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|=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。证明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pt-BR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~</a:t>
            </a:r>
            <a:r>
              <a:rPr lang="pt-BR" altLang="zh-CN" sz="2400" b="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pt-BR" altLang="zh-CN" sz="2400" b="0" i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pt-BR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4*. </a:t>
            </a:r>
            <a:r>
              <a:rPr lang="zh-CN" altLang="en-US" sz="2400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证明无限可数集的所有有限子集组成一个可数集。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503206" y="3644265"/>
                <a:ext cx="1625124" cy="693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supHide m:val="on"/>
                          <m:ctrlP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</m:e>
                      </m:nary>
                      <m:nary>
                        <m:naryPr>
                          <m:chr m:val="⋃"/>
                          <m:supHide m:val="on"/>
                          <m:ctrlPr>
                            <a:rPr lang="zh-CN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206" y="3644265"/>
                <a:ext cx="1625124" cy="693588"/>
              </a:xfrm>
              <a:prstGeom prst="rect">
                <a:avLst/>
              </a:prstGeom>
              <a:blipFill rotWithShape="1">
                <a:blip r:embed="rId4"/>
                <a:stretch>
                  <a:fillRect l="-34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8.6|1.5|3.5|3.1|3.7|5.1|2.8|4.3|3.9|3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2702</Words>
  <Application>Microsoft Office PowerPoint</Application>
  <PresentationFormat>宽屏</PresentationFormat>
  <Paragraphs>300</Paragraphs>
  <Slides>25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3" baseType="lpstr">
      <vt:lpstr>黑体</vt:lpstr>
      <vt:lpstr>华文细黑</vt:lpstr>
      <vt:lpstr>华文中宋</vt:lpstr>
      <vt:lpstr>楷体_GB2312</vt:lpstr>
      <vt:lpstr>宋体</vt:lpstr>
      <vt:lpstr>微软雅黑</vt:lpstr>
      <vt:lpstr>幼圆</vt:lpstr>
      <vt:lpstr>Arial</vt:lpstr>
      <vt:lpstr>Calibri</vt:lpstr>
      <vt:lpstr>Cambria Math</vt:lpstr>
      <vt:lpstr>Garamond</vt:lpstr>
      <vt:lpstr>Symbol</vt:lpstr>
      <vt:lpstr>Tahoma</vt:lpstr>
      <vt:lpstr>Times New Roman</vt:lpstr>
      <vt:lpstr>Times New Roman Italic</vt:lpstr>
      <vt:lpstr>Wingdings</vt:lpstr>
      <vt:lpstr>默认设计模板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857</cp:revision>
  <dcterms:created xsi:type="dcterms:W3CDTF">2021-11-02T10:55:00Z</dcterms:created>
  <dcterms:modified xsi:type="dcterms:W3CDTF">2026-05-25T02:32:09Z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C0072579326B432F859AC0DA515E2BD7_12</vt:lpwstr>
  </property>
</Properties>
</file>