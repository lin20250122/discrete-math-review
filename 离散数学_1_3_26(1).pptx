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338" r:id="rId5"/>
    <p:sldId id="384" r:id="rId6"/>
    <p:sldId id="361" r:id="rId7"/>
    <p:sldId id="385" r:id="rId8"/>
    <p:sldId id="339" r:id="rId9"/>
    <p:sldId id="376" r:id="rId10"/>
    <p:sldId id="362" r:id="rId11"/>
    <p:sldId id="363" r:id="rId12"/>
    <p:sldId id="387" r:id="rId13"/>
    <p:sldId id="386" r:id="rId14"/>
    <p:sldId id="388" r:id="rId15"/>
    <p:sldId id="364" r:id="rId16"/>
    <p:sldId id="365" r:id="rId17"/>
    <p:sldId id="389" r:id="rId18"/>
    <p:sldId id="366" r:id="rId19"/>
    <p:sldId id="380" r:id="rId20"/>
    <p:sldId id="356" r:id="rId21"/>
  </p:sldIdLst>
  <p:sldSz cx="12192000" cy="6858000"/>
  <p:notesSz cx="6858000" cy="9144000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FF7C80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8" autoAdjust="0"/>
    <p:restoredTop sz="82679" autoAdjust="0"/>
  </p:normalViewPr>
  <p:slideViewPr>
    <p:cSldViewPr showGuides="1">
      <p:cViewPr varScale="1">
        <p:scale>
          <a:sx n="66" d="100"/>
          <a:sy n="66" d="100"/>
        </p:scale>
        <p:origin x="53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18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  <a:endParaRPr lang="zh-CN" altLang="en-US" sz="2000" dirty="0">
              <a:solidFill>
                <a:srgbClr val="7F7F7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344472" y="11309"/>
            <a:ext cx="18017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集合论</a:t>
            </a:r>
            <a:endParaRPr lang="en-US" altLang="zh-CN" sz="20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8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9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10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1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5.xml"/><Relationship Id="rId6" Type="http://schemas.openxmlformats.org/officeDocument/2006/relationships/tags" Target="../tags/tag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13.xml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15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7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第一章 集合论</a:t>
            </a:r>
            <a:endParaRPr lang="zh-CN" altLang="en-US" sz="5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51584" y="4149080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 txBox="1">
            <a:spLocks noChangeArrowheads="1"/>
          </p:cNvSpPr>
          <p:nvPr/>
        </p:nvSpPr>
        <p:spPr bwMode="auto">
          <a:xfrm>
            <a:off x="2967250" y="1705792"/>
            <a:ext cx="6369109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1.3.1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集合运算的基本恒等式</a:t>
            </a:r>
            <a:endParaRPr lang="zh-CN" altLang="en-US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504056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 </a:t>
            </a: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集合运算的性质</a:t>
            </a:r>
            <a:endParaRPr lang="zh-CN" altLang="en-US" sz="4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2967250" y="2675769"/>
            <a:ext cx="5139683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1.3.2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集合演算</a:t>
            </a:r>
            <a:endParaRPr lang="zh-CN" altLang="en-US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2967250" y="3645746"/>
            <a:ext cx="5139683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1.3.3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对偶原理</a:t>
            </a:r>
            <a:endParaRPr lang="zh-CN" altLang="en-US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  <p:bldP spid="6" grpId="0" animBg="1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464592" y="1609852"/>
            <a:ext cx="6696744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复杂的集合运算有简便的方法吗？</a:t>
            </a:r>
            <a:endParaRPr lang="zh-CN" altLang="en-US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27448" y="2339890"/>
            <a:ext cx="7272808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代数运算：可通过运算律</a:t>
            </a:r>
            <a:r>
              <a:rPr lang="en-US" altLang="zh-CN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简化计算</a:t>
            </a:r>
            <a:endParaRPr lang="zh-CN" altLang="en-US" sz="2800" b="0" noProof="1">
              <a:solidFill>
                <a:srgbClr val="FFCCFF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600056" y="440040"/>
            <a:ext cx="123892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思考</a:t>
            </a:r>
            <a:endParaRPr lang="zh-CN" alt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4592" y="3197030"/>
            <a:ext cx="10865816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线性空间中的线性运算有</a:t>
            </a: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条运算律</a:t>
            </a: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集合运算有吗？</a:t>
            </a:r>
            <a:endParaRPr lang="zh-CN" altLang="en-US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9416" y="4264040"/>
            <a:ext cx="10865816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集合运算：也有若干运算律。</a:t>
            </a:r>
            <a:r>
              <a:rPr lang="en-US" altLang="zh-CN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类似于代数运算</a:t>
            </a:r>
            <a:r>
              <a:rPr lang="en-US" altLang="zh-CN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0" noProof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也能做公式推演</a:t>
            </a:r>
            <a:endParaRPr lang="zh-CN" altLang="en-US" sz="2800" b="0" noProof="1">
              <a:solidFill>
                <a:srgbClr val="FFCCFF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1" grpId="0"/>
      <p:bldP spid="9" grpId="0"/>
      <p:bldP spid="8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28872" y="1575667"/>
            <a:ext cx="1126772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1.3.1(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集合并、交、差和补运算的性质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1.3.1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集合运算的基本恒等式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2"/>
              <p:cNvSpPr txBox="1">
                <a:spLocks noChangeArrowheads="1"/>
              </p:cNvSpPr>
              <p:nvPr/>
            </p:nvSpPr>
            <p:spPr bwMode="auto">
              <a:xfrm>
                <a:off x="1199101" y="2454323"/>
                <a:ext cx="4680520" cy="11921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(1)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幂等律：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A=A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;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A=A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9101" y="2454323"/>
                <a:ext cx="4680520" cy="1192157"/>
              </a:xfrm>
              <a:prstGeom prst="rect">
                <a:avLst/>
              </a:prstGeom>
              <a:blipFill rotWithShape="1">
                <a:blip r:embed="rId1"/>
                <a:stretch>
                  <a:fillRect l="-5" t="-4" r="3" b="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2"/>
              <p:cNvSpPr txBox="1">
                <a:spLocks noChangeArrowheads="1"/>
              </p:cNvSpPr>
              <p:nvPr/>
            </p:nvSpPr>
            <p:spPr bwMode="auto">
              <a:xfrm>
                <a:off x="1194529" y="3183551"/>
                <a:ext cx="4829108" cy="11921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(2)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同一律：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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=A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;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U=A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4529" y="3183551"/>
                <a:ext cx="4829108" cy="1192157"/>
              </a:xfrm>
              <a:prstGeom prst="rect">
                <a:avLst/>
              </a:prstGeom>
              <a:blipFill rotWithShape="1">
                <a:blip r:embed="rId2"/>
                <a:stretch>
                  <a:fillRect l="-2" t="-25" r="1" b="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2"/>
              <p:cNvSpPr txBox="1">
                <a:spLocks noChangeArrowheads="1"/>
              </p:cNvSpPr>
              <p:nvPr/>
            </p:nvSpPr>
            <p:spPr bwMode="auto">
              <a:xfrm>
                <a:off x="1199101" y="3894730"/>
                <a:ext cx="4680520" cy="11921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(3)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零律：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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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;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U=U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9101" y="3894730"/>
                <a:ext cx="4680520" cy="1192157"/>
              </a:xfrm>
              <a:prstGeom prst="rect">
                <a:avLst/>
              </a:prstGeom>
              <a:blipFill rotWithShape="1">
                <a:blip r:embed="rId3"/>
                <a:stretch>
                  <a:fillRect l="-5" t="-23" r="3" b="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2"/>
              <p:cNvSpPr txBox="1">
                <a:spLocks noChangeArrowheads="1"/>
              </p:cNvSpPr>
              <p:nvPr/>
            </p:nvSpPr>
            <p:spPr bwMode="auto">
              <a:xfrm>
                <a:off x="6822207" y="2454323"/>
                <a:ext cx="4680520" cy="11921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(4)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排中律：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Ā =U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22207" y="2454323"/>
                <a:ext cx="4680520" cy="1192157"/>
              </a:xfrm>
              <a:prstGeom prst="rect">
                <a:avLst/>
              </a:prstGeom>
              <a:blipFill rotWithShape="1">
                <a:blip r:embed="rId4"/>
                <a:stretch>
                  <a:fillRect l="-9" t="-4" r="7" b="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2"/>
              <p:cNvSpPr txBox="1">
                <a:spLocks noChangeArrowheads="1"/>
              </p:cNvSpPr>
              <p:nvPr/>
            </p:nvSpPr>
            <p:spPr bwMode="auto">
              <a:xfrm>
                <a:off x="6822207" y="3165502"/>
                <a:ext cx="4680520" cy="11921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(5)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矛盾律：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Ā =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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22207" y="3165502"/>
                <a:ext cx="4680520" cy="1192157"/>
              </a:xfrm>
              <a:prstGeom prst="rect">
                <a:avLst/>
              </a:prstGeom>
              <a:blipFill rotWithShape="1">
                <a:blip r:embed="rId5"/>
                <a:stretch>
                  <a:fillRect l="-9" t="-2" r="7" b="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2"/>
              <p:cNvSpPr txBox="1">
                <a:spLocks noChangeArrowheads="1"/>
              </p:cNvSpPr>
              <p:nvPr/>
            </p:nvSpPr>
            <p:spPr bwMode="auto">
              <a:xfrm>
                <a:off x="6822207" y="3876680"/>
                <a:ext cx="4680520" cy="11921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(6)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双重否定：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noProof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600" b="0" i="1" noProof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zh-CN" sz="2600" b="0" i="1" noProof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600" b="0" i="1" noProof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sz="2600" b="0" i="1" noProof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en-US" altLang="zh-CN" sz="2600" b="0" i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=A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22207" y="3876680"/>
                <a:ext cx="4680520" cy="1192157"/>
              </a:xfrm>
              <a:prstGeom prst="rect">
                <a:avLst/>
              </a:prstGeom>
              <a:blipFill rotWithShape="1">
                <a:blip r:embed="rId6"/>
                <a:stretch>
                  <a:fillRect l="-9" r="7" b="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5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3" grpId="0"/>
      <p:bldP spid="6" grpId="0"/>
      <p:bldP spid="9" grpId="0"/>
      <p:bldP spid="10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28872" y="1575667"/>
            <a:ext cx="1126772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1.3.1(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集合并、交、差和补运算的性质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1.3.1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集合运算的基本恒等式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2"/>
              <p:cNvSpPr txBox="1">
                <a:spLocks noChangeArrowheads="1"/>
              </p:cNvSpPr>
              <p:nvPr/>
            </p:nvSpPr>
            <p:spPr bwMode="auto">
              <a:xfrm>
                <a:off x="685980" y="2541475"/>
                <a:ext cx="5742560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(7)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交换律：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B=B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;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B=B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980" y="2541475"/>
                <a:ext cx="5742560" cy="791525"/>
              </a:xfrm>
              <a:prstGeom prst="rect">
                <a:avLst/>
              </a:prstGeom>
              <a:blipFill rotWithShape="1">
                <a:blip r:embed="rId1"/>
                <a:stretch>
                  <a:fillRect l="-3" t="-26" r="8" b="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2"/>
              <p:cNvSpPr txBox="1">
                <a:spLocks noChangeArrowheads="1"/>
              </p:cNvSpPr>
              <p:nvPr/>
            </p:nvSpPr>
            <p:spPr bwMode="auto">
              <a:xfrm>
                <a:off x="685980" y="3632864"/>
                <a:ext cx="5626044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(8)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结合律：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;</a:t>
                </a:r>
                <a:endParaRPr lang="en-US" altLang="zh-CN" sz="2600" b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  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980" y="3632864"/>
                <a:ext cx="5626044" cy="791525"/>
              </a:xfrm>
              <a:prstGeom prst="rect">
                <a:avLst/>
              </a:prstGeom>
              <a:blipFill rotWithShape="1">
                <a:blip r:embed="rId2"/>
                <a:stretch>
                  <a:fillRect l="-3" t="-5299" r="2" b="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2"/>
              <p:cNvSpPr txBox="1">
                <a:spLocks noChangeArrowheads="1"/>
              </p:cNvSpPr>
              <p:nvPr/>
            </p:nvSpPr>
            <p:spPr bwMode="auto">
              <a:xfrm>
                <a:off x="685980" y="4701643"/>
                <a:ext cx="6202108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(9)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分配律：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);</a:t>
                </a:r>
                <a:endParaRPr lang="en-US" altLang="zh-CN" sz="2600" b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  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980" y="4701643"/>
                <a:ext cx="6202108" cy="791525"/>
              </a:xfrm>
              <a:prstGeom prst="rect">
                <a:avLst/>
              </a:prstGeom>
              <a:blipFill rotWithShape="1">
                <a:blip r:embed="rId3"/>
                <a:stretch>
                  <a:fillRect l="-3" t="-5308" r="4" b="5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2"/>
              <p:cNvSpPr txBox="1">
                <a:spLocks noChangeArrowheads="1"/>
              </p:cNvSpPr>
              <p:nvPr/>
            </p:nvSpPr>
            <p:spPr bwMode="auto">
              <a:xfrm>
                <a:off x="6428540" y="2742892"/>
                <a:ext cx="4592703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(10)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吸收律：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=A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;</a:t>
                </a:r>
                <a:endParaRPr lang="en-US" altLang="zh-CN" sz="2600" b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    A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=A</a:t>
                </a:r>
                <a:endParaRPr lang="zh-CN" altLang="en-US" sz="2600" b="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8540" y="2742892"/>
                <a:ext cx="4592703" cy="791525"/>
              </a:xfrm>
              <a:prstGeom prst="rect">
                <a:avLst/>
              </a:prstGeom>
              <a:blipFill rotWithShape="1">
                <a:blip r:embed="rId4"/>
                <a:stretch>
                  <a:fillRect l="-9" t="-5336" r="4" b="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2"/>
              <p:cNvSpPr txBox="1">
                <a:spLocks noChangeArrowheads="1"/>
              </p:cNvSpPr>
              <p:nvPr/>
            </p:nvSpPr>
            <p:spPr bwMode="auto">
              <a:xfrm>
                <a:off x="6441359" y="3619934"/>
                <a:ext cx="4767209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(11)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德摩根律：</a:t>
                </a:r>
                <a:r>
                  <a:rPr lang="en-US" altLang="zh-CN" sz="2600" noProof="1"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𝐴</m:t>
                        </m:r>
                        <m:r>
                          <a:rPr lang="en-US" altLang="zh-CN" sz="2600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∪</m:t>
                        </m:r>
                        <m: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0" noProof="1"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𝐴</m:t>
                        </m:r>
                      </m:e>
                    </m:acc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  <m:acc>
                      <m:accPr>
                        <m:chr m:val="̅"/>
                        <m:ctrlPr>
                          <a:rPr lang="en-US" altLang="zh-CN" sz="2600" b="0" i="1" noProof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b="0" i="1" noProof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;</a:t>
                </a:r>
                <a:endParaRPr lang="en-US" altLang="zh-CN" sz="2600" b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      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𝐴</m:t>
                        </m:r>
                        <m: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∩</m:t>
                        </m:r>
                        <m:r>
                          <a:rPr lang="en-US" altLang="zh-CN" sz="2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0" noProof="1"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𝐴</m:t>
                        </m:r>
                      </m:e>
                    </m:acc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  <m:acc>
                      <m:accPr>
                        <m:chr m:val="̅"/>
                        <m:ctrlPr>
                          <a:rPr lang="en-US" altLang="zh-CN" sz="2600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41359" y="3619934"/>
                <a:ext cx="4767209" cy="791525"/>
              </a:xfrm>
              <a:prstGeom prst="rect">
                <a:avLst/>
              </a:prstGeom>
              <a:blipFill rotWithShape="1">
                <a:blip r:embed="rId5"/>
                <a:stretch>
                  <a:fillRect l="-12" t="-5510" r="4" b="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2"/>
              <p:cNvSpPr txBox="1">
                <a:spLocks noChangeArrowheads="1"/>
              </p:cNvSpPr>
              <p:nvPr/>
            </p:nvSpPr>
            <p:spPr bwMode="auto">
              <a:xfrm>
                <a:off x="6451162" y="4435992"/>
                <a:ext cx="3444528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(12) 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差律：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A-B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  <m:acc>
                      <m:accPr>
                        <m:chr m:val="̅"/>
                        <m:ctrlPr>
                          <a:rPr lang="en-US" altLang="zh-CN" sz="2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6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lang="zh-CN" altLang="en-US" sz="26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1162" y="4435992"/>
                <a:ext cx="3444528" cy="791525"/>
              </a:xfrm>
              <a:prstGeom prst="rect">
                <a:avLst/>
              </a:prstGeom>
              <a:blipFill rotWithShape="1">
                <a:blip r:embed="rId6"/>
                <a:stretch>
                  <a:fillRect l="-6" t="-65" r="14" b="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368091" y="1623173"/>
            <a:ext cx="72008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b="0" dirty="0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"/>
              <p:cNvSpPr txBox="1">
                <a:spLocks noChangeArrowheads="1"/>
              </p:cNvSpPr>
              <p:nvPr/>
            </p:nvSpPr>
            <p:spPr bwMode="auto">
              <a:xfrm>
                <a:off x="1598773" y="2244169"/>
                <a:ext cx="10225136" cy="4256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 b="0" dirty="0">
                    <a:solidFill>
                      <a:srgbClr val="FF7C8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利用集合</a:t>
                </a:r>
                <a:r>
                  <a:rPr lang="zh-CN" altLang="en-US" sz="2400" b="0" dirty="0">
                    <a:solidFill>
                      <a:srgbClr val="FF7C8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关系的反对称性。证明等式两端相互包含。</a:t>
                </a:r>
                <a:endParaRPr lang="zh-CN" altLang="en-US" sz="2400" b="0" dirty="0">
                  <a:solidFill>
                    <a:srgbClr val="FF7C8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(1) 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pt-BR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pt-BR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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是显然的</a:t>
                </a:r>
                <a:endParaRPr lang="zh-CN" altLang="en-US" sz="24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(2) 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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 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pt-BR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pt-BR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en-US" altLang="zh-CN" sz="24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 </a:t>
                </a:r>
                <a:r>
                  <a:rPr lang="en-US" altLang="zh-CN" sz="2400" b="0" i="1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="0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400" b="0" i="1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endParaRPr lang="en-US" altLang="zh-CN" sz="2400" b="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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0" i="1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="0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400" b="0" i="1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="0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400" b="0" i="1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且</a:t>
                </a:r>
                <a:r>
                  <a:rPr lang="en-US" altLang="zh-CN" sz="2400" b="0" i="1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="0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400" b="0" i="1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  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0" i="1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="0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400" b="0" i="1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endParaRPr lang="en-US" altLang="zh-CN" sz="2400" b="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∴ 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pt-BR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pt-BR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</a:t>
                </a:r>
                <a:r>
                  <a:rPr lang="pt-BR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endParaRPr lang="en-US" altLang="zh-CN" sz="2400" b="0" i="1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8773" y="2244169"/>
                <a:ext cx="10225136" cy="4256294"/>
              </a:xfrm>
              <a:prstGeom prst="rect">
                <a:avLst/>
              </a:prstGeom>
              <a:blipFill rotWithShape="1">
                <a:blip r:embed="rId1"/>
                <a:stretch>
                  <a:fillRect l="-5" t="-2" r="2" b="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92910" y="1767322"/>
                <a:ext cx="87129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/>
                <a:r>
                  <a:rPr lang="zh-CN" altLang="en-US" sz="28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证明集合并运算的吸收律： </a:t>
                </a:r>
                <a:r>
                  <a:rPr lang="pt-BR" altLang="zh-CN" sz="28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800" b="0" i="1" noProof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pt-BR" altLang="zh-CN" sz="28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8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pt-BR" altLang="zh-CN" sz="28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pt-BR" altLang="zh-CN" sz="28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)=</a:t>
                </a:r>
                <a:r>
                  <a:rPr lang="pt-BR" altLang="zh-CN" sz="28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endParaRPr lang="en-US" altLang="zh-CN" sz="2800" b="0" i="1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910" y="1767322"/>
                <a:ext cx="8712968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4" t="-22" r="6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1.3.1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集合运算的基本恒等式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8091" y="2501072"/>
            <a:ext cx="1609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  <p:sp>
        <p:nvSpPr>
          <p:cNvPr id="11" name="对话气泡: 圆角矩形 10"/>
          <p:cNvSpPr/>
          <p:nvPr/>
        </p:nvSpPr>
        <p:spPr bwMode="auto">
          <a:xfrm>
            <a:off x="5375920" y="3131364"/>
            <a:ext cx="4752528" cy="595271"/>
          </a:xfrm>
          <a:prstGeom prst="wedgeRoundRectCallout">
            <a:avLst>
              <a:gd name="adj1" fmla="val -58024"/>
              <a:gd name="adj2" fmla="val -30580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解释一下：为什么是显然的？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8" grpId="0"/>
      <p:bldP spid="2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1" y="1575667"/>
            <a:ext cx="10297145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运用集合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关系的反对称性证明集合相等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的基本思路</a:t>
            </a:r>
            <a:endParaRPr lang="zh-CN" altLang="en-US" sz="28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95400" y="2356585"/>
            <a:ext cx="10081120" cy="2195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证明两个集合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相等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只需证明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endParaRPr lang="en-US" altLang="zh-CN" sz="2400" b="0" i="1" dirty="0">
              <a:solidFill>
                <a:srgbClr val="FFC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只需证明：</a:t>
            </a:r>
            <a:r>
              <a:rPr lang="zh-CN" altLang="en-US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对任意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0" i="1" dirty="0" err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dirty="0" err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i="1" dirty="0" err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dirty="0" err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endParaRPr lang="en-US" altLang="zh-CN" sz="2400" b="0" i="1" dirty="0">
              <a:solidFill>
                <a:srgbClr val="FFC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类似地证明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n-US" altLang="zh-CN" sz="2400" b="0" i="1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endParaRPr lang="en-US" altLang="zh-CN" sz="2400" b="0" i="1" dirty="0">
              <a:solidFill>
                <a:srgbClr val="FFC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1.3.1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集合运算的基本恒等式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411" name="Rectangle 2"/>
              <p:cNvSpPr txBox="1">
                <a:spLocks noChangeArrowheads="1"/>
              </p:cNvSpPr>
              <p:nvPr/>
            </p:nvSpPr>
            <p:spPr bwMode="auto">
              <a:xfrm>
                <a:off x="390526" y="1700808"/>
                <a:ext cx="6939384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b="0" dirty="0">
                    <a:solidFill>
                      <a:srgbClr val="FFCCFF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</a:t>
                </a:r>
                <a:r>
                  <a:rPr lang="zh-CN" altLang="en-US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证明集合运算的差律：</a:t>
                </a:r>
                <a:r>
                  <a:rPr lang="en-US" altLang="zh-CN" sz="28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A-B</a:t>
                </a:r>
                <a:r>
                  <a:rPr lang="en-US" altLang="zh-CN" sz="28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A</a:t>
                </a:r>
                <a14:m>
                  <m:oMath xmlns:m="http://schemas.openxmlformats.org/officeDocument/2006/math">
                    <m:r>
                      <a:rPr lang="en-US" altLang="zh-CN" sz="28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  <m:acc>
                      <m:accPr>
                        <m:chr m:val="̅"/>
                        <m:ctrlPr>
                          <a:rPr lang="en-US" altLang="zh-CN" sz="28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8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8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lang="zh-CN" altLang="en-US" sz="2800" b="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411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526" y="1700808"/>
                <a:ext cx="6939384" cy="791525"/>
              </a:xfrm>
              <a:prstGeom prst="rect">
                <a:avLst/>
              </a:prstGeom>
              <a:blipFill rotWithShape="1">
                <a:blip r:embed="rId1"/>
                <a:stretch>
                  <a:fillRect t="-35" r="2" b="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2"/>
              <p:cNvSpPr txBox="1">
                <a:spLocks noChangeArrowheads="1"/>
              </p:cNvSpPr>
              <p:nvPr/>
            </p:nvSpPr>
            <p:spPr bwMode="auto">
              <a:xfrm>
                <a:off x="1553108" y="2795321"/>
                <a:ext cx="9085783" cy="33849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600" b="0" dirty="0">
                    <a:solidFill>
                      <a:srgbClr val="FF7C8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利用集合</a:t>
                </a:r>
                <a:r>
                  <a:rPr lang="zh-CN" altLang="en-US" sz="2600" b="0" dirty="0">
                    <a:solidFill>
                      <a:srgbClr val="FF7C8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关系的反对称性。证明等式两端相互包含。</a:t>
                </a:r>
                <a:endParaRPr lang="zh-CN" altLang="en-US" sz="2600" b="0" dirty="0">
                  <a:solidFill>
                    <a:srgbClr val="FF7C8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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 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zh-CN" altLang="pt-BR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左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 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pt-BR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pt-BR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且</a:t>
                </a:r>
                <a:r>
                  <a:rPr lang="pt-BR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</a:t>
                </a:r>
                <a:r>
                  <a:rPr lang="pt-BR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endParaRPr lang="en-US" altLang="zh-CN" sz="2600" b="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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pt-BR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pt-BR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且</a:t>
                </a:r>
                <a:r>
                  <a:rPr lang="pt-BR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4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endParaRPr lang="en-US" altLang="zh-CN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 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右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∴ 左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右</a:t>
                </a:r>
                <a:endParaRPr lang="zh-CN" altLang="en-US" sz="2600" b="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3108" y="2795321"/>
                <a:ext cx="9085783" cy="3384939"/>
              </a:xfrm>
              <a:prstGeom prst="rect">
                <a:avLst/>
              </a:prstGeom>
              <a:blipFill rotWithShape="1">
                <a:blip r:embed="rId2"/>
                <a:stretch>
                  <a:fillRect l="-6" t="-1446" r="1" b="-14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1.3.1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集合运算的基本恒等式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7368" y="2776132"/>
            <a:ext cx="1609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85961"/>
            <a:ext cx="432048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代数演算</a:t>
            </a:r>
            <a:endParaRPr lang="zh-CN" altLang="en-US" b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"/>
              <p:cNvSpPr txBox="1">
                <a:spLocks noChangeArrowheads="1"/>
              </p:cNvSpPr>
              <p:nvPr/>
            </p:nvSpPr>
            <p:spPr bwMode="auto">
              <a:xfrm>
                <a:off x="1199456" y="2438679"/>
                <a:ext cx="10185252" cy="7915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8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利用基本代数恒等式作代数公式变换。例如</a:t>
                </a:r>
                <a:r>
                  <a:rPr lang="en-US" altLang="zh-CN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600" b="0" noProof="1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6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endParaRPr lang="en-US" altLang="zh-CN" sz="2600" b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9456" y="2438679"/>
                <a:ext cx="10185252" cy="791526"/>
              </a:xfrm>
              <a:prstGeom prst="rect">
                <a:avLst/>
              </a:prstGeom>
              <a:blipFill rotWithShape="1">
                <a:blip r:embed="rId1"/>
                <a:stretch>
                  <a:fillRect l="-6" t="-35" r="4" b="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450614" y="4625269"/>
            <a:ext cx="182894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</a:pPr>
            <a:r>
              <a:rPr lang="zh-CN" altLang="en-US" sz="28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集合演算</a:t>
            </a:r>
            <a:endParaRPr lang="zh-CN" altLang="en-US" sz="2800" b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7104112" y="284820"/>
            <a:ext cx="129614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endParaRPr lang="zh-CN" altLang="en-US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999656" y="3429000"/>
                <a:ext cx="4968552" cy="906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den>
                      </m:f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den>
                      </m:f>
                      <m:r>
                        <a:rPr lang="en-US" altLang="zh-CN" sz="2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656" y="3429000"/>
                <a:ext cx="4968552" cy="906145"/>
              </a:xfrm>
              <a:prstGeom prst="rect">
                <a:avLst/>
              </a:prstGeom>
              <a:blipFill rotWithShape="1">
                <a:blip r:embed="rId2"/>
                <a:stretch>
                  <a:fillRect l="-11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 rot="1702328">
            <a:off x="1929946" y="4536736"/>
            <a:ext cx="699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FF7C80"/>
                </a:solidFill>
              </a:rPr>
              <a:t>？</a:t>
            </a:r>
            <a:endParaRPr lang="zh-CN" altLang="en-US" sz="4000" dirty="0">
              <a:solidFill>
                <a:srgbClr val="FF7C80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5" grpId="0"/>
      <p:bldP spid="10" grpId="0"/>
      <p:bldP spid="2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85961"/>
            <a:ext cx="4320480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集合演算</a:t>
            </a:r>
            <a:endParaRPr lang="zh-CN" altLang="en-US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1.3.2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集合演算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03512" y="2463124"/>
            <a:ext cx="6093618" cy="45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6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利用基本集合恒等式作集合公式变换</a:t>
            </a:r>
            <a:endParaRPr lang="zh-CN" altLang="en-US" sz="26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95400" y="3429000"/>
                <a:ext cx="6984776" cy="2630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800" b="0" dirty="0">
                    <a:solidFill>
                      <a:srgbClr val="FFCCFF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例如</a:t>
                </a:r>
                <a:endParaRPr lang="en-US" altLang="zh-CN" sz="2800" b="0" dirty="0">
                  <a:solidFill>
                    <a:srgbClr val="FFCCFF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))</a:t>
                </a:r>
                <a:endParaRPr lang="en-US" altLang="zh-CN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=(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))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)) 	    (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分配律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pt-BR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=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))     	                (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吸收律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pt-BR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pt-BR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pt-BR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		                (</a:t>
                </a:r>
                <a:r>
                  <a:rPr lang="zh-CN" altLang="pt-BR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吸收律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3429000"/>
                <a:ext cx="6984776" cy="2630657"/>
              </a:xfrm>
              <a:prstGeom prst="rect">
                <a:avLst/>
              </a:prstGeom>
              <a:blipFill rotWithShape="1">
                <a:blip r:embed="rId1"/>
                <a:stretch>
                  <a:fillRect l="-1" t="-772" r="7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263352" y="1585961"/>
            <a:ext cx="1015312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利用集合演算可比较简洁地证明某些集合恒等式</a:t>
            </a:r>
            <a:endParaRPr lang="zh-CN" altLang="en-US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"/>
              <p:cNvSpPr txBox="1">
                <a:spLocks noChangeArrowheads="1"/>
              </p:cNvSpPr>
              <p:nvPr/>
            </p:nvSpPr>
            <p:spPr bwMode="auto">
              <a:xfrm>
                <a:off x="540396" y="2542955"/>
                <a:ext cx="11089232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ct val="90000"/>
                  </a:lnSpc>
                  <a:buNone/>
                </a:pPr>
                <a:r>
                  <a:rPr lang="zh-CN" altLang="en-US" b="0" dirty="0">
                    <a:solidFill>
                      <a:srgbClr val="FFCCFF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</a:t>
                </a:r>
                <a:r>
                  <a:rPr lang="zh-CN" altLang="en-US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en-US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8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-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zh-CN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)=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8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endParaRPr lang="zh-CN" altLang="en-US" sz="28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25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396" y="2542955"/>
                <a:ext cx="11089232" cy="791525"/>
              </a:xfrm>
              <a:prstGeom prst="rect">
                <a:avLst/>
              </a:prstGeom>
              <a:blipFill rotWithShape="1">
                <a:blip r:embed="rId1"/>
                <a:stretch>
                  <a:fillRect t="-52" r="2" b="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1.3.2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集合演算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2"/>
              <p:cNvSpPr txBox="1">
                <a:spLocks noChangeArrowheads="1"/>
              </p:cNvSpPr>
              <p:nvPr/>
            </p:nvSpPr>
            <p:spPr bwMode="auto">
              <a:xfrm>
                <a:off x="1991544" y="3371035"/>
                <a:ext cx="7272808" cy="21811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-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 =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                  (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差律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    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=(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)∩(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  <m:acc>
                      <m:accPr>
                        <m:chr m:val="̅"/>
                        <m:ctrlPr>
                          <a:rPr lang="en-US" altLang="zh-CN" sz="2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         (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关于∩的分配律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    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=(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)∩U                  (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排中律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    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                (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同一律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6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3371035"/>
                <a:ext cx="7272808" cy="2181122"/>
              </a:xfrm>
              <a:prstGeom prst="rect">
                <a:avLst/>
              </a:prstGeom>
              <a:blipFill rotWithShape="1">
                <a:blip r:embed="rId2"/>
                <a:stretch>
                  <a:fillRect l="-3" t="-21" r="5" b="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551384" y="3567670"/>
            <a:ext cx="1609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411" name="Rectangle 2"/>
              <p:cNvSpPr txBox="1">
                <a:spLocks noChangeArrowheads="1"/>
              </p:cNvSpPr>
              <p:nvPr/>
            </p:nvSpPr>
            <p:spPr bwMode="auto">
              <a:xfrm>
                <a:off x="538957" y="1536361"/>
                <a:ext cx="10945216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zh-CN" altLang="en-US" sz="28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</a:t>
                </a:r>
                <a:r>
                  <a:rPr lang="en-US" altLang="zh-CN" sz="28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1.3.7 </a:t>
                </a:r>
                <a:r>
                  <a:rPr lang="zh-CN" altLang="en-US" sz="28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集合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满足：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8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C=B</a:t>
                </a:r>
                <a14:m>
                  <m:oMath xmlns:m="http://schemas.openxmlformats.org/officeDocument/2006/math">
                    <m:r>
                      <a:rPr lang="en-US" altLang="zh-CN" sz="28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 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C=B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endParaRPr lang="zh-CN" altLang="en-US" sz="2800" b="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411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957" y="1536361"/>
                <a:ext cx="10945216" cy="791525"/>
              </a:xfrm>
              <a:prstGeom prst="rect">
                <a:avLst/>
              </a:prstGeom>
              <a:blipFill rotWithShape="1">
                <a:blip r:embed="rId1"/>
                <a:stretch>
                  <a:fillRect l="-4" t="-37" r="2" b="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"/>
              <p:cNvSpPr txBox="1">
                <a:spLocks noChangeArrowheads="1"/>
              </p:cNvSpPr>
              <p:nvPr/>
            </p:nvSpPr>
            <p:spPr bwMode="auto">
              <a:xfrm>
                <a:off x="1703512" y="2327886"/>
                <a:ext cx="6336704" cy="39193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               (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的吸收律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 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	            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C-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题设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	(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关于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的分配律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	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C-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题设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∪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	(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的交换律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	            (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关于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的分配律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	            (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C-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题设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buNone/>
                </a:pP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       (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zh-CN" altLang="en-US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的吸收律</a:t>
                </a:r>
                <a:r>
                  <a:rPr lang="en-US" altLang="zh-CN" sz="24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3512" y="2327886"/>
                <a:ext cx="6336704" cy="3919373"/>
              </a:xfrm>
              <a:prstGeom prst="rect">
                <a:avLst/>
              </a:prstGeom>
              <a:blipFill rotWithShape="1">
                <a:blip r:embed="rId2"/>
                <a:stretch>
                  <a:fillRect l="-7" t="-16" r="8" b="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1.3.2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集合演算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8957" y="2399675"/>
            <a:ext cx="1248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5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9376" y="1625744"/>
            <a:ext cx="9145016" cy="66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0" dirty="0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许多基本集合恒等式成对出现。如</a:t>
            </a:r>
            <a:endParaRPr lang="zh-CN" altLang="en-US" sz="2800" b="0" dirty="0">
              <a:solidFill>
                <a:srgbClr val="FFC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0" y="573474"/>
            <a:ext cx="331236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</a:pPr>
            <a:r>
              <a:rPr lang="zh-CN" altLang="en-US" sz="3200" b="0" dirty="0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观察几个现象</a:t>
            </a:r>
            <a:endParaRPr lang="zh-CN" altLang="en-US" sz="3200" b="0" dirty="0">
              <a:solidFill>
                <a:srgbClr val="92D05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80488" y="4332464"/>
                <a:ext cx="9145016" cy="1869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800" b="0" dirty="0">
                    <a:solidFill>
                      <a:srgbClr val="FFC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en-US" sz="2800" b="0" dirty="0">
                    <a:solidFill>
                      <a:srgbClr val="FFC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许多集合等式成对出现</a:t>
                </a:r>
                <a:endParaRPr lang="zh-CN" altLang="en-US" sz="2800" b="0" dirty="0">
                  <a:solidFill>
                    <a:srgbClr val="FFC000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8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B)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))=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(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前面已证明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))=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(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可类似地证明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en-US" altLang="zh-CN" sz="2400" b="0" noProof="1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88" y="4332464"/>
                <a:ext cx="9145016" cy="1869743"/>
              </a:xfrm>
              <a:prstGeom prst="rect">
                <a:avLst/>
              </a:prstGeom>
              <a:blipFill rotWithShape="1">
                <a:blip r:embed="rId1"/>
                <a:stretch>
                  <a:fillRect l="-1" t="-26" r="5" b="-2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2"/>
              <p:cNvSpPr txBox="1">
                <a:spLocks noChangeArrowheads="1"/>
              </p:cNvSpPr>
              <p:nvPr/>
            </p:nvSpPr>
            <p:spPr bwMode="auto">
              <a:xfrm>
                <a:off x="1170757" y="2559926"/>
                <a:ext cx="5333735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(8) </a:t>
                </a:r>
                <a:r>
                  <a:rPr lang="zh-CN" altLang="en-US" sz="24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结合律：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;</a:t>
                </a:r>
                <a:endParaRPr lang="en-US" altLang="zh-CN" sz="2400" b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  A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</a:t>
                </a:r>
                <a:endParaRPr lang="zh-CN" altLang="en-US" sz="24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0757" y="2559926"/>
                <a:ext cx="5333735" cy="791525"/>
              </a:xfrm>
              <a:prstGeom prst="rect">
                <a:avLst/>
              </a:prstGeom>
              <a:blipFill rotWithShape="1">
                <a:blip r:embed="rId2"/>
                <a:stretch>
                  <a:fillRect l="-8" t="-1154" r="4" b="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2"/>
              <p:cNvSpPr txBox="1">
                <a:spLocks noChangeArrowheads="1"/>
              </p:cNvSpPr>
              <p:nvPr/>
            </p:nvSpPr>
            <p:spPr bwMode="auto">
              <a:xfrm>
                <a:off x="1170757" y="3344729"/>
                <a:ext cx="5410020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(9) </a:t>
                </a:r>
                <a:r>
                  <a:rPr lang="zh-CN" altLang="en-US" sz="24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分配律：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);</a:t>
                </a:r>
                <a:endParaRPr lang="en-US" altLang="zh-CN" sz="2400" b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  A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lang="zh-CN" altLang="en-US" sz="24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0757" y="3344729"/>
                <a:ext cx="5410020" cy="791525"/>
              </a:xfrm>
              <a:prstGeom prst="rect">
                <a:avLst/>
              </a:prstGeom>
              <a:blipFill rotWithShape="1">
                <a:blip r:embed="rId3"/>
                <a:stretch>
                  <a:fillRect l="-8" t="-1146" r="5" b="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2"/>
              <p:cNvSpPr txBox="1">
                <a:spLocks noChangeArrowheads="1"/>
              </p:cNvSpPr>
              <p:nvPr/>
            </p:nvSpPr>
            <p:spPr bwMode="auto">
              <a:xfrm>
                <a:off x="7044731" y="2564342"/>
                <a:ext cx="4592703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(10) </a:t>
                </a:r>
                <a:r>
                  <a:rPr lang="zh-CN" altLang="en-US" sz="24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吸收律：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=A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;</a:t>
                </a:r>
                <a:endParaRPr lang="en-US" altLang="zh-CN" sz="2400" b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    A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=A</a:t>
                </a:r>
                <a:endParaRPr lang="zh-CN" altLang="en-US" sz="2400" b="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4731" y="2564342"/>
                <a:ext cx="4592703" cy="791525"/>
              </a:xfrm>
              <a:prstGeom prst="rect">
                <a:avLst/>
              </a:prstGeom>
              <a:blipFill rotWithShape="1">
                <a:blip r:embed="rId4"/>
                <a:stretch>
                  <a:fillRect l="-1" t="-1150" r="9" b="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2"/>
              <p:cNvSpPr txBox="1">
                <a:spLocks noChangeArrowheads="1"/>
              </p:cNvSpPr>
              <p:nvPr/>
            </p:nvSpPr>
            <p:spPr bwMode="auto">
              <a:xfrm>
                <a:off x="7024763" y="3429000"/>
                <a:ext cx="4767209" cy="791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(11) </a:t>
                </a:r>
                <a:r>
                  <a:rPr lang="zh-CN" altLang="en-US" sz="24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德摩根律：</a:t>
                </a:r>
                <a:r>
                  <a:rPr lang="en-US" altLang="zh-CN" sz="2400" b="0" noProof="1"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4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𝐴</m:t>
                        </m:r>
                        <m:r>
                          <a:rPr lang="en-US" altLang="zh-CN" sz="24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∪</m:t>
                        </m:r>
                        <m:r>
                          <a:rPr lang="en-US" altLang="zh-CN" sz="24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noProof="1"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4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𝐴</m:t>
                        </m:r>
                      </m:e>
                    </m:acc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∩</m:t>
                    </m:r>
                    <m:acc>
                      <m:accPr>
                        <m:chr m:val="̅"/>
                        <m:ctrlPr>
                          <a:rPr lang="en-US" altLang="zh-CN" sz="2400" b="0" i="1" noProof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400" b="0" i="1" noProof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400" b="0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;</a:t>
                </a:r>
                <a:endParaRPr lang="en-US" altLang="zh-CN" sz="2400" b="0" noProof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      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4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𝐴</m:t>
                        </m:r>
                        <m:r>
                          <a:rPr lang="en-US" altLang="zh-CN" sz="24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∩</m:t>
                        </m:r>
                        <m:r>
                          <a:rPr lang="en-US" altLang="zh-CN" sz="2400" b="0" i="1" noProof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400" b="0" i="1" noProof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noProof="1"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4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𝐴</m:t>
                        </m:r>
                      </m:e>
                    </m:acc>
                    <m:r>
                      <a:rPr lang="en-US" altLang="zh-CN" sz="24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  <m:acc>
                      <m:accPr>
                        <m:chr m:val="̅"/>
                        <m:ctrlPr>
                          <a:rPr lang="en-US" altLang="zh-CN" sz="2400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400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endParaRPr lang="zh-CN" altLang="en-US" sz="2400" b="0" i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24763" y="3429000"/>
                <a:ext cx="4767209" cy="791525"/>
              </a:xfrm>
              <a:prstGeom prst="rect">
                <a:avLst/>
              </a:prstGeom>
              <a:blipFill rotWithShape="1">
                <a:blip r:embed="rId5"/>
                <a:stretch>
                  <a:fillRect l="-8" t="-1203" b="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407368" y="1660283"/>
            <a:ext cx="2520280" cy="59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对偶命题</a:t>
            </a:r>
            <a:endParaRPr lang="zh-CN" altLang="en-US" sz="28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 txBox="1">
                <a:spLocks noChangeArrowheads="1"/>
              </p:cNvSpPr>
              <p:nvPr/>
            </p:nvSpPr>
            <p:spPr bwMode="auto">
              <a:xfrm>
                <a:off x="1055440" y="2359181"/>
                <a:ext cx="10081120" cy="19390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6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是关于集合的命题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其中至多包含并、交和补三种集合运算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600" b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不含差运算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；</a:t>
                </a:r>
                <a:r>
                  <a:rPr lang="en-US" altLang="zh-CN" sz="26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*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是将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中的</a:t>
                </a:r>
                <a14:m>
                  <m:oMath xmlns:m="http://schemas.openxmlformats.org/officeDocument/2006/math">
                    <m:r>
                      <a:rPr lang="en-US" altLang="zh-CN" sz="2800" b="0" i="1" noProof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zh-CN" altLang="en-US" sz="2600" b="0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600" b="0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600" b="0" i="1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</a:t>
                </a:r>
                <a:r>
                  <a:rPr lang="en-US" altLang="zh-CN" sz="2600" b="0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CN" sz="2600" b="0" i="1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分别替换为</a:t>
                </a:r>
                <a:r>
                  <a:rPr lang="zh-CN" altLang="en-US" sz="2600" b="0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600" b="0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noProof="1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600" b="0" i="1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600" b="0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600" b="0" i="1" dirty="0">
                    <a:solidFill>
                      <a:srgbClr val="92D05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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而得到的命题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则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称</a:t>
                </a:r>
                <a:r>
                  <a:rPr lang="en-US" altLang="zh-CN" sz="26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2600" b="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*</a:t>
                </a:r>
                <a:r>
                  <a:rPr lang="zh-CN" altLang="en-US" sz="2600" b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互为对偶命题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5440" y="2359181"/>
                <a:ext cx="10081120" cy="1939096"/>
              </a:xfrm>
              <a:prstGeom prst="rect">
                <a:avLst/>
              </a:prstGeom>
              <a:blipFill rotWithShape="1">
                <a:blip r:embed="rId1"/>
                <a:stretch>
                  <a:fillRect l="-1" t="-8" r="6" b="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1.3.3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对偶原理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27448" y="4632615"/>
            <a:ext cx="6217368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600" b="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600" b="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*, </a:t>
            </a:r>
            <a:r>
              <a:rPr lang="zh-CN" altLang="en-US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则称</a:t>
            </a:r>
            <a:r>
              <a:rPr lang="en-US" altLang="zh-CN" sz="2600" b="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6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为自对偶命题。</a:t>
            </a:r>
            <a:endParaRPr lang="zh-CN" altLang="en-US" sz="26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3" grpId="0"/>
      <p:bldP spid="14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447980" y="1772817"/>
            <a:ext cx="4752528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对偶原理：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b="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endParaRPr lang="en-US" altLang="zh-CN" sz="28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343472" y="2364882"/>
            <a:ext cx="6251233" cy="12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上面的例子都验证了对偶原理</a:t>
            </a:r>
            <a:endParaRPr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1.3.3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对偶原理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411" name="Rectangle 2"/>
              <p:cNvSpPr txBox="1">
                <a:spLocks noChangeArrowheads="1"/>
              </p:cNvSpPr>
              <p:nvPr/>
            </p:nvSpPr>
            <p:spPr bwMode="auto">
              <a:xfrm>
                <a:off x="473340" y="1556791"/>
                <a:ext cx="11245320" cy="6636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2800" b="0" noProof="1">
                    <a:solidFill>
                      <a:srgbClr val="FFCCFF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例</a:t>
                </a:r>
                <a:r>
                  <a:rPr lang="zh-CN" altLang="en-US" sz="2800" b="0" dirty="0">
                    <a:solidFill>
                      <a:srgbClr val="FFCCFF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)-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-(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恒成立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但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)-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-(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不一定成立。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411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340" y="1556791"/>
                <a:ext cx="11245320" cy="663611"/>
              </a:xfrm>
              <a:prstGeom prst="rect">
                <a:avLst/>
              </a:prstGeom>
              <a:blipFill rotWithShape="1">
                <a:blip r:embed="rId1"/>
                <a:stretch>
                  <a:fillRect l="-2" t="-61" r="3" b="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5360" y="2492195"/>
            <a:ext cx="95976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0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证明：</a:t>
            </a:r>
            <a:endParaRPr lang="zh-CN" altLang="en-US" sz="2800" b="0" noProof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1.3.3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对偶原理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2"/>
              <p:cNvSpPr txBox="1">
                <a:spLocks noChangeArrowheads="1"/>
              </p:cNvSpPr>
              <p:nvPr/>
            </p:nvSpPr>
            <p:spPr bwMode="auto">
              <a:xfrm>
                <a:off x="848774" y="2972327"/>
                <a:ext cx="5613302" cy="2661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左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=(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(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差律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=</a:t>
                </a:r>
                <a:r>
                  <a:rPr lang="en-US" altLang="zh-CN" sz="2600" b="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b="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altLang="zh-CN" sz="2600" b="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               (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∩的结合律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=A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0" i="1" kern="10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600" b="0" i="1" kern="10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CN" sz="2600" b="0" i="1" noProof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∪</m:t>
                        </m:r>
                        <m:r>
                          <a:rPr lang="en-US" altLang="zh-CN" sz="2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             (</a:t>
                </a:r>
                <a14:m>
                  <m:oMath xmlns:m="http://schemas.openxmlformats.org/officeDocument/2006/math">
                    <m:r>
                      <a:rPr lang="en-US" altLang="zh-CN" sz="2600" b="0" i="1" noProof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的德摩根律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=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右                               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差律</a:t>
                </a:r>
                <a:r>
                  <a:rPr lang="en-US" altLang="zh-CN" sz="2600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600" b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8774" y="2972327"/>
                <a:ext cx="5613302" cy="2661104"/>
              </a:xfrm>
              <a:prstGeom prst="rect">
                <a:avLst/>
              </a:prstGeom>
              <a:blipFill rotWithShape="1">
                <a:blip r:embed="rId2"/>
                <a:stretch>
                  <a:fillRect l="-7" t="-20" r="6" b="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654700" y="3074108"/>
            <a:ext cx="5256584" cy="1588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0" i="1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={1, 2, 3, 4, 5}, </a:t>
            </a:r>
            <a:r>
              <a:rPr lang="en-US" altLang="zh-CN" sz="2400" b="0" i="1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={2, 3}, </a:t>
            </a:r>
            <a:r>
              <a:rPr lang="en-US" altLang="zh-CN" sz="2400" b="0" i="1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={2, 4}</a:t>
            </a:r>
            <a:endParaRPr lang="en-US" altLang="zh-CN" sz="2400" b="0" dirty="0">
              <a:solidFill>
                <a:srgbClr val="FFCC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0" i="1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)-</a:t>
            </a:r>
            <a:r>
              <a:rPr lang="en-US" altLang="zh-CN" sz="2400" b="0" i="1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={1, 5}</a:t>
            </a:r>
            <a:endParaRPr lang="en-US" altLang="zh-CN" sz="2400" b="0" dirty="0">
              <a:solidFill>
                <a:srgbClr val="FFCC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i="1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-(</a:t>
            </a:r>
            <a:r>
              <a:rPr lang="en-US" altLang="zh-CN" sz="2400" b="0" i="1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400" b="0" i="1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)={1, 2, 3, 4, 5}-{2}={1, 3, 4, 5}</a:t>
            </a:r>
            <a:endParaRPr lang="en-US" altLang="zh-CN" sz="2400" b="0" dirty="0">
              <a:solidFill>
                <a:srgbClr val="FFCCF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80375" y="5805179"/>
            <a:ext cx="6342740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对偶原理中的条件“不含差运算”是必须的</a:t>
            </a:r>
            <a:endParaRPr lang="zh-CN" altLang="en-US" sz="2400" b="0" dirty="0">
              <a:solidFill>
                <a:srgbClr val="FFC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407368" y="1547896"/>
            <a:ext cx="3335808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zh-CN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对偶原理的证明</a:t>
            </a:r>
            <a:endParaRPr lang="en-US" altLang="zh-CN" sz="2800" b="0" noProof="1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04885" y="2558767"/>
            <a:ext cx="95976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0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  <a:endParaRPr lang="zh-CN" altLang="en-US" sz="2800" b="0" noProof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84769" y="3076514"/>
            <a:ext cx="9073008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一般的对偶原理无法证明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因为命题形式的多样性</a:t>
            </a:r>
            <a:endParaRPr lang="zh-CN" altLang="en-US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若命题的形式限于集合恒等式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则可以证明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数学归纳法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159896" y="247802"/>
            <a:ext cx="6336704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1.3.3  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对偶原理</a:t>
            </a:r>
            <a:endParaRPr lang="zh-CN" altLang="en-US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00517" y="116632"/>
            <a:ext cx="7128792" cy="1228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</a:rPr>
              <a:t>9(3), 11(5), 13(5), 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21(1), </a:t>
            </a:r>
            <a:r>
              <a:rPr lang="zh-CN" altLang="en-US" sz="2400" dirty="0">
                <a:latin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</a:rPr>
              <a:t>22(1), </a:t>
            </a:r>
            <a:r>
              <a:rPr lang="zh-CN" altLang="en-US" sz="2400" dirty="0">
                <a:latin typeface="Times New Roman" panose="02020603050405020304" pitchFamily="18" charset="0"/>
              </a:rPr>
              <a:t> *</a:t>
            </a:r>
            <a:r>
              <a:rPr lang="en-US" altLang="zh-CN" sz="2400" dirty="0">
                <a:latin typeface="Times New Roman" panose="02020603050405020304" pitchFamily="18" charset="0"/>
              </a:rPr>
              <a:t>24(2)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488979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50059" y="1511083"/>
                <a:ext cx="11471216" cy="2793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09600" indent="-60960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 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是集合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证明：若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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endParaRPr lang="zh-CN" altLang="en-US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是集合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请给出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)=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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成立的充要条件。 </a:t>
                </a:r>
                <a:endParaRPr lang="zh-CN" altLang="en-US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3. 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设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和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是集合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定义集合运算对称差⊕如下：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⊕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-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-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endParaRPr lang="en-US" altLang="zh-CN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609600" indent="-609600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证明：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⊕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0" i="1" noProof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)-(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endParaRPr lang="zh-CN" altLang="en-US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609600" indent="-609600">
                  <a:lnSpc>
                    <a:spcPct val="150000"/>
                  </a:lnSpc>
                </a:pP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4. 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设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C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和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D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是任意集合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zh-CN" altLang="en-US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证明：  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×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×</a:t>
                </a:r>
                <a:r>
                  <a:rPr lang="en-US" altLang="zh-CN" sz="2400" b="0" i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)=(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b="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×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0" i="1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∩</a:t>
                </a:r>
                <a:r>
                  <a:rPr lang="en-US" altLang="zh-CN" sz="2400" b="0" i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D</a:t>
                </a:r>
                <a:r>
                  <a:rPr lang="en-US" altLang="zh-CN" sz="2400" b="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 b="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59" y="1511083"/>
                <a:ext cx="11471216" cy="2793072"/>
              </a:xfrm>
              <a:prstGeom prst="rect">
                <a:avLst/>
              </a:prstGeom>
              <a:blipFill rotWithShape="1">
                <a:blip r:embed="rId1"/>
                <a:stretch>
                  <a:fillRect l="-4" t="-15" r="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316713" y="4338418"/>
            <a:ext cx="38884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5. </a:t>
            </a:r>
            <a:r>
              <a:rPr lang="zh-CN" altLang="en-US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endParaRPr lang="zh-CN" altLang="en-US" sz="2400" b="0" dirty="0">
              <a:solidFill>
                <a:srgbClr val="FFCCFF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zh-CN" sz="2400" b="0" dirty="0">
              <a:solidFill>
                <a:srgbClr val="FFCCFF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6. </a:t>
            </a:r>
            <a:r>
              <a:rPr lang="en-US" altLang="zh-CN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dirty="0" err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 err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dirty="0" err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i="1" baseline="-2500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-2500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是集合</a:t>
            </a:r>
            <a:r>
              <a:rPr lang="en-US" altLang="zh-CN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endParaRPr lang="en-US" altLang="zh-CN" sz="2400" b="0" dirty="0">
              <a:solidFill>
                <a:srgbClr val="FFCCFF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     证明</a:t>
            </a:r>
            <a:r>
              <a:rPr lang="en-US" altLang="zh-CN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endParaRPr lang="zh-CN" altLang="en-US" sz="2400" b="0" noProof="1">
              <a:solidFill>
                <a:srgbClr val="FFCCFF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5448697" y="5738456"/>
                <a:ext cx="1753707" cy="693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pHide m:val="on"/>
                          <m:ctrlPr>
                            <a:rPr lang="zh-CN" altLang="en-US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1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600" i="1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zh-CN" altLang="en-US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FFCCFF"/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697" y="5738456"/>
                <a:ext cx="1753707" cy="693588"/>
              </a:xfrm>
              <a:prstGeom prst="rect">
                <a:avLst/>
              </a:prstGeom>
              <a:blipFill rotWithShape="1">
                <a:blip r:embed="rId2"/>
                <a:stretch>
                  <a:fillRect l="-23" t="-86" r="13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650667" y="4222747"/>
                <a:ext cx="1753707" cy="756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600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nary>
                            <m:naryPr>
                              <m:chr m:val="⋃"/>
                              <m:supHide m:val="on"/>
                              <m:ctrlPr>
                                <a:rPr lang="zh-CN" altLang="en-US" i="1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US" altLang="zh-CN" i="1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i="1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CC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CC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FFCC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sub>
                              </m:sSub>
                            </m:e>
                          </m:nary>
                        </m:e>
                      </m:acc>
                      <m:r>
                        <a:rPr lang="en-US" altLang="zh-CN" sz="1600" i="1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⋂"/>
                          <m:supHide m:val="on"/>
                          <m:ctrlPr>
                            <a:rPr lang="en-US" altLang="zh-CN" sz="1600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altLang="zh-CN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sub>
                        <m:sup/>
                        <m:e>
                          <m:acc>
                            <m:accPr>
                              <m:chr m:val="̅"/>
                              <m:ctrlPr>
                                <a:rPr lang="en-US" altLang="zh-CN" sz="1600" i="1" smtClean="0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1600" i="1" smtClean="0">
                                      <a:solidFill>
                                        <a:srgbClr val="FFCC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mtClean="0">
                                      <a:solidFill>
                                        <a:srgbClr val="FFCC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zh-CN" altLang="en-US" sz="1600" i="1" smtClean="0">
                                      <a:solidFill>
                                        <a:srgbClr val="FFCC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FFCCFF"/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667" y="4222747"/>
                <a:ext cx="1753707" cy="756810"/>
              </a:xfrm>
              <a:prstGeom prst="rect">
                <a:avLst/>
              </a:prstGeom>
              <a:blipFill rotWithShape="1">
                <a:blip r:embed="rId3"/>
                <a:stretch>
                  <a:fillRect l="-17" t="-84" r="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3376766" y="4934603"/>
                <a:ext cx="2260370" cy="794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FFCC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⋃"/>
                          <m:ctrlPr>
                            <a:rPr lang="en-US" altLang="zh-CN" b="1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FFCC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CCFF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FFCCFF"/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766" y="4934603"/>
                <a:ext cx="2260370" cy="794576"/>
              </a:xfrm>
              <a:prstGeom prst="rect">
                <a:avLst/>
              </a:prstGeom>
              <a:blipFill rotWithShape="1">
                <a:blip r:embed="rId4"/>
                <a:stretch>
                  <a:fillRect l="-21" t="-2" r="11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636460" y="5908078"/>
            <a:ext cx="31838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800" kern="100" dirty="0">
                <a:solidFill>
                  <a:srgbClr val="FFCCFF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rgbClr val="FFCCFF"/>
                </a:solidFill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solidFill>
                  <a:srgbClr val="FFCCFF"/>
                </a:solidFill>
                <a:cs typeface="Times New Roman" panose="02020603050405020304" pitchFamily="18" charset="0"/>
              </a:rPr>
              <a:t>）</a:t>
            </a:r>
            <a:r>
              <a:rPr lang="en-US" altLang="zh-CN" sz="1800" kern="100" dirty="0">
                <a:solidFill>
                  <a:srgbClr val="FFCCFF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1800" kern="100" dirty="0" err="1">
                <a:solidFill>
                  <a:srgbClr val="FFCC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i,j∈N</a:t>
            </a:r>
            <a:r>
              <a:rPr lang="zh-CN" altLang="zh-CN" sz="1800" kern="100" dirty="0">
                <a:solidFill>
                  <a:srgbClr val="FFCCFF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 err="1">
                <a:solidFill>
                  <a:srgbClr val="FFCCFF"/>
                </a:solidFill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solidFill>
                  <a:srgbClr val="FFCCFF"/>
                </a:solidFill>
                <a:cs typeface="Times New Roman" panose="02020603050405020304" pitchFamily="18" charset="0"/>
              </a:rPr>
              <a:t>≠</a:t>
            </a:r>
            <a:r>
              <a:rPr lang="en-US" altLang="zh-CN" sz="1800" kern="100" dirty="0">
                <a:solidFill>
                  <a:srgbClr val="FFCCFF"/>
                </a:solidFill>
                <a:cs typeface="Times New Roman" panose="02020603050405020304" pitchFamily="18" charset="0"/>
              </a:rPr>
              <a:t>j</a:t>
            </a:r>
            <a:r>
              <a:rPr lang="zh-CN" altLang="zh-CN" sz="1800" kern="100" dirty="0">
                <a:solidFill>
                  <a:srgbClr val="FFCCFF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solidFill>
                  <a:srgbClr val="FFCCFF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1800" kern="100" baseline="-25000" dirty="0">
                <a:solidFill>
                  <a:srgbClr val="FFCCFF"/>
                </a:solidFill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solidFill>
                  <a:srgbClr val="FFCCFF"/>
                </a:solidFill>
                <a:cs typeface="Times New Roman" panose="02020603050405020304" pitchFamily="18" charset="0"/>
              </a:rPr>
              <a:t>∩</a:t>
            </a:r>
            <a:r>
              <a:rPr lang="en-US" altLang="zh-CN" sz="1800" kern="100" dirty="0" err="1">
                <a:solidFill>
                  <a:srgbClr val="FFCCFF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1800" kern="100" baseline="-25000" dirty="0" err="1">
                <a:solidFill>
                  <a:srgbClr val="FFCCFF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sz="1800" kern="100" dirty="0">
                <a:solidFill>
                  <a:srgbClr val="FFCCFF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1800" kern="100" dirty="0">
                <a:solidFill>
                  <a:srgbClr val="FFCCFF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zh-CN" altLang="en-US" sz="1800" dirty="0">
              <a:solidFill>
                <a:srgbClr val="FFCC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21075" y="5956640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FFCCFF"/>
                </a:solidFill>
              </a:rPr>
              <a:t>（</a:t>
            </a:r>
            <a:r>
              <a:rPr lang="en-US" altLang="zh-CN" sz="1800" dirty="0">
                <a:solidFill>
                  <a:srgbClr val="FFCCFF"/>
                </a:solidFill>
              </a:rPr>
              <a:t>2</a:t>
            </a:r>
            <a:r>
              <a:rPr lang="zh-CN" altLang="en-US" sz="1800" dirty="0">
                <a:solidFill>
                  <a:srgbClr val="FFCCFF"/>
                </a:solidFill>
              </a:rPr>
              <a:t>）</a:t>
            </a:r>
            <a:endParaRPr lang="zh-CN" altLang="en-US" sz="1800" dirty="0">
              <a:solidFill>
                <a:srgbClr val="FFCCFF"/>
              </a:solidFill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IMING" val="|1.6|8.6|1.5|3.5|3.1|3.7|5.1|2.8|4.3|3.9|3.6"/>
</p:tagLst>
</file>

<file path=ppt/tags/tag2.xml><?xml version="1.0" encoding="utf-8"?>
<p:tagLst xmlns:p="http://schemas.openxmlformats.org/presentationml/2006/main">
  <p:tag name="TIMING" val="|19.1|3.1|2.7|5.6|5.9|4.4|3.1|2.4|3.5|5.8|10.6"/>
</p:tagLst>
</file>

<file path=ppt/tags/tag3.xml><?xml version="1.0" encoding="utf-8"?>
<p:tagLst xmlns:p="http://schemas.openxmlformats.org/presentationml/2006/main">
  <p:tag name="TIMING" val="|19.1|3.1|2.7|5.6|5.9|4.4|3.1|2.4|3.5|5.8|10.6"/>
</p:tagLst>
</file>

<file path=ppt/tags/tag4.xml><?xml version="1.0" encoding="utf-8"?>
<p:tagLst xmlns:p="http://schemas.openxmlformats.org/presentationml/2006/main">
  <p:tag name="TIMING" val="|19.1|3.1|2.7|5.6|5.9|4.4|3.1|2.4|3.5|5.8|10.6"/>
</p:tagLst>
</file>

<file path=ppt/tags/tag5.xml><?xml version="1.0" encoding="utf-8"?>
<p:tagLst xmlns:p="http://schemas.openxmlformats.org/presentationml/2006/main">
  <p:tag name="TIMING" val="|19.1|3.1|2.7|5.6|5.9|4.4|3.1|2.4|3.5|5.8|10.6"/>
</p:tagLst>
</file>

<file path=ppt/tags/tag6.xml><?xml version="1.0" encoding="utf-8"?>
<p:tagLst xmlns:p="http://schemas.openxmlformats.org/presentationml/2006/main">
  <p:tag name="TIMING" val="|19.1|3.1|2.7|5.6|5.9|4.4|3.1|2.4|3.5|5.8|10.6"/>
</p:tagLst>
</file>

<file path=ppt/tags/tag7.xml><?xml version="1.0" encoding="utf-8"?>
<p:tagLst xmlns:p="http://schemas.openxmlformats.org/presentationml/2006/main">
  <p:tag name="TIMING" val="|19.1|3.1|2.7|5.6|5.9|4.4|3.1|2.4|3.5|5.8|10.6"/>
</p:tagLst>
</file>

<file path=ppt/tags/tag8.xml><?xml version="1.0" encoding="utf-8"?>
<p:tagLst xmlns:p="http://schemas.openxmlformats.org/presentationml/2006/main">
  <p:tag name="TIMING" val="|19.1|3.1|2.7|5.6|5.9|4.4|3.1|2.4|3.5|5.8|10.6"/>
</p:tagLst>
</file>

<file path=ppt/tags/tag9.xml><?xml version="1.0" encoding="utf-8"?>
<p:tagLst xmlns:p="http://schemas.openxmlformats.org/presentationml/2006/main">
  <p:tag name="TIMING" val="|19.1|3.1|2.7|5.6|5.9|4.4|3.1|2.4|3.5|5.8|10.6"/>
</p:tagLst>
</file>

<file path=ppt/tags/tag10.xml><?xml version="1.0" encoding="utf-8"?>
<p:tagLst xmlns:p="http://schemas.openxmlformats.org/presentationml/2006/main">
  <p:tag name="TIMING" val="|19.1|3.1|2.7|5.6|5.9|4.4|3.1|2.4|3.5|5.8|10.6"/>
</p:tagLst>
</file>

<file path=ppt/tags/tag11.xml><?xml version="1.0" encoding="utf-8"?>
<p:tagLst xmlns:p="http://schemas.openxmlformats.org/presentationml/2006/main">
  <p:tag name="TIMING" val="|19.1|3.1|2.7|5.6|5.9|4.4|3.1|2.4|3.5|5.8|10.6"/>
</p:tagLst>
</file>

<file path=ppt/tags/tag12.xml><?xml version="1.0" encoding="utf-8"?>
<p:tagLst xmlns:p="http://schemas.openxmlformats.org/presentationml/2006/main">
  <p:tag name="TIMING" val="|19.1|3.1|2.7|5.6|5.9|4.4|3.1|2.4|3.5|5.8|10.6"/>
</p:tagLst>
</file>

<file path=ppt/tags/tag13.xml><?xml version="1.0" encoding="utf-8"?>
<p:tagLst xmlns:p="http://schemas.openxmlformats.org/presentationml/2006/main">
  <p:tag name="TIMING" val="|19.1|3.1|2.7|5.6|5.9|4.4|3.1|2.4|3.5|5.8|10.6"/>
</p:tagLst>
</file>

<file path=ppt/tags/tag14.xml><?xml version="1.0" encoding="utf-8"?>
<p:tagLst xmlns:p="http://schemas.openxmlformats.org/presentationml/2006/main">
  <p:tag name="TIMING" val="|19.1|3.1|2.7|5.6|5.9|4.4|3.1|2.4|3.5|5.8|10.6"/>
</p:tagLst>
</file>

<file path=ppt/tags/tag15.xml><?xml version="1.0" encoding="utf-8"?>
<p:tagLst xmlns:p="http://schemas.openxmlformats.org/presentationml/2006/main">
  <p:tag name="TIMING" val="|19.1|3.1|2.7|5.6|5.9|4.4|3.1|2.4|3.5|5.8|10.6"/>
</p:tagLst>
</file>

<file path=ppt/tags/tag16.xml><?xml version="1.0" encoding="utf-8"?>
<p:tagLst xmlns:p="http://schemas.openxmlformats.org/presentationml/2006/main">
  <p:tag name="TIMING" val="|19.1|3.1|2.7|5.6|5.9|4.4|3.1|2.4|3.5|5.8|10.6"/>
</p:tagLst>
</file>

<file path=ppt/tags/tag17.xml><?xml version="1.0" encoding="utf-8"?>
<p:tagLst xmlns:p="http://schemas.openxmlformats.org/presentationml/2006/main">
  <p:tag name="TIMING" val="|1.6"/>
</p:tagLst>
</file>

<file path=ppt/tags/tag18.xml><?xml version="1.0" encoding="utf-8"?>
<p:tagLst xmlns:p="http://schemas.openxmlformats.org/presentationml/2006/main">
  <p:tag name="COMMONDATA" val="eyJoZGlkIjoiZTUxMDZlMWMxNThhZTg1OTc1ODg1MTk0MzVmZTYzZTE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3350</Words>
  <Application>WPS 演示</Application>
  <PresentationFormat>宽屏</PresentationFormat>
  <Paragraphs>234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Times New Roman</vt:lpstr>
      <vt:lpstr>微软雅黑</vt:lpstr>
      <vt:lpstr>Calibri</vt:lpstr>
      <vt:lpstr>Cambria Math</vt:lpstr>
      <vt:lpstr>Symbol</vt:lpstr>
      <vt:lpstr>华文细黑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luxingjian</cp:lastModifiedBy>
  <cp:revision>739</cp:revision>
  <dcterms:created xsi:type="dcterms:W3CDTF">2008-05-09T05:16:00Z</dcterms:created>
  <dcterms:modified xsi:type="dcterms:W3CDTF">2026-03-09T03:09:24Z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698229CBE1B2482997DACED105FE7031_13</vt:lpwstr>
  </property>
  <property fmtid="{D5CDD505-2E9C-101B-9397-08002B2CF9AE}" pid="3" name="KSOProductBuildVer">
    <vt:lpwstr>2052-12.1.0.23542</vt:lpwstr>
  </property>
</Properties>
</file>