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7" r:id="rId2"/>
    <p:sldId id="398" r:id="rId3"/>
    <p:sldId id="376" r:id="rId4"/>
    <p:sldId id="377" r:id="rId5"/>
    <p:sldId id="338" r:id="rId6"/>
    <p:sldId id="258" r:id="rId7"/>
    <p:sldId id="423" r:id="rId8"/>
    <p:sldId id="418" r:id="rId9"/>
    <p:sldId id="424" r:id="rId10"/>
    <p:sldId id="419" r:id="rId11"/>
    <p:sldId id="420" r:id="rId12"/>
    <p:sldId id="425" r:id="rId13"/>
    <p:sldId id="416" r:id="rId14"/>
    <p:sldId id="426" r:id="rId15"/>
    <p:sldId id="427" r:id="rId16"/>
    <p:sldId id="280" r:id="rId17"/>
    <p:sldId id="428" r:id="rId18"/>
    <p:sldId id="281" r:id="rId19"/>
    <p:sldId id="412" r:id="rId20"/>
    <p:sldId id="429" r:id="rId21"/>
    <p:sldId id="411" r:id="rId22"/>
    <p:sldId id="430" r:id="rId23"/>
    <p:sldId id="431" r:id="rId24"/>
    <p:sldId id="432" r:id="rId25"/>
    <p:sldId id="434" r:id="rId26"/>
    <p:sldId id="433" r:id="rId27"/>
    <p:sldId id="435" r:id="rId28"/>
    <p:sldId id="409" r:id="rId29"/>
    <p:sldId id="421" r:id="rId30"/>
    <p:sldId id="413" r:id="rId31"/>
    <p:sldId id="414" r:id="rId32"/>
    <p:sldId id="437" r:id="rId33"/>
    <p:sldId id="436" r:id="rId34"/>
    <p:sldId id="399" r:id="rId35"/>
  </p:sldIdLst>
  <p:sldSz cx="12192000" cy="6858000"/>
  <p:notesSz cx="6858000" cy="9144000"/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1A4589"/>
    <a:srgbClr val="FFFF00"/>
    <a:srgbClr val="FFCC99"/>
    <a:srgbClr val="FFCCFF"/>
    <a:srgbClr val="FF7C8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7" d="100"/>
          <a:sy n="77" d="100"/>
        </p:scale>
        <p:origin x="58" y="26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58022" y="0"/>
            <a:ext cx="12339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310842" y="11309"/>
            <a:ext cx="18353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图论基础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第七章 图论基础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79576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23392" y="1840288"/>
            <a:ext cx="7272808" cy="62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图论古老而充满活力</a:t>
            </a:r>
            <a:r>
              <a:rPr lang="en-US" altLang="zh-CN" sz="2600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直观、应用广泛</a:t>
            </a:r>
            <a:endParaRPr lang="zh-CN" altLang="en-US" sz="2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5827" y="3107279"/>
            <a:ext cx="5192142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/>
              <a:t>  瑞士数学家</a:t>
            </a:r>
            <a:r>
              <a:rPr lang="en-US" altLang="zh-CN" sz="2600" dirty="0"/>
              <a:t>Euler</a:t>
            </a:r>
            <a:r>
              <a:rPr lang="zh-CN" altLang="en-US" sz="2600" dirty="0"/>
              <a:t>是图论之父</a:t>
            </a:r>
            <a:endParaRPr lang="zh-CN" altLang="en-US" sz="2600" noProof="1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7408" y="4277170"/>
            <a:ext cx="5976664" cy="205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世纪的普鲁士的哥尼斯堡镇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现加里宁格勒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被普雷格尔河支流分成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部分：河两岸、河中心岛、两条支流之间的部分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相互之间有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座桥连接。当时人们热衷于设计这样一条游览线路：从某个位置出发不重复地经过所有桥并最终返回出发点。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23391" y="2444748"/>
            <a:ext cx="7632849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/>
              <a:t>  图论中的图是对象及其相互关联的图形表示</a:t>
            </a:r>
            <a:endParaRPr lang="zh-CN" altLang="en-US" sz="2600" noProof="1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28972" y="3748349"/>
            <a:ext cx="8923412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600" dirty="0"/>
              <a:t>  Euler</a:t>
            </a:r>
            <a:r>
              <a:rPr lang="zh-CN" altLang="en-US" sz="2600" dirty="0"/>
              <a:t>用图论的方法解决了</a:t>
            </a:r>
            <a:r>
              <a:rPr lang="en-US" altLang="zh-CN" sz="2600" dirty="0"/>
              <a:t>(1736)</a:t>
            </a:r>
            <a:r>
              <a:rPr lang="zh-CN" altLang="en-US" sz="2600" dirty="0"/>
              <a:t>哥尼斯褒七桥问题</a:t>
            </a:r>
            <a:endParaRPr lang="zh-CN" altLang="en-US" sz="2600" noProof="1"/>
          </a:p>
        </p:txBody>
      </p:sp>
      <p:pic>
        <p:nvPicPr>
          <p:cNvPr id="11" name="Picture 4" descr="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181" y="4389419"/>
            <a:ext cx="30607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4002028"/>
            <a:ext cx="172085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" grpId="0" uiExpand="1" build="p"/>
      <p:bldP spid="6" grpId="0" uiExpand="1" build="p"/>
      <p:bldP spid="7" grpId="0" uiExpand="1" build="p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9746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7608" y="2470051"/>
            <a:ext cx="6093618" cy="359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28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7.1  </a:t>
            </a:r>
            <a:r>
              <a:rPr lang="zh-CN" altLang="en-US" dirty="0"/>
              <a:t>图及其表示</a:t>
            </a:r>
          </a:p>
          <a:p>
            <a:r>
              <a:rPr lang="en-US" altLang="zh-CN" dirty="0"/>
              <a:t>7.2  </a:t>
            </a:r>
            <a:r>
              <a:rPr lang="zh-CN" altLang="en-US" dirty="0"/>
              <a:t>握手定理</a:t>
            </a:r>
          </a:p>
          <a:p>
            <a:r>
              <a:rPr lang="en-US" altLang="zh-CN" dirty="0"/>
              <a:t>7.3  </a:t>
            </a:r>
            <a:r>
              <a:rPr lang="zh-CN" altLang="en-US" dirty="0"/>
              <a:t>图的连通性</a:t>
            </a:r>
          </a:p>
          <a:p>
            <a:r>
              <a:rPr lang="en-US" altLang="zh-CN" dirty="0"/>
              <a:t>7.5  </a:t>
            </a:r>
            <a:r>
              <a:rPr lang="zh-CN" altLang="en-US" dirty="0"/>
              <a:t>顶点着色</a:t>
            </a:r>
          </a:p>
          <a:p>
            <a:r>
              <a:rPr lang="en-US" altLang="zh-CN" dirty="0"/>
              <a:t>7.6  </a:t>
            </a:r>
            <a:r>
              <a:rPr lang="zh-CN" altLang="en-US" dirty="0"/>
              <a:t>图同构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55640" y="1797398"/>
            <a:ext cx="7583313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dirty="0">
                <a:solidFill>
                  <a:srgbClr val="FFCC99"/>
                </a:solidFill>
              </a:rPr>
              <a:t>本章讨论图的基本知识</a:t>
            </a:r>
            <a:r>
              <a:rPr lang="en-US" altLang="zh-CN" sz="2800" dirty="0">
                <a:solidFill>
                  <a:srgbClr val="FFCC99"/>
                </a:solidFill>
                <a:latin typeface="+mn-ea"/>
                <a:ea typeface="+mn-ea"/>
              </a:rPr>
              <a:t>,</a:t>
            </a:r>
            <a:r>
              <a:rPr lang="zh-CN" altLang="en-US" sz="2800" dirty="0">
                <a:solidFill>
                  <a:srgbClr val="FFCC99"/>
                </a:solidFill>
              </a:rPr>
              <a:t> 下一章介绍特殊图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理解图的基本概念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图的基本概念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图的概念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048148" y="1948264"/>
            <a:ext cx="23521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048148" y="3256926"/>
            <a:ext cx="21360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图的表示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60564" y="1654911"/>
            <a:ext cx="239687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583832" y="1574359"/>
            <a:ext cx="7052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顶点集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边集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8"/>
          <p:cNvSpPr/>
          <p:nvPr/>
        </p:nvSpPr>
        <p:spPr bwMode="auto">
          <a:xfrm>
            <a:off x="4225254" y="3238931"/>
            <a:ext cx="194469" cy="565942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19339" y="3084792"/>
            <a:ext cx="451385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邻接矩阵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关联矩阵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583832" y="2051701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多重图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583832" y="2529042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出度和入度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689819" y="4979036"/>
            <a:ext cx="26326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几种特殊图</a:t>
            </a:r>
          </a:p>
        </p:txBody>
      </p:sp>
      <p:sp>
        <p:nvSpPr>
          <p:cNvPr id="13" name="AutoShape 8"/>
          <p:cNvSpPr/>
          <p:nvPr/>
        </p:nvSpPr>
        <p:spPr bwMode="auto">
          <a:xfrm>
            <a:off x="4149464" y="4241832"/>
            <a:ext cx="239687" cy="2085616"/>
          </a:xfrm>
          <a:prstGeom prst="leftBrace">
            <a:avLst>
              <a:gd name="adj1" fmla="val 32163"/>
              <a:gd name="adj2" fmla="val 49149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478157" y="4023511"/>
            <a:ext cx="176186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圈图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轮图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超立方体图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偶图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890022" y="4838013"/>
            <a:ext cx="29322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  <p:sp>
        <p:nvSpPr>
          <p:cNvPr id="18" name="AutoShape 8"/>
          <p:cNvSpPr/>
          <p:nvPr/>
        </p:nvSpPr>
        <p:spPr bwMode="auto">
          <a:xfrm>
            <a:off x="8578002" y="4505095"/>
            <a:ext cx="271884" cy="1195923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8867305" y="4375413"/>
            <a:ext cx="332469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真子图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生成子图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|)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并图和补图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6" grpId="0"/>
      <p:bldP spid="11" grpId="0"/>
      <p:bldP spid="13" grpId="0" animBg="1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5980" y="1797550"/>
            <a:ext cx="8514356" cy="240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图的本质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对象及其联系的图形模型</a:t>
            </a:r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点表示对象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点之间的连线表示对象之间的关联</a:t>
            </a:r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是分析和解决实际问题的有效方法</a:t>
            </a:r>
            <a:endParaRPr lang="zh-CN" altLang="en-US" sz="2400" b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1816" y="4581128"/>
            <a:ext cx="892899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联系的两种不同类型导致两种不同类型的图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983432" y="2280731"/>
            <a:ext cx="7416824" cy="1652326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顶点集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：非空的顶点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：无向边的集合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到顶点无序偶集合的函数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en-US" sz="240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7.1.1 </a:t>
            </a:r>
            <a:r>
              <a:rPr lang="zh-CN" altLang="en-US" noProof="1"/>
              <a:t>无向图</a:t>
            </a:r>
            <a:r>
              <a:rPr lang="en-US" altLang="zh-CN" i="1" noProof="1"/>
              <a:t>G</a:t>
            </a:r>
            <a:r>
              <a:rPr lang="en-US" altLang="zh-CN" noProof="1"/>
              <a:t>=(</a:t>
            </a:r>
            <a:r>
              <a:rPr lang="en-US" altLang="zh-CN" i="1" noProof="1"/>
              <a:t>V</a:t>
            </a:r>
            <a:r>
              <a:rPr lang="en-US" altLang="zh-CN" noProof="1"/>
              <a:t>,</a:t>
            </a:r>
            <a:r>
              <a:rPr lang="en-US" altLang="zh-CN" i="1" noProof="1"/>
              <a:t>E</a:t>
            </a:r>
            <a:r>
              <a:rPr lang="en-US" altLang="zh-CN" noProof="1"/>
              <a:t>,</a:t>
            </a:r>
            <a:r>
              <a:rPr lang="en-US" altLang="zh-CN" i="1" noProof="1"/>
              <a:t>f</a:t>
            </a:r>
            <a:r>
              <a:rPr lang="en-US" altLang="zh-CN" noProof="1"/>
              <a:t>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  <p:sp>
        <p:nvSpPr>
          <p:cNvPr id="11" name="文本占位符 14337"/>
          <p:cNvSpPr txBox="1"/>
          <p:nvPr/>
        </p:nvSpPr>
        <p:spPr bwMode="auto">
          <a:xfrm>
            <a:off x="983432" y="4714327"/>
            <a:ext cx="7416824" cy="1705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30000"/>
              </a:lnSpc>
              <a:buFontTx/>
              <a:buNone/>
            </a:pPr>
            <a:r>
              <a:rPr kumimoji="0" lang="en-US" altLang="zh-CN" sz="2400" b="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顶点集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：非空的顶点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FontTx/>
              <a:buNone/>
            </a:pPr>
            <a:r>
              <a:rPr kumimoji="0" lang="en-US" altLang="zh-CN" sz="2400" b="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向边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：有向边的集合</a:t>
            </a: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FontTx/>
              <a:buNone/>
            </a:pPr>
            <a:r>
              <a:rPr kumimoji="1" lang="en-US" altLang="zh-CN" sz="2400" b="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到顶点有序偶集合的函数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US" altLang="zh-CN" sz="24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en-US" sz="2400" b="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5360" y="4191107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7.1.2 </a:t>
            </a:r>
            <a:r>
              <a:rPr lang="zh-CN" altLang="en-US" noProof="1"/>
              <a:t>有向图</a:t>
            </a:r>
            <a:r>
              <a:rPr lang="en-US" altLang="zh-CN" i="1" noProof="1"/>
              <a:t>G</a:t>
            </a:r>
            <a:r>
              <a:rPr lang="en-US" altLang="zh-CN" noProof="1"/>
              <a:t>=(</a:t>
            </a:r>
            <a:r>
              <a:rPr lang="en-US" altLang="zh-CN" i="1" noProof="1"/>
              <a:t>V</a:t>
            </a:r>
            <a:r>
              <a:rPr lang="en-US" altLang="zh-CN" noProof="1"/>
              <a:t>,</a:t>
            </a:r>
            <a:r>
              <a:rPr lang="en-US" altLang="zh-CN" i="1" noProof="1"/>
              <a:t>E</a:t>
            </a:r>
            <a:r>
              <a:rPr lang="en-US" altLang="zh-CN" noProof="1"/>
              <a:t>,</a:t>
            </a:r>
            <a:r>
              <a:rPr lang="en-US" altLang="zh-CN" i="1" noProof="1"/>
              <a:t>f </a:t>
            </a:r>
            <a:r>
              <a:rPr lang="en-US" altLang="zh-CN" noProof="1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9376" y="1640204"/>
            <a:ext cx="6696744" cy="236486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7.1.1  </a:t>
            </a:r>
            <a:r>
              <a:rPr lang="zh-CN" altLang="en-US" dirty="0"/>
              <a:t>无向图</a:t>
            </a:r>
            <a:r>
              <a:rPr lang="en-US" altLang="zh-CN" i="1" dirty="0"/>
              <a:t>G</a:t>
            </a:r>
            <a:r>
              <a:rPr lang="en-US" altLang="zh-CN" dirty="0"/>
              <a:t>=(</a:t>
            </a:r>
            <a:r>
              <a:rPr lang="en-US" altLang="zh-CN" i="1" dirty="0" err="1"/>
              <a:t>V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)</a:t>
            </a: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pt-BR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zh-CN" altLang="en-US" noProof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8655" y="4143314"/>
            <a:ext cx="6335140" cy="2053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zh-CN" altLang="en-US" noProof="1"/>
              <a:t>例</a:t>
            </a:r>
            <a:r>
              <a:rPr lang="en-US" altLang="zh-CN" noProof="1"/>
              <a:t>7.1.2</a:t>
            </a:r>
            <a:r>
              <a:rPr lang="zh-CN" altLang="en-US" dirty="0"/>
              <a:t>有向图</a:t>
            </a:r>
            <a:r>
              <a:rPr lang="en-US" altLang="zh-CN" i="1" dirty="0"/>
              <a:t>G</a:t>
            </a:r>
            <a:r>
              <a:rPr lang="en-US" altLang="zh-CN" dirty="0"/>
              <a:t>=(</a:t>
            </a:r>
            <a:r>
              <a:rPr lang="en-US" altLang="zh-CN" i="1" dirty="0" err="1"/>
              <a:t>V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)</a:t>
            </a:r>
            <a:endParaRPr lang="zh-CN" altLang="pt-BR" dirty="0"/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pt-BR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57250" lvl="2" indent="0">
              <a:lnSpc>
                <a:spcPct val="110000"/>
              </a:lnSpc>
              <a:buNone/>
              <a:defRPr/>
            </a:pP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 b="0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192" y="1992006"/>
            <a:ext cx="2411413" cy="2151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189" y="4306217"/>
            <a:ext cx="2422420" cy="207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983432" y="2280730"/>
            <a:ext cx="7416824" cy="2732446"/>
          </a:xfrm>
        </p:spPr>
        <p:txBody>
          <a:bodyPr/>
          <a:lstStyle/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kern="200" spc="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图是对象及其联系的数学模型和图形化表示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与地理位置无关</a:t>
            </a:r>
            <a:endParaRPr lang="en-US" altLang="zh-CN" sz="2400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kern="200" spc="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有向图本质上就是集合和其上的关系的综合物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关系图是有向图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sz="2400" kern="200" spc="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表示图的图形可任意变形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前提是不改变顶点之间的连接关系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关于图的说明</a:t>
            </a:r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  <p:sp>
        <p:nvSpPr>
          <p:cNvPr id="11" name="文本占位符 14337"/>
          <p:cNvSpPr txBox="1"/>
          <p:nvPr/>
        </p:nvSpPr>
        <p:spPr bwMode="auto">
          <a:xfrm>
            <a:off x="983432" y="5013176"/>
            <a:ext cx="7416824" cy="138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30000"/>
              </a:lnSpc>
              <a:buFontTx/>
              <a:buNone/>
            </a:pPr>
            <a:r>
              <a:rPr kumimoji="0" lang="en-US" altLang="zh-CN" sz="2400" b="0" kern="200" spc="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无向图本质上就是一种特殊的有向图</a:t>
            </a: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400" b="0" kern="200" spc="20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混合图：含两种边的图</a:t>
            </a: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可统一为有向图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51201"/>
          <p:cNvSpPr txBox="1"/>
          <p:nvPr/>
        </p:nvSpPr>
        <p:spPr>
          <a:xfrm>
            <a:off x="551384" y="1610002"/>
            <a:ext cx="10801200" cy="52285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</a:t>
            </a: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计算机网络拓扑结构的图模型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00" y="2121421"/>
            <a:ext cx="5916787" cy="215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452" y="4381201"/>
            <a:ext cx="5916788" cy="202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700808"/>
            <a:ext cx="8424936" cy="439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几个图的基本术语</a:t>
            </a:r>
            <a:endParaRPr lang="en-US" altLang="zh-CN" sz="2800" b="0" noProof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noProof="1">
                <a:solidFill>
                  <a:srgbClr val="FFCC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400" b="0" i="1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 err="1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 err="1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 err="1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与顶点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相关联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的两个端点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相邻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有向图</a:t>
            </a:r>
            <a:r>
              <a:rPr lang="en-US" altLang="zh-CN" sz="2400" b="0" i="1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 err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 err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 err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 顶点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相关联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的两个端点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的起点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的终点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邻接到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邻接于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272" y="2276872"/>
            <a:ext cx="2987675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700808"/>
            <a:ext cx="7488832" cy="451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几个图的基本术语</a:t>
            </a:r>
            <a:endParaRPr lang="en-US" altLang="zh-CN" sz="2800" b="0" noProof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有限图：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都有限</a:t>
            </a:r>
          </a:p>
          <a:p>
            <a:pPr lvl="2">
              <a:lnSpc>
                <a:spcPct val="110000"/>
              </a:lnSpc>
              <a:defRPr/>
            </a:pP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阶图：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零图：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平凡图：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|=1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有向图的底图：忽略有向边的方向而得到的无向图</a:t>
            </a:r>
            <a:endParaRPr lang="en-US" altLang="zh-CN" sz="22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(4)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环：两端点相同的边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平行边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重边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：端点相同的多条边</a:t>
            </a:r>
          </a:p>
          <a:p>
            <a:pPr lvl="2">
              <a:lnSpc>
                <a:spcPct val="11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孤立点：没有任何边与之关联的顶点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846" y="4232021"/>
            <a:ext cx="2421675" cy="207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846" y="1792327"/>
            <a:ext cx="2421675" cy="2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7368" y="1842634"/>
            <a:ext cx="4896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7.1.3  </a:t>
            </a:r>
            <a:r>
              <a:rPr lang="zh-CN" altLang="en-US" noProof="1"/>
              <a:t>简单图和多重图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365" y="4114503"/>
            <a:ext cx="6624736" cy="4977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7.1.4</a:t>
            </a:r>
            <a:r>
              <a:rPr lang="zh-CN" altLang="en-US" noProof="1">
                <a:solidFill>
                  <a:srgbClr val="FFCCFF"/>
                </a:solidFill>
              </a:rPr>
              <a:t> </a:t>
            </a:r>
            <a:r>
              <a:rPr lang="zh-CN" altLang="en-US" noProof="1"/>
              <a:t>判断下图是简单图？多重图？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9416" y="2619416"/>
            <a:ext cx="6336703" cy="12765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2200" noProof="1"/>
              <a:t>简单图：</a:t>
            </a:r>
            <a:r>
              <a:rPr lang="en-US" altLang="zh-CN" sz="2200" i="1" dirty="0"/>
              <a:t>G</a:t>
            </a:r>
            <a:r>
              <a:rPr lang="en-US" altLang="zh-CN" sz="2200" dirty="0"/>
              <a:t>=(</a:t>
            </a:r>
            <a:r>
              <a:rPr lang="en-US" altLang="zh-CN" sz="2200" i="1" dirty="0" err="1"/>
              <a:t>V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E</a:t>
            </a:r>
            <a:r>
              <a:rPr lang="en-US" altLang="zh-CN" sz="2200" dirty="0" err="1"/>
              <a:t>,</a:t>
            </a:r>
            <a:r>
              <a:rPr lang="en-US" altLang="zh-CN" sz="2200" i="1" dirty="0" err="1"/>
              <a:t>f</a:t>
            </a:r>
            <a:r>
              <a:rPr lang="en-US" altLang="zh-CN" sz="2200" dirty="0"/>
              <a:t>)</a:t>
            </a:r>
            <a:r>
              <a:rPr lang="zh-CN" altLang="en-US" sz="2200" dirty="0"/>
              <a:t>一般简记为</a:t>
            </a:r>
            <a:r>
              <a:rPr lang="en-US" altLang="zh-CN" sz="2200" i="1" dirty="0"/>
              <a:t>G</a:t>
            </a:r>
            <a:r>
              <a:rPr lang="en-US" altLang="zh-CN" sz="2200" dirty="0"/>
              <a:t>=(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)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/>
              <a:t>简单图的边一般表示为顶点的无</a:t>
            </a:r>
            <a:r>
              <a:rPr lang="en-US" altLang="zh-CN" sz="2200" dirty="0"/>
              <a:t>(</a:t>
            </a:r>
            <a:r>
              <a:rPr lang="zh-CN" altLang="en-US" sz="2200" dirty="0"/>
              <a:t>有</a:t>
            </a:r>
            <a:r>
              <a:rPr lang="en-US" altLang="zh-CN" sz="2200" dirty="0"/>
              <a:t>)</a:t>
            </a:r>
            <a:r>
              <a:rPr lang="zh-CN" altLang="en-US" sz="2200" dirty="0"/>
              <a:t>序偶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/>
              <a:t>一般图也常简记为</a:t>
            </a:r>
            <a:r>
              <a:rPr lang="en-US" altLang="zh-CN" sz="2200" i="1" dirty="0"/>
              <a:t>G</a:t>
            </a:r>
            <a:r>
              <a:rPr lang="en-US" altLang="zh-CN" sz="2200" dirty="0"/>
              <a:t>=(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)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159" y="4518689"/>
            <a:ext cx="2032025" cy="185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691584"/>
            <a:ext cx="4655740" cy="168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: 圆角 1"/>
          <p:cNvSpPr/>
          <p:nvPr/>
        </p:nvSpPr>
        <p:spPr bwMode="auto">
          <a:xfrm>
            <a:off x="5591944" y="1657396"/>
            <a:ext cx="4104456" cy="8936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lnSpc>
                <a:spcPct val="130000"/>
              </a:lnSpc>
            </a:pPr>
            <a:r>
              <a:rPr lang="zh-CN" altLang="en-US" sz="20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简单图：不含平行边和环的图</a:t>
            </a:r>
            <a:endParaRPr lang="en-US" altLang="zh-CN" sz="2000" b="0" noProof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多重图：含平行边的图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700808"/>
            <a:ext cx="7416824" cy="470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7.1.3  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出度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入度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图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200" b="0" i="1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的度</a:t>
            </a:r>
            <a:r>
              <a:rPr lang="en-US" altLang="zh-CN" sz="2200" b="0" i="1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99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作为边的端点的次数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zh-CN" altLang="en-US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的顶点的最大的度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2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δ(</a:t>
            </a:r>
            <a:r>
              <a:rPr lang="en-US" altLang="zh-CN" sz="2200" b="0" i="1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2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的顶点的最小的度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2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的出度</a:t>
            </a:r>
            <a:r>
              <a:rPr lang="en-US" altLang="zh-CN" sz="22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od</a:t>
            </a:r>
            <a:r>
              <a:rPr lang="en-US" altLang="zh-CN" sz="22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：以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为起点的边的数目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是有向图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2200" b="0" i="1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的入度</a:t>
            </a:r>
            <a:r>
              <a:rPr lang="en-US" altLang="zh-CN" sz="2200" b="0" i="1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en-US" altLang="zh-CN" sz="2200" b="0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00B0F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：以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为终点的边的数目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是有向图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b="0" dirty="0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r>
              <a:rPr lang="zh-CN" altLang="en-US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环在计算度时需计数两次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在有向图中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id 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)+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od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200" b="0" dirty="0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846" y="4232021"/>
            <a:ext cx="2421675" cy="207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846" y="1904017"/>
            <a:ext cx="2421675" cy="2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图的矩阵表示</a:t>
            </a:r>
          </a:p>
        </p:txBody>
      </p:sp>
      <p:sp>
        <p:nvSpPr>
          <p:cNvPr id="8" name="文本占位符 14337"/>
          <p:cNvSpPr txBox="1"/>
          <p:nvPr/>
        </p:nvSpPr>
        <p:spPr bwMode="auto">
          <a:xfrm>
            <a:off x="839416" y="2348880"/>
            <a:ext cx="741682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400" b="0" kern="200" spc="20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kern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通过矩阵代数运算处理图</a:t>
            </a:r>
            <a:endParaRPr kumimoji="0" lang="en-US" altLang="zh-CN" sz="2400" b="0" kern="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400" b="0" kern="200" spc="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便于计算机存储和处理</a:t>
            </a: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2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种常用矩阵：</a:t>
            </a:r>
            <a:r>
              <a:rPr kumimoji="0" lang="zh-CN" altLang="en-US" sz="2400" b="0" kern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邻接矩阵</a:t>
            </a:r>
            <a:r>
              <a:rPr kumimoji="0" lang="zh-CN" altLang="en-US" sz="2400" b="0" kern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和关联矩阵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关于图的说明</a:t>
            </a:r>
            <a:endParaRPr lang="en-US" altLang="zh-CN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65537"/>
              <p:cNvSpPr txBox="1"/>
              <p:nvPr/>
            </p:nvSpPr>
            <p:spPr>
              <a:xfrm>
                <a:off x="5483587" y="3789040"/>
                <a:ext cx="6264696" cy="136279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0" lang="zh-CN" altLang="en-US" sz="2200" b="0" kern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关联矩阵：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200" b="0" i="1" kern="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0" lang="en-US" altLang="zh-CN" sz="2200" b="0" i="1" kern="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zh-CN" sz="2200" b="0" i="1" kern="0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200" b="0" i="1" kern="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200" b="0" i="1" kern="0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2200" b="0" kern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0" lang="zh-CN" altLang="en-US" sz="2200" b="0" kern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占位符 65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587" y="3789040"/>
                <a:ext cx="6264696" cy="1362797"/>
              </a:xfrm>
              <a:prstGeom prst="rect">
                <a:avLst/>
              </a:prstGeom>
              <a:blipFill rotWithShape="1">
                <a:blip r:embed="rId2"/>
                <a:stretch>
                  <a:fillRect l="-6" t="-46" r="2" b="-17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图的矩阵表示</a:t>
            </a:r>
          </a:p>
        </p:txBody>
      </p:sp>
      <p:sp>
        <p:nvSpPr>
          <p:cNvPr id="8" name="文本占位符 65537"/>
          <p:cNvSpPr txBox="1"/>
          <p:nvPr/>
        </p:nvSpPr>
        <p:spPr>
          <a:xfrm>
            <a:off x="479376" y="1772816"/>
            <a:ext cx="7992888" cy="576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7.1.5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写出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4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4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的邻接矩阵和关联矩阵</a:t>
            </a: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32" y="2771452"/>
            <a:ext cx="467995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占位符 65537"/>
              <p:cNvSpPr txBox="1"/>
              <p:nvPr/>
            </p:nvSpPr>
            <p:spPr>
              <a:xfrm>
                <a:off x="5519936" y="2343912"/>
                <a:ext cx="7056784" cy="1758949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0" lang="zh-CN" altLang="en-US" sz="2200" b="0" kern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邻接矩阵：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zh-CN" sz="2200" b="0" i="1" kern="0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200" b="0" i="1" kern="0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sz="2200" b="0" kern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200" b="0" i="1" kern="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2200" b="0" i="1" kern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2200" b="0" i="1" kern="0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200" b="0" i="1" kern="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200" b="0" i="1" kern="0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altLang="zh-CN" sz="2200" b="0" i="1" kern="0" noProof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200" b="0" i="1" kern="0" noProof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200" b="0" i="1" kern="0" noProof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kumimoji="0" lang="zh-CN" altLang="en-US" sz="2200" b="0" kern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0" lang="zh-CN" altLang="en-US" sz="2200" b="0" kern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占位符 65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2343912"/>
                <a:ext cx="7056784" cy="1758949"/>
              </a:xfrm>
              <a:prstGeom prst="rect">
                <a:avLst/>
              </a:prstGeom>
              <a:blipFill rotWithShape="1">
                <a:blip r:embed="rId4"/>
                <a:stretch>
                  <a:fillRect l="-7" t="-7" r="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096000" y="5153076"/>
                <a:ext cx="5259046" cy="1360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200" b="0" i="1" kern="0" noProof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200" b="0" i="1" kern="0" noProof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0" lang="en-US" altLang="zh-CN" sz="2200" b="0" i="1" kern="0" noProof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200" b="0" i="1" kern="0" noProof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200" b="0" i="1" kern="0" noProof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200" b="0" i="1" kern="0" noProof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2200" b="0" i="1" kern="0" noProof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0" lang="en-US" altLang="zh-CN" sz="2200" b="0" i="1" kern="0" noProof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0" lang="en-US" altLang="zh-CN" sz="2200" b="0" i="1" kern="0" noProof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2200" b="0" i="1" kern="0" noProof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2200" b="0" i="1" kern="0" noProof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0" lang="en-US" altLang="zh-CN" sz="2200" b="0" i="1" kern="0" noProof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0" lang="en-US" altLang="zh-CN" sz="2200" b="0" i="1" kern="0" noProof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kumimoji="0" lang="en-US" altLang="zh-CN" sz="2200" b="0" i="1" kern="0" noProof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0" lang="en-US" altLang="zh-CN" sz="2200" b="0" i="1" kern="0" noProof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kumimoji="0" lang="en-US" altLang="zh-CN" sz="2200" b="0" i="1" kern="0" noProof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en-US" sz="2200" b="0" i="1" kern="0" dirty="0">
                  <a:solidFill>
                    <a:schemeClr val="bg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53076"/>
                <a:ext cx="5259046" cy="1360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图的矩阵表示</a:t>
            </a:r>
          </a:p>
        </p:txBody>
      </p:sp>
      <p:sp>
        <p:nvSpPr>
          <p:cNvPr id="8" name="文本占位符 14337"/>
          <p:cNvSpPr txBox="1"/>
          <p:nvPr/>
        </p:nvSpPr>
        <p:spPr bwMode="auto">
          <a:xfrm>
            <a:off x="839416" y="2273860"/>
            <a:ext cx="1051316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b="0" kern="200" spc="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图与矩阵的对应不唯一 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简单图邻接矩阵的主对角线为全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 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(3) 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无向图的邻接矩阵对称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行和列之和都为相应顶点的度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(4)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有向图邻接矩阵的行和列之和为相应顶点的出度和入度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(5)</a:t>
            </a:r>
            <a:r>
              <a:rPr lang="zh-CN" altLang="en-US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无向图关联矩阵的列之和均为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2, </a:t>
            </a:r>
            <a:r>
              <a:rPr lang="zh-CN" altLang="en-US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行之和为相应顶点的度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(6)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有向图关联矩阵的列之和均为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行绝对值之和为相应顶点的度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行中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的个数为相应顶点的出度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-1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的个数为入度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图的矩阵表示的简单性质</a:t>
            </a:r>
            <a:endParaRPr lang="en-US" altLang="zh-CN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完全图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839416" y="2256596"/>
            <a:ext cx="9793088" cy="158417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kumimoji="0" lang="zh-CN" altLang="en-US" sz="2400" b="0" kern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无向完全图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简单无向图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每对不同顶点之间均有边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阶无向完全图记为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endParaRPr lang="en-US" altLang="zh-CN" sz="2400" b="0" i="1" baseline="-25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kern="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有向完全图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简单有向图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每对不同顶点之间均有两条方向相反的边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  <p:sp>
        <p:nvSpPr>
          <p:cNvPr id="5" name="文本占位符 65537"/>
          <p:cNvSpPr txBox="1"/>
          <p:nvPr/>
        </p:nvSpPr>
        <p:spPr>
          <a:xfrm>
            <a:off x="479376" y="3873340"/>
            <a:ext cx="1440160" cy="576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7.1.6</a:t>
            </a: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4005064"/>
            <a:ext cx="6624637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695400" y="5996398"/>
            <a:ext cx="2808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0000"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完全图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39616" y="5996397"/>
            <a:ext cx="653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72857" y="5968913"/>
            <a:ext cx="653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208FB2-AC11-4EFB-B295-64B444126F59}"/>
              </a:ext>
            </a:extLst>
          </p:cNvPr>
          <p:cNvSpPr txBox="1"/>
          <p:nvPr/>
        </p:nvSpPr>
        <p:spPr>
          <a:xfrm>
            <a:off x="6814417" y="6052808"/>
            <a:ext cx="1757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buClr>
                <a:schemeClr val="hlink"/>
              </a:buClr>
              <a:buSzPct val="70000"/>
            </a:pP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阶有向完全图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5" name="矩形 103436"/>
          <p:cNvSpPr>
            <a:spLocks noChangeArrowheads="1"/>
          </p:cNvSpPr>
          <p:nvPr/>
        </p:nvSpPr>
        <p:spPr bwMode="auto">
          <a:xfrm>
            <a:off x="152400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文本占位符 119809"/>
          <p:cNvSpPr txBox="1"/>
          <p:nvPr/>
        </p:nvSpPr>
        <p:spPr>
          <a:xfrm>
            <a:off x="479377" y="1613657"/>
            <a:ext cx="5904656" cy="5912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7.1.7</a:t>
            </a:r>
            <a:r>
              <a:rPr kumimoji="0" lang="zh-CN" altLang="en-US" sz="2800" b="0" kern="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-1)/2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条边。</a:t>
            </a: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775520" y="2253839"/>
                <a:ext cx="6559614" cy="8440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800" u="none" kern="1200" baseline="0">
                    <a:solidFill>
                      <a:schemeClr val="tx1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400" b="0" i="0" u="none" kern="1200" baseline="0">
                    <a:solidFill>
                      <a:schemeClr val="tx1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000" b="0" i="0" u="none" kern="1200" baseline="0">
                    <a:solidFill>
                      <a:schemeClr val="tx1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lvl="3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1800" b="0" i="0" u="none" kern="1200" baseline="0">
                    <a:solidFill>
                      <a:schemeClr val="tx1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lvl="4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1800" b="0" i="0" u="none" kern="1200" baseline="0">
                    <a:solidFill>
                      <a:schemeClr val="tx1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</a:lstStyle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b="0" i="1" baseline="-25000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中不同的顶点对共有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400" b="0" noProof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253839"/>
                <a:ext cx="6559614" cy="844084"/>
              </a:xfrm>
              <a:prstGeom prst="rect">
                <a:avLst/>
              </a:prstGeom>
              <a:blipFill rotWithShape="1">
                <a:blip r:embed="rId2"/>
                <a:stretch>
                  <a:fillRect l="-1" t="-27" r="2" b="4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623392" y="223344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5" name="矩形 103436"/>
          <p:cNvSpPr>
            <a:spLocks noChangeArrowheads="1"/>
          </p:cNvSpPr>
          <p:nvPr/>
        </p:nvSpPr>
        <p:spPr bwMode="auto">
          <a:xfrm>
            <a:off x="152400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文本占位符 119809"/>
          <p:cNvSpPr txBox="1"/>
          <p:nvPr/>
        </p:nvSpPr>
        <p:spPr>
          <a:xfrm>
            <a:off x="263352" y="1568453"/>
            <a:ext cx="12169352" cy="5254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7.1.8</a:t>
            </a: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Ramsey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问题：在任意六个人的集会上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必定有三个人相互都认识或者相互都不认识。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0400" y="2161613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695400" y="2555937"/>
            <a:ext cx="7776864" cy="208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(1)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为问题建立图模型。</a:t>
            </a:r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构造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阶无向完全图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顶点表示人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边表示认识关系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相互认识的两个人用实线相连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相互不认识的两个人用虚线相连。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个相互都认识的人组成由实线构成的三角形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三个相互都不认识的人构成由虚线组成的三角形。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695400" y="4748157"/>
            <a:ext cx="10945216" cy="1682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证明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中存在由实线组成的三角形或者存在由虚线组成的三角形。</a:t>
            </a:r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考察任意顶点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关联的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条边中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必有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条边同为实线或同为虚线。不妨设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}, 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都为实线。若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}, 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之中的某条边为实线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为实线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则顶点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就构成实三角形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}, 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都不是实线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则顶点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就构成虚三角形。</a:t>
            </a:r>
          </a:p>
        </p:txBody>
      </p: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099" y="2249432"/>
            <a:ext cx="2843212" cy="239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551384" y="1700808"/>
            <a:ext cx="9865097" cy="197419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457200" indent="-457200" eaLnBrk="1" hangingPunct="1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 sz="2800" i="1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阶圈图</a:t>
            </a:r>
            <a:r>
              <a:rPr kumimoji="1" lang="en-US" altLang="zh-CN" sz="2800" i="1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i="1" kern="120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endParaRPr kumimoji="1" lang="en-US" altLang="zh-CN" sz="28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None/>
            </a:pPr>
            <a:r>
              <a:rPr kumimoji="1" lang="en-US" altLang="zh-CN" sz="28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阶简单无向图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≥3)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i="1" kern="12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E={{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},…,{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},{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i="1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  <a:endParaRPr kumimoji="1" lang="en-US" altLang="zh-CN" sz="24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  <p:sp>
        <p:nvSpPr>
          <p:cNvPr id="5" name="文本占位符 100353"/>
          <p:cNvSpPr txBox="1"/>
          <p:nvPr/>
        </p:nvSpPr>
        <p:spPr bwMode="auto">
          <a:xfrm>
            <a:off x="407368" y="3974467"/>
            <a:ext cx="10369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0"/>
              </a:spcBef>
              <a:buFontTx/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7.1.9  </a:t>
            </a:r>
            <a:r>
              <a:rPr kumimoji="0" lang="zh-CN" altLang="en-US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圈图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4709740"/>
            <a:ext cx="5256633" cy="1598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uiExpand="1" build="p"/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551384" y="1677534"/>
            <a:ext cx="10945216" cy="108561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 sz="2800" i="1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阶轮图</a:t>
            </a:r>
            <a:r>
              <a:rPr kumimoji="1" lang="en-US" altLang="zh-CN" sz="2800" i="1" kern="1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1" lang="en-US" altLang="zh-CN" sz="2800" i="1" kern="120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endParaRPr kumimoji="1" lang="en-US" altLang="zh-CN" sz="2800" i="1" kern="1200" baseline="-25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hlink"/>
              </a:buClr>
              <a:buSzPct val="70000"/>
              <a:buNone/>
            </a:pPr>
            <a:r>
              <a:rPr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n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阶圈图</a:t>
            </a:r>
            <a:r>
              <a:rPr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个顶点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中心点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新顶点与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的每个顶点之间有边</a:t>
            </a:r>
            <a:endParaRPr kumimoji="1" lang="en-US" altLang="zh-CN" sz="24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" name="文本占位符 100353"/>
          <p:cNvSpPr txBox="1"/>
          <p:nvPr/>
        </p:nvSpPr>
        <p:spPr bwMode="auto">
          <a:xfrm>
            <a:off x="479376" y="3209008"/>
            <a:ext cx="63367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0"/>
              </a:spcBef>
              <a:buFontTx/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7.1.10  </a:t>
            </a:r>
            <a:r>
              <a:rPr kumimoji="0" lang="zh-CN" altLang="en-US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轮图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8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8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800" b="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3933056"/>
            <a:ext cx="6840537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407368" y="1647029"/>
            <a:ext cx="7920880" cy="523220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buClr>
                <a:schemeClr val="hlink"/>
              </a:buClr>
              <a:buSzPct val="70000"/>
              <a:buNone/>
            </a:pPr>
            <a:r>
              <a:rPr kumimoji="1" lang="zh-CN" altLang="en-US" sz="2800" kern="120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kern="1200" noProof="1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7.1.11  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LAN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的拓扑结构：星型、环型、混合型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037" y="2403475"/>
            <a:ext cx="586740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479376" y="1658034"/>
            <a:ext cx="9865097" cy="2444836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 sz="2800" i="1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超立方体</a:t>
            </a:r>
            <a:r>
              <a:rPr kumimoji="1" lang="en-US" altLang="zh-CN" sz="2800" i="1" kern="1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1" lang="en-US" altLang="zh-CN" sz="2800" i="1" kern="120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endParaRPr kumimoji="1" lang="en-US" altLang="zh-CN" sz="2800" kern="1200" baseline="-25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hlink"/>
              </a:buClr>
              <a:buSzPct val="70000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阶简单无向图 </a:t>
            </a:r>
          </a:p>
          <a:p>
            <a:pPr eaLnBrk="1" hangingPunct="1">
              <a:lnSpc>
                <a:spcPct val="15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用长度为</a:t>
            </a:r>
            <a:r>
              <a:rPr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的二进制数标记顶点</a:t>
            </a:r>
          </a:p>
          <a:p>
            <a:pPr eaLnBrk="1" hangingPunct="1">
              <a:lnSpc>
                <a:spcPct val="15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两顶点相邻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其标记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恰好相差一位 </a:t>
            </a: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  <p:sp>
        <p:nvSpPr>
          <p:cNvPr id="5" name="文本占位符 100353"/>
          <p:cNvSpPr txBox="1"/>
          <p:nvPr/>
        </p:nvSpPr>
        <p:spPr bwMode="auto">
          <a:xfrm>
            <a:off x="5951984" y="1718284"/>
            <a:ext cx="5112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0"/>
              </a:spcBef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7.1.12  </a:t>
            </a:r>
            <a:r>
              <a:rPr lang="zh-CN" altLang="en-US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超立方体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2420889"/>
            <a:ext cx="532859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479376" y="1658034"/>
            <a:ext cx="11449272" cy="1301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偶图</a:t>
            </a:r>
            <a:r>
              <a:rPr kumimoji="1" lang="en-US" altLang="zh-CN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二分图</a:t>
            </a:r>
            <a:r>
              <a:rPr kumimoji="1" lang="en-US" altLang="zh-CN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kumimoji="1" lang="en-US" altLang="zh-CN" sz="28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hlink"/>
              </a:buClr>
              <a:buSzPct val="70000"/>
              <a:buNone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简单无向图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顶点集可以分成两个不交的子集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使得所有的边都在这两个子集之间</a:t>
            </a: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文本占位符 49153"/>
          <p:cNvSpPr txBox="1"/>
          <p:nvPr/>
        </p:nvSpPr>
        <p:spPr bwMode="auto">
          <a:xfrm>
            <a:off x="467539" y="3430556"/>
            <a:ext cx="9865097" cy="130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b="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完全偶图</a:t>
            </a:r>
            <a:endParaRPr kumimoji="1" lang="en-US" altLang="zh-CN" sz="2800" b="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hlink"/>
              </a:buClr>
              <a:buSzPct val="70000"/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偶图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两个子集的每对顶点之间都有边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m,n</a:t>
            </a:r>
            <a:endParaRPr kumimoji="0" lang="zh-CN" altLang="en-US" sz="2400" b="0" i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299097" y="5258888"/>
            <a:ext cx="4788792" cy="523220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buClr>
                <a:schemeClr val="hlink"/>
              </a:buClr>
              <a:buSzPct val="70000"/>
              <a:buNone/>
            </a:pP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7.1.15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人群中的婚姻关系</a:t>
            </a:r>
            <a:endParaRPr lang="en-US" altLang="zh-CN" sz="24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文本占位符 100353"/>
          <p:cNvSpPr txBox="1"/>
          <p:nvPr/>
        </p:nvSpPr>
        <p:spPr bwMode="auto">
          <a:xfrm>
            <a:off x="263352" y="4372363"/>
            <a:ext cx="53212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FontTx/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7.1.14 </a:t>
            </a:r>
            <a:r>
              <a:rPr kumimoji="0" lang="zh-CN" altLang="en-US" sz="28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完全偶图</a:t>
            </a:r>
            <a:r>
              <a:rPr kumimoji="0" lang="en-US" altLang="zh-CN" sz="28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800" b="0" i="1" kern="0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m,n</a:t>
            </a:r>
            <a:r>
              <a:rPr kumimoji="0" lang="zh-CN" altLang="en-US" sz="28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kumimoji="0" lang="en-US" altLang="zh-CN" sz="2800" b="0" i="1" kern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mn</a:t>
            </a:r>
            <a:r>
              <a:rPr kumimoji="0" lang="zh-CN" altLang="en-US" sz="2800" b="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条边</a:t>
            </a:r>
          </a:p>
        </p:txBody>
      </p:sp>
      <p:sp>
        <p:nvSpPr>
          <p:cNvPr id="9" name="文本占位符 100353"/>
          <p:cNvSpPr txBox="1"/>
          <p:nvPr/>
        </p:nvSpPr>
        <p:spPr bwMode="auto">
          <a:xfrm>
            <a:off x="335360" y="1700808"/>
            <a:ext cx="46447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0"/>
              </a:spcBef>
              <a:buFontTx/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7.1.13  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完全偶图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b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2,3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b="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3,3</a:t>
            </a:r>
            <a:endParaRPr kumimoji="0" lang="en-US" altLang="zh-CN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2431713"/>
            <a:ext cx="5040560" cy="173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  <p:bldP spid="6" grpId="0" build="p"/>
      <p:bldP spid="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00353"/>
          <p:cNvSpPr txBox="1"/>
          <p:nvPr/>
        </p:nvSpPr>
        <p:spPr bwMode="auto">
          <a:xfrm>
            <a:off x="4911327" y="4869160"/>
            <a:ext cx="7056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None/>
            </a:pP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是偶图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两个不相交的顶点子集：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dirty="0" err="1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a,b,d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dirty="0" err="1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c,e,f,g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占位符 100353"/>
          <p:cNvSpPr txBox="1"/>
          <p:nvPr/>
        </p:nvSpPr>
        <p:spPr bwMode="auto">
          <a:xfrm>
            <a:off x="407368" y="1777476"/>
            <a:ext cx="44644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FontTx/>
              <a:buNone/>
            </a:pPr>
            <a:r>
              <a:rPr kumimoji="1" lang="zh-CN" altLang="en-US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7.1.16</a:t>
            </a:r>
            <a:r>
              <a:rPr lang="en-US" altLang="zh-CN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判断是否偶图。 </a:t>
            </a:r>
            <a:endParaRPr kumimoji="0" lang="en-US" altLang="zh-CN" sz="28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55" y="2415293"/>
            <a:ext cx="4176464" cy="170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2415293"/>
            <a:ext cx="4176464" cy="175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占位符 100353"/>
          <p:cNvSpPr txBox="1"/>
          <p:nvPr/>
        </p:nvSpPr>
        <p:spPr bwMode="auto">
          <a:xfrm>
            <a:off x="695401" y="4235030"/>
            <a:ext cx="18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FontTx/>
              <a:buNone/>
            </a:pP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-2500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不是偶图</a:t>
            </a:r>
            <a:endParaRPr kumimoji="0" lang="en-US" altLang="zh-CN" sz="2400" b="0" kern="0" noProof="1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文本占位符 100353"/>
          <p:cNvSpPr txBox="1"/>
          <p:nvPr/>
        </p:nvSpPr>
        <p:spPr bwMode="auto">
          <a:xfrm>
            <a:off x="695401" y="4701200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FontTx/>
              <a:buNone/>
            </a:pP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baseline="-2500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是偶图 </a:t>
            </a:r>
            <a:endParaRPr kumimoji="0" lang="en-US" altLang="zh-CN" sz="2400" b="0" kern="0" noProof="1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文本占位符 100353"/>
          <p:cNvSpPr txBox="1"/>
          <p:nvPr/>
        </p:nvSpPr>
        <p:spPr bwMode="auto">
          <a:xfrm>
            <a:off x="4911326" y="5366214"/>
            <a:ext cx="47850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  <a:buNone/>
            </a:pP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不是偶图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baseline="-2500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altLang="zh-CN" sz="1800" b="0" i="1" dirty="0">
              <a:solidFill>
                <a:srgbClr val="FFCC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几种特殊的简单图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220B90-7862-4C00-B321-5F06E6A2B40B}"/>
              </a:ext>
            </a:extLst>
          </p:cNvPr>
          <p:cNvSpPr txBox="1"/>
          <p:nvPr/>
        </p:nvSpPr>
        <p:spPr>
          <a:xfrm>
            <a:off x="688055" y="5212287"/>
            <a:ext cx="3905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FF00"/>
                </a:solidFill>
              </a:rPr>
              <a:t>思考：</a:t>
            </a:r>
            <a:endParaRPr lang="en-US" altLang="zh-CN" sz="2400" dirty="0">
              <a:solidFill>
                <a:srgbClr val="FFFF00"/>
              </a:solidFill>
            </a:endParaRPr>
          </a:p>
          <a:p>
            <a:r>
              <a:rPr lang="en-US" altLang="zh-CN" sz="24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solidFill>
                  <a:srgbClr val="FFFF00"/>
                </a:solidFill>
              </a:rPr>
              <a:t>是偶图吗？一般的</a:t>
            </a:r>
            <a:r>
              <a:rPr lang="en-US" altLang="zh-CN" sz="24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FFFF00"/>
                </a:solidFill>
              </a:rPr>
              <a:t>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10" grpId="0" build="p"/>
      <p:bldP spid="11" grpId="0" build="p"/>
      <p:bldP spid="12" grpId="0" build="p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  <p:sp>
        <p:nvSpPr>
          <p:cNvPr id="7" name="文本占位符 68609"/>
          <p:cNvSpPr txBox="1"/>
          <p:nvPr/>
        </p:nvSpPr>
        <p:spPr>
          <a:xfrm>
            <a:off x="407368" y="1714744"/>
            <a:ext cx="76328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noProof="1"/>
              <a:t>定义</a:t>
            </a:r>
            <a:r>
              <a:rPr lang="en-US" altLang="zh-CN" b="0" noProof="1"/>
              <a:t>7.1.6 </a:t>
            </a:r>
            <a:r>
              <a:rPr lang="zh-CN" altLang="en-US" b="0" dirty="0">
                <a:sym typeface="+mn-ea"/>
              </a:rPr>
              <a:t>子图、生成子图、导出子图</a:t>
            </a:r>
            <a:endParaRPr lang="zh-CN" altLang="en-US" b="0" noProof="1"/>
          </a:p>
        </p:txBody>
      </p:sp>
      <p:sp>
        <p:nvSpPr>
          <p:cNvPr id="11" name="文本占位符 68609"/>
          <p:cNvSpPr txBox="1"/>
          <p:nvPr/>
        </p:nvSpPr>
        <p:spPr>
          <a:xfrm>
            <a:off x="911424" y="2326570"/>
            <a:ext cx="3024335" cy="5412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’=(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’)</a:t>
            </a:r>
          </a:p>
        </p:txBody>
      </p:sp>
      <p:sp>
        <p:nvSpPr>
          <p:cNvPr id="14" name="文本占位符 68609"/>
          <p:cNvSpPr txBox="1"/>
          <p:nvPr/>
        </p:nvSpPr>
        <p:spPr>
          <a:xfrm>
            <a:off x="623392" y="2929666"/>
            <a:ext cx="10945216" cy="33833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(1)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子图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真子图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’≠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生成子图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’=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是由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导出的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顶点导出子图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由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中两个端点都在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中的所有的边组成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是由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导出的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边导出子图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’≠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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由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中所有的边的端点组成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911425" y="4848175"/>
            <a:ext cx="5328592" cy="146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G, 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  <a:p>
            <a:pPr eaLnBrk="1" hangingPunct="1"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({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})=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({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</a:t>
            </a:r>
          </a:p>
          <a:p>
            <a:pPr eaLnBrk="1" hangingPunct="1"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({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且是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的生成子图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2410534"/>
            <a:ext cx="6840538" cy="242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51384" y="1628800"/>
            <a:ext cx="896461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7.1.17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子图如下图。</a:t>
            </a:r>
            <a:endParaRPr lang="en-US" altLang="zh-CN" sz="2400" b="0" dirty="0"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79376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7.1.7 </a:t>
            </a:r>
            <a:r>
              <a:rPr lang="zh-CN" altLang="en-US" noProof="1"/>
              <a:t>补图</a:t>
            </a:r>
          </a:p>
        </p:txBody>
      </p:sp>
      <p:sp>
        <p:nvSpPr>
          <p:cNvPr id="6" name="文本占位符 99329"/>
          <p:cNvSpPr txBox="1"/>
          <p:nvPr/>
        </p:nvSpPr>
        <p:spPr>
          <a:xfrm>
            <a:off x="1127448" y="2224028"/>
            <a:ext cx="9865096" cy="144741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简单图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’=(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’)</a:t>
            </a:r>
          </a:p>
          <a:p>
            <a:pPr eaLnBrk="1" hangingPunct="1">
              <a:lnSpc>
                <a:spcPct val="15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互为补图：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’=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且图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是完全图</a:t>
            </a:r>
            <a:endParaRPr kumimoji="0" lang="zh-CN" altLang="en-US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144464" y="4810610"/>
            <a:ext cx="3816424" cy="53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互为补图 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4199459"/>
            <a:ext cx="5975593" cy="17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63352" y="3546595"/>
            <a:ext cx="896461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7.1.18 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如下图。</a:t>
            </a:r>
            <a:endParaRPr lang="en-US" altLang="zh-CN" sz="2400" b="0" dirty="0"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9376" y="1700808"/>
            <a:ext cx="43204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7.1.8  </a:t>
            </a:r>
            <a:r>
              <a:rPr lang="zh-CN" altLang="en-US" noProof="1"/>
              <a:t>并图、差图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55440" y="2420887"/>
            <a:ext cx="10513168" cy="221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并图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altLang="zh-CN" sz="24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12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差图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)∪{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且在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中存在与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关联的边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1384" y="1628800"/>
            <a:ext cx="896461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7.1.19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并图和差图。如下图。</a:t>
            </a:r>
            <a:endParaRPr lang="en-US" altLang="zh-CN" sz="2400" b="0" dirty="0"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2348880"/>
            <a:ext cx="6840537" cy="242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211278" y="4905164"/>
            <a:ext cx="18002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altLang="zh-CN" sz="2400" b="0" dirty="0">
              <a:solidFill>
                <a:srgbClr val="FF7C8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096000" y="4848176"/>
            <a:ext cx="151216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48938" y="4918734"/>
            <a:ext cx="136815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2550" indent="-82550"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altLang="zh-CN" sz="2400" b="0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9376" y="1700808"/>
            <a:ext cx="2664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几个记法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83432" y="2348805"/>
            <a:ext cx="10729192" cy="417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chemeClr val="hlink"/>
              </a:buClr>
              <a:buSzPct val="70000"/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分别是顶点集和边集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中的边的端点都是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 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中删除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中的所有边后得到的图</a:t>
            </a:r>
          </a:p>
          <a:p>
            <a:pPr eaLnBrk="1" hangingPunct="1">
              <a:lnSpc>
                <a:spcPct val="11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200" b="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中删除边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后得到的图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即在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中添加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中的所有边后得到的图</a:t>
            </a:r>
          </a:p>
          <a:p>
            <a:pPr eaLnBrk="1" hangingPunct="1">
              <a:lnSpc>
                <a:spcPct val="11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b="0" i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200" b="0" i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+{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即在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中添加边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后得到的图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中删除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中的所有顶点及其关联的边后得到的图</a:t>
            </a:r>
          </a:p>
          <a:p>
            <a:pPr eaLnBrk="1" hangingPunct="1">
              <a:lnSpc>
                <a:spcPct val="11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2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中删除顶点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及所关联的边后得到的图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即在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中添加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中的所有顶点后得到的图</a:t>
            </a:r>
          </a:p>
          <a:p>
            <a:pPr eaLnBrk="1" hangingPunct="1">
              <a:lnSpc>
                <a:spcPct val="11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b="0" i="1" dirty="0" err="1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 err="1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200" b="0" i="1" dirty="0" err="1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+{</a:t>
            </a:r>
            <a:r>
              <a:rPr lang="en-US" altLang="zh-CN" sz="22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即在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中添加顶点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后得到的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子图和图运算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152/123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2, 6, 7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844824"/>
            <a:ext cx="11576223" cy="40088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1. 6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个学生：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Carol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Dean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Santos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Carol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Dean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Carol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S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antos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Tom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两两不和。请给出表示这种情形的图模型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至少含一个顶点的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的子图有多少个？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证明：在顶点个数不小于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的简单无向图中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必有度数相同的顶点。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对哪些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值来说下列图是偶图？</a:t>
            </a:r>
          </a:p>
          <a:p>
            <a:pPr marL="400050" lvl="1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2868</Words>
  <Application>Microsoft Office PowerPoint</Application>
  <PresentationFormat>宽屏</PresentationFormat>
  <Paragraphs>252</Paragraphs>
  <Slides>34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865</cp:revision>
  <dcterms:created xsi:type="dcterms:W3CDTF">2008-05-09T05:16:00Z</dcterms:created>
  <dcterms:modified xsi:type="dcterms:W3CDTF">2026-06-01T00:23:44Z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921025A6C2DA4EF1A4700265111267C0_12</vt:lpwstr>
  </property>
  <property fmtid="{D5CDD505-2E9C-101B-9397-08002B2CF9AE}" pid="3" name="KSOProductBuildVer">
    <vt:lpwstr>2052-12.1.0.16729</vt:lpwstr>
  </property>
</Properties>
</file>