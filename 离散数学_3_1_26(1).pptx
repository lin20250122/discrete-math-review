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7" r:id="rId2"/>
    <p:sldId id="340" r:id="rId3"/>
    <p:sldId id="398" r:id="rId4"/>
    <p:sldId id="420" r:id="rId5"/>
    <p:sldId id="421" r:id="rId6"/>
    <p:sldId id="376" r:id="rId7"/>
    <p:sldId id="377" r:id="rId8"/>
    <p:sldId id="338" r:id="rId9"/>
    <p:sldId id="361" r:id="rId10"/>
    <p:sldId id="378" r:id="rId11"/>
    <p:sldId id="362" r:id="rId12"/>
    <p:sldId id="381" r:id="rId13"/>
    <p:sldId id="400" r:id="rId14"/>
    <p:sldId id="401" r:id="rId15"/>
    <p:sldId id="363" r:id="rId16"/>
    <p:sldId id="364" r:id="rId17"/>
    <p:sldId id="403" r:id="rId18"/>
    <p:sldId id="365" r:id="rId19"/>
    <p:sldId id="366" r:id="rId20"/>
    <p:sldId id="404" r:id="rId21"/>
    <p:sldId id="367" r:id="rId22"/>
    <p:sldId id="368" r:id="rId23"/>
    <p:sldId id="369" r:id="rId24"/>
    <p:sldId id="370" r:id="rId25"/>
    <p:sldId id="416" r:id="rId26"/>
    <p:sldId id="405" r:id="rId27"/>
    <p:sldId id="417" r:id="rId28"/>
    <p:sldId id="406" r:id="rId29"/>
    <p:sldId id="407" r:id="rId30"/>
    <p:sldId id="422" r:id="rId31"/>
    <p:sldId id="374" r:id="rId32"/>
    <p:sldId id="375" r:id="rId33"/>
    <p:sldId id="408" r:id="rId34"/>
    <p:sldId id="409" r:id="rId35"/>
    <p:sldId id="410" r:id="rId36"/>
    <p:sldId id="411" r:id="rId37"/>
    <p:sldId id="388" r:id="rId38"/>
    <p:sldId id="412" r:id="rId39"/>
    <p:sldId id="413" r:id="rId40"/>
    <p:sldId id="419" r:id="rId41"/>
    <p:sldId id="399" r:id="rId42"/>
    <p:sldId id="356" r:id="rId43"/>
  </p:sldIdLst>
  <p:sldSz cx="12192000" cy="6858000"/>
  <p:notesSz cx="6858000" cy="9144000"/>
  <p:custDataLst>
    <p:tags r:id="rId4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FFCCFF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0" d="100"/>
          <a:sy n="70" d="100"/>
        </p:scale>
        <p:origin x="43" y="2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096528" y="11309"/>
            <a:ext cx="20496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命题逻辑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第三章 命题逻辑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03913" y="1874826"/>
            <a:ext cx="5976663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50000"/>
              </a:lnSpc>
              <a:buFontTx/>
              <a:buNone/>
            </a:pP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用数学的方法研究逻辑推理</a:t>
            </a:r>
            <a:endParaRPr lang="en-US" altLang="zh-CN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50000"/>
              </a:lnSpc>
              <a:buFontTx/>
              <a:buNone/>
            </a:pP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逻辑推理机械</a:t>
            </a: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演算</a:t>
            </a: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endParaRPr lang="en-US" altLang="zh-CN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50000"/>
              </a:lnSpc>
              <a:buFontTx/>
              <a:buNone/>
            </a:pP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符号化</a:t>
            </a:r>
            <a:endParaRPr lang="en-US" altLang="zh-CN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2063552" y="1863036"/>
            <a:ext cx="3024336" cy="430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数理逻辑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研究目标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基本方法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007768" y="5525866"/>
            <a:ext cx="3384376" cy="6886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学习方法：类比法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431704" y="3651189"/>
            <a:ext cx="828092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经典数理逻辑：命题逻辑、谓词逻辑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非经典数理逻辑：模态逻辑、时态逻辑、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… 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59918" y="1526790"/>
            <a:ext cx="756084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创始人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德国数学家、哲学家莱布尼兹</a:t>
            </a:r>
            <a:endParaRPr lang="en-US" altLang="zh-CN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59918" y="2484341"/>
            <a:ext cx="11310155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学科关联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在计算机科学中有重要作用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计算机科学又推动数理逻辑的发展</a:t>
            </a:r>
            <a:endParaRPr lang="en-US" altLang="zh-CN" sz="24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59918" y="3230804"/>
            <a:ext cx="3230773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数学模型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431704" y="5085184"/>
            <a:ext cx="5832648" cy="1219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经典数理逻辑是非经典数理逻辑的基础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命题逻辑是谓词逻辑的基础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 uiExpand="1" build="p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9789D3-D537-4BA5-AF27-3F889FE3ABA6}"/>
              </a:ext>
            </a:extLst>
          </p:cNvPr>
          <p:cNvSpPr/>
          <p:nvPr/>
        </p:nvSpPr>
        <p:spPr>
          <a:xfrm>
            <a:off x="191344" y="1412776"/>
            <a:ext cx="1166529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200" dirty="0">
                <a:solidFill>
                  <a:srgbClr val="FFFF00"/>
                </a:solidFill>
                <a:latin typeface="+mn-ea"/>
                <a:ea typeface="+mn-ea"/>
              </a:rPr>
              <a:t>[</a:t>
            </a:r>
            <a:r>
              <a:rPr lang="zh-CN" altLang="en-US" sz="3200" dirty="0">
                <a:solidFill>
                  <a:srgbClr val="FFFF00"/>
                </a:solidFill>
                <a:latin typeface="+mn-ea"/>
                <a:ea typeface="+mn-ea"/>
              </a:rPr>
              <a:t>引子</a:t>
            </a:r>
            <a:r>
              <a:rPr lang="zh-CN" altLang="zh-CN" sz="3200" dirty="0">
                <a:solidFill>
                  <a:srgbClr val="FFFF00"/>
                </a:solidFill>
                <a:latin typeface="+mn-ea"/>
                <a:ea typeface="+mn-ea"/>
              </a:rPr>
              <a:t>]</a:t>
            </a:r>
          </a:p>
          <a:p>
            <a:pPr>
              <a:spcBef>
                <a:spcPct val="50000"/>
              </a:spcBef>
              <a:defRPr/>
            </a:pPr>
            <a:r>
              <a:rPr lang="zh-CN" altLang="zh-CN" sz="3200" dirty="0">
                <a:solidFill>
                  <a:schemeClr val="bg1"/>
                </a:solidFill>
                <a:latin typeface="+mn-ea"/>
                <a:ea typeface="+mn-ea"/>
              </a:rPr>
              <a:t>    数学家斯摩林，根据莎士比亚的名剧《威尼斯商人》中的情节编成一道逻辑推理题：</a:t>
            </a:r>
            <a:br>
              <a:rPr lang="zh-CN" altLang="zh-CN" sz="3200" dirty="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zh-CN" altLang="zh-CN" sz="3200" dirty="0">
                <a:solidFill>
                  <a:schemeClr val="bg1"/>
                </a:solidFill>
                <a:latin typeface="+mn-ea"/>
                <a:ea typeface="+mn-ea"/>
              </a:rPr>
              <a:t>    女主人公鲍西亚对求婚者说：“这里有三只盒子：</a:t>
            </a:r>
            <a:r>
              <a:rPr lang="zh-CN" altLang="zh-CN" sz="3200" dirty="0">
                <a:solidFill>
                  <a:srgbClr val="FF0000"/>
                </a:solidFill>
                <a:latin typeface="+mn-ea"/>
                <a:ea typeface="+mn-ea"/>
              </a:rPr>
              <a:t>一只是金盒子，一只是银盒子，一只是铅盒子</a:t>
            </a:r>
            <a:r>
              <a:rPr lang="zh-CN" altLang="zh-CN" sz="3200" dirty="0">
                <a:solidFill>
                  <a:schemeClr val="bg1"/>
                </a:solidFill>
                <a:latin typeface="+mn-ea"/>
                <a:ea typeface="+mn-ea"/>
              </a:rPr>
              <a:t>，每只盒子的铭牌上各写有一句话。三句话中，只有一句是真话。谁能猜中我的肖像放在哪一只盒子里，谁就能做我的丈夫。”</a:t>
            </a:r>
            <a:r>
              <a:rPr lang="zh-CN" altLang="zh-CN" sz="3200" dirty="0">
                <a:solidFill>
                  <a:srgbClr val="FF0000"/>
                </a:solidFill>
                <a:latin typeface="+mn-ea"/>
                <a:ea typeface="+mn-ea"/>
              </a:rPr>
              <a:t>金盒</a:t>
            </a:r>
            <a:r>
              <a:rPr lang="zh-CN" altLang="zh-CN" sz="3200" dirty="0">
                <a:solidFill>
                  <a:schemeClr val="bg1"/>
                </a:solidFill>
                <a:latin typeface="+mn-ea"/>
                <a:ea typeface="+mn-ea"/>
              </a:rPr>
              <a:t>上写的是</a:t>
            </a:r>
            <a:r>
              <a:rPr lang="zh-CN" altLang="zh-CN" sz="3200" dirty="0">
                <a:solidFill>
                  <a:srgbClr val="FF9900"/>
                </a:solidFill>
                <a:latin typeface="+mn-ea"/>
                <a:ea typeface="+mn-ea"/>
              </a:rPr>
              <a:t>“</a:t>
            </a:r>
            <a:r>
              <a:rPr lang="zh-CN" altLang="zh-CN" sz="3200" dirty="0">
                <a:solidFill>
                  <a:srgbClr val="FF0000"/>
                </a:solidFill>
                <a:latin typeface="+mn-ea"/>
                <a:ea typeface="+mn-ea"/>
              </a:rPr>
              <a:t>肖像在这里”</a:t>
            </a:r>
            <a:r>
              <a:rPr lang="zh-CN" altLang="zh-CN" sz="3200" dirty="0">
                <a:solidFill>
                  <a:srgbClr val="FF9900"/>
                </a:solidFill>
                <a:latin typeface="+mn-ea"/>
                <a:ea typeface="+mn-ea"/>
              </a:rPr>
              <a:t>，</a:t>
            </a:r>
            <a:r>
              <a:rPr lang="zh-CN" altLang="zh-CN" sz="3200" dirty="0">
                <a:solidFill>
                  <a:srgbClr val="FF0000"/>
                </a:solidFill>
                <a:latin typeface="+mn-ea"/>
                <a:ea typeface="+mn-ea"/>
              </a:rPr>
              <a:t>银盒</a:t>
            </a:r>
            <a:r>
              <a:rPr lang="zh-CN" altLang="zh-CN" sz="3200" dirty="0">
                <a:solidFill>
                  <a:schemeClr val="bg1"/>
                </a:solidFill>
                <a:latin typeface="+mn-ea"/>
                <a:ea typeface="+mn-ea"/>
              </a:rPr>
              <a:t>上写的是</a:t>
            </a:r>
            <a:r>
              <a:rPr lang="zh-CN" altLang="zh-CN" sz="3200" dirty="0">
                <a:solidFill>
                  <a:srgbClr val="FF0000"/>
                </a:solidFill>
                <a:latin typeface="+mn-ea"/>
                <a:ea typeface="+mn-ea"/>
              </a:rPr>
              <a:t>“肖像不在这盒里”</a:t>
            </a:r>
            <a:r>
              <a:rPr lang="zh-CN" altLang="zh-CN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zh-CN" sz="3200" dirty="0">
                <a:solidFill>
                  <a:srgbClr val="FF0000"/>
                </a:solidFill>
                <a:latin typeface="+mn-ea"/>
                <a:ea typeface="+mn-ea"/>
              </a:rPr>
              <a:t>铅盒</a:t>
            </a:r>
            <a:r>
              <a:rPr lang="zh-CN" altLang="zh-CN" sz="3200" dirty="0">
                <a:solidFill>
                  <a:schemeClr val="bg1"/>
                </a:solidFill>
                <a:latin typeface="+mn-ea"/>
                <a:ea typeface="+mn-ea"/>
              </a:rPr>
              <a:t>上写的是“</a:t>
            </a:r>
            <a:r>
              <a:rPr lang="zh-CN" altLang="zh-CN" sz="3200" dirty="0">
                <a:solidFill>
                  <a:srgbClr val="FF0000"/>
                </a:solidFill>
                <a:latin typeface="+mn-ea"/>
                <a:ea typeface="+mn-ea"/>
              </a:rPr>
              <a:t>肖像不在金盒里”。</a:t>
            </a:r>
            <a:r>
              <a:rPr lang="zh-CN" altLang="zh-CN" sz="3200" dirty="0">
                <a:solidFill>
                  <a:schemeClr val="bg1"/>
                </a:solidFill>
                <a:latin typeface="+mn-ea"/>
                <a:ea typeface="+mn-ea"/>
              </a:rPr>
              <a:t>请问肖像在哪个盒里？</a:t>
            </a:r>
          </a:p>
        </p:txBody>
      </p:sp>
      <p:sp>
        <p:nvSpPr>
          <p:cNvPr id="5123" name="AutoShape 3">
            <a:extLst>
              <a:ext uri="{FF2B5EF4-FFF2-40B4-BE49-F238E27FC236}">
                <a16:creationId xmlns:a16="http://schemas.microsoft.com/office/drawing/2014/main" id="{56371548-A103-49FB-AA30-E2906BBE4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6120" y="404664"/>
            <a:ext cx="3940175" cy="1584176"/>
          </a:xfrm>
          <a:prstGeom prst="wedgeRectCallout">
            <a:avLst>
              <a:gd name="adj1" fmla="val -67749"/>
              <a:gd name="adj2" fmla="val 623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dirty="0">
                <a:latin typeface="幼圆" panose="02010509060101010101" pitchFamily="49" charset="-122"/>
              </a:rPr>
              <a:t>求婚者运用排中律知识,猜中肖像放在</a:t>
            </a:r>
            <a:r>
              <a:rPr lang="zh-CN" altLang="zh-CN" sz="2800" dirty="0">
                <a:solidFill>
                  <a:srgbClr val="FF0000"/>
                </a:solidFill>
                <a:latin typeface="幼圆" panose="02010509060101010101" pitchFamily="49" charset="-122"/>
              </a:rPr>
              <a:t>银</a:t>
            </a:r>
            <a:r>
              <a:rPr lang="zh-CN" altLang="zh-CN" sz="2800" dirty="0">
                <a:latin typeface="幼圆" panose="02010509060101010101" pitchFamily="49" charset="-122"/>
              </a:rPr>
              <a:t>盒子里，而赢得了爱情。</a:t>
            </a:r>
            <a:r>
              <a:rPr lang="zh-CN" altLang="zh-CN" sz="2800" u="sng" dirty="0">
                <a:latin typeface="幼圆" panose="02010509060101010101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9CFE52-2CF7-4E05-89BD-167657217970}"/>
              </a:ext>
            </a:extLst>
          </p:cNvPr>
          <p:cNvSpPr/>
          <p:nvPr/>
        </p:nvSpPr>
        <p:spPr>
          <a:xfrm>
            <a:off x="407368" y="1496345"/>
            <a:ext cx="1137726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600" dirty="0">
                <a:solidFill>
                  <a:srgbClr val="FF0000"/>
                </a:solidFill>
                <a:latin typeface="+mn-ea"/>
                <a:ea typeface="+mn-ea"/>
              </a:rPr>
              <a:t>[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ea typeface="+mn-ea"/>
              </a:rPr>
              <a:t>例子</a:t>
            </a:r>
            <a:r>
              <a:rPr lang="zh-CN" altLang="zh-CN" sz="3600" dirty="0">
                <a:solidFill>
                  <a:srgbClr val="FF0000"/>
                </a:solidFill>
                <a:latin typeface="+mn-ea"/>
                <a:ea typeface="+mn-ea"/>
              </a:rPr>
              <a:t>]</a:t>
            </a:r>
            <a:endParaRPr lang="en-US" altLang="zh-CN" sz="36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zh-CN" sz="3600" dirty="0">
                <a:solidFill>
                  <a:schemeClr val="bg1"/>
                </a:solidFill>
                <a:latin typeface="+mn-ea"/>
                <a:ea typeface="+mn-ea"/>
              </a:rPr>
              <a:t>一个岛国，国王对到岛国的外人有一个规定：凡是说假话的人都被处死。但真话和假话的判定是这个国王说了算，所以是否会被国王处死，要看的是国王的心情。国王心情不好时，会认为所有的话都是假话，国王高兴时，可能认为所有的话都是真的。但有一个聪明的人说了一句话，使得国王没有办法处死这个人。这句话是——</a:t>
            </a:r>
            <a:r>
              <a:rPr lang="zh-CN" altLang="zh-CN" dirty="0">
                <a:solidFill>
                  <a:schemeClr val="bg1"/>
                </a:solidFill>
              </a:rPr>
              <a:t>  </a:t>
            </a:r>
            <a:endParaRPr lang="zh-CN" altLang="zh-CN" u="sng" dirty="0">
              <a:solidFill>
                <a:schemeClr val="bg1"/>
              </a:solidFill>
              <a:latin typeface="幼圆" panose="02010509060101010101" pitchFamily="49" charset="-122"/>
            </a:endParaRPr>
          </a:p>
        </p:txBody>
      </p:sp>
      <p:sp>
        <p:nvSpPr>
          <p:cNvPr id="14340" name="AutoShape 4">
            <a:extLst>
              <a:ext uri="{FF2B5EF4-FFF2-40B4-BE49-F238E27FC236}">
                <a16:creationId xmlns:a16="http://schemas.microsoft.com/office/drawing/2014/main" id="{208D8600-A427-4DDD-BCE2-DB9A8F20A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3952" y="3861048"/>
            <a:ext cx="3240360" cy="1475588"/>
          </a:xfrm>
          <a:prstGeom prst="wedgeEllipseCallout">
            <a:avLst>
              <a:gd name="adj1" fmla="val 109910"/>
              <a:gd name="adj2" fmla="val 44193"/>
            </a:avLst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3200" dirty="0"/>
              <a:t>“</a:t>
            </a:r>
            <a:r>
              <a:rPr lang="zh-CN" altLang="zh-CN" sz="3200" dirty="0">
                <a:latin typeface="幼圆" panose="02010509060101010101" pitchFamily="49" charset="-122"/>
              </a:rPr>
              <a:t>我肯定会被处死的。</a:t>
            </a:r>
            <a:r>
              <a:rPr lang="zh-CN" altLang="zh-CN" sz="3200" dirty="0"/>
              <a:t>”</a:t>
            </a:r>
            <a:r>
              <a:rPr lang="zh-CN" altLang="zh-CN" sz="3200" u="sng" dirty="0">
                <a:latin typeface="幼圆" panose="02010509060101010101" pitchFamily="49" charset="-122"/>
              </a:rPr>
              <a:t> </a:t>
            </a:r>
          </a:p>
          <a:p>
            <a:pPr algn="ctr"/>
            <a:endParaRPr lang="zh-CN" altLang="zh-CN" sz="2800" u="sng" dirty="0">
              <a:latin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719736" y="2281994"/>
            <a:ext cx="5976663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812800" indent="-8128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  </a:t>
            </a:r>
            <a:r>
              <a:rPr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 </a:t>
            </a:r>
          </a:p>
          <a:p>
            <a:pPr marL="812800" indent="-8128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3.2  </a:t>
            </a:r>
            <a:r>
              <a:rPr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等值演算</a:t>
            </a:r>
          </a:p>
          <a:p>
            <a:pPr marL="812800" indent="-8128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  </a:t>
            </a:r>
            <a:r>
              <a:rPr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范式</a:t>
            </a:r>
          </a:p>
          <a:p>
            <a:pPr marL="812800" indent="-8128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  </a:t>
            </a:r>
            <a:r>
              <a:rPr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命题逻辑的推理理论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主要内容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本章导读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299120"/>
            <a:ext cx="5295532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  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命题和命题公式的概念、命题公式的真值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赋值和重言式的概念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真值表、</a:t>
            </a:r>
            <a:r>
              <a:rPr lang="zh-CN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命题公式的概念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8" grpId="0"/>
      <p:bldP spid="5" grpId="0" uiExpand="1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336779" y="2578391"/>
            <a:ext cx="34585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511148" y="5073833"/>
            <a:ext cx="23762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673973" y="1931064"/>
            <a:ext cx="358775" cy="175632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013698" y="1747395"/>
            <a:ext cx="360258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命题与真值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命题类型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命题符号化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联结词及其逻辑关系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589388" y="4367754"/>
            <a:ext cx="328613" cy="1873825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995565" y="4242837"/>
            <a:ext cx="362071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命题常量与变量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命题公式及其赋值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命题公式的类型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公式类型的判断方法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112224" y="3806819"/>
            <a:ext cx="3024336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核心：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PPT_P23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75667"/>
            <a:ext cx="324036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C000"/>
              </a:buClr>
              <a:buSzPct val="80000"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命题与真值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983432" y="3064938"/>
            <a:ext cx="904455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命题的真值</a:t>
            </a: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命题的判断结果。</a:t>
            </a:r>
            <a:endParaRPr lang="zh-CN" altLang="en-US" sz="26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83432" y="2265195"/>
            <a:ext cx="8706395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</a:t>
            </a:r>
            <a:r>
              <a:rPr lang="en-US" altLang="zh-CN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能判断真假</a:t>
            </a:r>
            <a:r>
              <a:rPr lang="en-US" altLang="zh-CN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非真即假</a:t>
            </a:r>
            <a:r>
              <a:rPr lang="en-US" altLang="zh-CN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的陈述句。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983432" y="4917819"/>
            <a:ext cx="8784976" cy="12961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判断一个句子是否为命题</a:t>
            </a:r>
            <a:endParaRPr lang="en-US" altLang="zh-CN" sz="2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首先判断它是否为陈述句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其次判断它是否有唯一的真值。</a:t>
            </a:r>
            <a:endParaRPr lang="zh-CN" altLang="en-US" sz="2400" b="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04440" y="3730131"/>
            <a:ext cx="8063968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它只有两种可能：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真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假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分别用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来表示。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的命题称为</a:t>
            </a:r>
            <a:r>
              <a:rPr lang="zh-CN" altLang="en-US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真命题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的命题称为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假命题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4" grpId="0"/>
      <p:bldP spid="6" grpId="0"/>
      <p:bldP spid="9" grpId="0"/>
      <p:bldP spid="10" grpId="0" uiExpand="1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825816" y="2065660"/>
            <a:ext cx="3241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500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 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是素数。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93241" y="1587822"/>
            <a:ext cx="546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 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判断下列句子是否为命题</a:t>
            </a: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825816" y="5994722"/>
            <a:ext cx="30059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(9)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   我正在说假话。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1825816" y="5514018"/>
            <a:ext cx="33137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(8)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   这朵花真美丽啊！</a:t>
            </a: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825816" y="4035940"/>
            <a:ext cx="36215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   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2050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年元旦是晴天。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825816" y="3555238"/>
            <a:ext cx="2621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  火星上有水。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825816" y="3074536"/>
            <a:ext cx="56114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大于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是任意的两个数。</a:t>
            </a: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1452116" y="2557785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1452116" y="3540447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1452116" y="4030985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1452116" y="3048322"/>
            <a:ext cx="4187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1452116" y="4521522"/>
            <a:ext cx="4187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452116" y="5013647"/>
            <a:ext cx="4187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1452116" y="5504185"/>
            <a:ext cx="4187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1452116" y="5994722"/>
            <a:ext cx="4187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1825816" y="5033316"/>
            <a:ext cx="26981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(7)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   请不要吸烟！</a:t>
            </a:r>
          </a:p>
        </p:txBody>
      </p:sp>
      <p:sp>
        <p:nvSpPr>
          <p:cNvPr id="36" name="Rectangle 20"/>
          <p:cNvSpPr>
            <a:spLocks noChangeArrowheads="1"/>
          </p:cNvSpPr>
          <p:nvPr/>
        </p:nvSpPr>
        <p:spPr bwMode="auto">
          <a:xfrm>
            <a:off x="1452116" y="2065660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2"/>
              <p:cNvSpPr txBox="1">
                <a:spLocks noChangeArrowheads="1"/>
              </p:cNvSpPr>
              <p:nvPr/>
            </p:nvSpPr>
            <p:spPr bwMode="auto">
              <a:xfrm>
                <a:off x="1825816" y="4516642"/>
                <a:ext cx="3241675" cy="497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5000"/>
                  </a:spcBef>
                  <a:buFontTx/>
                  <a:buNone/>
                </a:pPr>
                <a:r>
                  <a:rPr lang="en-US" altLang="zh-CN" sz="24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(6)</a:t>
                </a:r>
                <a:r>
                  <a:rPr lang="zh-CN" altLang="en-US" sz="24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   </a:t>
                </a:r>
                <a14:m>
                  <m:oMath xmlns:m="http://schemas.openxmlformats.org/officeDocument/2006/math">
                    <m:r>
                      <a:rPr lang="el-GR" altLang="zh-CN" sz="2400" b="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zh-CN" altLang="en-US" sz="24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大于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en-US" sz="24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吗？</a:t>
                </a:r>
              </a:p>
            </p:txBody>
          </p:sp>
        </mc:Choice>
        <mc:Fallback xmlns="">
          <p:sp>
            <p:nvSpPr>
              <p:cNvPr id="2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5816" y="4516642"/>
                <a:ext cx="3241675" cy="497637"/>
              </a:xfrm>
              <a:prstGeom prst="rect">
                <a:avLst/>
              </a:prstGeom>
              <a:blipFill rotWithShape="1">
                <a:blip r:embed="rId4"/>
                <a:stretch>
                  <a:fillRect l="-6" t="-105" r="6" b="6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2"/>
              <p:cNvSpPr txBox="1">
                <a:spLocks noChangeArrowheads="1"/>
              </p:cNvSpPr>
              <p:nvPr/>
            </p:nvSpPr>
            <p:spPr bwMode="auto">
              <a:xfrm>
                <a:off x="1825816" y="2541897"/>
                <a:ext cx="3241675" cy="5136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5000"/>
                  </a:spcBef>
                  <a:buFontTx/>
                  <a:buNone/>
                </a:pPr>
                <a:r>
                  <a:rPr lang="en-US" altLang="zh-CN" sz="24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24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 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zh-CN" altLang="en-US" sz="24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是无理数。</a:t>
                </a:r>
              </a:p>
            </p:txBody>
          </p:sp>
        </mc:Choice>
        <mc:Fallback xmlns="">
          <p:sp>
            <p:nvSpPr>
              <p:cNvPr id="25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5816" y="2541897"/>
                <a:ext cx="3241675" cy="513602"/>
              </a:xfrm>
              <a:prstGeom prst="rect">
                <a:avLst/>
              </a:prstGeom>
              <a:blipFill rotWithShape="1">
                <a:blip r:embed="rId5"/>
                <a:stretch>
                  <a:fillRect l="-6" t="-122" r="6" b="1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8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32" grpId="0"/>
      <p:bldP spid="34" grpId="0"/>
      <p:bldP spid="36" grpId="0"/>
      <p:bldP spid="23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1" y="1660342"/>
            <a:ext cx="5832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定义：原子命题和复合命题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39416" y="1918094"/>
            <a:ext cx="11233248" cy="196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6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原子命题：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最简单的、不能再进一步分解的命题；</a:t>
            </a:r>
            <a:endParaRPr lang="en-US" altLang="zh-CN" sz="2600" b="0" dirty="0">
              <a:solidFill>
                <a:srgbClr val="FFC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6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复合命题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：多个命题组合（通过联结词）而成的命题；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09656" y="3879584"/>
            <a:ext cx="4968551" cy="168905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类比代数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原子命题：基本的数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复合命题：通过运算得到的数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87488" y="4364748"/>
            <a:ext cx="4392488" cy="20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 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小王既学英语又学日语。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  4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不是奇数。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 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如果天不下雨那么我骑车上班。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(4) 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小女孩七岁或八岁了。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(5)  3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是偶数当且仅当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63749" y="3688447"/>
            <a:ext cx="6165056" cy="669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3.1.3 </a:t>
            </a: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下列命题是原子命题吗？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8" grpId="0" animBg="1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1" y="1660342"/>
            <a:ext cx="4104457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联结词与复合命题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695400" y="2347164"/>
            <a:ext cx="4104457" cy="9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命题的符号化表示：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1055440" y="3281805"/>
            <a:ext cx="6481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通常简单命题用小写字母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等。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036440" y="3946048"/>
            <a:ext cx="7986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复合命题要通过联结词把表示简单命题的符号连接起来。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84032" y="4566765"/>
            <a:ext cx="4716412" cy="461665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类比代数中的运算符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＋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－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,×,÷)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94389" y="2527387"/>
            <a:ext cx="2939727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  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2+4=8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：水是液体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4FAA8F-E70E-4373-A8F7-65A21111502B}"/>
              </a:ext>
            </a:extLst>
          </p:cNvPr>
          <p:cNvSpPr/>
          <p:nvPr/>
        </p:nvSpPr>
        <p:spPr>
          <a:xfrm>
            <a:off x="1020230" y="5187634"/>
            <a:ext cx="5698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归纳总结出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种联结词，指定专用符号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4" grpId="0"/>
      <p:bldP spid="2" grpId="0"/>
      <p:bldP spid="3" grpId="0"/>
      <p:bldP spid="9" grpId="0" animBg="1"/>
      <p:bldP spid="11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551384" y="2252749"/>
            <a:ext cx="1130525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设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为命题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复合命题非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”(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的否定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否定式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记为 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符号 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否定联结词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规定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为真当且仅当 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为假。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6655527" y="5942999"/>
            <a:ext cx="3529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: (1)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(2)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630" name="Rectangle 3"/>
          <p:cNvSpPr>
            <a:spLocks noChangeArrowheads="1"/>
          </p:cNvSpPr>
          <p:nvPr/>
        </p:nvSpPr>
        <p:spPr bwMode="auto">
          <a:xfrm>
            <a:off x="275324" y="1642558"/>
            <a:ext cx="50530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3.1.1——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否定联结词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07368" y="4556379"/>
            <a:ext cx="129614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3.1.5</a:t>
            </a:r>
            <a:endParaRPr lang="zh-CN" altLang="en-US" sz="2800" b="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95929" y="4729094"/>
            <a:ext cx="34910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FFCC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将下列命题符号化</a:t>
            </a:r>
            <a:endParaRPr lang="zh-CN" altLang="en-US" sz="2600" b="0" dirty="0">
              <a:solidFill>
                <a:srgbClr val="FFCC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20"/>
              <p:cNvSpPr>
                <a:spLocks noChangeArrowheads="1"/>
              </p:cNvSpPr>
              <p:nvPr/>
            </p:nvSpPr>
            <p:spPr bwMode="auto">
              <a:xfrm>
                <a:off x="1047187" y="5206647"/>
                <a:ext cx="4392488" cy="11746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457200" indent="-45720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indent="0" eaLnBrk="1" hangingPunct="1">
                  <a:lnSpc>
                    <a:spcPct val="150000"/>
                  </a:lnSpc>
                  <a:defRPr/>
                </a:pP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(1) </a:t>
                </a:r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张伟不是三好学生。</a:t>
                </a:r>
                <a:endParaRPr lang="en-US" altLang="zh-CN" sz="2400" b="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50000"/>
                  </a:lnSpc>
                  <a:defRPr/>
                </a:pP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  <m:r>
                      <a:rPr lang="zh-CN" altLang="en-US" sz="2400" b="0" i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不</m:t>
                    </m:r>
                  </m:oMath>
                </a14:m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是有理数。</a:t>
                </a:r>
                <a:endParaRPr lang="en-US" altLang="zh-CN" sz="2400" b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7187" y="5206647"/>
                <a:ext cx="4392488" cy="1174681"/>
              </a:xfrm>
              <a:prstGeom prst="rect">
                <a:avLst/>
              </a:prstGeom>
              <a:blipFill rotWithShape="1">
                <a:blip r:embed="rId2"/>
                <a:stretch>
                  <a:fillRect l="-2" t="-24" r="6" b="-1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6014511" y="4729093"/>
            <a:ext cx="641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解： </a:t>
            </a:r>
            <a:endParaRPr lang="zh-CN" altLang="en-US" sz="2800" dirty="0">
              <a:solidFill>
                <a:srgbClr val="FFFF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20"/>
              <p:cNvSpPr>
                <a:spLocks noChangeArrowheads="1"/>
              </p:cNvSpPr>
              <p:nvPr/>
            </p:nvSpPr>
            <p:spPr bwMode="auto">
              <a:xfrm>
                <a:off x="6655527" y="4664973"/>
                <a:ext cx="4392488" cy="11746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457200" indent="-45720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indent="0" eaLnBrk="1" hangingPunct="1">
                  <a:lnSpc>
                    <a:spcPct val="150000"/>
                  </a:lnSpc>
                  <a:defRPr/>
                </a:pPr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记 </a:t>
                </a: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张伟是三好学生。</a:t>
                </a:r>
                <a:endParaRPr lang="en-US" altLang="zh-CN" sz="2400" b="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50000"/>
                  </a:lnSpc>
                  <a:defRPr/>
                </a:pP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q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是有理数。</a:t>
                </a:r>
                <a:endParaRPr lang="en-US" altLang="zh-CN" sz="2400" b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5527" y="4664973"/>
                <a:ext cx="4392488" cy="1174681"/>
              </a:xfrm>
              <a:prstGeom prst="rect">
                <a:avLst/>
              </a:prstGeom>
              <a:blipFill rotWithShape="1">
                <a:blip r:embed="rId3"/>
                <a:stretch>
                  <a:fillRect l="-2" t="-22" r="6" b="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uiExpand="1" build="p" autoUpdateAnimBg="0"/>
      <p:bldP spid="77828" grpId="0"/>
      <p:bldP spid="12" grpId="0"/>
      <p:bldP spid="13" grpId="0"/>
      <p:bldP spid="14" grpId="0" uiExpand="1" build="p" autoUpdateAnimBg="0"/>
      <p:bldP spid="15" grpId="0"/>
      <p:bldP spid="1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598716" y="2204864"/>
            <a:ext cx="1125792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设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为两个命题。复合命题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并且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的合取式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记为 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合取联结词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规定： 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为真当且仅当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同时为真。</a:t>
            </a: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623392" y="4365104"/>
            <a:ext cx="11089232" cy="1131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：自然语言中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”, 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”, 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”, 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既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.…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…”, 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不仅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而且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…”, 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虽然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但是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…”,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一面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一面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等联结词都可以符号化为∧。    </a:t>
            </a:r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2279576" y="5589240"/>
            <a:ext cx="7045518" cy="577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但并不是所有的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 “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等都能用联结词∧替代。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49162" y="1681644"/>
            <a:ext cx="50267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——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合取联结词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159"/>
                            </p:stCondLst>
                            <p:childTnLst>
                              <p:par>
                                <p:cTn id="1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9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9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623392" y="2266429"/>
            <a:ext cx="11161240" cy="2054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为两个命题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复合命题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 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 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的析取式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记为</a:t>
            </a:r>
            <a:r>
              <a:rPr lang="zh-CN" altLang="en-US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析取联结词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规定： 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为假当且仅当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同时为假。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3392" y="4797152"/>
            <a:ext cx="11017223" cy="131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自然语言中的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联结的两个命题可以具有相容性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也可以具有排斥性。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前者称为相容或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后者称为排斥或。析取联结词∨指的是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相容或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49163" y="1681644"/>
            <a:ext cx="47387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取联结词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uiExpand="1" build="p" autoUpdateAnimBg="0"/>
      <p:bldP spid="5" grpId="0" uiExpand="1" build="p" autoUpdateAnimBg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026"/>
          <p:cNvSpPr txBox="1">
            <a:spLocks noChangeArrowheads="1"/>
          </p:cNvSpPr>
          <p:nvPr/>
        </p:nvSpPr>
        <p:spPr bwMode="auto">
          <a:xfrm>
            <a:off x="629095" y="2557395"/>
            <a:ext cx="5360541" cy="205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张晓静爱唱歌或爱听音乐。</a:t>
            </a:r>
          </a:p>
          <a:p>
            <a:pPr marL="0" lvl="1"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张晓静只能挑选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房或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203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房。</a:t>
            </a:r>
          </a:p>
          <a:p>
            <a:pPr marL="0" lvl="1"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张晓静是江西人或安徽人。</a:t>
            </a:r>
          </a:p>
        </p:txBody>
      </p:sp>
      <p:sp>
        <p:nvSpPr>
          <p:cNvPr id="30723" name="Rectangle 1027"/>
          <p:cNvSpPr>
            <a:spLocks noChangeArrowheads="1"/>
          </p:cNvSpPr>
          <p:nvPr/>
        </p:nvSpPr>
        <p:spPr bwMode="auto">
          <a:xfrm>
            <a:off x="629095" y="1735701"/>
            <a:ext cx="4381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3.1.7 </a:t>
            </a: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将下列命题符号化</a:t>
            </a:r>
          </a:p>
        </p:txBody>
      </p:sp>
      <p:sp>
        <p:nvSpPr>
          <p:cNvPr id="82952" name="Rectangle 1032"/>
          <p:cNvSpPr>
            <a:spLocks noChangeArrowheads="1"/>
          </p:cNvSpPr>
          <p:nvPr/>
        </p:nvSpPr>
        <p:spPr bwMode="auto">
          <a:xfrm>
            <a:off x="6456040" y="3501537"/>
            <a:ext cx="5184576" cy="1380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张晓静住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房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张晓静住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203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房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solidFill>
                <a:srgbClr val="92D05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(</a:t>
            </a:r>
            <a:r>
              <a:rPr lang="en-US" altLang="zh-CN" sz="24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4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)∨(┐</a:t>
            </a:r>
            <a:r>
              <a:rPr lang="en-US" altLang="zh-CN" sz="2400" b="0" i="1" dirty="0" err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 err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 err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82954" name="Rectangle 1034"/>
          <p:cNvSpPr>
            <a:spLocks noChangeArrowheads="1"/>
          </p:cNvSpPr>
          <p:nvPr/>
        </p:nvSpPr>
        <p:spPr bwMode="auto">
          <a:xfrm>
            <a:off x="6456040" y="5172923"/>
            <a:ext cx="4387404" cy="1380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张晓静是江西人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张晓静是安徽人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solidFill>
                <a:srgbClr val="FF7C8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则：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)∨(┐</a:t>
            </a:r>
            <a:r>
              <a:rPr lang="en-US" altLang="zh-CN" sz="2400" b="0" i="1" dirty="0" err="1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 err="1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 err="1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30726" name="矩形 1"/>
          <p:cNvSpPr>
            <a:spLocks noChangeArrowheads="1"/>
          </p:cNvSpPr>
          <p:nvPr/>
        </p:nvSpPr>
        <p:spPr bwMode="auto">
          <a:xfrm>
            <a:off x="5924367" y="1771087"/>
            <a:ext cx="5477124" cy="145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张晓静爱唱歌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张晓静爱听音乐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则：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.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2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2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uiExpand="1" build="p" autoUpdateAnimBg="0"/>
      <p:bldP spid="30723" grpId="0"/>
      <p:bldP spid="829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839416" y="2060848"/>
            <a:ext cx="1072919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t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设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为两个命题。复合命题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的蕴涵式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记作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p→q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fontAlgn="t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符号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蕴涵联结词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</a:p>
          <a:p>
            <a:pPr algn="just" eaLnBrk="1" fontAlgn="t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称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是蕴涵式的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前件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是蕴涵式的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后件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的必要条件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 eaLnBrk="1" fontAlgn="t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规定（善意假定）： </a:t>
            </a:r>
            <a:r>
              <a:rPr lang="en-US" altLang="zh-CN" sz="24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p→q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为假当且仅当 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 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</a:t>
            </a:r>
            <a:r>
              <a:rPr lang="en-US" altLang="zh-CN" sz="24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为假。 </a:t>
            </a:r>
            <a:endParaRPr lang="en-US" altLang="zh-CN" sz="24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fontAlgn="t" hangingPunct="1">
              <a:spcBef>
                <a:spcPts val="0"/>
              </a:spcBef>
              <a:buFontTx/>
              <a:buNone/>
            </a:pP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（在日常推理中，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为假无法否定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p→q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的成立）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49162" y="1681644"/>
            <a:ext cx="48827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蕴涵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联结词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9D62A4-B123-43C3-9389-F77B384478BE}"/>
              </a:ext>
            </a:extLst>
          </p:cNvPr>
          <p:cNvSpPr/>
          <p:nvPr/>
        </p:nvSpPr>
        <p:spPr>
          <a:xfrm>
            <a:off x="805588" y="5102319"/>
            <a:ext cx="92508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例：“如果卢老师是火星人，那么卢老师会火星文”是否成立？</a:t>
            </a:r>
          </a:p>
          <a:p>
            <a:r>
              <a:rPr lang="zh-CN" altLang="en-US" sz="22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“如果卢老师是火星人，那么卢老师不会火星文”是否成立？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6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40"/>
                            </p:stCondLst>
                            <p:childTnLst>
                              <p:par>
                                <p:cTn id="2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uiExpand="1" build="p" autoUpdateAnimBg="0"/>
      <p:bldP spid="3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587388" y="1700808"/>
            <a:ext cx="11017224" cy="3884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585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22755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9025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593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5313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1033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753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2473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t" hangingPunct="1">
              <a:lnSpc>
                <a:spcPct val="150000"/>
              </a:lnSpc>
              <a:spcBef>
                <a:spcPct val="25000"/>
              </a:spcBef>
              <a:defRPr/>
            </a:pPr>
            <a:r>
              <a:rPr lang="zh-CN" altLang="en-US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注： </a:t>
            </a:r>
            <a:endParaRPr lang="en-US" altLang="zh-CN" sz="2200" b="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 fontAlgn="t">
              <a:lnSpc>
                <a:spcPct val="150000"/>
              </a:lnSpc>
              <a:spcBef>
                <a:spcPct val="25000"/>
              </a:spcBef>
              <a:buFont typeface="+mj-lt"/>
              <a:buAutoNum type="arabicPeriod"/>
              <a:defRPr/>
            </a:pP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在自然语言中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“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这种命题还有其它叙述方式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比如：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“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只要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就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”,  “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”, “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仅当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”, “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只有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才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”, “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除非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才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”,  “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除非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否则非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等等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它们都可符号化为 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p→q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在数学或其它自然科学中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“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往往表达的是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前件</a:t>
            </a:r>
            <a:r>
              <a:rPr lang="en-US" altLang="zh-CN" sz="20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为真</a:t>
            </a:r>
            <a:r>
              <a:rPr lang="en-US" altLang="zh-CN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后件</a:t>
            </a:r>
            <a:r>
              <a:rPr lang="en-US" altLang="zh-CN" sz="20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也为真的推理关系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。但在数理逻辑中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作为一种规定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当 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为假时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无论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是真是假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均为真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因为考虑的整个语句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457200" indent="-457200" algn="just">
              <a:lnSpc>
                <a:spcPct val="150000"/>
              </a:lnSpc>
              <a:spcBef>
                <a:spcPct val="25000"/>
              </a:spcBef>
              <a:buFont typeface="+mj-lt"/>
              <a:buAutoNum type="arabicPeriod"/>
              <a:defRPr/>
            </a:pP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在自然语言中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如果 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中的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前件</a:t>
            </a:r>
            <a:r>
              <a:rPr lang="en-US" altLang="zh-CN" sz="20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和后件</a:t>
            </a:r>
            <a:r>
              <a:rPr lang="en-US" altLang="zh-CN" sz="20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往往具有某种内在联系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而在数理逻辑中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与 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可以无任何内在联系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uiExpand="1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543446" y="2075741"/>
            <a:ext cx="8213725" cy="434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   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3+3 = 6,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则雪是白色的。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   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3+3 ≠6,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则雪是白色的。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  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3+3 = 6,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则雪不是白色的。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   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3+3 ≠6,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则雪不是白色的。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   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只要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一定能被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(6)    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仅当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(7)   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除非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才能被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(8)   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除非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否则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(9)   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只有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才能被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(10) 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只有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才能被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是一个给定的正整数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543446" y="1579562"/>
            <a:ext cx="96570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3.1.8  </a:t>
            </a: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将下列命题符号化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并指出各复合命题的真值。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4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4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4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4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9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839416" y="1574967"/>
            <a:ext cx="6264275" cy="1207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0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3+3=6, </a:t>
            </a:r>
            <a:r>
              <a:rPr lang="en-US" altLang="zh-CN" sz="20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：雪是白色的。</a:t>
            </a:r>
            <a:endParaRPr lang="en-US" altLang="zh-CN" sz="2000" b="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则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的符号化形式为 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p→q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１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055440" y="4437112"/>
            <a:ext cx="6211888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能被４整除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能被２整除。 </a:t>
            </a:r>
            <a:endParaRPr lang="en-US" altLang="zh-CN" sz="2000" b="0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(5)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(9)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都可符号化为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r→s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１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Rectangle 11"/>
          <p:cNvSpPr>
            <a:spLocks noChangeArrowheads="1"/>
          </p:cNvSpPr>
          <p:nvPr/>
        </p:nvSpPr>
        <p:spPr bwMode="auto">
          <a:xfrm>
            <a:off x="1347541" y="5430886"/>
            <a:ext cx="60753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(10)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可符号化为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s→r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真值视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的值而定。</a:t>
            </a:r>
            <a:r>
              <a:rPr lang="en-US" altLang="zh-CN" sz="2000" b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2000" b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821" name="矩形 2"/>
          <p:cNvSpPr>
            <a:spLocks noChangeArrowheads="1"/>
          </p:cNvSpPr>
          <p:nvPr/>
        </p:nvSpPr>
        <p:spPr bwMode="auto">
          <a:xfrm>
            <a:off x="1082429" y="2806749"/>
            <a:ext cx="6696075" cy="49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的符号化形式为 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p→q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１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822" name="矩形 20"/>
          <p:cNvSpPr>
            <a:spLocks noChangeArrowheads="1"/>
          </p:cNvSpPr>
          <p:nvPr/>
        </p:nvSpPr>
        <p:spPr bwMode="auto">
          <a:xfrm>
            <a:off x="1082429" y="3892599"/>
            <a:ext cx="6696075" cy="49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的符号化形式为 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┐p→┐q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１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823" name="矩形 21"/>
          <p:cNvSpPr>
            <a:spLocks noChangeArrowheads="1"/>
          </p:cNvSpPr>
          <p:nvPr/>
        </p:nvSpPr>
        <p:spPr bwMode="auto">
          <a:xfrm>
            <a:off x="1082429" y="3349674"/>
            <a:ext cx="6696075" cy="49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的符号化形式为 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p→┐q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0;</a:t>
            </a:r>
            <a:endParaRPr lang="zh-CN" altLang="en-US" sz="2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34821" grpId="0"/>
      <p:bldP spid="34822" grpId="0"/>
      <p:bldP spid="348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695400" y="2348880"/>
            <a:ext cx="10657184" cy="1873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设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是两个命题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复合命题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当且仅当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的等价式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记为 </a:t>
            </a:r>
            <a:r>
              <a:rPr lang="en-US" altLang="zh-CN" sz="2400" b="0" i="1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p↔q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符号</a:t>
            </a:r>
            <a:r>
              <a:rPr lang="zh-CN" altLang="en-US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等价联结词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规定： </a:t>
            </a:r>
            <a:r>
              <a:rPr lang="en-US" altLang="zh-CN" sz="2400" b="0" i="1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p↔q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为真当且仅当 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同时为真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同时为假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49163" y="1681644"/>
            <a:ext cx="47387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联结词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941159" y="4653136"/>
            <a:ext cx="6840760" cy="122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p↔q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可理解为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 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互为充分必要条件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它与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lang="en-US" altLang="zh-CN" sz="2400" b="0" i="1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 err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的逻辑关系完全一致。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uiExpand="1" build="p" autoUpdateAnimBg="0"/>
      <p:bldP spid="2" grpId="0"/>
      <p:bldP spid="8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7042" name="Text Box 2"/>
              <p:cNvSpPr txBox="1">
                <a:spLocks noChangeArrowheads="1"/>
              </p:cNvSpPr>
              <p:nvPr/>
            </p:nvSpPr>
            <p:spPr bwMode="auto">
              <a:xfrm>
                <a:off x="554807" y="2276175"/>
                <a:ext cx="8143875" cy="18575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179705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(1)  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b="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b="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是无理数当且仅当加拿大位于亚洲。</a:t>
                </a:r>
              </a:p>
              <a:p>
                <a:pPr lvl="1" algn="just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  2+3=5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的充要条件是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b="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b="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是无理数。</a:t>
                </a:r>
              </a:p>
              <a:p>
                <a:pPr lvl="1" algn="just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(3) 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若两圆的面积相等</a:t>
                </a: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则它们的半径相等</a:t>
                </a: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反之亦然。</a:t>
                </a:r>
              </a:p>
              <a:p>
                <a:pPr lvl="1" algn="just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(4) 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当王小红心情愉快时</a:t>
                </a: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她就唱歌</a:t>
                </a: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反之</a:t>
                </a: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当她唱歌时</a:t>
                </a:r>
                <a:r>
                  <a:rPr lang="en-US" altLang="zh-CN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一定心情愉快。</a:t>
                </a:r>
              </a:p>
            </p:txBody>
          </p:sp>
        </mc:Choice>
        <mc:Fallback xmlns="">
          <p:sp>
            <p:nvSpPr>
              <p:cNvPr id="87042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807" y="2276175"/>
                <a:ext cx="8143875" cy="1857560"/>
              </a:xfrm>
              <a:prstGeom prst="rect">
                <a:avLst/>
              </a:prstGeom>
              <a:blipFill rotWithShape="1">
                <a:blip r:embed="rId2"/>
                <a:stretch>
                  <a:fillRect l="-6" t="-18" r="6" b="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263352" y="4228504"/>
            <a:ext cx="9149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1082547" y="5933270"/>
            <a:ext cx="582543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王小红心情愉快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王小红唱歌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则符号化为</a:t>
            </a:r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6907982" y="4513051"/>
            <a:ext cx="9149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>
            <a:spAutoFit/>
          </a:bodyPr>
          <a:lstStyle>
            <a:lvl1pPr marL="342900" indent="-3429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9705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</a:pPr>
            <a:r>
              <a:rPr lang="en-US" altLang="zh-CN" sz="20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0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7619182" y="4513051"/>
            <a:ext cx="15507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9705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</a:pPr>
            <a:r>
              <a:rPr lang="zh-CN" altLang="en-US" sz="20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en-US" altLang="zh-CN" sz="2000" b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048" name="Rectangle 8"/>
              <p:cNvSpPr>
                <a:spLocks noChangeArrowheads="1"/>
              </p:cNvSpPr>
              <p:nvPr/>
            </p:nvSpPr>
            <p:spPr bwMode="auto">
              <a:xfrm>
                <a:off x="1082546" y="4997161"/>
                <a:ext cx="5054717" cy="4290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0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: 2+3=5; </a:t>
                </a:r>
                <a:r>
                  <a:rPr lang="zh-CN" altLang="en-US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0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b="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b="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en-US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是无理数</a:t>
                </a: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则符号化为</a:t>
                </a:r>
              </a:p>
            </p:txBody>
          </p:sp>
        </mc:Choice>
        <mc:Fallback xmlns="">
          <p:sp>
            <p:nvSpPr>
              <p:cNvPr id="87048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2546" y="4997161"/>
                <a:ext cx="5054717" cy="429092"/>
              </a:xfrm>
              <a:prstGeom prst="rect">
                <a:avLst/>
              </a:prstGeom>
              <a:blipFill rotWithShape="1">
                <a:blip r:embed="rId3"/>
                <a:stretch>
                  <a:fillRect l="-10" t="-81" r="12" b="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6115818" y="5011682"/>
            <a:ext cx="782639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0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6898457" y="5011682"/>
            <a:ext cx="18002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en-US" altLang="zh-CN" sz="2000" b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1082546" y="5471420"/>
            <a:ext cx="56615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两圆面积相等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两圆半径相等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则符号化为</a:t>
            </a:r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6871468" y="5917852"/>
            <a:ext cx="8579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2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87054" name="Rectangle 14"/>
          <p:cNvSpPr>
            <a:spLocks noChangeArrowheads="1"/>
          </p:cNvSpPr>
          <p:nvPr/>
        </p:nvSpPr>
        <p:spPr bwMode="auto">
          <a:xfrm>
            <a:off x="7715942" y="5933270"/>
            <a:ext cx="3527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真值由具体情况而定。</a:t>
            </a:r>
          </a:p>
        </p:txBody>
      </p:sp>
      <p:sp>
        <p:nvSpPr>
          <p:cNvPr id="87055" name="Rectangle 15"/>
          <p:cNvSpPr>
            <a:spLocks noChangeArrowheads="1"/>
          </p:cNvSpPr>
          <p:nvPr/>
        </p:nvSpPr>
        <p:spPr bwMode="auto">
          <a:xfrm>
            <a:off x="6833369" y="5456002"/>
            <a:ext cx="72487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2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2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7590606" y="5471390"/>
            <a:ext cx="13692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真值为</a:t>
            </a:r>
            <a:r>
              <a:rPr lang="en-US" altLang="zh-CN" sz="2000" b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6879" name="Rectangle 17"/>
          <p:cNvSpPr>
            <a:spLocks noChangeArrowheads="1"/>
          </p:cNvSpPr>
          <p:nvPr/>
        </p:nvSpPr>
        <p:spPr bwMode="auto">
          <a:xfrm>
            <a:off x="506413" y="1615245"/>
            <a:ext cx="80842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 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3.1.9   </a:t>
            </a: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将下列命题符号化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并讨论它们的真值。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80" name="矩形 1"/>
              <p:cNvSpPr>
                <a:spLocks noChangeArrowheads="1"/>
              </p:cNvSpPr>
              <p:nvPr/>
            </p:nvSpPr>
            <p:spPr bwMode="auto">
              <a:xfrm>
                <a:off x="1082546" y="4498560"/>
                <a:ext cx="6075092" cy="429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lvl="1" eaLnBrk="1" hangingPunct="1">
                  <a:spcBef>
                    <a:spcPts val="0"/>
                  </a:spcBef>
                  <a:buFontTx/>
                  <a:buNone/>
                </a:pP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en-US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0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b="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b="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en-US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是无理数</a:t>
                </a: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 </a:t>
                </a:r>
                <a:r>
                  <a:rPr lang="en-US" altLang="zh-CN" sz="20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加拿大位于亚洲</a:t>
                </a:r>
                <a:r>
                  <a:rPr lang="en-US" altLang="zh-CN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则符号化为</a:t>
                </a:r>
              </a:p>
            </p:txBody>
          </p:sp>
        </mc:Choice>
        <mc:Fallback xmlns="">
          <p:sp>
            <p:nvSpPr>
              <p:cNvPr id="36880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2546" y="4498560"/>
                <a:ext cx="6075092" cy="429092"/>
              </a:xfrm>
              <a:prstGeom prst="rect">
                <a:avLst/>
              </a:prstGeom>
              <a:blipFill rotWithShape="1">
                <a:blip r:embed="rId4"/>
                <a:stretch>
                  <a:fillRect l="-8" t="-51" r="9" b="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7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9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80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80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80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3" dur="80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4" dur="80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80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0" dur="80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1" dur="80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80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7" dur="80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8" dur="80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80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4" dur="80"/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5" dur="80"/>
                                        <p:tgtEl>
                                          <p:spTgt spid="870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80"/>
                                        <p:tgtEl>
                                          <p:spTgt spid="870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1" dur="80"/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2" dur="80"/>
                                        <p:tgtEl>
                                          <p:spTgt spid="870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80"/>
                                        <p:tgtEl>
                                          <p:spTgt spid="870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8" dur="80"/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9" dur="80"/>
                                        <p:tgtEl>
                                          <p:spTgt spid="870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80"/>
                                        <p:tgtEl>
                                          <p:spTgt spid="870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5" dur="80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6" dur="80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80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2" dur="80"/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3" dur="80"/>
                                        <p:tgtEl>
                                          <p:spTgt spid="870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80"/>
                                        <p:tgtEl>
                                          <p:spTgt spid="870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9" dur="80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0" dur="80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80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uiExpand="1" build="p" autoUpdateAnimBg="0"/>
      <p:bldP spid="87044" grpId="0"/>
      <p:bldP spid="87045" grpId="0"/>
      <p:bldP spid="87046" grpId="0"/>
      <p:bldP spid="87047" grpId="0"/>
      <p:bldP spid="87048" grpId="0" animBg="1"/>
      <p:bldP spid="87049" grpId="0"/>
      <p:bldP spid="87050" grpId="0"/>
      <p:bldP spid="87052" grpId="0"/>
      <p:bldP spid="87053" grpId="0"/>
      <p:bldP spid="87054" grpId="0"/>
      <p:bldP spid="87055" grpId="0"/>
      <p:bldP spid="87056" grpId="0"/>
      <p:bldP spid="36879" grpId="0"/>
      <p:bldP spid="3688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/>
          <p:cNvSpPr txBox="1">
            <a:spLocks noChangeArrowheads="1"/>
          </p:cNvSpPr>
          <p:nvPr/>
        </p:nvSpPr>
        <p:spPr bwMode="auto">
          <a:xfrm>
            <a:off x="2270126" y="706438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1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695400" y="1694635"/>
            <a:ext cx="10801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以上定义的五种最基本的联结词组成一个联结词集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{┐,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 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。由其中某个联结词联结两个原子命题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┐联结一个原子命题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所形成的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复合命题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基本复合命题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它们的真值情况如下表。</a:t>
            </a:r>
          </a:p>
        </p:txBody>
      </p:sp>
      <p:graphicFrame>
        <p:nvGraphicFramePr>
          <p:cNvPr id="88217" name="Group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5191"/>
              </p:ext>
            </p:extLst>
          </p:nvPr>
        </p:nvGraphicFramePr>
        <p:xfrm>
          <a:off x="1883532" y="3659276"/>
          <a:ext cx="8424936" cy="250825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47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p   q</a:t>
                      </a:r>
                    </a:p>
                  </a:txBody>
                  <a:tcPr marL="91427" marR="91427"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┐p</a:t>
                      </a: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</a:t>
                      </a:r>
                      <a:r>
                        <a:rPr kumimoji="1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∨</a:t>
                      </a:r>
                      <a:r>
                        <a:rPr kumimoji="1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p→q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p↔q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913" name="Rectangle 154"/>
          <p:cNvSpPr>
            <a:spLocks noChangeArrowheads="1"/>
          </p:cNvSpPr>
          <p:nvPr/>
        </p:nvSpPr>
        <p:spPr bwMode="auto">
          <a:xfrm>
            <a:off x="6845416" y="1022656"/>
            <a:ext cx="10743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   结</a:t>
            </a:r>
          </a:p>
        </p:txBody>
      </p:sp>
      <p:sp>
        <p:nvSpPr>
          <p:cNvPr id="88219" name="Rectangle 155"/>
          <p:cNvSpPr>
            <a:spLocks noChangeArrowheads="1"/>
          </p:cNvSpPr>
          <p:nvPr/>
        </p:nvSpPr>
        <p:spPr bwMode="auto">
          <a:xfrm>
            <a:off x="3813506" y="4255670"/>
            <a:ext cx="5461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8220" name="Rectangle 156"/>
          <p:cNvSpPr>
            <a:spLocks noChangeArrowheads="1"/>
          </p:cNvSpPr>
          <p:nvPr/>
        </p:nvSpPr>
        <p:spPr bwMode="auto">
          <a:xfrm>
            <a:off x="5312963" y="4255670"/>
            <a:ext cx="4064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221" name="Rectangle 157"/>
          <p:cNvSpPr>
            <a:spLocks noChangeArrowheads="1"/>
          </p:cNvSpPr>
          <p:nvPr/>
        </p:nvSpPr>
        <p:spPr bwMode="auto">
          <a:xfrm>
            <a:off x="6624237" y="4281938"/>
            <a:ext cx="401637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222" name="Rectangle 158"/>
          <p:cNvSpPr>
            <a:spLocks noChangeArrowheads="1"/>
          </p:cNvSpPr>
          <p:nvPr/>
        </p:nvSpPr>
        <p:spPr bwMode="auto">
          <a:xfrm>
            <a:off x="8076220" y="4255670"/>
            <a:ext cx="504825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223" name="Rectangle 159"/>
          <p:cNvSpPr>
            <a:spLocks noChangeArrowheads="1"/>
          </p:cNvSpPr>
          <p:nvPr/>
        </p:nvSpPr>
        <p:spPr bwMode="auto">
          <a:xfrm>
            <a:off x="9351331" y="4255670"/>
            <a:ext cx="473075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224" name="Rectangle 160"/>
          <p:cNvSpPr>
            <a:spLocks noChangeArrowheads="1"/>
          </p:cNvSpPr>
          <p:nvPr/>
        </p:nvSpPr>
        <p:spPr bwMode="auto">
          <a:xfrm>
            <a:off x="2294558" y="4282186"/>
            <a:ext cx="993775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0     0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0     1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1     0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1     1</a:t>
            </a:r>
          </a:p>
        </p:txBody>
      </p:sp>
      <p:sp>
        <p:nvSpPr>
          <p:cNvPr id="37921" name="Rectangle 3"/>
          <p:cNvSpPr>
            <a:spLocks noChangeArrowheads="1"/>
          </p:cNvSpPr>
          <p:nvPr/>
        </p:nvSpPr>
        <p:spPr bwMode="auto">
          <a:xfrm>
            <a:off x="5113339" y="365125"/>
            <a:ext cx="48910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build="p" autoUpdateAnimBg="0"/>
      <p:bldP spid="88219" grpId="0"/>
      <p:bldP spid="88220" grpId="0"/>
      <p:bldP spid="88221" grpId="0"/>
      <p:bldP spid="88222" grpId="0"/>
      <p:bldP spid="88223" grpId="0"/>
      <p:bldP spid="882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1127448" y="1916832"/>
            <a:ext cx="1008111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多次使用联结词集中的联结词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可组成更为复杂的复合命题。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求复杂的复合命题的真值时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可依据上述真值表逐次求取。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但运算过程中应注意联结词的优先顺序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包括括号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algn="ctr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None/>
            </a:pP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 ),  ┐, ∧, ∨, →, 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↔。</a:t>
            </a:r>
          </a:p>
          <a:p>
            <a:pPr marL="342900" indent="-342900" algn="just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对同一优先级的联结词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按出现的先后次序运算。</a:t>
            </a:r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5113339" y="365125"/>
            <a:ext cx="48910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2" name="Rectangle 154"/>
          <p:cNvSpPr>
            <a:spLocks noChangeArrowheads="1"/>
          </p:cNvSpPr>
          <p:nvPr/>
        </p:nvSpPr>
        <p:spPr bwMode="auto">
          <a:xfrm>
            <a:off x="6845416" y="1022656"/>
            <a:ext cx="10743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   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uiExpand="1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5113339" y="365125"/>
            <a:ext cx="48910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2" name="Rectangle 154"/>
          <p:cNvSpPr>
            <a:spLocks noChangeArrowheads="1"/>
          </p:cNvSpPr>
          <p:nvPr/>
        </p:nvSpPr>
        <p:spPr bwMode="auto">
          <a:xfrm>
            <a:off x="6845416" y="1022656"/>
            <a:ext cx="10743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   结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79376" y="1591321"/>
            <a:ext cx="10487842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dirty="0">
                <a:sym typeface="Symbol" panose="05050102010706020507" pitchFamily="18" charset="2"/>
              </a:rPr>
              <a:t>命题符号化的方法</a:t>
            </a:r>
          </a:p>
          <a:p>
            <a:pPr marL="285750" lvl="1" indent="0"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找出原子命题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并用小写英文字母表示 </a:t>
            </a:r>
          </a:p>
          <a:p>
            <a:pPr marL="285750" lvl="1" indent="0"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用适当的联结词把原子命题组合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联结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成复合命题 </a:t>
            </a:r>
          </a:p>
          <a:p>
            <a:pPr marL="285750" lvl="1" indent="0"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对于复杂命题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步骤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可能需要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自底向上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逐渐进行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79376" y="3933056"/>
            <a:ext cx="8785225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ym typeface="Symbol" panose="05050102010706020507" pitchFamily="18" charset="2"/>
              </a:rPr>
              <a:t>关注含有蕴涵意义的命题</a:t>
            </a:r>
          </a:p>
          <a:p>
            <a:pPr marL="285750" lvl="1" indent="0">
              <a:buNone/>
            </a:pPr>
            <a:r>
              <a:rPr lang="zh-CN" altLang="en-US" dirty="0">
                <a:sym typeface="Symbol" panose="05050102010706020507" pitchFamily="18" charset="2"/>
              </a:rPr>
              <a:t>    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在命题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的充分条件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的必要条件</a:t>
            </a:r>
          </a:p>
          <a:p>
            <a:pPr marL="285750" lvl="1" indent="0"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只要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就有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sz="24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285750" lvl="1" indent="0"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“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只有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才有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 sz="24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285750" lvl="1" indent="0"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“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仅当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”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sz="24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407368" y="1484784"/>
            <a:ext cx="4536504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8000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3.1.10  </a:t>
            </a: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命题符号化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39" name="矩形 1"/>
          <p:cNvSpPr>
            <a:spLocks noChangeArrowheads="1"/>
          </p:cNvSpPr>
          <p:nvPr/>
        </p:nvSpPr>
        <p:spPr bwMode="auto">
          <a:xfrm>
            <a:off x="571378" y="3965138"/>
            <a:ext cx="1060126" cy="662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42" name="Rectangle 3"/>
          <p:cNvSpPr>
            <a:spLocks noChangeArrowheads="1"/>
          </p:cNvSpPr>
          <p:nvPr/>
        </p:nvSpPr>
        <p:spPr bwMode="auto">
          <a:xfrm>
            <a:off x="5113339" y="365125"/>
            <a:ext cx="48910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309923" y="2126145"/>
            <a:ext cx="9721080" cy="1809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期末考试得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并且做本书的每道练习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足以使你这门课得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如果我上街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我去超市购物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除非我很累。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只有你主修计算机科学或不是新生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才可以从校园内访问因特网。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(4) 4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是偶数和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能被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整除是一个意思。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09923" y="4365104"/>
            <a:ext cx="10441160" cy="185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ym typeface="Symbol" panose="05050102010706020507" pitchFamily="18" charset="2"/>
              </a:rPr>
              <a:t>(1) </a:t>
            </a:r>
            <a:r>
              <a:rPr lang="en-US" altLang="zh-CN" i="1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：期末考试得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：做本书的每道练习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：你这门课得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   </a:t>
            </a:r>
            <a:r>
              <a:rPr lang="zh-CN" altLang="en-US" dirty="0">
                <a:solidFill>
                  <a:srgbClr val="FFFF00"/>
                </a:solidFill>
                <a:sym typeface="Symbol" panose="05050102010706020507" pitchFamily="18" charset="2"/>
              </a:rPr>
              <a:t>符号化：</a:t>
            </a:r>
            <a:r>
              <a:rPr lang="en-US" altLang="zh-CN" i="1" dirty="0" err="1">
                <a:solidFill>
                  <a:srgbClr val="FFFF00"/>
                </a:solidFill>
                <a:sym typeface="Symbol" panose="05050102010706020507" pitchFamily="18" charset="2"/>
              </a:rPr>
              <a:t>p</a:t>
            </a:r>
            <a:r>
              <a:rPr lang="en-US" altLang="zh-CN" dirty="0" err="1">
                <a:solidFill>
                  <a:srgbClr val="FFFF00"/>
                </a:solidFill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solidFill>
                  <a:srgbClr val="FFFF00"/>
                </a:solidFill>
                <a:sym typeface="Symbol" panose="05050102010706020507" pitchFamily="18" charset="2"/>
              </a:rPr>
              <a:t>q</a:t>
            </a:r>
            <a:r>
              <a:rPr lang="en-US" altLang="zh-CN" dirty="0" err="1">
                <a:solidFill>
                  <a:srgbClr val="FFFF00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solidFill>
                  <a:srgbClr val="FFFF00"/>
                </a:solidFill>
                <a:sym typeface="Symbol" panose="05050102010706020507" pitchFamily="18" charset="2"/>
              </a:rPr>
              <a:t>r</a:t>
            </a:r>
            <a:endParaRPr lang="en-US" altLang="zh-CN" i="1" dirty="0">
              <a:solidFill>
                <a:srgbClr val="FFFF00"/>
              </a:solidFill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(2)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：我上街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：我去超市购物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：我很累</a:t>
            </a:r>
            <a:r>
              <a:rPr lang="en-US" altLang="zh-CN" dirty="0">
                <a:sym typeface="Symbol" panose="05050102010706020507" pitchFamily="18" charset="2"/>
              </a:rPr>
              <a:t>                              </a:t>
            </a:r>
            <a:r>
              <a:rPr lang="zh-CN" altLang="en-US" dirty="0">
                <a:solidFill>
                  <a:srgbClr val="FFFF00"/>
                </a:solidFill>
                <a:sym typeface="Symbol" panose="05050102010706020507" pitchFamily="18" charset="2"/>
              </a:rPr>
              <a:t>符号化：</a:t>
            </a:r>
            <a:r>
              <a:rPr lang="en-US" altLang="zh-CN" i="1" dirty="0">
                <a:solidFill>
                  <a:srgbClr val="FFFF00"/>
                </a:solidFill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(</a:t>
            </a:r>
            <a:r>
              <a:rPr lang="en-US" altLang="zh-CN" i="1" dirty="0" err="1">
                <a:solidFill>
                  <a:srgbClr val="FFFF00"/>
                </a:solidFill>
                <a:sym typeface="Symbol" panose="05050102010706020507" pitchFamily="18" charset="2"/>
              </a:rPr>
              <a:t>q</a:t>
            </a:r>
            <a:r>
              <a:rPr lang="en-US" altLang="zh-CN" dirty="0" err="1">
                <a:solidFill>
                  <a:srgbClr val="FFFF00"/>
                </a:solidFill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solidFill>
                  <a:srgbClr val="FFFF00"/>
                </a:solidFill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)</a:t>
            </a:r>
          </a:p>
          <a:p>
            <a:r>
              <a:rPr lang="en-US" altLang="zh-CN" dirty="0">
                <a:sym typeface="Symbol" panose="05050102010706020507" pitchFamily="18" charset="2"/>
              </a:rPr>
              <a:t>(3)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：主修计算机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：你是新生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：可以访问因特网</a:t>
            </a:r>
            <a:r>
              <a:rPr lang="en-US" altLang="zh-CN" dirty="0">
                <a:sym typeface="Symbol" panose="05050102010706020507" pitchFamily="18" charset="2"/>
              </a:rPr>
              <a:t>                </a:t>
            </a:r>
            <a:r>
              <a:rPr lang="zh-CN" altLang="en-US" dirty="0">
                <a:solidFill>
                  <a:srgbClr val="FFFF00"/>
                </a:solidFill>
                <a:sym typeface="Symbol" panose="05050102010706020507" pitchFamily="18" charset="2"/>
              </a:rPr>
              <a:t>符号化： </a:t>
            </a:r>
            <a:r>
              <a:rPr lang="en-US" altLang="zh-CN" i="1" dirty="0">
                <a:solidFill>
                  <a:srgbClr val="FFFF00"/>
                </a:solidFill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(</a:t>
            </a:r>
            <a:r>
              <a:rPr lang="en-US" altLang="zh-CN" i="1" dirty="0">
                <a:solidFill>
                  <a:srgbClr val="FFFF00"/>
                </a:solidFill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solidFill>
                  <a:srgbClr val="FFFF00"/>
                </a:solidFill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) </a:t>
            </a:r>
          </a:p>
          <a:p>
            <a:r>
              <a:rPr lang="en-US" altLang="zh-CN" dirty="0">
                <a:sym typeface="Symbol" panose="05050102010706020507" pitchFamily="18" charset="2"/>
              </a:rPr>
              <a:t>(4) </a:t>
            </a:r>
            <a:r>
              <a:rPr lang="en-US" altLang="zh-CN" i="1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4</a:t>
            </a:r>
            <a:r>
              <a:rPr lang="zh-CN" altLang="en-US" dirty="0">
                <a:sym typeface="Symbol" panose="05050102010706020507" pitchFamily="18" charset="2"/>
              </a:rPr>
              <a:t>是偶数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4</a:t>
            </a:r>
            <a:r>
              <a:rPr lang="zh-CN" altLang="en-US" dirty="0">
                <a:sym typeface="Symbol" panose="05050102010706020507" pitchFamily="18" charset="2"/>
              </a:rPr>
              <a:t>能被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整除</a:t>
            </a:r>
            <a:r>
              <a:rPr lang="en-US" altLang="zh-CN" dirty="0">
                <a:sym typeface="Symbol" panose="05050102010706020507" pitchFamily="18" charset="2"/>
              </a:rPr>
              <a:t>                                                   </a:t>
            </a:r>
            <a:r>
              <a:rPr lang="zh-CN" altLang="en-US" dirty="0">
                <a:solidFill>
                  <a:srgbClr val="FFFF00"/>
                </a:solidFill>
                <a:sym typeface="Symbol" panose="05050102010706020507" pitchFamily="18" charset="2"/>
              </a:rPr>
              <a:t>符号化： </a:t>
            </a:r>
            <a:r>
              <a:rPr lang="en-US" altLang="zh-CN" i="1" dirty="0" err="1">
                <a:solidFill>
                  <a:srgbClr val="FFFF00"/>
                </a:solidFill>
                <a:sym typeface="Symbol" panose="05050102010706020507" pitchFamily="18" charset="2"/>
              </a:rPr>
              <a:t>p</a:t>
            </a:r>
            <a:r>
              <a:rPr lang="en-US" altLang="zh-CN" dirty="0" err="1">
                <a:solidFill>
                  <a:srgbClr val="FFFF00"/>
                </a:solidFill>
                <a:sym typeface="Symbol" panose="05050102010706020507" pitchFamily="18" charset="2"/>
              </a:rPr>
              <a:t></a:t>
            </a:r>
            <a:r>
              <a:rPr lang="en-US" altLang="zh-CN" i="1" dirty="0" err="1">
                <a:solidFill>
                  <a:srgbClr val="FFFF00"/>
                </a:solidFill>
                <a:sym typeface="Symbol" panose="05050102010706020507" pitchFamily="18" charset="2"/>
              </a:rPr>
              <a:t>q</a:t>
            </a:r>
            <a:endParaRPr lang="en-US" altLang="zh-CN" i="1" dirty="0">
              <a:solidFill>
                <a:srgbClr val="FFFF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build="p" autoUpdateAnimBg="0"/>
      <p:bldP spid="39939" grpId="0"/>
      <p:bldP spid="7" grpId="0" uiExpand="1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767408" y="1628800"/>
            <a:ext cx="1440160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8000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3.1.11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39" name="矩形 1"/>
          <p:cNvSpPr>
            <a:spLocks noChangeArrowheads="1"/>
          </p:cNvSpPr>
          <p:nvPr/>
        </p:nvSpPr>
        <p:spPr bwMode="auto">
          <a:xfrm>
            <a:off x="767408" y="4221088"/>
            <a:ext cx="9433048" cy="1408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∵ 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q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的真值分别为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1, 1, 0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∴ 按照真值表及命题公式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(1), (2), (3)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的真值分别为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1, 1, 0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9942" name="Rectangle 3"/>
          <p:cNvSpPr>
            <a:spLocks noChangeArrowheads="1"/>
          </p:cNvSpPr>
          <p:nvPr/>
        </p:nvSpPr>
        <p:spPr bwMode="auto">
          <a:xfrm>
            <a:off x="5113339" y="365125"/>
            <a:ext cx="48910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命题与逻辑联结词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183891" y="1694566"/>
            <a:ext cx="8664637" cy="2238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：北京比天津人口多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2+2=4;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：乌鸦是白色的。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求下列命题的真值：</a:t>
            </a:r>
          </a:p>
          <a:p>
            <a:pPr marL="0"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((┐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))→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;   (2) ( 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 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</a:p>
          <a:p>
            <a:pPr marL="0"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(┐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↔ 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build="p" autoUpdateAnimBg="0"/>
      <p:bldP spid="7" grpId="0" uiExpand="1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839416" y="2362916"/>
            <a:ext cx="11233248" cy="2062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命题常量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：表示一个具体命题的符号，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、其他符号；</a:t>
            </a:r>
            <a:endParaRPr lang="en-US" altLang="zh-CN" sz="22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命题变量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：表示某个不确定的命题的符号（一般也用小写字母表示），值只能取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2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：命题符号化的结果，符号串，表示了命题的组成结构；</a:t>
            </a:r>
            <a:endParaRPr lang="en-US" altLang="zh-CN" sz="22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类比代数公式：将联结词看做运算符；</a:t>
            </a:r>
            <a:endParaRPr lang="en-US" altLang="zh-CN" sz="22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49162" y="1681644"/>
            <a:ext cx="91312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3.1.2 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命题常量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和命题变量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endParaRPr lang="zh-CN" altLang="en-US" sz="28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676400" y="4706846"/>
            <a:ext cx="8839200" cy="1227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都是命题公式。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9376" y="4797224"/>
            <a:ext cx="11045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例如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endParaRPr lang="zh-CN" altLang="en-US" sz="2800" b="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17530" y="1006595"/>
            <a:ext cx="5225827" cy="461665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类比代数公式：将联结词看作运算符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uiExpand="1" build="p" autoUpdateAnimBg="0"/>
      <p:bldP spid="40963" grpId="0"/>
      <p:bldP spid="2" grpId="0"/>
      <p:bldP spid="8" grpId="0" build="p" autoUpdateAnimBg="0"/>
      <p:bldP spid="9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926694" y="2203145"/>
            <a:ext cx="10353882" cy="3350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具体地说</a:t>
            </a:r>
            <a:r>
              <a:rPr lang="en-US" altLang="zh-CN" sz="24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合式公式定义如下</a:t>
            </a:r>
            <a:r>
              <a:rPr lang="en-US" altLang="zh-CN" sz="24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(1)  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单个命题变量是合式公式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原子命题公式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2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(2)  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是合式公式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(┐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也是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合式公式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2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(3)  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是合式公式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B)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也是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合式公式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2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(4) 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只有有限次地应用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形成的符号串才是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合式公式。</a:t>
            </a:r>
            <a:endParaRPr lang="en-US" altLang="zh-CN" sz="2200" b="0" dirty="0">
              <a:solidFill>
                <a:srgbClr val="FFC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是合式公式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中的一部分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是合式公式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则称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的子公式。</a:t>
            </a:r>
            <a:endParaRPr lang="en-US" altLang="zh-CN" sz="22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49162" y="1681644"/>
            <a:ext cx="91312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3.1.2 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endParaRPr lang="zh-CN" altLang="en-US" sz="28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246" y="5844667"/>
            <a:ext cx="113127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400" i="1" dirty="0"/>
              <a:t>n</a:t>
            </a:r>
            <a:r>
              <a:rPr lang="zh-CN" altLang="en-US" sz="2400" dirty="0"/>
              <a:t>元命题公式： </a:t>
            </a:r>
            <a:r>
              <a:rPr lang="zh-CN" altLang="en-US" sz="2000" dirty="0">
                <a:solidFill>
                  <a:schemeClr val="bg1"/>
                </a:solidFill>
              </a:rPr>
              <a:t>含</a:t>
            </a:r>
            <a:r>
              <a:rPr lang="en-US" altLang="zh-CN" sz="2000" i="1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个命题变量的命题公式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zh-CN" altLang="en-US" sz="2000" dirty="0">
                <a:solidFill>
                  <a:schemeClr val="bg1"/>
                </a:solidFill>
              </a:rPr>
              <a:t>记为</a:t>
            </a:r>
            <a:r>
              <a:rPr lang="en-US" altLang="zh-CN" sz="2000" i="1" dirty="0">
                <a:solidFill>
                  <a:schemeClr val="bg1"/>
                </a:solidFill>
              </a:rPr>
              <a:t>A</a:t>
            </a:r>
            <a:r>
              <a:rPr lang="en-US" altLang="zh-CN" sz="2000" dirty="0">
                <a:solidFill>
                  <a:schemeClr val="bg1"/>
                </a:solidFill>
              </a:rPr>
              <a:t>(</a:t>
            </a:r>
            <a:r>
              <a:rPr lang="en-US" altLang="zh-CN" sz="2000" i="1" dirty="0">
                <a:solidFill>
                  <a:schemeClr val="bg1"/>
                </a:solidFill>
              </a:rPr>
              <a:t>p</a:t>
            </a:r>
            <a:r>
              <a:rPr lang="en-US" altLang="zh-CN" sz="2000" baseline="-25000" dirty="0">
                <a:solidFill>
                  <a:schemeClr val="bg1"/>
                </a:solidFill>
              </a:rPr>
              <a:t>1</a:t>
            </a:r>
            <a:r>
              <a:rPr lang="en-US" altLang="zh-CN" sz="2000" dirty="0">
                <a:solidFill>
                  <a:schemeClr val="bg1"/>
                </a:solidFill>
              </a:rPr>
              <a:t>,</a:t>
            </a:r>
            <a:r>
              <a:rPr lang="en-US" altLang="zh-CN" sz="2000" i="1" dirty="0">
                <a:solidFill>
                  <a:schemeClr val="bg1"/>
                </a:solidFill>
              </a:rPr>
              <a:t>p</a:t>
            </a:r>
            <a:r>
              <a:rPr lang="en-US" altLang="zh-CN" sz="2000" baseline="-25000" dirty="0">
                <a:solidFill>
                  <a:schemeClr val="bg1"/>
                </a:solidFill>
              </a:rPr>
              <a:t>2</a:t>
            </a:r>
            <a:r>
              <a:rPr lang="en-US" altLang="zh-CN" sz="2000" dirty="0">
                <a:solidFill>
                  <a:schemeClr val="bg1"/>
                </a:solidFill>
              </a:rPr>
              <a:t>,…,</a:t>
            </a:r>
            <a:r>
              <a:rPr lang="en-US" altLang="zh-CN" sz="2000" i="1" dirty="0" err="1">
                <a:solidFill>
                  <a:schemeClr val="bg1"/>
                </a:solidFill>
              </a:rPr>
              <a:t>p</a:t>
            </a:r>
            <a:r>
              <a:rPr lang="en-US" altLang="zh-CN" sz="2000" i="1" baseline="-25000" dirty="0" err="1">
                <a:solidFill>
                  <a:schemeClr val="bg1"/>
                </a:solidFill>
              </a:rPr>
              <a:t>n</a:t>
            </a:r>
            <a:r>
              <a:rPr lang="en-US" altLang="zh-CN" sz="2000" dirty="0">
                <a:solidFill>
                  <a:schemeClr val="bg1"/>
                </a:solidFill>
              </a:rPr>
              <a:t>), </a:t>
            </a:r>
            <a:r>
              <a:rPr lang="en-US" altLang="zh-CN" sz="2000" i="1" dirty="0">
                <a:solidFill>
                  <a:schemeClr val="bg1"/>
                </a:solidFill>
              </a:rPr>
              <a:t>p</a:t>
            </a:r>
            <a:r>
              <a:rPr lang="en-US" altLang="zh-CN" sz="2000" baseline="-25000" dirty="0">
                <a:solidFill>
                  <a:schemeClr val="bg1"/>
                </a:solidFill>
              </a:rPr>
              <a:t>1</a:t>
            </a:r>
            <a:r>
              <a:rPr lang="en-US" altLang="zh-CN" sz="2000" dirty="0">
                <a:solidFill>
                  <a:schemeClr val="bg1"/>
                </a:solidFill>
              </a:rPr>
              <a:t>,</a:t>
            </a:r>
            <a:r>
              <a:rPr lang="en-US" altLang="zh-CN" sz="2000" i="1" dirty="0">
                <a:solidFill>
                  <a:schemeClr val="bg1"/>
                </a:solidFill>
              </a:rPr>
              <a:t>p</a:t>
            </a:r>
            <a:r>
              <a:rPr lang="en-US" altLang="zh-CN" sz="2000" baseline="-25000" dirty="0">
                <a:solidFill>
                  <a:schemeClr val="bg1"/>
                </a:solidFill>
              </a:rPr>
              <a:t>2</a:t>
            </a:r>
            <a:r>
              <a:rPr lang="en-US" altLang="zh-CN" sz="2000" dirty="0">
                <a:solidFill>
                  <a:schemeClr val="bg1"/>
                </a:solidFill>
              </a:rPr>
              <a:t>,…,</a:t>
            </a:r>
            <a:r>
              <a:rPr lang="en-US" altLang="zh-CN" sz="2000" i="1" dirty="0" err="1">
                <a:solidFill>
                  <a:schemeClr val="bg1"/>
                </a:solidFill>
              </a:rPr>
              <a:t>p</a:t>
            </a:r>
            <a:r>
              <a:rPr lang="en-US" altLang="zh-CN" sz="2000" i="1" baseline="-25000" dirty="0" err="1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是公式中的</a:t>
            </a:r>
            <a:r>
              <a:rPr lang="en-US" altLang="zh-CN" sz="2000" i="1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个命题变量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utoUpdateAnimBg="0"/>
      <p:bldP spid="4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9BB6AC8-FE35-4CD7-BA59-7FB6061908D2}"/>
              </a:ext>
            </a:extLst>
          </p:cNvPr>
          <p:cNvSpPr txBox="1">
            <a:spLocks noChangeArrowheads="1"/>
          </p:cNvSpPr>
          <p:nvPr/>
        </p:nvSpPr>
        <p:spPr>
          <a:xfrm>
            <a:off x="473769" y="1755130"/>
            <a:ext cx="11521280" cy="47529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90000"/>
              </a:lnSpc>
              <a:defRPr/>
            </a:pPr>
            <a:r>
              <a:rPr lang="zh-CN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和命题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/>
              <a:t>     </a:t>
            </a:r>
            <a:r>
              <a:rPr kumimoji="0" lang="zh-CN" altLang="zh-CN" sz="2400" b="0" kern="0" dirty="0"/>
              <a:t>命题公式是符号串，</a:t>
            </a:r>
            <a:r>
              <a:rPr kumimoji="0" lang="zh-CN" altLang="en-US" sz="2400" b="0" kern="0" dirty="0"/>
              <a:t>表示</a:t>
            </a:r>
            <a:r>
              <a:rPr kumimoji="0" lang="zh-CN" altLang="zh-CN" sz="2400" b="0" kern="0" dirty="0"/>
              <a:t>一类命题的</a:t>
            </a:r>
            <a:r>
              <a:rPr kumimoji="0" lang="zh-CN" altLang="en-US" sz="2400" b="0" kern="0" dirty="0"/>
              <a:t>组成</a:t>
            </a:r>
            <a:r>
              <a:rPr kumimoji="0" lang="zh-CN" altLang="zh-CN" sz="2400" b="0" kern="0" dirty="0"/>
              <a:t>结构</a:t>
            </a:r>
            <a:endParaRPr kumimoji="0" lang="zh-CN" altLang="en-US" sz="2400" b="0" kern="0" dirty="0"/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/>
              <a:t>     </a:t>
            </a:r>
            <a:r>
              <a:rPr kumimoji="0" lang="zh-CN" altLang="zh-CN" sz="2400" b="0" kern="0" dirty="0"/>
              <a:t>命题公式不是命题</a:t>
            </a:r>
            <a:r>
              <a:rPr kumimoji="0" lang="zh-CN" altLang="en-US" sz="2400" b="0" kern="0" dirty="0"/>
              <a:t>，</a:t>
            </a:r>
            <a:r>
              <a:rPr kumimoji="0" lang="zh-CN" altLang="zh-CN" sz="2400" b="0" kern="0" dirty="0"/>
              <a:t>当其中所有</a:t>
            </a:r>
            <a:r>
              <a:rPr kumimoji="0" lang="zh-CN" altLang="en-US" sz="2400" b="0" kern="0" dirty="0"/>
              <a:t>的</a:t>
            </a:r>
            <a:r>
              <a:rPr kumimoji="0" lang="zh-CN" altLang="zh-CN" sz="2400" b="0" kern="0" dirty="0"/>
              <a:t>命题变量都替换为具体命题后，</a:t>
            </a:r>
            <a:r>
              <a:rPr kumimoji="0" lang="zh-CN" altLang="en-US" sz="2400" b="0" kern="0" dirty="0"/>
              <a:t>它</a:t>
            </a:r>
            <a:r>
              <a:rPr kumimoji="0" lang="zh-CN" altLang="zh-CN" sz="2400" b="0" kern="0" dirty="0"/>
              <a:t>转化</a:t>
            </a:r>
            <a:r>
              <a:rPr kumimoji="0" lang="zh-CN" altLang="en-US" sz="2400" b="0" kern="0" dirty="0"/>
              <a:t>为</a:t>
            </a:r>
            <a:r>
              <a:rPr kumimoji="0" lang="zh-CN" altLang="zh-CN" sz="2400" b="0" kern="0" dirty="0"/>
              <a:t>命题</a:t>
            </a:r>
            <a:endParaRPr kumimoji="0" lang="zh-CN" altLang="en-US" sz="2400" b="0" kern="0" dirty="0"/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/>
              <a:t>     类比代数公式和实数值</a:t>
            </a:r>
          </a:p>
          <a:p>
            <a:pPr marL="0" indent="0" algn="just" eaLnBrk="1" hangingPunct="1">
              <a:lnSpc>
                <a:spcPct val="90000"/>
              </a:lnSpc>
              <a:defRPr/>
            </a:pPr>
            <a:r>
              <a:rPr kumimoji="0" lang="zh-CN" altLang="zh-CN" sz="2800" b="1" kern="0" dirty="0"/>
              <a:t>例</a:t>
            </a:r>
            <a:endParaRPr kumimoji="0" lang="zh-CN" altLang="en-US" sz="2800" b="1" kern="0" dirty="0"/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/>
              <a:t>    </a:t>
            </a:r>
            <a:r>
              <a:rPr kumimoji="0" lang="zh-CN" altLang="zh-CN" sz="2400" b="0" kern="0" dirty="0"/>
              <a:t>公式</a:t>
            </a:r>
            <a:r>
              <a:rPr kumimoji="0" lang="en-US" altLang="zh-CN" sz="2400" b="0" kern="0" dirty="0" err="1"/>
              <a:t>p→q</a:t>
            </a:r>
            <a:r>
              <a:rPr kumimoji="0" lang="zh-CN" altLang="en-US" sz="2400" b="0" kern="0" dirty="0"/>
              <a:t>，非命题，表示命题的一种形式结构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/>
              <a:t>（</a:t>
            </a:r>
            <a:r>
              <a:rPr kumimoji="0" lang="en-US" altLang="zh-CN" sz="2400" b="0" kern="0" dirty="0"/>
              <a:t>1</a:t>
            </a:r>
            <a:r>
              <a:rPr kumimoji="0" lang="zh-CN" altLang="en-US" sz="2400" b="0" kern="0" dirty="0"/>
              <a:t>）</a:t>
            </a:r>
            <a:r>
              <a:rPr kumimoji="0" lang="en-US" altLang="zh-CN" sz="2400" b="0" kern="0" dirty="0"/>
              <a:t>p</a:t>
            </a:r>
            <a:r>
              <a:rPr kumimoji="0" lang="zh-CN" altLang="en-US" sz="2400" b="0" kern="0" dirty="0"/>
              <a:t>：今天天气晴朗，</a:t>
            </a:r>
            <a:r>
              <a:rPr kumimoji="0" lang="en-US" altLang="zh-CN" sz="2400" b="0" kern="0" dirty="0"/>
              <a:t>q</a:t>
            </a:r>
            <a:r>
              <a:rPr kumimoji="0" lang="zh-CN" altLang="en-US" sz="2400" b="0" kern="0" dirty="0"/>
              <a:t>：我们去野炊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/>
              <a:t>          </a:t>
            </a:r>
            <a:r>
              <a:rPr kumimoji="0" lang="en-US" altLang="zh-CN" sz="2400" b="0" kern="0" dirty="0" err="1"/>
              <a:t>p→q</a:t>
            </a:r>
            <a:r>
              <a:rPr kumimoji="0" lang="zh-CN" altLang="en-US" sz="2400" b="0" kern="0" dirty="0"/>
              <a:t>表示命题：如果天气晴朗，那么我们去野炊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/>
              <a:t>（</a:t>
            </a:r>
            <a:r>
              <a:rPr kumimoji="0" lang="en-US" altLang="zh-CN" sz="2400" b="0" kern="0" dirty="0"/>
              <a:t>2</a:t>
            </a:r>
            <a:r>
              <a:rPr kumimoji="0" lang="zh-CN" altLang="en-US" sz="2400" b="0" kern="0" dirty="0"/>
              <a:t>）</a:t>
            </a:r>
            <a:r>
              <a:rPr kumimoji="0" lang="en-US" altLang="zh-CN" sz="2400" b="0" kern="0" dirty="0"/>
              <a:t>p</a:t>
            </a:r>
            <a:r>
              <a:rPr kumimoji="0" lang="zh-CN" altLang="en-US" sz="2400" b="0" kern="0" dirty="0"/>
              <a:t>：我学习成绩好，</a:t>
            </a:r>
            <a:r>
              <a:rPr kumimoji="0" lang="en-US" altLang="zh-CN" sz="2400" b="0" kern="0" dirty="0"/>
              <a:t>q</a:t>
            </a:r>
            <a:r>
              <a:rPr kumimoji="0" lang="zh-CN" altLang="en-US" sz="2400" b="0" kern="0" dirty="0"/>
              <a:t>：我当选学习委员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/>
              <a:t>          </a:t>
            </a:r>
            <a:r>
              <a:rPr kumimoji="0" lang="en-US" altLang="zh-CN" sz="2400" b="0" kern="0" dirty="0" err="1"/>
              <a:t>p→q</a:t>
            </a:r>
            <a:r>
              <a:rPr kumimoji="0" lang="zh-CN" altLang="en-US" sz="2400" b="0" kern="0" dirty="0"/>
              <a:t>表示命题：如果我学习成绩好，那么我当选学习委员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AE1593-555B-4DDB-B4AC-F49B0DF213EB}"/>
              </a:ext>
            </a:extLst>
          </p:cNvPr>
          <p:cNvSpPr txBox="1"/>
          <p:nvPr/>
        </p:nvSpPr>
        <p:spPr>
          <a:xfrm>
            <a:off x="5951984" y="1124744"/>
            <a:ext cx="6093618" cy="990528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</a:pP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数理逻辑关心复合命题的结构</a:t>
            </a:r>
            <a:r>
              <a:rPr lang="en-US" altLang="zh-CN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不研究原子命题本身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语义上没有关联的原子命题也可以复合成命题</a:t>
            </a:r>
            <a:r>
              <a:rPr lang="en-US" altLang="zh-CN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其真值由组成它的原子命题的真值唯一确定</a:t>
            </a:r>
          </a:p>
        </p:txBody>
      </p:sp>
    </p:spTree>
    <p:extLst>
      <p:ext uri="{BB962C8B-B14F-4D97-AF65-F5344CB8AC3E}">
        <p14:creationId xmlns:p14="http://schemas.microsoft.com/office/powerpoint/2010/main" val="241478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839416" y="2271639"/>
            <a:ext cx="10801199" cy="143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设在命题公式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中出现的所有命题变量为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i="1" baseline="-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给它们各指定一个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真值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称为对公式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的一个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赋值</a:t>
            </a:r>
            <a:r>
              <a:rPr lang="en-US" altLang="zh-CN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或解释</a:t>
            </a:r>
            <a:r>
              <a:rPr lang="en-US" altLang="zh-CN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若一个赋值使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的真值为</a:t>
            </a:r>
            <a:r>
              <a:rPr lang="en-US" altLang="zh-CN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则称该赋值为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成真赋值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否则称为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成假赋值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407368" y="3937780"/>
            <a:ext cx="10801199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注：设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中的变量为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 err="1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i="1" baseline="-30000" dirty="0" err="1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的赋值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…,</a:t>
            </a:r>
            <a:r>
              <a:rPr lang="en-US" altLang="zh-CN" sz="2200" b="0" i="1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i="1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是指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=a</a:t>
            </a:r>
            <a:r>
              <a:rPr lang="en-US" altLang="zh-CN" sz="2200" b="0" baseline="-25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baseline="-25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=a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 err="1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i="1" baseline="-30000" dirty="0" err="1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=a</a:t>
            </a:r>
            <a:r>
              <a:rPr lang="en-US" altLang="zh-CN" sz="2200" b="0" i="1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</a:p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i="1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baseline="-3000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 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(</a:t>
            </a:r>
            <a:r>
              <a:rPr lang="en-US" altLang="zh-CN" sz="2200" b="0" i="1" dirty="0" err="1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1,2,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</a:t>
            </a:r>
            <a:r>
              <a:rPr lang="en-US" altLang="zh-CN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chemeClr val="accent5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      </a:t>
            </a:r>
          </a:p>
        </p:txBody>
      </p:sp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262475" y="5222944"/>
            <a:ext cx="8039996" cy="521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例如：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公式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(┐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endParaRPr lang="zh-CN" altLang="en-US" sz="20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5197885" y="5289719"/>
            <a:ext cx="5762682" cy="453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000 (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i="1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i="1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110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</a:t>
            </a:r>
          </a:p>
        </p:txBody>
      </p:sp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4975041" y="5729108"/>
            <a:ext cx="5985526" cy="453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001(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=0,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=0,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baseline="-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011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</a:t>
            </a:r>
          </a:p>
        </p:txBody>
      </p:sp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9408368" y="5316297"/>
            <a:ext cx="21223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成真赋值</a:t>
            </a:r>
            <a:r>
              <a:rPr lang="en-US" altLang="zh-CN" sz="20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000" b="0" dirty="0">
              <a:solidFill>
                <a:srgbClr val="FFC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9428099" y="5769563"/>
            <a:ext cx="21223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成假赋值。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49162" y="1681644"/>
            <a:ext cx="91312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3.1.3 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赋值</a:t>
            </a:r>
            <a:endParaRPr lang="zh-CN" altLang="en-US" sz="28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3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3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uiExpand="1" build="p" autoUpdateAnimBg="0"/>
      <p:bldP spid="93187" grpId="0" uiExpand="1" build="p" autoUpdateAnimBg="0"/>
      <p:bldP spid="93188" grpId="0" build="p" autoUpdateAnimBg="0"/>
      <p:bldP spid="93189" grpId="0" build="p" autoUpdateAnimBg="0"/>
      <p:bldP spid="93190" grpId="0" build="p" autoUpdateAnimBg="0"/>
      <p:bldP spid="93191" grpId="0"/>
      <p:bldP spid="93192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804068" y="2060848"/>
            <a:ext cx="10836547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82880" indent="-317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将命题公式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在所有赋值下的取值情况列成表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的真值表。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含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个命题变量的公式共有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i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个不同的赋值。构造真值表的一般步骤如下：</a:t>
            </a:r>
          </a:p>
          <a:p>
            <a:pPr lvl="1" algn="just" eaLnBrk="1" hangingPunct="1">
              <a:lnSpc>
                <a:spcPct val="150000"/>
              </a:lnSpc>
              <a:spcBef>
                <a:spcPts val="1200"/>
              </a:spcBef>
              <a:buFontTx/>
              <a:buAutoNum type="arabicParenBoth"/>
            </a:pPr>
            <a:r>
              <a:rPr lang="zh-CN" altLang="en-US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列出命题公式中的所有命题变量 </a:t>
            </a:r>
            <a:r>
              <a:rPr lang="en-US" altLang="zh-CN" sz="22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baseline="-300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baseline="-300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baseline="-300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baseline="-300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200" b="0" i="1" baseline="-300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 err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i="1" baseline="-30000" dirty="0" err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zh-CN" altLang="en-US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无下标时按字典序排列</a:t>
            </a:r>
            <a:r>
              <a:rPr lang="en-US" altLang="zh-CN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。列出这些变量的所有</a:t>
            </a:r>
            <a:r>
              <a:rPr lang="en-US" altLang="zh-CN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i="1" baseline="300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baseline="300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个赋值。一般从</a:t>
            </a:r>
            <a:r>
              <a:rPr lang="en-US" altLang="zh-CN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00…0</a:t>
            </a:r>
            <a:r>
              <a:rPr lang="zh-CN" altLang="en-US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开始</a:t>
            </a:r>
            <a:r>
              <a:rPr lang="en-US" altLang="zh-CN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按二进制加法依次列到</a:t>
            </a:r>
            <a:r>
              <a:rPr lang="en-US" altLang="zh-CN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11…1</a:t>
            </a:r>
            <a:r>
              <a:rPr lang="zh-CN" altLang="en-US" sz="22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为止。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2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2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按从低到高的顺序依次列出公式的各个层。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2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2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对应于变量的</a:t>
            </a:r>
            <a:r>
              <a:rPr lang="en-US" altLang="zh-CN" sz="22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i="1" baseline="300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baseline="300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个赋值分别计算出各层的真值</a:t>
            </a:r>
            <a:r>
              <a:rPr lang="en-US" altLang="zh-CN" sz="22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直至算出公式的真值。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5360" y="1590081"/>
            <a:ext cx="3960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真值表</a:t>
            </a:r>
            <a:endParaRPr lang="zh-CN" altLang="en-US" sz="28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39"/>
                            </p:stCondLst>
                            <p:childTnLst>
                              <p:par>
                                <p:cTn id="22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920"/>
                            </p:stCondLst>
                            <p:childTnLst>
                              <p:par>
                                <p:cTn id="28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880"/>
                            </p:stCondLst>
                            <p:childTnLst>
                              <p:par>
                                <p:cTn id="34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517053" y="1717885"/>
            <a:ext cx="102012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3.1.10  </a:t>
            </a: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写出下列公式的真值表</a:t>
            </a:r>
            <a:r>
              <a:rPr lang="en-US" altLang="zh-CN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并求它们的成真、成假赋值。   </a:t>
            </a:r>
          </a:p>
        </p:txBody>
      </p:sp>
      <p:graphicFrame>
        <p:nvGraphicFramePr>
          <p:cNvPr id="95237" name="Group 5"/>
          <p:cNvGraphicFramePr>
            <a:graphicFrameLocks noGrp="1"/>
          </p:cNvGraphicFramePr>
          <p:nvPr/>
        </p:nvGraphicFramePr>
        <p:xfrm>
          <a:off x="3507904" y="2960159"/>
          <a:ext cx="8153400" cy="3549650"/>
        </p:xfrm>
        <a:graphic>
          <a:graphicData uri="http://schemas.openxmlformats.org/drawingml/2006/table">
            <a:tbl>
              <a:tblPr/>
              <a:tblGrid>
                <a:gridCol w="16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    q    r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endParaRPr kumimoji="1" lang="en-US" altLang="zh-CN" sz="2400" b="1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(┐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)→┐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5257" name="Text Box 25"/>
          <p:cNvSpPr txBox="1">
            <a:spLocks noChangeArrowheads="1"/>
          </p:cNvSpPr>
          <p:nvPr/>
        </p:nvSpPr>
        <p:spPr bwMode="auto">
          <a:xfrm>
            <a:off x="3431704" y="2407710"/>
            <a:ext cx="7848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          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(┐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)→┐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的真值表 </a:t>
            </a:r>
          </a:p>
        </p:txBody>
      </p:sp>
      <p:sp>
        <p:nvSpPr>
          <p:cNvPr id="95258" name="Rectangle 26"/>
          <p:cNvSpPr>
            <a:spLocks noChangeArrowheads="1"/>
          </p:cNvSpPr>
          <p:nvPr/>
        </p:nvSpPr>
        <p:spPr bwMode="auto">
          <a:xfrm>
            <a:off x="5751043" y="3482448"/>
            <a:ext cx="287337" cy="290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95259" name="Rectangle 27"/>
          <p:cNvSpPr>
            <a:spLocks noChangeArrowheads="1"/>
          </p:cNvSpPr>
          <p:nvPr/>
        </p:nvSpPr>
        <p:spPr bwMode="auto">
          <a:xfrm>
            <a:off x="3877792" y="3434823"/>
            <a:ext cx="977900" cy="290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0    0    0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0    0    1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0    1    0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0    1    1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1    0    0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1    0    1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1    1    0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1    1    1</a:t>
            </a:r>
          </a:p>
        </p:txBody>
      </p:sp>
      <p:sp>
        <p:nvSpPr>
          <p:cNvPr id="95261" name="Rectangle 29"/>
          <p:cNvSpPr>
            <a:spLocks noChangeArrowheads="1"/>
          </p:cNvSpPr>
          <p:nvPr/>
        </p:nvSpPr>
        <p:spPr bwMode="auto">
          <a:xfrm>
            <a:off x="7335368" y="3482448"/>
            <a:ext cx="320675" cy="290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95262" name="Rectangle 30"/>
          <p:cNvSpPr>
            <a:spLocks noChangeArrowheads="1"/>
          </p:cNvSpPr>
          <p:nvPr/>
        </p:nvSpPr>
        <p:spPr bwMode="auto">
          <a:xfrm>
            <a:off x="8846668" y="3506259"/>
            <a:ext cx="269875" cy="290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95264" name="Rectangle 32"/>
          <p:cNvSpPr>
            <a:spLocks noChangeArrowheads="1"/>
          </p:cNvSpPr>
          <p:nvPr/>
        </p:nvSpPr>
        <p:spPr bwMode="auto">
          <a:xfrm>
            <a:off x="10478617" y="3482448"/>
            <a:ext cx="239712" cy="290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95269" name="Group 37"/>
          <p:cNvGrpSpPr/>
          <p:nvPr/>
        </p:nvGrpSpPr>
        <p:grpSpPr bwMode="auto">
          <a:xfrm>
            <a:off x="4195293" y="3458635"/>
            <a:ext cx="1843087" cy="2951163"/>
            <a:chOff x="721" y="1994"/>
            <a:chExt cx="1161" cy="1859"/>
          </a:xfrm>
        </p:grpSpPr>
        <p:sp>
          <p:nvSpPr>
            <p:cNvPr id="47140" name="Rectangle 33"/>
            <p:cNvSpPr>
              <a:spLocks noChangeArrowheads="1"/>
            </p:cNvSpPr>
            <p:nvPr/>
          </p:nvSpPr>
          <p:spPr bwMode="auto">
            <a:xfrm>
              <a:off x="1701" y="2009"/>
              <a:ext cx="181" cy="184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6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1" name="Rectangle 34"/>
            <p:cNvSpPr>
              <a:spLocks noChangeArrowheads="1"/>
            </p:cNvSpPr>
            <p:nvPr/>
          </p:nvSpPr>
          <p:spPr bwMode="auto">
            <a:xfrm>
              <a:off x="721" y="1994"/>
              <a:ext cx="181" cy="184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6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5270" name="Group 38"/>
          <p:cNvGrpSpPr/>
          <p:nvPr/>
        </p:nvGrpSpPr>
        <p:grpSpPr bwMode="auto">
          <a:xfrm>
            <a:off x="7335368" y="3434822"/>
            <a:ext cx="1798637" cy="2927350"/>
            <a:chOff x="2699" y="1979"/>
            <a:chExt cx="1133" cy="1844"/>
          </a:xfrm>
        </p:grpSpPr>
        <p:sp>
          <p:nvSpPr>
            <p:cNvPr id="47138" name="Rectangle 35"/>
            <p:cNvSpPr>
              <a:spLocks noChangeArrowheads="1"/>
            </p:cNvSpPr>
            <p:nvPr/>
          </p:nvSpPr>
          <p:spPr bwMode="auto">
            <a:xfrm>
              <a:off x="2699" y="1979"/>
              <a:ext cx="181" cy="184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6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9" name="Rectangle 36"/>
            <p:cNvSpPr>
              <a:spLocks noChangeArrowheads="1"/>
            </p:cNvSpPr>
            <p:nvPr/>
          </p:nvSpPr>
          <p:spPr bwMode="auto">
            <a:xfrm>
              <a:off x="3651" y="1979"/>
              <a:ext cx="181" cy="184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6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5271" name="Rectangle 39"/>
          <p:cNvSpPr>
            <a:spLocks noChangeArrowheads="1"/>
          </p:cNvSpPr>
          <p:nvPr/>
        </p:nvSpPr>
        <p:spPr bwMode="auto">
          <a:xfrm>
            <a:off x="3820642" y="3468159"/>
            <a:ext cx="317500" cy="29273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72" name="Rectangle 40"/>
          <p:cNvSpPr>
            <a:spLocks noChangeArrowheads="1"/>
          </p:cNvSpPr>
          <p:nvPr/>
        </p:nvSpPr>
        <p:spPr bwMode="auto">
          <a:xfrm>
            <a:off x="4511204" y="3468159"/>
            <a:ext cx="317500" cy="29273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478682" y="2330853"/>
            <a:ext cx="324036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(1)(┐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)→┐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; 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(2)(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∧┐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cs typeface="Arial" panose="020B0604020202020204" pitchFamily="34" charset="0"/>
              </a:rPr>
              <a:t>↔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∧┐</a:t>
            </a:r>
            <a:r>
              <a:rPr lang="en-US" altLang="zh-CN" sz="2400" i="1" dirty="0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);  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(3) ┐(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</a:rPr>
              <a:t>→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)∧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endParaRPr lang="en-US" altLang="zh-CN" sz="2400" i="1" dirty="0">
              <a:latin typeface="Times New Roman" panose="02020603050405020304" pitchFamily="18" charset="0"/>
            </a:endParaRP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19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19"/>
                            </p:stCondLst>
                            <p:childTnLst>
                              <p:par>
                                <p:cTn id="1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19"/>
                            </p:stCondLst>
                            <p:childTnLst>
                              <p:par>
                                <p:cTn id="2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5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95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95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95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95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8" dur="80"/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9" dur="80"/>
                                        <p:tgtEl>
                                          <p:spTgt spid="95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80"/>
                                        <p:tgtEl>
                                          <p:spTgt spid="95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95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95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95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95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0" dur="80"/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1" dur="80"/>
                                        <p:tgtEl>
                                          <p:spTgt spid="952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80"/>
                                        <p:tgtEl>
                                          <p:spTgt spid="952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 autoUpdateAnimBg="0"/>
      <p:bldP spid="95257" grpId="0" build="p" autoUpdateAnimBg="0"/>
      <p:bldP spid="95258" grpId="0"/>
      <p:bldP spid="95259" grpId="0"/>
      <p:bldP spid="95261" grpId="0"/>
      <p:bldP spid="95262" grpId="0"/>
      <p:bldP spid="95264" grpId="0"/>
      <p:bldP spid="95271" grpId="0" animBg="1"/>
      <p:bldP spid="95271" grpId="1" animBg="1"/>
      <p:bldP spid="95272" grpId="0" animBg="1"/>
      <p:bldP spid="95272" grpId="1" animBg="1"/>
      <p:bldP spid="23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435100" y="2472556"/>
            <a:ext cx="830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(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)↔(</a:t>
            </a:r>
            <a:r>
              <a:rPr lang="en-US" altLang="zh-CN" sz="2400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400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的真值表 </a:t>
            </a:r>
          </a:p>
        </p:txBody>
      </p:sp>
      <p:graphicFrame>
        <p:nvGraphicFramePr>
          <p:cNvPr id="96377" name="Group 121"/>
          <p:cNvGraphicFramePr>
            <a:graphicFrameLocks noGrp="1"/>
          </p:cNvGraphicFramePr>
          <p:nvPr/>
        </p:nvGraphicFramePr>
        <p:xfrm>
          <a:off x="1739900" y="3093268"/>
          <a:ext cx="8930952" cy="2652712"/>
        </p:xfrm>
        <a:graphic>
          <a:graphicData uri="http://schemas.openxmlformats.org/drawingml/2006/table">
            <a:tbl>
              <a:tblPr/>
              <a:tblGrid>
                <a:gridCol w="123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4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27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32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    q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↔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∧┐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6463" name="Group 207"/>
          <p:cNvGraphicFramePr>
            <a:graphicFrameLocks noGrp="1"/>
          </p:cNvGraphicFramePr>
          <p:nvPr/>
        </p:nvGraphicFramePr>
        <p:xfrm>
          <a:off x="9015413" y="3953693"/>
          <a:ext cx="485775" cy="1828800"/>
        </p:xfrm>
        <a:graphic>
          <a:graphicData uri="http://schemas.openxmlformats.org/drawingml/2006/table">
            <a:tbl>
              <a:tblPr/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539" name="Group 283"/>
          <p:cNvGraphicFramePr>
            <a:graphicFrameLocks noGrp="1"/>
          </p:cNvGraphicFramePr>
          <p:nvPr/>
        </p:nvGraphicFramePr>
        <p:xfrm>
          <a:off x="3025468" y="3910831"/>
          <a:ext cx="838200" cy="1828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566" name="Group 310"/>
          <p:cNvGraphicFramePr>
            <a:graphicFrameLocks noGrp="1"/>
          </p:cNvGraphicFramePr>
          <p:nvPr/>
        </p:nvGraphicFramePr>
        <p:xfrm>
          <a:off x="3948437" y="3947945"/>
          <a:ext cx="914400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625" name="Group 369"/>
          <p:cNvGraphicFramePr>
            <a:graphicFrameLocks noGrp="1"/>
          </p:cNvGraphicFramePr>
          <p:nvPr/>
        </p:nvGraphicFramePr>
        <p:xfrm>
          <a:off x="5032376" y="3953693"/>
          <a:ext cx="137160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618" name="Group 362"/>
          <p:cNvGraphicFramePr>
            <a:graphicFrameLocks noGrp="1"/>
          </p:cNvGraphicFramePr>
          <p:nvPr/>
        </p:nvGraphicFramePr>
        <p:xfrm>
          <a:off x="6684963" y="3910831"/>
          <a:ext cx="1249363" cy="1828800"/>
        </p:xfrm>
        <a:graphic>
          <a:graphicData uri="http://schemas.openxmlformats.org/drawingml/2006/table">
            <a:tbl>
              <a:tblPr/>
              <a:tblGrid>
                <a:gridCol w="1249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04" name="Text Box 48"/>
          <p:cNvSpPr txBox="1">
            <a:spLocks noChangeArrowheads="1"/>
          </p:cNvSpPr>
          <p:nvPr/>
        </p:nvSpPr>
        <p:spPr bwMode="auto">
          <a:xfrm>
            <a:off x="1812925" y="1598886"/>
            <a:ext cx="861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 ┐(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的真值表 </a:t>
            </a:r>
          </a:p>
        </p:txBody>
      </p:sp>
      <p:graphicFrame>
        <p:nvGraphicFramePr>
          <p:cNvPr id="96378" name="Group 122"/>
          <p:cNvGraphicFramePr>
            <a:graphicFrameLocks noGrp="1"/>
          </p:cNvGraphicFramePr>
          <p:nvPr/>
        </p:nvGraphicFramePr>
        <p:xfrm>
          <a:off x="1812925" y="2159075"/>
          <a:ext cx="8610600" cy="4114800"/>
        </p:xfrm>
        <a:graphic>
          <a:graphicData uri="http://schemas.openxmlformats.org/drawingml/2006/table">
            <a:tbl>
              <a:tblPr/>
              <a:tblGrid>
                <a:gridCol w="153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5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6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    q    r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kumimoji="1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kumimoji="1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┐(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→q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┐(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)∧</a:t>
                      </a:r>
                      <a:r>
                        <a:rPr kumimoji="1" lang="en-US" altLang="zh-CN" sz="2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┐(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)∧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</a:t>
                      </a:r>
                      <a:r>
                        <a:rPr kumimoji="1" lang="en-US" altLang="zh-CN" sz="2400" b="1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</a:t>
                      </a:r>
                      <a:endParaRPr kumimoji="1" lang="en-US" altLang="zh-CN" sz="2400" b="1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6677" name="Group 421"/>
          <p:cNvGraphicFramePr>
            <a:graphicFrameLocks noGrp="1"/>
          </p:cNvGraphicFramePr>
          <p:nvPr/>
        </p:nvGraphicFramePr>
        <p:xfrm>
          <a:off x="3563938" y="2636912"/>
          <a:ext cx="1066800" cy="36576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600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6728" name="Group 472"/>
          <p:cNvGraphicFramePr>
            <a:graphicFrameLocks noGrp="1"/>
          </p:cNvGraphicFramePr>
          <p:nvPr/>
        </p:nvGraphicFramePr>
        <p:xfrm>
          <a:off x="4572000" y="2636912"/>
          <a:ext cx="1524000" cy="36576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6779" name="Group 523"/>
          <p:cNvGraphicFramePr>
            <a:graphicFrameLocks noGrp="1"/>
          </p:cNvGraphicFramePr>
          <p:nvPr/>
        </p:nvGraphicFramePr>
        <p:xfrm>
          <a:off x="6156325" y="2636912"/>
          <a:ext cx="1752600" cy="36576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6828" name="Group 572"/>
          <p:cNvGraphicFramePr>
            <a:graphicFrameLocks noGrp="1"/>
          </p:cNvGraphicFramePr>
          <p:nvPr/>
        </p:nvGraphicFramePr>
        <p:xfrm>
          <a:off x="7885113" y="2636912"/>
          <a:ext cx="1981200" cy="36576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0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1055440" y="2276872"/>
            <a:ext cx="8686800" cy="2617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是一个命题公式。</a:t>
            </a:r>
          </a:p>
          <a:p>
            <a:pPr lvl="1" algn="just">
              <a:lnSpc>
                <a:spcPct val="150000"/>
              </a:lnSpc>
              <a:spcBef>
                <a:spcPct val="50000"/>
              </a:spcBef>
              <a:buFontTx/>
              <a:buAutoNum type="arabicParenBoth"/>
            </a:pP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若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在各种赋值下取值总为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则称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永真式或重言式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lvl="1" algn="just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在各种赋值下取值总为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则称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永假式或矛盾式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lvl="1" algn="just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不是矛盾式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则称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可满足式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    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5360" y="1681644"/>
            <a:ext cx="4680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3.1.4 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公式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分类</a:t>
            </a:r>
            <a:endParaRPr lang="zh-CN" altLang="en-US" sz="28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build="p" autoUpdateAnimBg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479376" y="1700808"/>
            <a:ext cx="9793088" cy="3904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注：</a:t>
            </a:r>
            <a:endParaRPr lang="en-US" altLang="zh-CN" sz="2400" b="0" dirty="0">
              <a:solidFill>
                <a:schemeClr val="accent5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是可满足式当且仅当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至少存在一个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成真赋值。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重言式必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是可满足式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但反之不真。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可用真值表来判断公式的类型：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  <a:buFontTx/>
              <a:buAutoNum type="arabicParenBoth"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若真值表最后一列全为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则公式为重言式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若真值表最后一列全为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 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则公式为矛盾式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若真值表最后一列至少有一个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则公式为可满足式。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952464" y="1785926"/>
            <a:ext cx="1643074" cy="541337"/>
          </a:xfrm>
        </p:spPr>
        <p:txBody>
          <a:bodyPr/>
          <a:lstStyle/>
          <a:p>
            <a:r>
              <a:rPr lang="en-US" altLang="zh-CN" sz="20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公式分类</a:t>
            </a:r>
            <a:r>
              <a:rPr lang="en-US" altLang="zh-CN" sz="20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dirty="0">
              <a:solidFill>
                <a:srgbClr val="FF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79"/>
                            </p:stCondLst>
                            <p:childTnLst>
                              <p:par>
                                <p:cTn id="33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20"/>
                            </p:stCondLst>
                            <p:childTnLst>
                              <p:par>
                                <p:cTn id="39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uiExpand="1" build="p" autoUpdateAnimBg="0"/>
      <p:bldP spid="5120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1199456" y="2492896"/>
            <a:ext cx="10009112" cy="1873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个命题变量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使用联结词和括号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可构成无穷多个命题公式。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个命题变量共有 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i="1" baseline="30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i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个可能的赋值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而在每个赋值下公式只能取值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。因此含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个命题变量的公式其真值表只有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baseline="3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i="1" baseline="6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种可能的情况。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1384" y="1772816"/>
            <a:ext cx="1584176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说明：</a:t>
            </a:r>
            <a:endParaRPr lang="en-US" altLang="zh-CN" sz="2800" b="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695400" y="2225676"/>
            <a:ext cx="8610600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       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┐(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∧┐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algn="just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)∧(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┐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9383" name="Group 55"/>
          <p:cNvGraphicFramePr>
            <a:graphicFrameLocks noGrp="1"/>
          </p:cNvGraphicFramePr>
          <p:nvPr/>
        </p:nvGraphicFramePr>
        <p:xfrm>
          <a:off x="1487488" y="3630967"/>
          <a:ext cx="9505056" cy="1892770"/>
        </p:xfrm>
        <a:graphic>
          <a:graphicData uri="http://schemas.openxmlformats.org/drawingml/2006/table">
            <a:tbl>
              <a:tblPr/>
              <a:tblGrid>
                <a:gridCol w="1227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0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59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   q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kumimoji="1" lang="zh-CN" altLang="en-US" sz="2000" b="1" i="1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↔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1" lang="zh-CN" altLang="en-US" sz="2000" b="1" i="1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┐(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∧┐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∧(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zh-CN" altLang="en-US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∨</a:t>
                      </a:r>
                      <a:r>
                        <a:rPr kumimoji="1" lang="en-US" altLang="zh-CN" sz="2000" b="1" i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1" lang="zh-CN" altLang="en-US" sz="2000" b="1" i="1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7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7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</a:p>
                  </a:txBody>
                  <a:tcPr marT="45736" marB="45736" horzOverflow="overflow">
                    <a:lnL cap="flat">
                      <a:noFill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9377" name="Text Box 49"/>
          <p:cNvSpPr txBox="1">
            <a:spLocks noChangeArrowheads="1"/>
          </p:cNvSpPr>
          <p:nvPr/>
        </p:nvSpPr>
        <p:spPr bwMode="auto">
          <a:xfrm>
            <a:off x="1631504" y="3150971"/>
            <a:ext cx="655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                                       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个公式的真值表 </a:t>
            </a:r>
          </a:p>
        </p:txBody>
      </p:sp>
      <p:sp>
        <p:nvSpPr>
          <p:cNvPr id="99378" name="Text Box 50"/>
          <p:cNvSpPr txBox="1">
            <a:spLocks noChangeArrowheads="1"/>
          </p:cNvSpPr>
          <p:nvPr/>
        </p:nvSpPr>
        <p:spPr bwMode="auto">
          <a:xfrm>
            <a:off x="1631504" y="5598919"/>
            <a:ext cx="8534400" cy="450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从上表可见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与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┐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zh-CN" altLang="en-US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”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有相同的真值表。</a:t>
            </a:r>
          </a:p>
        </p:txBody>
      </p:sp>
      <p:graphicFrame>
        <p:nvGraphicFramePr>
          <p:cNvPr id="99410" name="Group 82"/>
          <p:cNvGraphicFramePr>
            <a:graphicFrameLocks noGrp="1"/>
          </p:cNvGraphicFramePr>
          <p:nvPr/>
        </p:nvGraphicFramePr>
        <p:xfrm>
          <a:off x="3052884" y="4165395"/>
          <a:ext cx="894161" cy="1373187"/>
        </p:xfrm>
        <a:graphic>
          <a:graphicData uri="http://schemas.openxmlformats.org/drawingml/2006/table">
            <a:tbl>
              <a:tblPr/>
              <a:tblGrid>
                <a:gridCol w="894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82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9437" name="Group 109"/>
          <p:cNvGraphicFramePr>
            <a:graphicFrameLocks noGrp="1"/>
          </p:cNvGraphicFramePr>
          <p:nvPr/>
        </p:nvGraphicFramePr>
        <p:xfrm>
          <a:off x="3863752" y="4105058"/>
          <a:ext cx="882428" cy="1373187"/>
        </p:xfrm>
        <a:graphic>
          <a:graphicData uri="http://schemas.openxmlformats.org/drawingml/2006/table">
            <a:tbl>
              <a:tblPr/>
              <a:tblGrid>
                <a:gridCol w="88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82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9464" name="Group 136"/>
          <p:cNvGraphicFramePr>
            <a:graphicFrameLocks noGrp="1"/>
          </p:cNvGraphicFramePr>
          <p:nvPr/>
        </p:nvGraphicFramePr>
        <p:xfrm>
          <a:off x="5219700" y="4153139"/>
          <a:ext cx="1752600" cy="1373187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82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9491" name="Group 163"/>
          <p:cNvGraphicFramePr>
            <a:graphicFrameLocks noGrp="1"/>
          </p:cNvGraphicFramePr>
          <p:nvPr/>
        </p:nvGraphicFramePr>
        <p:xfrm>
          <a:off x="7237811" y="4214112"/>
          <a:ext cx="2341562" cy="1373074"/>
        </p:xfrm>
        <a:graphic>
          <a:graphicData uri="http://schemas.openxmlformats.org/drawingml/2006/table">
            <a:tbl>
              <a:tblPr/>
              <a:tblGrid>
                <a:gridCol w="2341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82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9516" name="Group 188"/>
          <p:cNvGraphicFramePr>
            <a:graphicFrameLocks noGrp="1"/>
          </p:cNvGraphicFramePr>
          <p:nvPr/>
        </p:nvGraphicFramePr>
        <p:xfrm>
          <a:off x="9660676" y="4226251"/>
          <a:ext cx="1239838" cy="1373187"/>
        </p:xfrm>
        <a:graphic>
          <a:graphicData uri="http://schemas.openxmlformats.org/drawingml/2006/table">
            <a:tbl>
              <a:tblPr/>
              <a:tblGrid>
                <a:gridCol w="1239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5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82">
                <a:tc>
                  <a:txBody>
                    <a:bodyPr/>
                    <a:lstStyle>
                      <a:lvl1pPr marL="1873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3778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562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19812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438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895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352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10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7325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41" marB="4574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9517" name="Rectangle 189"/>
          <p:cNvSpPr>
            <a:spLocks noChangeArrowheads="1"/>
          </p:cNvSpPr>
          <p:nvPr/>
        </p:nvSpPr>
        <p:spPr bwMode="auto">
          <a:xfrm>
            <a:off x="3143672" y="6058165"/>
            <a:ext cx="6059672" cy="450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q”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与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”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有相同的真值表。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407368" y="1618414"/>
            <a:ext cx="76338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3.1.11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下列公式中哪些具有相同的真值表？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0" dur="80"/>
                                        <p:tgtEl>
                                          <p:spTgt spid="995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1" dur="80"/>
                                        <p:tgtEl>
                                          <p:spTgt spid="995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80"/>
                                        <p:tgtEl>
                                          <p:spTgt spid="995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autoUpdateAnimBg="0"/>
      <p:bldP spid="99377" grpId="0"/>
      <p:bldP spid="99378" grpId="0" autoUpdateAnimBg="0"/>
      <p:bldP spid="99517" grpId="0"/>
      <p:bldP spid="1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767409" y="2492896"/>
            <a:ext cx="8136904" cy="37444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某系统的部分规范说明</a:t>
            </a:r>
            <a:r>
              <a:rPr kumimoji="0" lang="en-US" altLang="zh-CN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用自然语言表述</a:t>
            </a:r>
            <a:r>
              <a:rPr kumimoji="0" lang="en-US" altLang="zh-CN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en-US" altLang="zh-CN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诊断消息存储在缓冲区中或被重传</a:t>
            </a:r>
            <a:r>
              <a:rPr kumimoji="0" lang="en-US" altLang="zh-CN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000" b="0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kumimoji="0" lang="en-US" altLang="zh-CN" sz="20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kumimoji="0" lang="en-US" altLang="zh-CN" sz="2000" b="0" i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en-US" altLang="zh-CN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诊断消息未存储在缓冲区中</a:t>
            </a:r>
            <a:r>
              <a:rPr kumimoji="0" lang="en-US" altLang="zh-CN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0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en-US" altLang="zh-CN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如果诊断消息存储在缓冲区中</a:t>
            </a:r>
            <a:r>
              <a:rPr kumimoji="0" lang="en-US" altLang="zh-CN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那么它被重传</a:t>
            </a:r>
            <a:r>
              <a:rPr kumimoji="0" lang="en-US" altLang="zh-CN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000" b="0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kumimoji="0" lang="en-US" altLang="zh-CN" sz="20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kumimoji="0" lang="en-US" altLang="zh-CN" sz="2000" b="0" i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en-US" altLang="zh-CN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0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p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：诊断消息存储在缓冲区中</a:t>
            </a:r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0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2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：诊断消息被重传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规范的一致性：规范中的所有命题公式具有共同的成真赋值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上述规范是一致的 </a:t>
            </a: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0" lang="en-US" altLang="zh-CN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2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200" b="0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kumimoji="0" lang="en-US" altLang="zh-CN" sz="22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kumimoji="0" lang="en-US" altLang="zh-CN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2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kumimoji="0" lang="en-US" altLang="zh-CN" sz="22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200" b="0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kumimoji="0" lang="en-US" altLang="zh-CN" sz="22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可满足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仅当规范说明是一致的</a:t>
            </a:r>
            <a:r>
              <a:rPr kumimoji="0" lang="en-US" altLang="zh-CN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2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才可能开发出满足它的系统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7368" y="1750220"/>
            <a:ext cx="60945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just" eaLnBrk="1" hangingPunct="1">
              <a:spcBef>
                <a:spcPct val="50000"/>
              </a:spcBef>
              <a:buFontTx/>
              <a:buNone/>
              <a:defRPr sz="2400" b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例 数理逻辑在规范说明中的应用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485126" y="1693382"/>
            <a:ext cx="4536504" cy="79951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规范说明：对系统需求的正式说明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数理逻辑：是表达规范说明的手段之一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232400" y="388938"/>
            <a:ext cx="47965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US" altLang="zh-CN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3.1.2 </a:t>
            </a:r>
            <a:r>
              <a:rPr lang="zh-CN" altLang="en-US" sz="3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61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2(1)(2), 11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376" y="1569342"/>
            <a:ext cx="11521280" cy="4486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下列语句哪些是命题？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(1)2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是正数吗？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+1=0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我要上学。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明年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日下雨。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如果股票涨了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那么我就赚钱。</a:t>
            </a: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判断下列命题的真值：</a:t>
            </a: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1+1=3,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2+2=4</a:t>
            </a: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 鸟会飞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 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1+1=3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376" y="1700808"/>
            <a:ext cx="11233248" cy="404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构造一个只含命题变量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的命题公式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满足：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的任意一个赋值是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的成真赋值当且仅当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中恰有两个为真 。</a:t>
            </a:r>
            <a:endParaRPr lang="en-US" altLang="zh-CN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为如下命题：</a:t>
            </a: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：你得流感了</a:t>
            </a: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：你错过了最后的考试</a:t>
            </a: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：这门课你通过了</a:t>
            </a: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请用自然语言表达命题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请将语句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除非你已满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16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周岁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否则只要你身高不足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1.2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米就不能乘公园的滑行铁道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符号化。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P61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2(1)(2), 11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5010</Words>
  <Application>Microsoft Office PowerPoint</Application>
  <PresentationFormat>宽屏</PresentationFormat>
  <Paragraphs>552</Paragraphs>
  <Slides>42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5" baseType="lpstr">
      <vt:lpstr>楷体_GB2312</vt:lpstr>
      <vt:lpstr>宋体</vt:lpstr>
      <vt:lpstr>微软雅黑</vt:lpstr>
      <vt:lpstr>幼圆</vt:lpstr>
      <vt:lpstr>Arial</vt:lpstr>
      <vt:lpstr>Calibri</vt:lpstr>
      <vt:lpstr>Cambria Math</vt:lpstr>
      <vt:lpstr>Garamond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(公式分类)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789</cp:revision>
  <dcterms:created xsi:type="dcterms:W3CDTF">2008-05-09T05:16:00Z</dcterms:created>
  <dcterms:modified xsi:type="dcterms:W3CDTF">2026-03-16T01:54:17Z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F55BE579800041589D23D1604A26296A_12</vt:lpwstr>
  </property>
  <property fmtid="{D5CDD505-2E9C-101B-9397-08002B2CF9AE}" pid="3" name="KSOProductBuildVer">
    <vt:lpwstr>2052-12.1.0.16388</vt:lpwstr>
  </property>
</Properties>
</file>