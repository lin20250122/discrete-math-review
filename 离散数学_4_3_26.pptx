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2"/>
    <p:sldId id="377" r:id="rId3"/>
    <p:sldId id="329" r:id="rId4"/>
    <p:sldId id="473" r:id="rId5"/>
    <p:sldId id="412" r:id="rId6"/>
    <p:sldId id="416" r:id="rId7"/>
    <p:sldId id="417" r:id="rId8"/>
    <p:sldId id="418" r:id="rId9"/>
    <p:sldId id="413" r:id="rId10"/>
    <p:sldId id="414" r:id="rId11"/>
    <p:sldId id="474" r:id="rId12"/>
    <p:sldId id="328" r:id="rId13"/>
    <p:sldId id="330" r:id="rId14"/>
    <p:sldId id="331" r:id="rId15"/>
    <p:sldId id="332" r:id="rId16"/>
    <p:sldId id="333" r:id="rId17"/>
    <p:sldId id="334" r:id="rId18"/>
    <p:sldId id="399" r:id="rId19"/>
  </p:sldIdLst>
  <p:sldSz cx="12192000" cy="6858000"/>
  <p:notesSz cx="6858000" cy="91440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FFCCFF"/>
    <a:srgbClr val="FFCC99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9" d="100"/>
          <a:sy n="79" d="100"/>
        </p:scale>
        <p:origin x="26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128448" y="11309"/>
            <a:ext cx="20177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一阶逻辑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第四章 一阶逻辑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5072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谓词逻辑的推理理论</a:t>
            </a:r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6552728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形式证明</a:t>
            </a:r>
            <a:r>
              <a:rPr lang="en-US" altLang="zh-CN" dirty="0"/>
              <a:t>, </a:t>
            </a:r>
            <a:r>
              <a:rPr lang="zh-CN" altLang="en-US" dirty="0"/>
              <a:t>关于量词的推理规则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73456" y="5301208"/>
            <a:ext cx="4866959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olidFill>
                  <a:srgbClr val="FF7C80"/>
                </a:solidFill>
              </a:rPr>
              <a:t>回忆命题逻辑的推理理论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99456" y="2276872"/>
            <a:ext cx="8642350" cy="396044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两种模型的基本框架相同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400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推理理论的框架、术语、记号基本相同</a:t>
            </a:r>
            <a:r>
              <a:rPr kumimoji="1" lang="en-US" altLang="zh-CN" sz="2400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但内涵有差异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有效推理、前提、结论、形式证明、推理规则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命题公式替换为谓词公式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永真公式替换为有效公式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命题公式等值替换为谓词公式等值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1" lang="zh-CN" altLang="en-US" sz="2400" kern="120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增加涉及量词的推理规则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kern="1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kumimoji="1" lang="zh-CN" altLang="en-US" sz="2400" kern="1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各种结论的证明方法框架类似</a:t>
            </a:r>
            <a:r>
              <a:rPr kumimoji="1" lang="en-US" altLang="zh-CN" sz="2400" kern="1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kern="1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本课程不作讨论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1384" y="1689989"/>
            <a:ext cx="8424936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一阶逻辑的推理理论与命题逻辑相似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8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9376" y="1916832"/>
            <a:ext cx="7272808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buSzPct val="100000"/>
              <a:defRPr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zh-CN" altLang="en-US" dirty="0"/>
              <a:t>命题逻辑</a:t>
            </a:r>
            <a:r>
              <a:rPr lang="zh-CN" altLang="en-US" sz="2800" dirty="0">
                <a:latin typeface="Times New Roman" panose="02020603050405020304" pitchFamily="18" charset="0"/>
              </a:rPr>
              <a:t>的常用推理规则（第三章内容）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40158" y="2421118"/>
            <a:ext cx="54006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置换规则：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假言推理规则：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附加规则：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化简规则：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拒取式规则：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79976" y="2420533"/>
            <a:ext cx="609452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(6)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假言三段论规则：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(7)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析取三段论规则：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(8)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构造性二难推理规则：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endParaRPr lang="en-US" altLang="zh-CN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(9)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破坏性二难推理规则：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合取引入规则：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8F18672-659D-4050-93A6-67904DE48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9929C3-CF73-4BFE-AC85-722752D1CA86}"/>
              </a:ext>
            </a:extLst>
          </p:cNvPr>
          <p:cNvSpPr txBox="1"/>
          <p:nvPr/>
        </p:nvSpPr>
        <p:spPr>
          <a:xfrm>
            <a:off x="479376" y="5157192"/>
            <a:ext cx="7272808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buSzPct val="100000"/>
              <a:defRPr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zh-CN" altLang="en-US" dirty="0"/>
              <a:t>将上述命题公式替换为谓词公式即可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9376" y="1618332"/>
            <a:ext cx="7178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4</a:t>
            </a:r>
            <a:r>
              <a:rPr lang="zh-CN" altLang="en-US" dirty="0"/>
              <a:t>条涉及量词的推理规则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11424" y="1977873"/>
            <a:ext cx="717804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92D050"/>
                </a:solidFill>
              </a:rPr>
              <a:t>(1)</a:t>
            </a:r>
            <a:r>
              <a:rPr lang="zh-CN" altLang="en-US" dirty="0">
                <a:solidFill>
                  <a:srgbClr val="92D050"/>
                </a:solidFill>
              </a:rPr>
              <a:t>全称量词消去规则</a:t>
            </a:r>
            <a:r>
              <a:rPr lang="en-US" altLang="zh-CN" dirty="0">
                <a:solidFill>
                  <a:srgbClr val="92D050"/>
                </a:solidFill>
              </a:rPr>
              <a:t>(</a:t>
            </a:r>
            <a:r>
              <a:rPr lang="en-US" altLang="zh-CN" i="1" dirty="0">
                <a:solidFill>
                  <a:srgbClr val="92D050"/>
                </a:solidFill>
              </a:rPr>
              <a:t>US</a:t>
            </a:r>
            <a:r>
              <a:rPr lang="zh-CN" altLang="en-US" dirty="0">
                <a:solidFill>
                  <a:srgbClr val="92D050"/>
                </a:solidFill>
              </a:rPr>
              <a:t>规则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415480" y="2399242"/>
            <a:ext cx="10005182" cy="8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b="0" dirty="0">
                <a:sym typeface="Symbol" panose="05050102010706020507" pitchFamily="18" charset="2"/>
              </a:rPr>
              <a:t>(</a:t>
            </a:r>
            <a:r>
              <a:rPr lang="en-US" altLang="zh-CN" sz="2000" b="0" i="1" dirty="0">
                <a:sym typeface="Symbol" panose="05050102010706020507" pitchFamily="18" charset="2"/>
              </a:rPr>
              <a:t>a</a:t>
            </a:r>
            <a:r>
              <a:rPr lang="en-US" altLang="zh-CN" sz="2000" b="0" dirty="0">
                <a:sym typeface="Symbol" panose="05050102010706020507" pitchFamily="18" charset="2"/>
              </a:rPr>
              <a:t>)</a:t>
            </a:r>
            <a:r>
              <a:rPr lang="zh-CN" altLang="en-US" sz="2000" b="0" dirty="0"/>
              <a:t>个体常量</a:t>
            </a:r>
            <a:r>
              <a:rPr lang="en-US" altLang="zh-CN" sz="2000" b="0" i="1" dirty="0"/>
              <a:t>e</a:t>
            </a:r>
            <a:r>
              <a:rPr lang="en-US" altLang="zh-CN" sz="2000" b="0" dirty="0"/>
              <a:t>, </a:t>
            </a:r>
            <a:r>
              <a:rPr lang="zh-CN" altLang="en-US" sz="2000" b="0" dirty="0">
                <a:sym typeface="Symbol" panose="05050102010706020507" pitchFamily="18" charset="2"/>
              </a:rPr>
              <a:t></a:t>
            </a:r>
            <a:r>
              <a:rPr lang="en-US" altLang="zh-CN" sz="2000" b="0" i="1" dirty="0" err="1"/>
              <a:t>xA</a:t>
            </a:r>
            <a:r>
              <a:rPr lang="en-US" altLang="zh-CN" sz="2000" b="0" dirty="0"/>
              <a:t>(</a:t>
            </a:r>
            <a:r>
              <a:rPr lang="en-US" altLang="zh-CN" sz="2000" b="0" i="1" dirty="0"/>
              <a:t>x</a:t>
            </a:r>
            <a:r>
              <a:rPr lang="en-US" altLang="zh-CN" sz="2000" b="0" dirty="0"/>
              <a:t>)</a:t>
            </a:r>
            <a:r>
              <a:rPr lang="zh-CN" altLang="en-US" sz="2000" b="0" dirty="0"/>
              <a:t>推出</a:t>
            </a:r>
            <a:r>
              <a:rPr lang="en-US" altLang="zh-CN" sz="2000" b="0" i="1" dirty="0"/>
              <a:t>A</a:t>
            </a:r>
            <a:r>
              <a:rPr lang="en-US" altLang="zh-CN" sz="2000" b="0" dirty="0"/>
              <a:t>(</a:t>
            </a:r>
            <a:r>
              <a:rPr lang="en-US" altLang="zh-CN" sz="2000" b="0" i="1" dirty="0"/>
              <a:t>e</a:t>
            </a:r>
            <a:r>
              <a:rPr lang="en-US" altLang="zh-CN" sz="2000" b="0" dirty="0"/>
              <a:t>)</a:t>
            </a:r>
          </a:p>
          <a:p>
            <a:r>
              <a:rPr lang="en-US" altLang="zh-CN" sz="2000" b="0" dirty="0">
                <a:sym typeface="Symbol" panose="05050102010706020507" pitchFamily="18" charset="2"/>
              </a:rPr>
              <a:t>(</a:t>
            </a:r>
            <a:r>
              <a:rPr lang="en-US" altLang="zh-CN" sz="2000" b="0" i="1" dirty="0">
                <a:sym typeface="Symbol" panose="05050102010706020507" pitchFamily="18" charset="2"/>
              </a:rPr>
              <a:t>b</a:t>
            </a:r>
            <a:r>
              <a:rPr lang="en-US" altLang="zh-CN" sz="2000" b="0" dirty="0">
                <a:sym typeface="Symbol" panose="05050102010706020507" pitchFamily="18" charset="2"/>
              </a:rPr>
              <a:t>)</a:t>
            </a:r>
            <a:r>
              <a:rPr lang="zh-CN" altLang="en-US" sz="2000" b="0" dirty="0"/>
              <a:t>个体变量</a:t>
            </a:r>
            <a:r>
              <a:rPr lang="en-US" altLang="zh-CN" sz="2000" b="0" i="1" dirty="0"/>
              <a:t>y</a:t>
            </a:r>
            <a:r>
              <a:rPr lang="en-US" altLang="zh-CN" sz="2000" b="0" dirty="0"/>
              <a:t>,</a:t>
            </a:r>
            <a:r>
              <a:rPr lang="zh-CN" altLang="en-US" sz="2000" b="0" dirty="0"/>
              <a:t> </a:t>
            </a:r>
            <a:r>
              <a:rPr lang="zh-CN" altLang="en-US" sz="2000" b="0" dirty="0">
                <a:sym typeface="Symbol" panose="05050102010706020507" pitchFamily="18" charset="2"/>
              </a:rPr>
              <a:t></a:t>
            </a:r>
            <a:r>
              <a:rPr lang="en-US" altLang="zh-CN" sz="2000" b="0" i="1" dirty="0" err="1"/>
              <a:t>xA</a:t>
            </a:r>
            <a:r>
              <a:rPr lang="en-US" altLang="zh-CN" sz="2000" b="0" dirty="0"/>
              <a:t>(</a:t>
            </a:r>
            <a:r>
              <a:rPr lang="en-US" altLang="zh-CN" sz="2000" b="0" i="1" dirty="0"/>
              <a:t>x</a:t>
            </a:r>
            <a:r>
              <a:rPr lang="en-US" altLang="zh-CN" sz="2000" b="0" dirty="0"/>
              <a:t>)</a:t>
            </a:r>
            <a:r>
              <a:rPr lang="zh-CN" altLang="en-US" sz="2000" b="0" dirty="0"/>
              <a:t>推出</a:t>
            </a:r>
            <a:r>
              <a:rPr lang="en-US" altLang="zh-CN" sz="2000" b="0" i="1" dirty="0"/>
              <a:t>A</a:t>
            </a:r>
            <a:r>
              <a:rPr lang="en-US" altLang="zh-CN" sz="2000" b="0" dirty="0"/>
              <a:t>(</a:t>
            </a:r>
            <a:r>
              <a:rPr lang="en-US" altLang="zh-CN" sz="2000" b="0" i="1" dirty="0"/>
              <a:t>y</a:t>
            </a:r>
            <a:r>
              <a:rPr lang="en-US" altLang="zh-CN" sz="2000" b="0" dirty="0"/>
              <a:t>)    </a:t>
            </a:r>
            <a:r>
              <a:rPr lang="zh-CN" altLang="en-US" sz="2000" b="0" dirty="0">
                <a:solidFill>
                  <a:srgbClr val="92D050"/>
                </a:solidFill>
              </a:rPr>
              <a:t>在</a:t>
            </a:r>
            <a:r>
              <a:rPr lang="en-US" altLang="zh-CN" sz="2000" b="0" i="1" dirty="0">
                <a:solidFill>
                  <a:srgbClr val="92D050"/>
                </a:solidFill>
              </a:rPr>
              <a:t>A</a:t>
            </a:r>
            <a:r>
              <a:rPr lang="zh-CN" altLang="en-US" sz="2000" b="0" dirty="0">
                <a:solidFill>
                  <a:srgbClr val="92D050"/>
                </a:solidFill>
              </a:rPr>
              <a:t>中</a:t>
            </a:r>
            <a:r>
              <a:rPr lang="en-US" altLang="zh-CN" sz="2000" b="0" dirty="0">
                <a:solidFill>
                  <a:srgbClr val="92D050"/>
                </a:solidFill>
              </a:rPr>
              <a:t>, </a:t>
            </a:r>
            <a:r>
              <a:rPr lang="en-US" altLang="zh-CN" sz="2000" b="0" i="1" dirty="0">
                <a:solidFill>
                  <a:srgbClr val="92D050"/>
                </a:solidFill>
              </a:rPr>
              <a:t>x</a:t>
            </a:r>
            <a:r>
              <a:rPr lang="zh-CN" altLang="en-US" sz="2000" b="0" dirty="0">
                <a:solidFill>
                  <a:srgbClr val="92D050"/>
                </a:solidFill>
              </a:rPr>
              <a:t>不在任何</a:t>
            </a:r>
            <a:r>
              <a:rPr lang="zh-CN" altLang="en-US" sz="2000" b="0" dirty="0">
                <a:solidFill>
                  <a:srgbClr val="92D05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i="1" dirty="0">
                <a:solidFill>
                  <a:srgbClr val="92D050"/>
                </a:solidFill>
              </a:rPr>
              <a:t>y</a:t>
            </a:r>
            <a:r>
              <a:rPr lang="zh-CN" altLang="en-US" sz="2000" b="0" dirty="0">
                <a:solidFill>
                  <a:srgbClr val="92D050"/>
                </a:solidFill>
              </a:rPr>
              <a:t>和</a:t>
            </a:r>
            <a:r>
              <a:rPr lang="zh-CN" altLang="pt-BR" sz="2000" b="0" dirty="0">
                <a:solidFill>
                  <a:srgbClr val="92D050"/>
                </a:solidFill>
                <a:sym typeface="Symbol" panose="05050102010706020507" pitchFamily="18" charset="2"/>
              </a:rPr>
              <a:t></a:t>
            </a:r>
            <a:r>
              <a:rPr lang="pt-BR" altLang="zh-CN" sz="2000" b="0" i="1" dirty="0">
                <a:solidFill>
                  <a:srgbClr val="92D050"/>
                </a:solidFill>
              </a:rPr>
              <a:t>y</a:t>
            </a:r>
            <a:r>
              <a:rPr lang="zh-CN" altLang="pt-BR" sz="2000" b="0" dirty="0">
                <a:solidFill>
                  <a:srgbClr val="92D050"/>
                </a:solidFill>
              </a:rPr>
              <a:t>的辖域内自由出现</a:t>
            </a:r>
            <a:r>
              <a:rPr lang="zh-CN" altLang="en-US" sz="2000" b="0" dirty="0">
                <a:solidFill>
                  <a:srgbClr val="92D050"/>
                </a:solidFill>
              </a:rPr>
              <a:t>（或者说</a:t>
            </a:r>
            <a:r>
              <a:rPr lang="en-US" altLang="zh-CN" sz="2000" b="0" dirty="0">
                <a:solidFill>
                  <a:srgbClr val="92D050"/>
                </a:solidFill>
              </a:rPr>
              <a:t>y</a:t>
            </a:r>
            <a:r>
              <a:rPr lang="zh-CN" altLang="en-US" sz="2000" b="0" dirty="0">
                <a:solidFill>
                  <a:srgbClr val="92D050"/>
                </a:solidFill>
              </a:rPr>
              <a:t>不在</a:t>
            </a:r>
            <a:r>
              <a:rPr lang="en-US" altLang="zh-CN" sz="2000" b="0" i="1" dirty="0">
                <a:solidFill>
                  <a:srgbClr val="92D050"/>
                </a:solidFill>
              </a:rPr>
              <a:t>A(x)</a:t>
            </a:r>
            <a:r>
              <a:rPr lang="zh-CN" altLang="en-US" sz="2000" b="0" dirty="0">
                <a:solidFill>
                  <a:srgbClr val="92D050"/>
                </a:solidFill>
              </a:rPr>
              <a:t>中约束出现，避免重名带来的问题）</a:t>
            </a:r>
            <a:endParaRPr lang="en-US" altLang="zh-CN" sz="2000" b="0" dirty="0">
              <a:solidFill>
                <a:srgbClr val="92D050"/>
              </a:solidFill>
            </a:endParaRPr>
          </a:p>
          <a:p>
            <a:endParaRPr lang="en-US" altLang="zh-CN" sz="2000" b="0" dirty="0">
              <a:latin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2ABA08-505B-492B-81B3-A11BA740ECB2}"/>
              </a:ext>
            </a:extLst>
          </p:cNvPr>
          <p:cNvSpPr/>
          <p:nvPr/>
        </p:nvSpPr>
        <p:spPr>
          <a:xfrm>
            <a:off x="928732" y="3861048"/>
            <a:ext cx="1040026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例，实数集中，语句“不存在最大的实数”可符号化为：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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。其中：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y&gt;x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，如下推导正确吗？为什么？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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P(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前提引入）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US</a:t>
            </a:r>
          </a:p>
          <a:p>
            <a:pPr>
              <a:spcBef>
                <a:spcPts val="1200"/>
              </a:spcBef>
            </a:pP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解：以上推理不正确，正确的推理应为：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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P(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前提引入）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627E7D-3527-4337-8A16-784318B86C19}"/>
              </a:ext>
            </a:extLst>
          </p:cNvPr>
          <p:cNvSpPr txBox="1"/>
          <p:nvPr/>
        </p:nvSpPr>
        <p:spPr>
          <a:xfrm>
            <a:off x="6496422" y="4718754"/>
            <a:ext cx="4832576" cy="144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ctr" eaLnBrk="1" hangingPunct="1">
              <a:defRPr sz="2400">
                <a:solidFill>
                  <a:srgbClr val="7030A0"/>
                </a:solidFill>
              </a:defRPr>
            </a:lvl1pPr>
          </a:lstStyle>
          <a:p>
            <a:pPr algn="l"/>
            <a:r>
              <a:rPr lang="en-US" altLang="zh-CN" sz="2200" dirty="0"/>
              <a:t>US</a:t>
            </a:r>
            <a:r>
              <a:rPr lang="zh-CN" altLang="en-US" sz="2200" dirty="0"/>
              <a:t>规则两种形式：</a:t>
            </a:r>
            <a:endParaRPr lang="en-US" altLang="zh-CN" sz="2200" dirty="0"/>
          </a:p>
          <a:p>
            <a:pPr algn="l"/>
            <a:r>
              <a:rPr lang="en-US" altLang="zh-CN" sz="2200" dirty="0"/>
              <a:t>1</a:t>
            </a:r>
            <a:r>
              <a:rPr lang="zh-CN" altLang="en-US" sz="2200" dirty="0"/>
              <a:t>）代入任意个体常量；</a:t>
            </a:r>
            <a:endParaRPr lang="en-US" altLang="zh-CN" sz="2200" dirty="0"/>
          </a:p>
          <a:p>
            <a:pPr algn="l"/>
            <a:r>
              <a:rPr lang="en-US" altLang="zh-CN" sz="2200" dirty="0"/>
              <a:t>2</a:t>
            </a:r>
            <a:r>
              <a:rPr lang="zh-CN" altLang="en-US" sz="2200" dirty="0"/>
              <a:t>）代入个人变量（这个个体变量不能被消掉全称量词后剩下的量词约束）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9376" y="1618332"/>
            <a:ext cx="7178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4</a:t>
            </a:r>
            <a:r>
              <a:rPr lang="zh-CN" altLang="en-US" dirty="0"/>
              <a:t>条涉及量词的推理规则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95797" y="2044527"/>
            <a:ext cx="850849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FFCC99"/>
                </a:solidFill>
              </a:rPr>
              <a:t>(2)</a:t>
            </a:r>
            <a:r>
              <a:rPr lang="zh-CN" altLang="en-US" dirty="0">
                <a:solidFill>
                  <a:srgbClr val="FFCC99"/>
                </a:solidFill>
              </a:rPr>
              <a:t>全称量词引入规则</a:t>
            </a:r>
            <a:r>
              <a:rPr lang="en-US" altLang="zh-CN" dirty="0">
                <a:solidFill>
                  <a:srgbClr val="FFCC99"/>
                </a:solidFill>
              </a:rPr>
              <a:t>(</a:t>
            </a:r>
            <a:r>
              <a:rPr lang="en-US" altLang="zh-CN" i="1" dirty="0">
                <a:solidFill>
                  <a:srgbClr val="FFCC99"/>
                </a:solidFill>
              </a:rPr>
              <a:t>UG</a:t>
            </a:r>
            <a:r>
              <a:rPr lang="zh-CN" altLang="en-US" dirty="0">
                <a:solidFill>
                  <a:srgbClr val="FFCC99"/>
                </a:solidFill>
              </a:rPr>
              <a:t>规则</a:t>
            </a:r>
            <a:r>
              <a:rPr lang="en-US" altLang="zh-CN" dirty="0">
                <a:solidFill>
                  <a:srgbClr val="FFCC99"/>
                </a:solidFill>
              </a:rPr>
              <a:t>)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3391" y="2625584"/>
            <a:ext cx="11305256" cy="518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b="0" dirty="0"/>
              <a:t>          </a:t>
            </a:r>
            <a:r>
              <a:rPr lang="en-US" altLang="zh-CN" sz="2000" b="0" i="1" dirty="0"/>
              <a:t>A</a:t>
            </a:r>
            <a:r>
              <a:rPr lang="en-US" altLang="zh-CN" sz="2000" b="0" dirty="0"/>
              <a:t>(</a:t>
            </a:r>
            <a:r>
              <a:rPr lang="en-US" altLang="zh-CN" sz="2000" b="0" i="1" dirty="0"/>
              <a:t>x</a:t>
            </a:r>
            <a:r>
              <a:rPr lang="en-US" altLang="zh-CN" sz="2000" b="0" dirty="0"/>
              <a:t>)</a:t>
            </a:r>
            <a:r>
              <a:rPr lang="zh-CN" altLang="en-US" sz="2000" b="0" dirty="0"/>
              <a:t>推出</a:t>
            </a:r>
            <a:r>
              <a:rPr lang="zh-CN" altLang="en-US" sz="2000" b="0" dirty="0">
                <a:sym typeface="Symbol" panose="05050102010706020507" pitchFamily="18" charset="2"/>
              </a:rPr>
              <a:t></a:t>
            </a:r>
            <a:r>
              <a:rPr lang="en-US" altLang="zh-CN" sz="2000" b="0" i="1" dirty="0" err="1"/>
              <a:t>xA</a:t>
            </a:r>
            <a:r>
              <a:rPr lang="en-US" altLang="zh-CN" sz="2000" b="0" dirty="0"/>
              <a:t>(</a:t>
            </a:r>
            <a:r>
              <a:rPr lang="en-US" altLang="zh-CN" sz="2000" b="0" i="1" dirty="0"/>
              <a:t>x</a:t>
            </a:r>
            <a:r>
              <a:rPr lang="en-US" altLang="zh-CN" sz="2000" b="0" dirty="0"/>
              <a:t>)</a:t>
            </a:r>
            <a:r>
              <a:rPr lang="en-US" altLang="zh-CN" sz="2000" b="0" dirty="0">
                <a:solidFill>
                  <a:srgbClr val="FFCC99"/>
                </a:solidFill>
              </a:rPr>
              <a:t>   </a:t>
            </a:r>
            <a:r>
              <a:rPr lang="en-US" altLang="zh-CN" sz="2000" b="0" i="1" dirty="0">
                <a:solidFill>
                  <a:srgbClr val="FFCC99"/>
                </a:solidFill>
              </a:rPr>
              <a:t>x</a:t>
            </a:r>
            <a:r>
              <a:rPr lang="zh-CN" altLang="en-US" sz="2000" b="0" dirty="0">
                <a:solidFill>
                  <a:srgbClr val="FFCC99"/>
                </a:solidFill>
              </a:rPr>
              <a:t>要具有任意性：</a:t>
            </a:r>
            <a:r>
              <a:rPr lang="en-US" altLang="zh-CN" sz="2000" b="0" i="1" dirty="0">
                <a:solidFill>
                  <a:srgbClr val="FFCC99"/>
                </a:solidFill>
              </a:rPr>
              <a:t>x</a:t>
            </a:r>
            <a:r>
              <a:rPr lang="en-US" altLang="zh-CN" sz="2000" b="0" dirty="0">
                <a:solidFill>
                  <a:srgbClr val="FFCC99"/>
                </a:solidFill>
              </a:rPr>
              <a:t> </a:t>
            </a:r>
            <a:r>
              <a:rPr lang="zh-CN" altLang="en-US" sz="2000" b="0" dirty="0">
                <a:solidFill>
                  <a:srgbClr val="FFCC99"/>
                </a:solidFill>
              </a:rPr>
              <a:t>在</a:t>
            </a:r>
            <a:r>
              <a:rPr lang="en-US" altLang="zh-CN" sz="2000" b="0" i="1" dirty="0">
                <a:solidFill>
                  <a:srgbClr val="FFCC99"/>
                </a:solidFill>
              </a:rPr>
              <a:t>A(x)</a:t>
            </a:r>
            <a:r>
              <a:rPr lang="zh-CN" altLang="en-US" sz="2000" b="0" dirty="0">
                <a:solidFill>
                  <a:srgbClr val="FFCC99"/>
                </a:solidFill>
              </a:rPr>
              <a:t>中自由出现</a:t>
            </a:r>
            <a:r>
              <a:rPr lang="en-US" altLang="zh-CN" sz="2000" b="0" dirty="0">
                <a:solidFill>
                  <a:srgbClr val="FFCC99"/>
                </a:solidFill>
              </a:rPr>
              <a:t>, </a:t>
            </a:r>
            <a:r>
              <a:rPr lang="zh-CN" altLang="en-US" sz="2000" b="0" dirty="0">
                <a:solidFill>
                  <a:srgbClr val="FFCC99"/>
                </a:solidFill>
              </a:rPr>
              <a:t>且</a:t>
            </a:r>
            <a:r>
              <a:rPr lang="en-US" altLang="zh-CN" sz="2000" b="0" i="1" dirty="0">
                <a:solidFill>
                  <a:srgbClr val="FFCC99"/>
                </a:solidFill>
              </a:rPr>
              <a:t>x</a:t>
            </a:r>
            <a:r>
              <a:rPr lang="zh-CN" altLang="en-US" sz="2000" b="0" dirty="0">
                <a:solidFill>
                  <a:srgbClr val="FFCC99"/>
                </a:solidFill>
              </a:rPr>
              <a:t>不是任何前提的自由变量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AD6F1D-310C-427D-A5E1-ABCA1B245C74}"/>
              </a:ext>
            </a:extLst>
          </p:cNvPr>
          <p:cNvSpPr txBox="1"/>
          <p:nvPr/>
        </p:nvSpPr>
        <p:spPr>
          <a:xfrm>
            <a:off x="1271464" y="3384273"/>
            <a:ext cx="8640960" cy="2438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UG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规则要求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不是前提中的自由变量的条件不能少</a:t>
            </a:r>
            <a:endParaRPr lang="en-US" altLang="zh-CN" sz="2400" b="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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不成立。但下面</a:t>
            </a:r>
            <a:r>
              <a:rPr lang="zh-CN" altLang="en-US" sz="20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错误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形式证明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证明了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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①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UG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规则    </a:t>
            </a: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是前提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中的自由变量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UG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规则被滥用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2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9376" y="1618332"/>
            <a:ext cx="7178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4</a:t>
            </a:r>
            <a:r>
              <a:rPr lang="zh-CN" altLang="en-US" dirty="0"/>
              <a:t>条涉及量词的推理规则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01604" y="2026095"/>
            <a:ext cx="8581644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90000"/>
                  </a:schemeClr>
                </a:solidFill>
              </a:rPr>
              <a:t>(3)</a:t>
            </a:r>
            <a:r>
              <a:rPr lang="zh-CN" altLang="en-US" dirty="0">
                <a:solidFill>
                  <a:schemeClr val="accent1">
                    <a:lumMod val="90000"/>
                  </a:schemeClr>
                </a:solidFill>
              </a:rPr>
              <a:t>存在量词消去规则</a:t>
            </a:r>
            <a:r>
              <a:rPr lang="en-US" altLang="zh-CN" dirty="0">
                <a:solidFill>
                  <a:schemeClr val="accent1">
                    <a:lumMod val="90000"/>
                  </a:schemeClr>
                </a:solidFill>
              </a:rPr>
              <a:t>(</a:t>
            </a:r>
            <a:r>
              <a:rPr lang="en-US" altLang="zh-CN" i="1" dirty="0">
                <a:solidFill>
                  <a:schemeClr val="accent1">
                    <a:lumMod val="90000"/>
                  </a:schemeClr>
                </a:solidFill>
              </a:rPr>
              <a:t>ES</a:t>
            </a:r>
            <a:r>
              <a:rPr lang="zh-CN" altLang="en-US" dirty="0">
                <a:solidFill>
                  <a:schemeClr val="accent1">
                    <a:lumMod val="90000"/>
                  </a:schemeClr>
                </a:solidFill>
              </a:rPr>
              <a:t>规则</a:t>
            </a:r>
            <a:r>
              <a:rPr lang="en-US" altLang="zh-CN" dirty="0">
                <a:solidFill>
                  <a:schemeClr val="accent1">
                    <a:lumMod val="90000"/>
                  </a:schemeClr>
                </a:solidFill>
              </a:rPr>
              <a:t>)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95867" y="2502797"/>
            <a:ext cx="10513168" cy="53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pt-BR" sz="2000" b="0" dirty="0">
                <a:sym typeface="Symbol" panose="05050102010706020507" pitchFamily="18" charset="2"/>
              </a:rPr>
              <a:t> </a:t>
            </a:r>
            <a:r>
              <a:rPr lang="en-US" altLang="zh-CN" sz="2000" b="0" i="1" dirty="0" err="1"/>
              <a:t>xA</a:t>
            </a:r>
            <a:r>
              <a:rPr lang="en-US" altLang="zh-CN" sz="2000" b="0" dirty="0"/>
              <a:t>(</a:t>
            </a:r>
            <a:r>
              <a:rPr lang="en-US" altLang="zh-CN" sz="2000" b="0" i="1" dirty="0"/>
              <a:t>x</a:t>
            </a:r>
            <a:r>
              <a:rPr lang="en-US" altLang="zh-CN" sz="2000" b="0" dirty="0"/>
              <a:t>)</a:t>
            </a:r>
            <a:r>
              <a:rPr lang="zh-CN" altLang="en-US" sz="2000" b="0" dirty="0"/>
              <a:t>推出</a:t>
            </a:r>
            <a:r>
              <a:rPr lang="en-US" altLang="zh-CN" sz="2000" b="0" i="1" dirty="0"/>
              <a:t>A</a:t>
            </a:r>
            <a:r>
              <a:rPr lang="en-US" altLang="zh-CN" sz="2000" b="0" dirty="0"/>
              <a:t>(</a:t>
            </a:r>
            <a:r>
              <a:rPr lang="en-US" altLang="zh-CN" sz="2000" b="0" i="1" dirty="0"/>
              <a:t>e</a:t>
            </a:r>
            <a:r>
              <a:rPr lang="en-US" altLang="zh-CN" sz="2000" b="0" dirty="0"/>
              <a:t>)      </a:t>
            </a:r>
            <a:r>
              <a:rPr lang="en-US" altLang="zh-CN" sz="2000" b="0" i="1" dirty="0">
                <a:solidFill>
                  <a:schemeClr val="accent1">
                    <a:lumMod val="90000"/>
                  </a:schemeClr>
                </a:solidFill>
              </a:rPr>
              <a:t>e</a:t>
            </a:r>
            <a:r>
              <a:rPr lang="zh-CN" altLang="en-US" sz="2000" b="0" dirty="0">
                <a:solidFill>
                  <a:schemeClr val="accent1">
                    <a:lumMod val="90000"/>
                  </a:schemeClr>
                </a:solidFill>
              </a:rPr>
              <a:t>是使得</a:t>
            </a:r>
            <a:r>
              <a:rPr lang="en-US" altLang="zh-CN" sz="2000" b="0" i="1" dirty="0">
                <a:solidFill>
                  <a:schemeClr val="accent1">
                    <a:lumMod val="90000"/>
                  </a:schemeClr>
                </a:solidFill>
              </a:rPr>
              <a:t>A(e)</a:t>
            </a:r>
            <a:r>
              <a:rPr lang="zh-CN" altLang="en-US" sz="2000" b="0" dirty="0">
                <a:solidFill>
                  <a:schemeClr val="accent1">
                    <a:lumMod val="90000"/>
                  </a:schemeClr>
                </a:solidFill>
              </a:rPr>
              <a:t>为真的</a:t>
            </a:r>
            <a:r>
              <a:rPr lang="zh-CN" altLang="en-US" sz="2000" b="0" dirty="0">
                <a:solidFill>
                  <a:srgbClr val="FFFF00"/>
                </a:solidFill>
              </a:rPr>
              <a:t>特定</a:t>
            </a:r>
            <a:r>
              <a:rPr lang="zh-CN" altLang="en-US" sz="2000" b="0" dirty="0">
                <a:solidFill>
                  <a:schemeClr val="accent1">
                    <a:lumMod val="90000"/>
                  </a:schemeClr>
                </a:solidFill>
              </a:rPr>
              <a:t>的个体常量（用新的额外个体常量来表示），</a:t>
            </a:r>
            <a:r>
              <a:rPr lang="zh-CN" altLang="en-US" sz="2000" b="0" dirty="0">
                <a:solidFill>
                  <a:srgbClr val="FFFF00"/>
                </a:solidFill>
              </a:rPr>
              <a:t>当</a:t>
            </a:r>
            <a:r>
              <a:rPr lang="en-US" altLang="zh-CN" sz="2000" b="0" i="1" dirty="0">
                <a:solidFill>
                  <a:srgbClr val="FFFF00"/>
                </a:solidFill>
              </a:rPr>
              <a:t>A</a:t>
            </a:r>
            <a:r>
              <a:rPr lang="en-US" altLang="zh-CN" sz="2000" b="0" dirty="0">
                <a:solidFill>
                  <a:srgbClr val="FFFF00"/>
                </a:solidFill>
              </a:rPr>
              <a:t>(</a:t>
            </a:r>
            <a:r>
              <a:rPr lang="en-US" altLang="zh-CN" sz="2000" b="0" i="1" dirty="0">
                <a:solidFill>
                  <a:srgbClr val="FFFF00"/>
                </a:solidFill>
              </a:rPr>
              <a:t>x</a:t>
            </a:r>
            <a:r>
              <a:rPr lang="en-US" altLang="zh-CN" sz="2000" b="0" dirty="0">
                <a:solidFill>
                  <a:srgbClr val="FFFF00"/>
                </a:solidFill>
              </a:rPr>
              <a:t>)</a:t>
            </a:r>
            <a:r>
              <a:rPr lang="zh-CN" altLang="en-US" sz="2000" b="0" dirty="0">
                <a:solidFill>
                  <a:srgbClr val="FFFF00"/>
                </a:solidFill>
              </a:rPr>
              <a:t>中还有除</a:t>
            </a:r>
            <a:r>
              <a:rPr lang="en-US" altLang="zh-CN" sz="2000" b="0" i="1" dirty="0">
                <a:solidFill>
                  <a:srgbClr val="FFFF00"/>
                </a:solidFill>
              </a:rPr>
              <a:t>x</a:t>
            </a:r>
            <a:r>
              <a:rPr lang="zh-CN" altLang="en-US" sz="2000" b="0" dirty="0">
                <a:solidFill>
                  <a:srgbClr val="FFFF00"/>
                </a:solidFill>
              </a:rPr>
              <a:t>之外的自由变元时，此规则不适用，必须用关于这些变元的函数符号来取代</a:t>
            </a:r>
            <a:r>
              <a:rPr lang="en-US" altLang="zh-CN" sz="2000" b="0" dirty="0">
                <a:solidFill>
                  <a:srgbClr val="FFFF00"/>
                </a:solidFill>
              </a:rPr>
              <a:t>e</a:t>
            </a:r>
            <a:r>
              <a:rPr lang="zh-CN" altLang="en-US" sz="2000" b="0" dirty="0">
                <a:solidFill>
                  <a:srgbClr val="FFFF00"/>
                </a:solidFill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B17F3B-F86B-4E2E-BDB3-F16019CF46C7}"/>
              </a:ext>
            </a:extLst>
          </p:cNvPr>
          <p:cNvSpPr/>
          <p:nvPr/>
        </p:nvSpPr>
        <p:spPr>
          <a:xfrm>
            <a:off x="895867" y="3429000"/>
            <a:ext cx="10400266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例，实数集中，语句“不存在最大的实数”可符号化为：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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。其中：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y&gt;x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，如下推导正确吗？为什么？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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P(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前提引入）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US</a:t>
            </a:r>
          </a:p>
          <a:p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③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z,c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    </a:t>
            </a:r>
            <a:r>
              <a:rPr lang="zh-CN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ES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1200"/>
              </a:spcBef>
            </a:pP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解：以上推理不正确，正确的推理应为：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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P(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前提引入）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US</a:t>
            </a:r>
          </a:p>
          <a:p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③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z,</a:t>
            </a:r>
            <a:r>
              <a:rPr lang="en-US" altLang="zh-CN" sz="2000" b="0" i="1" dirty="0" err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b="0" i="1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(z)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</a:t>
            </a:r>
            <a:r>
              <a:rPr lang="zh-CN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46040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93927" y="2454440"/>
            <a:ext cx="10513168" cy="856960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个体常量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推出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20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en-US" altLang="zh-CN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不在任何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pt-BR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pt-BR" altLang="zh-CN" sz="220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的辖域内出现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个体变量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推出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20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en-US" altLang="zh-CN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不在任何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pt-BR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pt-BR" altLang="zh-CN" sz="220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2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的辖域内自由出现</a:t>
            </a:r>
            <a:endParaRPr lang="zh-CN" altLang="en-US" sz="2200" dirty="0">
              <a:solidFill>
                <a:srgbClr val="FF7C8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9376" y="1618332"/>
            <a:ext cx="7178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4</a:t>
            </a:r>
            <a:r>
              <a:rPr lang="zh-CN" altLang="en-US" dirty="0"/>
              <a:t>条涉及量词的推理规则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11424" y="1988840"/>
            <a:ext cx="8531352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FF7C80"/>
                </a:solidFill>
              </a:rPr>
              <a:t>(4)</a:t>
            </a:r>
            <a:r>
              <a:rPr lang="zh-CN" altLang="en-US" dirty="0">
                <a:solidFill>
                  <a:srgbClr val="FF7C80"/>
                </a:solidFill>
              </a:rPr>
              <a:t>存在量词引入规则</a:t>
            </a:r>
            <a:r>
              <a:rPr lang="en-US" altLang="zh-CN" dirty="0">
                <a:solidFill>
                  <a:srgbClr val="FF7C80"/>
                </a:solidFill>
              </a:rPr>
              <a:t>(</a:t>
            </a:r>
            <a:r>
              <a:rPr lang="en-US" altLang="zh-CN" i="1" dirty="0">
                <a:solidFill>
                  <a:srgbClr val="FF7C80"/>
                </a:solidFill>
              </a:rPr>
              <a:t>EG</a:t>
            </a:r>
            <a:r>
              <a:rPr lang="zh-CN" altLang="en-US" dirty="0">
                <a:solidFill>
                  <a:srgbClr val="FF7C80"/>
                </a:solidFill>
              </a:rPr>
              <a:t>规则</a:t>
            </a:r>
            <a:r>
              <a:rPr lang="en-US" altLang="zh-CN" dirty="0">
                <a:solidFill>
                  <a:srgbClr val="FF7C80"/>
                </a:solidFill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DFCBB7-3C51-4140-910B-49BCFCD9C2AE}"/>
              </a:ext>
            </a:extLst>
          </p:cNvPr>
          <p:cNvSpPr/>
          <p:nvPr/>
        </p:nvSpPr>
        <p:spPr>
          <a:xfrm>
            <a:off x="911424" y="3547569"/>
            <a:ext cx="1040026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例，实数集中，设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y&gt;x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，如下推导正确吗？为什么？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x,e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P(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前提引入）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EG</a:t>
            </a:r>
          </a:p>
          <a:p>
            <a:pPr>
              <a:spcBef>
                <a:spcPts val="1200"/>
              </a:spcBef>
            </a:pP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解：以上推理不正确，正确的推理应为：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x,e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    P(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前提引入）</a:t>
            </a:r>
            <a:endParaRPr lang="en-US" altLang="zh-CN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pt-BR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        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EG</a:t>
            </a:r>
          </a:p>
        </p:txBody>
      </p:sp>
    </p:spTree>
    <p:extLst>
      <p:ext uri="{BB962C8B-B14F-4D97-AF65-F5344CB8AC3E}">
        <p14:creationId xmlns:p14="http://schemas.microsoft.com/office/powerpoint/2010/main" val="419994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11424" y="3054208"/>
            <a:ext cx="5328592" cy="260704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命题符号化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个体域为全总个体域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引入谓词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是人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是要死的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引入个体常量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：苏格拉底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前提：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结论：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1384" y="1726019"/>
            <a:ext cx="6130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例</a:t>
            </a:r>
            <a:r>
              <a:rPr lang="en-US" altLang="zh-CN" dirty="0"/>
              <a:t>4.3.1</a:t>
            </a:r>
            <a:r>
              <a:rPr lang="zh-CN" altLang="en-US" dirty="0"/>
              <a:t>  证明苏格拉底三段论的正确性。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7368" y="2564904"/>
            <a:ext cx="1244867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  <a:defRPr/>
            </a:pPr>
            <a:r>
              <a:rPr lang="zh-CN" altLang="en-US" sz="2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证明：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384032" y="3054208"/>
            <a:ext cx="5425785" cy="26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pt-BR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构造形式证明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pt-BR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            </a:t>
            </a:r>
            <a:r>
              <a:rPr kumimoji="0" lang="zh-CN" altLang="pt-BR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pt-BR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      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</a:t>
            </a:r>
            <a:r>
              <a:rPr kumimoji="0" lang="zh-CN" altLang="pt-BR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规则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pt-BR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                </a:t>
            </a:r>
            <a:r>
              <a:rPr kumimoji="0" lang="zh-CN" altLang="pt-BR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  <a:endParaRPr kumimoji="0" lang="zh-CN" altLang="en-US" sz="22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2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                 ②③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855640" y="2276872"/>
            <a:ext cx="5832648" cy="4104456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pt-BR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②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①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规则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pt-BR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③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④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③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规则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⑤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                         ②④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析取三段论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⑥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⑦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)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⑥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规则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⑧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⑤⑦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拒取式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⑨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⑧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EG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规则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⑩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xF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⑨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置换规则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45704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9376" y="1700808"/>
            <a:ext cx="10297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dirty="0"/>
              <a:t>例</a:t>
            </a:r>
            <a:r>
              <a:rPr lang="en-US" altLang="zh-CN" sz="2400" dirty="0"/>
              <a:t>4.3.2</a:t>
            </a:r>
            <a:r>
              <a:rPr lang="zh-CN" altLang="en-US" sz="2400" dirty="0"/>
              <a:t>  构造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pt-BR" altLang="zh-CN" sz="2400" i="1" dirty="0"/>
              <a:t>x</a:t>
            </a:r>
            <a:r>
              <a:rPr lang="en-US" altLang="pt-BR" sz="2400" dirty="0"/>
              <a:t>(</a:t>
            </a:r>
            <a:r>
              <a:rPr lang="pt-BR" altLang="zh-CN" sz="2400" i="1" dirty="0"/>
              <a:t>F</a:t>
            </a:r>
            <a:r>
              <a:rPr lang="pt-BR" altLang="zh-CN" sz="2400" dirty="0"/>
              <a:t>(</a:t>
            </a:r>
            <a:r>
              <a:rPr lang="pt-BR" altLang="zh-CN" sz="2400" i="1" dirty="0"/>
              <a:t>x</a:t>
            </a:r>
            <a:r>
              <a:rPr lang="pt-BR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</a:t>
            </a:r>
            <a:r>
              <a:rPr lang="pt-BR" altLang="zh-CN" sz="2400" i="1" dirty="0"/>
              <a:t>H</a:t>
            </a:r>
            <a:r>
              <a:rPr lang="pt-BR" altLang="zh-CN" sz="2400" dirty="0"/>
              <a:t>(</a:t>
            </a:r>
            <a:r>
              <a:rPr lang="pt-BR" altLang="zh-CN" sz="2400" i="1" dirty="0"/>
              <a:t>x</a:t>
            </a:r>
            <a:r>
              <a:rPr lang="pt-BR" altLang="zh-CN" sz="2400" dirty="0"/>
              <a:t>)),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pt-BR" altLang="zh-CN" sz="2400" i="1" dirty="0"/>
              <a:t>x</a:t>
            </a:r>
            <a:r>
              <a:rPr lang="pt-BR" altLang="zh-CN" sz="2400" dirty="0"/>
              <a:t>(</a:t>
            </a:r>
            <a:r>
              <a:rPr lang="pt-BR" altLang="zh-CN" sz="2400" i="1" dirty="0"/>
              <a:t>H</a:t>
            </a:r>
            <a:r>
              <a:rPr lang="pt-BR" altLang="zh-CN" sz="2400" dirty="0"/>
              <a:t>(</a:t>
            </a:r>
            <a:r>
              <a:rPr lang="pt-BR" altLang="zh-CN" sz="2400" i="1" dirty="0"/>
              <a:t>x</a:t>
            </a:r>
            <a:r>
              <a:rPr lang="pt-BR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</a:t>
            </a:r>
            <a:r>
              <a:rPr lang="pt-BR" altLang="zh-CN" sz="2400" i="1" dirty="0"/>
              <a:t>G</a:t>
            </a:r>
            <a:r>
              <a:rPr lang="pt-BR" altLang="zh-CN" sz="2400" dirty="0"/>
              <a:t>(</a:t>
            </a:r>
            <a:r>
              <a:rPr lang="pt-BR" altLang="zh-CN" sz="2400" i="1" dirty="0"/>
              <a:t>x</a:t>
            </a:r>
            <a:r>
              <a:rPr lang="pt-BR" altLang="zh-CN" sz="2400" dirty="0"/>
              <a:t>)),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pt-BR" altLang="zh-CN" sz="2400" i="1" dirty="0"/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pt-BR" altLang="zh-CN" sz="2400" i="1" dirty="0"/>
              <a:t>G</a:t>
            </a:r>
            <a:r>
              <a:rPr lang="pt-BR" altLang="zh-CN" sz="2400" dirty="0"/>
              <a:t>(</a:t>
            </a:r>
            <a:r>
              <a:rPr lang="pt-BR" altLang="zh-CN" sz="2400" i="1" dirty="0"/>
              <a:t>x</a:t>
            </a:r>
            <a:r>
              <a:rPr lang="pt-BR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</a:t>
            </a:r>
            <a:r>
              <a:rPr lang="pt-BR" altLang="zh-CN" sz="2400" i="1" dirty="0"/>
              <a:t>xF</a:t>
            </a:r>
            <a:r>
              <a:rPr lang="pt-BR" altLang="zh-CN" sz="2400" dirty="0"/>
              <a:t>(</a:t>
            </a:r>
            <a:r>
              <a:rPr lang="pt-BR" altLang="zh-CN" sz="2400" i="1" dirty="0"/>
              <a:t>x</a:t>
            </a:r>
            <a:r>
              <a:rPr lang="pt-BR" altLang="zh-CN" sz="2400" dirty="0"/>
              <a:t>)</a:t>
            </a:r>
            <a:r>
              <a:rPr lang="zh-CN" altLang="en-US" sz="2400" dirty="0"/>
              <a:t>的形式证明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10773" y="2297831"/>
            <a:ext cx="1244867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  <a:defRPr/>
            </a:pPr>
            <a:r>
              <a:rPr lang="zh-CN" altLang="en-US" sz="2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00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45704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5D39C6-4574-4AE5-9254-B73AE359CC18}"/>
              </a:ext>
            </a:extLst>
          </p:cNvPr>
          <p:cNvSpPr/>
          <p:nvPr/>
        </p:nvSpPr>
        <p:spPr>
          <a:xfrm>
            <a:off x="515380" y="1741199"/>
            <a:ext cx="111612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练习：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x (C(x)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W(x)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R(x)),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x(C(x)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Q(x)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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x (Q(x)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R(x))</a:t>
            </a:r>
            <a:r>
              <a:rPr lang="zh-CN" altLang="en-US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的形式证明</a:t>
            </a:r>
            <a:endParaRPr lang="zh-CN" altLang="zh-CN" sz="3200" b="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                                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注：先用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ES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，再用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US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。</a:t>
            </a:r>
            <a:endParaRPr kumimoji="0" lang="zh-CN" altLang="zh-CN" sz="3200" b="0" kern="0" dirty="0">
              <a:solidFill>
                <a:srgbClr val="FFFF00"/>
              </a:solidFill>
              <a:latin typeface="Arial"/>
              <a:ea typeface="宋体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kumimoji="0" lang="en-US" altLang="zh-CN" sz="3200" b="0" kern="0" dirty="0">
              <a:solidFill>
                <a:srgbClr val="FFFFFF"/>
              </a:solidFill>
              <a:latin typeface="Arial"/>
              <a:ea typeface="宋体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 (P(x)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Q(x) )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 P(x)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 Q(x)</a:t>
            </a:r>
            <a:r>
              <a:rPr lang="zh-CN" altLang="en-US" sz="3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的形式证明</a:t>
            </a:r>
            <a:endParaRPr lang="zh-CN" altLang="zh-CN" sz="3200" b="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         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注：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a.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用归谬法。</a:t>
            </a:r>
            <a:endParaRPr kumimoji="0" lang="zh-CN" altLang="zh-CN" sz="3200" b="0" kern="0" dirty="0">
              <a:solidFill>
                <a:srgbClr val="FFFF00"/>
              </a:solidFill>
              <a:latin typeface="Arial"/>
              <a:ea typeface="宋体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                b.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用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CP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规则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: 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将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  <a:sym typeface="Symbol" panose="05050102010706020507" pitchFamily="18" charset="2"/>
              </a:rPr>
              <a:t>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x P(x) 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  <a:sym typeface="Symbol" panose="05050102010706020507" pitchFamily="18" charset="2"/>
              </a:rPr>
              <a:t>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 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  <a:sym typeface="Symbol" panose="05050102010706020507" pitchFamily="18" charset="2"/>
              </a:rPr>
              <a:t>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x Q(x)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Arial"/>
                <a:ea typeface="宋体"/>
              </a:rPr>
              <a:t>看成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  <a:sym typeface="Symbol" panose="05050102010706020507" pitchFamily="18" charset="2"/>
              </a:rPr>
              <a:t>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 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  <a:sym typeface="Symbol" panose="05050102010706020507" pitchFamily="18" charset="2"/>
              </a:rPr>
              <a:t>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 x P(x) 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  <a:sym typeface="Symbol" panose="05050102010706020507" pitchFamily="18" charset="2"/>
              </a:rPr>
              <a:t>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 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  <a:sym typeface="Symbol" panose="05050102010706020507" pitchFamily="18" charset="2"/>
              </a:rPr>
              <a:t></a:t>
            </a:r>
            <a:r>
              <a:rPr kumimoji="0" lang="en-US" altLang="zh-CN" sz="3200" b="0" kern="0" dirty="0">
                <a:solidFill>
                  <a:srgbClr val="FFFF00"/>
                </a:solidFill>
                <a:latin typeface="Arial"/>
                <a:ea typeface="宋体"/>
              </a:rPr>
              <a:t> x Q(x)</a:t>
            </a:r>
            <a:endParaRPr kumimoji="0" lang="zh-CN" altLang="zh-CN" sz="3200" b="0" kern="0" dirty="0">
              <a:solidFill>
                <a:srgbClr val="FFFF00"/>
              </a:solidFill>
              <a:latin typeface="Arial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12251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55440" y="2206035"/>
            <a:ext cx="5976664" cy="16436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消去量词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利用不涉及量词的推理规则进行推理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引入量词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若结论中有量词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1384" y="1651464"/>
            <a:ext cx="6116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一阶逻辑形式证明的基本步骤 </a:t>
            </a:r>
          </a:p>
        </p:txBody>
      </p:sp>
      <p:sp>
        <p:nvSpPr>
          <p:cNvPr id="8" name="文本框 7"/>
          <p:cNvSpPr txBox="1"/>
          <p:nvPr/>
        </p:nvSpPr>
        <p:spPr>
          <a:xfrm rot="20142934">
            <a:off x="4713812" y="3465018"/>
            <a:ext cx="409059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ctr" eaLnBrk="1" hangingPunct="1">
              <a:defRPr sz="2400">
                <a:solidFill>
                  <a:srgbClr val="7030A0"/>
                </a:solidFill>
              </a:defRPr>
            </a:lvl1pPr>
          </a:lstStyle>
          <a:p>
            <a:r>
              <a:rPr lang="zh-CN" altLang="en-US" dirty="0"/>
              <a:t>注意推理规则中的限制条件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79576" y="1700808"/>
            <a:ext cx="8785225" cy="53276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      </a:t>
            </a:r>
          </a:p>
          <a:p>
            <a:pPr marL="0" indent="0"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      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4.3.2*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程序正确性证明</a:t>
            </a:r>
          </a:p>
        </p:txBody>
      </p:sp>
      <p:sp>
        <p:nvSpPr>
          <p:cNvPr id="7" name="文本框 6"/>
          <p:cNvSpPr txBox="1"/>
          <p:nvPr/>
        </p:nvSpPr>
        <p:spPr>
          <a:xfrm rot="20811219">
            <a:off x="7101885" y="1055004"/>
            <a:ext cx="417646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ctr" eaLnBrk="1" hangingPunct="1">
              <a:defRPr sz="2400">
                <a:solidFill>
                  <a:srgbClr val="7030A0"/>
                </a:solidFill>
              </a:defRPr>
            </a:lvl1pPr>
          </a:lstStyle>
          <a:p>
            <a:r>
              <a:rPr lang="zh-CN" altLang="en-US" dirty="0"/>
              <a:t>测试不能证明程序的正确性</a:t>
            </a:r>
          </a:p>
        </p:txBody>
      </p:sp>
      <p:sp>
        <p:nvSpPr>
          <p:cNvPr id="9" name="文本框 8"/>
          <p:cNvSpPr txBox="1"/>
          <p:nvPr/>
        </p:nvSpPr>
        <p:spPr>
          <a:xfrm rot="20792822">
            <a:off x="7891037" y="1537695"/>
            <a:ext cx="332242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ctr" eaLnBrk="1" hangingPunct="1">
              <a:defRPr sz="2400">
                <a:solidFill>
                  <a:srgbClr val="7030A0"/>
                </a:solidFill>
              </a:defRPr>
            </a:lvl1pPr>
          </a:lstStyle>
          <a:p>
            <a:r>
              <a:rPr lang="zh-CN" altLang="en-US" dirty="0"/>
              <a:t>证明程序的正确性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5360" y="1659066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程序的正确性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35360" y="2802375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程序正确性证明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52695" y="3285065"/>
            <a:ext cx="8588454" cy="108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bg1"/>
                </a:solidFill>
              </a:rPr>
              <a:t>(1)</a:t>
            </a:r>
            <a:r>
              <a:rPr lang="zh-CN" altLang="en-US" sz="2200" dirty="0">
                <a:solidFill>
                  <a:schemeClr val="bg1"/>
                </a:solidFill>
              </a:rPr>
              <a:t>证明程序的部分正确性：若程序终止</a:t>
            </a:r>
            <a:r>
              <a:rPr lang="en-US" altLang="zh-CN" sz="2200" dirty="0">
                <a:solidFill>
                  <a:schemeClr val="bg1"/>
                </a:solidFill>
              </a:rPr>
              <a:t>, </a:t>
            </a:r>
            <a:r>
              <a:rPr lang="zh-CN" altLang="en-US" sz="2200" dirty="0">
                <a:solidFill>
                  <a:schemeClr val="bg1"/>
                </a:solidFill>
              </a:rPr>
              <a:t>则输出正确答案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bg1"/>
                </a:solidFill>
              </a:rPr>
              <a:t>(2)</a:t>
            </a:r>
            <a:r>
              <a:rPr lang="zh-CN" altLang="en-US" sz="2200" dirty="0">
                <a:solidFill>
                  <a:schemeClr val="bg1"/>
                </a:solidFill>
              </a:rPr>
              <a:t>证明程序总终止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35360" y="4480536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程序部分正确性的描述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93053" y="5228787"/>
            <a:ext cx="6094520" cy="120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bg1"/>
                </a:solidFill>
              </a:rPr>
              <a:t>(1)</a:t>
            </a:r>
            <a:r>
              <a:rPr lang="zh-CN" altLang="en-US" sz="2200" dirty="0">
                <a:solidFill>
                  <a:schemeClr val="bg1"/>
                </a:solidFill>
              </a:rPr>
              <a:t>初始断言：描述输入须满足的条件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bg1"/>
                </a:solidFill>
              </a:rPr>
              <a:t>(2)</a:t>
            </a:r>
            <a:r>
              <a:rPr lang="zh-CN" altLang="en-US" sz="2200" dirty="0">
                <a:solidFill>
                  <a:schemeClr val="bg1"/>
                </a:solidFill>
              </a:rPr>
              <a:t>终结断言：描述输出须满足的条件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41003" y="4866759"/>
            <a:ext cx="6094520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200" dirty="0">
                <a:solidFill>
                  <a:schemeClr val="bg1"/>
                </a:solidFill>
              </a:rPr>
              <a:t>使用两个命题：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11424" y="2140934"/>
            <a:ext cx="6094520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对所有可能的输入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zh-CN" altLang="en-US" dirty="0">
                <a:solidFill>
                  <a:schemeClr val="bg1"/>
                </a:solidFill>
              </a:rPr>
              <a:t>都产生正确的输出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/>
      <p:bldP spid="13" grpId="0"/>
      <p:bldP spid="17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4.3.2*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程序正确性证明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5360" y="1671657"/>
            <a:ext cx="8759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定义  程序段</a:t>
            </a:r>
            <a:r>
              <a:rPr lang="en-US" altLang="zh-CN" i="1" dirty="0"/>
              <a:t>S</a:t>
            </a:r>
            <a:r>
              <a:rPr lang="zh-CN" altLang="en-US" dirty="0"/>
              <a:t>相对于断言</a:t>
            </a:r>
            <a:r>
              <a:rPr lang="en-US" altLang="zh-CN" i="1" dirty="0"/>
              <a:t>p</a:t>
            </a:r>
            <a:r>
              <a:rPr lang="zh-CN" altLang="en-US" dirty="0"/>
              <a:t>和</a:t>
            </a:r>
            <a:r>
              <a:rPr lang="en-US" altLang="zh-CN" i="1" dirty="0"/>
              <a:t>q</a:t>
            </a:r>
            <a:r>
              <a:rPr lang="zh-CN" altLang="en-US" dirty="0"/>
              <a:t>的部分正确性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140116" y="2599370"/>
            <a:ext cx="46445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例</a:t>
            </a:r>
            <a:r>
              <a:rPr lang="en-US" altLang="zh-CN" dirty="0"/>
              <a:t>4.3.4</a:t>
            </a:r>
            <a:r>
              <a:rPr lang="zh-CN" altLang="en-US" dirty="0"/>
              <a:t>  </a:t>
            </a:r>
            <a:r>
              <a:rPr lang="en-US" altLang="zh-CN" i="1" dirty="0"/>
              <a:t>p</a:t>
            </a:r>
            <a:r>
              <a:rPr lang="en-US" altLang="zh-CN" dirty="0"/>
              <a:t>{</a:t>
            </a:r>
            <a:r>
              <a:rPr lang="en-US" altLang="zh-CN" i="1" dirty="0"/>
              <a:t>y</a:t>
            </a:r>
            <a:r>
              <a:rPr lang="en-US" altLang="zh-CN" dirty="0"/>
              <a:t>=2; </a:t>
            </a:r>
            <a:r>
              <a:rPr lang="en-US" altLang="zh-CN" i="1" dirty="0"/>
              <a:t>z</a:t>
            </a:r>
            <a:r>
              <a:rPr lang="en-US" altLang="zh-CN" dirty="0"/>
              <a:t>=</a:t>
            </a:r>
            <a:r>
              <a:rPr lang="en-US" altLang="zh-CN" i="1" dirty="0" err="1"/>
              <a:t>x</a:t>
            </a:r>
            <a:r>
              <a:rPr lang="en-US" altLang="zh-CN" dirty="0" err="1"/>
              <a:t>+</a:t>
            </a:r>
            <a:r>
              <a:rPr lang="en-US" altLang="zh-CN" i="1" dirty="0" err="1"/>
              <a:t>y</a:t>
            </a:r>
            <a:r>
              <a:rPr lang="en-US" altLang="zh-CN" dirty="0"/>
              <a:t>}</a:t>
            </a:r>
            <a:r>
              <a:rPr lang="en-US" altLang="zh-CN" i="1" dirty="0"/>
              <a:t>q</a:t>
            </a:r>
            <a:r>
              <a:rPr lang="zh-CN" altLang="en-US" dirty="0"/>
              <a:t>为真</a:t>
            </a:r>
          </a:p>
          <a:p>
            <a:r>
              <a:rPr lang="zh-CN" altLang="en-US" dirty="0"/>
              <a:t>         </a:t>
            </a:r>
            <a:r>
              <a:rPr lang="en-US" altLang="zh-CN" i="1" dirty="0"/>
              <a:t>p</a:t>
            </a:r>
            <a:r>
              <a:rPr lang="en-US" altLang="zh-CN" dirty="0"/>
              <a:t>:</a:t>
            </a:r>
            <a:r>
              <a:rPr lang="en-US" altLang="zh-CN" i="1" dirty="0"/>
              <a:t>x</a:t>
            </a:r>
            <a:r>
              <a:rPr lang="en-US" altLang="zh-CN" dirty="0"/>
              <a:t>=1, </a:t>
            </a:r>
            <a:r>
              <a:rPr lang="en-US" altLang="zh-CN" i="1" dirty="0"/>
              <a:t>q</a:t>
            </a:r>
            <a:r>
              <a:rPr lang="en-US" altLang="zh-CN" dirty="0"/>
              <a:t>:</a:t>
            </a:r>
            <a:r>
              <a:rPr lang="en-US" altLang="zh-CN" i="1" dirty="0"/>
              <a:t>z</a:t>
            </a:r>
            <a:r>
              <a:rPr lang="en-US" altLang="zh-CN" dirty="0"/>
              <a:t>=3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4497" y="4663123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程序验证的方法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39416" y="2309731"/>
            <a:ext cx="6094520" cy="1953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None/>
              <a:defRPr sz="2400" b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Hoare</a:t>
            </a:r>
            <a:r>
              <a:rPr lang="zh-CN" altLang="en-US" sz="2200" dirty="0">
                <a:solidFill>
                  <a:schemeClr val="bg1"/>
                </a:solidFill>
              </a:rPr>
              <a:t>三元组：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p</a:t>
            </a:r>
            <a:r>
              <a:rPr lang="en-US" altLang="zh-CN" sz="2200" dirty="0">
                <a:solidFill>
                  <a:schemeClr val="bg1"/>
                </a:solidFill>
              </a:rPr>
              <a:t>{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S</a:t>
            </a:r>
            <a:r>
              <a:rPr lang="en-US" altLang="zh-CN" sz="2200" dirty="0">
                <a:solidFill>
                  <a:schemeClr val="bg1"/>
                </a:solidFill>
              </a:rPr>
              <a:t>}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q</a:t>
            </a:r>
            <a:r>
              <a:rPr lang="en-US" altLang="zh-CN" sz="22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                          S</a:t>
            </a:r>
            <a:r>
              <a:rPr lang="zh-CN" altLang="en-US" sz="2200" dirty="0">
                <a:solidFill>
                  <a:schemeClr val="bg1"/>
                </a:solidFill>
              </a:rPr>
              <a:t>：程序段</a:t>
            </a:r>
            <a:r>
              <a:rPr lang="en-US" altLang="zh-CN" sz="2200" dirty="0">
                <a:solidFill>
                  <a:schemeClr val="bg1"/>
                </a:solidFill>
              </a:rPr>
              <a:t>, 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p</a:t>
            </a:r>
            <a:r>
              <a:rPr lang="en-US" altLang="zh-CN" sz="2200" dirty="0">
                <a:solidFill>
                  <a:schemeClr val="bg1"/>
                </a:solidFill>
              </a:rPr>
              <a:t>, 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q</a:t>
            </a:r>
            <a:r>
              <a:rPr lang="zh-CN" altLang="en-US" sz="2200" dirty="0">
                <a:solidFill>
                  <a:schemeClr val="bg1"/>
                </a:solidFill>
              </a:rPr>
              <a:t>：断言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p</a:t>
            </a:r>
            <a:r>
              <a:rPr lang="en-US" altLang="zh-CN" sz="2200" dirty="0">
                <a:solidFill>
                  <a:schemeClr val="bg1"/>
                </a:solidFill>
              </a:rPr>
              <a:t>{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S</a:t>
            </a:r>
            <a:r>
              <a:rPr lang="en-US" altLang="zh-CN" sz="2200" dirty="0">
                <a:solidFill>
                  <a:schemeClr val="bg1"/>
                </a:solidFill>
              </a:rPr>
              <a:t>}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</a:rPr>
              <a:t>q</a:t>
            </a:r>
            <a:r>
              <a:rPr lang="zh-CN" altLang="en-US" sz="2200" dirty="0">
                <a:solidFill>
                  <a:schemeClr val="bg1"/>
                </a:solidFill>
              </a:rPr>
              <a:t>为真：</a:t>
            </a: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使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  <a:sym typeface="Symbol" panose="05050102010706020507" pitchFamily="18" charset="2"/>
              </a:rPr>
              <a:t>p</a:t>
            </a: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为真的输入</a:t>
            </a:r>
            <a:r>
              <a:rPr lang="en-US" altLang="zh-CN" sz="2200" dirty="0">
                <a:solidFill>
                  <a:schemeClr val="bg1"/>
                </a:solidFill>
                <a:sym typeface="Symbol" panose="05050102010706020507" pitchFamily="18" charset="2"/>
              </a:rPr>
              <a:t>, 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  <a:sym typeface="Symbol" panose="05050102010706020507" pitchFamily="18" charset="2"/>
              </a:rPr>
              <a:t>S</a:t>
            </a: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的输出使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  <a:sym typeface="Symbol" panose="05050102010706020507" pitchFamily="18" charset="2"/>
              </a:rPr>
              <a:t>q</a:t>
            </a: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为真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                      假定</a:t>
            </a:r>
            <a:r>
              <a:rPr kumimoji="0" lang="en-US" altLang="zh-CN" sz="2200" i="1" kern="0" dirty="0">
                <a:solidFill>
                  <a:schemeClr val="bg1"/>
                </a:solidFill>
                <a:ea typeface="+mn-ea"/>
                <a:cs typeface="+mn-cs"/>
                <a:sym typeface="Symbol" panose="05050102010706020507" pitchFamily="18" charset="2"/>
              </a:rPr>
              <a:t>S</a:t>
            </a: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执行终止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83432" y="5211197"/>
            <a:ext cx="8352928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lnSpc>
                <a:spcPct val="130000"/>
              </a:lnSpc>
              <a:spcBef>
                <a:spcPts val="0"/>
              </a:spcBef>
              <a:buNone/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(1)</a:t>
            </a:r>
            <a:r>
              <a:rPr lang="zh-CN" altLang="en-US" dirty="0"/>
              <a:t>将程序分成若干子程序段</a:t>
            </a:r>
            <a:r>
              <a:rPr lang="en-US" altLang="zh-CN" dirty="0"/>
              <a:t>, </a:t>
            </a:r>
            <a:r>
              <a:rPr lang="zh-CN" altLang="en-US" dirty="0"/>
              <a:t>证明每个程序段的部分正确性</a:t>
            </a:r>
          </a:p>
          <a:p>
            <a:r>
              <a:rPr lang="en-US" altLang="zh-CN" dirty="0"/>
              <a:t>(2)</a:t>
            </a:r>
            <a:r>
              <a:rPr lang="zh-CN" altLang="en-US" dirty="0"/>
              <a:t>通过合成规则证明整个程序的部分正确性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999656" y="1769362"/>
            <a:ext cx="2376264" cy="161286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   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r>
              <a:rPr lang="en-US" altLang="zh-CN" sz="2400" i="1" dirty="0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r>
              <a:rPr lang="en-US" altLang="zh-CN" sz="2400" i="1" dirty="0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————— 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4.3.2*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程序正确性证明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1135" y="1653492"/>
            <a:ext cx="2448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合成规则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82698" y="3842211"/>
            <a:ext cx="4190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条件语句的推理规则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756999" y="4581128"/>
            <a:ext cx="3816424" cy="162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kumimoji="0" lang="zh-CN" altLang="en-US" sz="2400" b="0" kern="0" dirty="0">
                <a:latin typeface="Times New Roman" panose="02020603050405020304" pitchFamily="18" charset="0"/>
              </a:rPr>
              <a:t>    </a:t>
            </a:r>
            <a:r>
              <a:rPr kumimoji="0" lang="en-US" altLang="zh-CN" sz="2400" b="0" kern="0" dirty="0">
                <a:latin typeface="Times New Roman" panose="02020603050405020304" pitchFamily="18" charset="0"/>
              </a:rPr>
              <a:t>(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</a:rPr>
              <a:t>p</a:t>
            </a:r>
            <a:r>
              <a:rPr kumimoji="0" lang="en-US" altLang="zh-CN" sz="2400" b="0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condition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0" lang="en-US" altLang="zh-CN" sz="2400" b="0" kern="0" dirty="0">
                <a:latin typeface="Times New Roman" panose="02020603050405020304" pitchFamily="18" charset="0"/>
              </a:rPr>
              <a:t>{</a:t>
            </a:r>
            <a:r>
              <a:rPr kumimoji="0" lang="en-US" altLang="zh-CN" sz="2400" b="0" i="1" kern="0" dirty="0">
                <a:latin typeface="Times New Roman" panose="02020603050405020304" pitchFamily="18" charset="0"/>
              </a:rPr>
              <a:t>S</a:t>
            </a:r>
            <a:r>
              <a:rPr kumimoji="0" lang="en-US" altLang="zh-CN" sz="2400" b="0" kern="0" dirty="0">
                <a:latin typeface="Times New Roman" panose="02020603050405020304" pitchFamily="18" charset="0"/>
              </a:rPr>
              <a:t>}</a:t>
            </a:r>
            <a:r>
              <a:rPr kumimoji="0" lang="en-US" altLang="zh-CN" sz="2400" b="0" i="1" kern="0" dirty="0">
                <a:latin typeface="Times New Roman" panose="02020603050405020304" pitchFamily="18" charset="0"/>
              </a:rPr>
              <a:t>q</a:t>
            </a:r>
            <a:r>
              <a:rPr kumimoji="0" lang="en-US" altLang="zh-CN" sz="2400" b="0" kern="0" dirty="0">
                <a:latin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</a:rPr>
              <a:t>    (</a:t>
            </a:r>
            <a:r>
              <a:rPr kumimoji="0" lang="en-US" altLang="zh-CN" sz="2400" b="0" i="1" kern="0" dirty="0">
                <a:latin typeface="Times New Roman" panose="02020603050405020304" pitchFamily="18" charset="0"/>
              </a:rPr>
              <a:t>p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condition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kumimoji="0" lang="en-US" altLang="zh-CN" sz="2400" b="0" i="1" kern="0" dirty="0">
                <a:latin typeface="Times New Roman" panose="02020603050405020304" pitchFamily="18" charset="0"/>
              </a:rPr>
              <a:t>q</a:t>
            </a:r>
            <a:r>
              <a:rPr kumimoji="0" lang="en-US" altLang="zh-CN" sz="2400" b="0" kern="0" dirty="0">
                <a:latin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</a:rPr>
              <a:t>——————————— 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</a:rPr>
              <a:t>    </a:t>
            </a:r>
            <a:r>
              <a:rPr kumimoji="0" lang="en-US" altLang="zh-CN" sz="2400" b="0" i="1" kern="0" dirty="0">
                <a:latin typeface="Times New Roman" panose="02020603050405020304" pitchFamily="18" charset="0"/>
              </a:rPr>
              <a:t>p</a:t>
            </a:r>
            <a:r>
              <a:rPr kumimoji="0" lang="en-US" altLang="zh-CN" sz="2400" b="0" kern="0" dirty="0">
                <a:latin typeface="Times New Roman" panose="02020603050405020304" pitchFamily="18" charset="0"/>
              </a:rPr>
              <a:t>{</a:t>
            </a:r>
            <a:r>
              <a:rPr kumimoji="0" lang="en-US" altLang="zh-CN" sz="2400" b="0" i="1" kern="0" dirty="0">
                <a:latin typeface="Times New Roman" panose="02020603050405020304" pitchFamily="18" charset="0"/>
              </a:rPr>
              <a:t>if 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condition </a:t>
            </a:r>
            <a:r>
              <a:rPr kumimoji="0" lang="en-US" altLang="zh-CN" sz="2400" b="0" i="1" kern="0" dirty="0">
                <a:latin typeface="Times New Roman" panose="02020603050405020304" pitchFamily="18" charset="0"/>
              </a:rPr>
              <a:t>S</a:t>
            </a:r>
            <a:r>
              <a:rPr kumimoji="0" lang="en-US" altLang="zh-CN" sz="2400" b="0" kern="0" dirty="0">
                <a:latin typeface="Times New Roman" panose="02020603050405020304" pitchFamily="18" charset="0"/>
              </a:rPr>
              <a:t>}</a:t>
            </a:r>
            <a:r>
              <a:rPr kumimoji="0" lang="en-US" altLang="zh-CN" sz="2400" b="0" i="1" kern="0" dirty="0">
                <a:latin typeface="Times New Roman" panose="02020603050405020304" pitchFamily="18" charset="0"/>
              </a:rPr>
              <a:t>q</a:t>
            </a:r>
            <a:r>
              <a:rPr kumimoji="0" lang="en-US" altLang="zh-CN" sz="2400" b="0" kern="0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500"/>
                            </p:stCondLst>
                            <p:childTnLst>
                              <p:par>
                                <p:cTn id="6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uiExpand="1" build="p"/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99456" y="2234470"/>
            <a:ext cx="4104456" cy="523220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考虑语句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 condition S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4.3.2*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程序正确性证明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7586" y="1650286"/>
            <a:ext cx="6396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i="1" dirty="0"/>
              <a:t>while</a:t>
            </a:r>
            <a:r>
              <a:rPr lang="zh-CN" altLang="en-US" dirty="0"/>
              <a:t>语句的推理规则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47528" y="5150132"/>
            <a:ext cx="63962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zh-CN" alt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            </a:t>
            </a: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000" i="1" dirty="0" err="1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condition</a:t>
            </a: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</a:rPr>
              <a:t>{</a:t>
            </a:r>
            <a:r>
              <a:rPr lang="en-US" altLang="zh-CN" sz="2000" i="1" dirty="0">
                <a:solidFill>
                  <a:schemeClr val="bg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</a:rPr>
              <a:t>}</a:t>
            </a:r>
            <a:r>
              <a:rPr lang="en-US" altLang="zh-CN" sz="2000" i="1" dirty="0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</a:p>
          <a:p>
            <a:pPr marL="0" indent="0"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</a:rPr>
              <a:t>———————————————</a:t>
            </a:r>
          </a:p>
          <a:p>
            <a:pPr marL="0" indent="0"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</a:rPr>
              <a:t>{</a:t>
            </a:r>
            <a:r>
              <a:rPr lang="en-US" altLang="zh-CN" sz="2000" i="1" dirty="0">
                <a:solidFill>
                  <a:schemeClr val="bg1"/>
                </a:solidFill>
                <a:cs typeface="Times New Roman" panose="02020603050405020304" pitchFamily="18" charset="0"/>
              </a:rPr>
              <a:t>while condition S</a:t>
            </a: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</a:rPr>
              <a:t>}(</a:t>
            </a: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i="1" dirty="0" err="1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condition</a:t>
            </a:r>
            <a:r>
              <a:rPr lang="en-US" altLang="zh-CN" sz="2000" dirty="0" err="1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dirty="0" err="1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000" dirty="0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83432" y="4515218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推理规则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005133" y="2784502"/>
            <a:ext cx="2858619" cy="58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循环不变式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1703512" y="3316779"/>
            <a:ext cx="684076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断言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condition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为真时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仍然为真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condition</a:t>
            </a:r>
            <a:r>
              <a:rPr kumimoji="1" lang="en-US" altLang="zh-CN" sz="2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en-US" altLang="zh-CN" sz="2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 build="p"/>
      <p:bldP spid="6" grpId="0"/>
      <p:bldP spid="10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27448" y="2492896"/>
            <a:ext cx="10729192" cy="34910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初始断言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都是整数</a:t>
            </a:r>
          </a:p>
          <a:p>
            <a:pPr marL="400050" lvl="1" indent="0">
              <a:buNone/>
              <a:defRPr/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                       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{}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400050" lvl="1" indent="0">
              <a:buNone/>
              <a:defRPr/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&lt;0  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=(-1)*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  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){}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marL="400050" lvl="1" indent="0">
              <a:buNone/>
              <a:defRPr/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                                       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=0)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=0), 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{}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400050" lvl="1" indent="0">
              <a:buNone/>
              <a:defRPr/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 k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{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+=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++;}           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{}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循环不变式：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 err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mk</a:t>
            </a:r>
            <a:r>
              <a:rPr lang="en-US" altLang="zh-CN" sz="2400" dirty="0" err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i="1" dirty="0" err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dirty="0" err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≤</a:t>
            </a:r>
            <a:r>
              <a:rPr lang="en-US" altLang="zh-CN" sz="2400" i="1" dirty="0" err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sz="2400" i="1" dirty="0">
              <a:solidFill>
                <a:srgbClr val="FFCC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buNone/>
              <a:defRPr/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&lt;0 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=(-1)*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           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{}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  <a:p>
            <a:pPr marL="0" indent="0">
              <a:buNone/>
              <a:defRPr/>
            </a:pP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终结断言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 err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mn</a:t>
            </a:r>
            <a:endParaRPr lang="en-US" altLang="zh-CN" sz="2400" i="1" dirty="0">
              <a:solidFill>
                <a:srgbClr val="FFCC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4.3.2*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程序正确性证明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392" y="1723472"/>
            <a:ext cx="6396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例</a:t>
            </a:r>
            <a:r>
              <a:rPr lang="en-US" altLang="zh-CN" dirty="0"/>
              <a:t>4.3.5</a:t>
            </a:r>
            <a:r>
              <a:rPr lang="zh-CN" altLang="en-US" dirty="0"/>
              <a:t>  验证计算两整数乘积的程序段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3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uiExpand="1" build="p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75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11(3), 15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3392" y="1844824"/>
            <a:ext cx="10945216" cy="215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)),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)),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xR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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的形式证明 。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证明下面的推理：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每个科研工作者都是努力工作的。每个努力工作而又聪明的人都取得事业的成功。某个人是科研工作者并且聪明。所以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某人事业取得成功。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2159</Words>
  <Application>Microsoft Office PowerPoint</Application>
  <PresentationFormat>宽屏</PresentationFormat>
  <Paragraphs>181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楷体_GB2312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803</cp:revision>
  <dcterms:created xsi:type="dcterms:W3CDTF">2008-05-09T05:16:00Z</dcterms:created>
  <dcterms:modified xsi:type="dcterms:W3CDTF">2026-04-13T00:23:51Z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B835106EEE5447E48DF94C1871F9C557_12</vt:lpwstr>
  </property>
  <property fmtid="{D5CDD505-2E9C-101B-9397-08002B2CF9AE}" pid="3" name="KSOProductBuildVer">
    <vt:lpwstr>2052-12.1.0.16729</vt:lpwstr>
  </property>
</Properties>
</file>