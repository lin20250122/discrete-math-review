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377" r:id="rId3"/>
    <p:sldId id="338" r:id="rId4"/>
    <p:sldId id="401" r:id="rId5"/>
    <p:sldId id="258" r:id="rId6"/>
    <p:sldId id="280" r:id="rId7"/>
    <p:sldId id="358" r:id="rId8"/>
    <p:sldId id="392" r:id="rId9"/>
    <p:sldId id="281" r:id="rId10"/>
    <p:sldId id="293" r:id="rId11"/>
    <p:sldId id="408" r:id="rId12"/>
    <p:sldId id="409" r:id="rId13"/>
    <p:sldId id="410" r:id="rId14"/>
    <p:sldId id="399" r:id="rId15"/>
  </p:sldIdLst>
  <p:sldSz cx="12192000" cy="6858000"/>
  <p:notesSz cx="6858000" cy="9144000"/>
  <p:custDataLst>
    <p:tags r:id="rId1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99"/>
    <a:srgbClr val="FFCCFF"/>
    <a:srgbClr val="FF7C80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62" d="100"/>
          <a:sy n="62" d="100"/>
        </p:scale>
        <p:origin x="82" y="4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128448" y="11309"/>
            <a:ext cx="20177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一阶逻辑</a:t>
            </a:r>
            <a:endParaRPr lang="en-US" altLang="zh-CN" sz="20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第四章 一阶逻辑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23592" y="4221088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5072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谓</a:t>
            </a:r>
            <a:r>
              <a:rPr lang="zh-CN" altLang="zh-CN" dirty="0"/>
              <a:t>词公式的基本恒等式和等值演算、谓词公式的前束范式</a:t>
            </a:r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4752528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谓词公式的等值演算和前束范式</a:t>
            </a:r>
            <a:endParaRPr lang="zh-CN" alt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943872" y="260648"/>
            <a:ext cx="6984775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 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谓词公式的等值演算和前束范式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207568" y="5447917"/>
            <a:ext cx="609452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olidFill>
                  <a:srgbClr val="FF7C80"/>
                </a:solidFill>
              </a:rPr>
              <a:t>回忆命题公式的等值演算和范式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983432" y="2578391"/>
            <a:ext cx="36589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797997" y="5073833"/>
            <a:ext cx="41200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4.2.2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谓词公式的前束范式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6"/>
          <p:cNvSpPr/>
          <p:nvPr/>
        </p:nvSpPr>
        <p:spPr bwMode="auto">
          <a:xfrm>
            <a:off x="4554007" y="2300650"/>
            <a:ext cx="244027" cy="108277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823551" y="2053800"/>
            <a:ext cx="28104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等值的定义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谓词公式的恒等式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等值演算</a:t>
            </a:r>
          </a:p>
        </p:txBody>
      </p:sp>
      <p:sp>
        <p:nvSpPr>
          <p:cNvPr id="6" name="AutoShape 8"/>
          <p:cNvSpPr/>
          <p:nvPr/>
        </p:nvSpPr>
        <p:spPr bwMode="auto">
          <a:xfrm>
            <a:off x="4589389" y="4644751"/>
            <a:ext cx="244028" cy="1292663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833417" y="4506252"/>
            <a:ext cx="362071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前束范式的定义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前束范式的存在性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前束范式的求法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335360" y="1665261"/>
            <a:ext cx="6192688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C000"/>
              </a:buClr>
              <a:buSzPct val="80000"/>
              <a:buNone/>
            </a:pP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  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983432" y="2968797"/>
            <a:ext cx="7488832" cy="66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4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是有效公式                                       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983432" y="2265195"/>
            <a:ext cx="8706395" cy="79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等值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对任意解释都取相同的真值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</a:t>
            </a:r>
          </a:p>
        </p:txBody>
      </p:sp>
      <p:sp>
        <p:nvSpPr>
          <p:cNvPr id="15" name="文本框 14"/>
          <p:cNvSpPr txBox="1"/>
          <p:nvPr/>
        </p:nvSpPr>
        <p:spPr>
          <a:xfrm rot="20852945">
            <a:off x="4793274" y="3570448"/>
            <a:ext cx="367240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 algn="ctr" eaLnBrk="1" hangingPunct="1">
              <a:defRPr/>
            </a:pPr>
            <a:r>
              <a:rPr lang="zh-CN" altLang="en-US" sz="24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注意类比命题公式的等值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24" grpId="0"/>
      <p:bldP spid="6" grpId="0"/>
      <p:bldP spid="9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31504" y="2708920"/>
            <a:ext cx="8328248" cy="317508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取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400050" lvl="1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个体域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：整数集</a:t>
            </a:r>
          </a:p>
          <a:p>
            <a:pPr marL="400050" lvl="1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谓词符号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≥0,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&lt;0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xP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xQ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所以这两个谓词公式不等值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9376" y="1804177"/>
            <a:ext cx="9577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例</a:t>
            </a:r>
            <a:r>
              <a:rPr lang="en-US" altLang="zh-CN" dirty="0"/>
              <a:t>4.2.1</a:t>
            </a:r>
            <a:r>
              <a:rPr lang="zh-CN" altLang="en-US" dirty="0"/>
              <a:t>  证明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)∨</a:t>
            </a:r>
            <a:r>
              <a:rPr lang="en-US" altLang="zh-CN" i="1" dirty="0"/>
              <a:t>Q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))</a:t>
            </a:r>
            <a:r>
              <a:rPr lang="zh-CN" altLang="en-US" dirty="0"/>
              <a:t>与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xP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)∨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xQ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zh-CN" altLang="en-US" dirty="0"/>
              <a:t>不等值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9376" y="2774197"/>
            <a:ext cx="1002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olidFill>
                  <a:srgbClr val="FFFF00"/>
                </a:solidFill>
              </a:rPr>
              <a:t>证明：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40135" y="2461574"/>
            <a:ext cx="8713787" cy="2664296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有关联结词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与命题公式的基本恒等式相同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有关量词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谓词公式等值演算的基础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类比命题公式的基本恒等式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1700808"/>
            <a:ext cx="6130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谓词公式的基本恒等式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772864" y="2276872"/>
            <a:ext cx="4891087" cy="3904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是任意的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公式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等幂律：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2.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零    律：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∨1=1, 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∧0=0</a:t>
            </a:r>
            <a:endParaRPr lang="en-US" altLang="zh-CN" sz="2400" b="0" i="1" dirty="0">
              <a:solidFill>
                <a:srgbClr val="FF7C8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3.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同一律：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∨0=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A, 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∧1=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4.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排中律：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  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5.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矛盾律：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=0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6.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双重否定律：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┐(┐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49162" y="1681644"/>
            <a:ext cx="65389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联结词相关基本恒等式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摘自定理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3.2.1)</a:t>
            </a:r>
            <a:endParaRPr lang="zh-CN" altLang="en-US" sz="28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3932" y="2305409"/>
            <a:ext cx="53641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7.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交换律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519936" y="2835583"/>
            <a:ext cx="5436130" cy="93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8.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结合律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∧(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514022" y="3798535"/>
            <a:ext cx="6094520" cy="186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9.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分配律：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endParaRPr lang="en-US" altLang="zh-CN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(∨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对∧的分配律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∧(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)=(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)∨(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(∧</a:t>
            </a:r>
            <a:r>
              <a:rPr lang="zh-CN" altLang="en-US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对∨的分配律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矩形 2"/>
          <p:cNvSpPr/>
          <p:nvPr/>
        </p:nvSpPr>
        <p:spPr>
          <a:xfrm>
            <a:off x="5643397" y="5692385"/>
            <a:ext cx="58272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10.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吸收律：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∨(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 =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∧(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 = 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5BAE995-3B72-42F1-A855-673AC62C2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utoUpdateAnimBg="0"/>
      <p:bldP spid="2" grpId="0"/>
      <p:bldP spid="6" grpId="0"/>
      <p:bldP spid="8" grpId="0"/>
      <p:bldP spid="10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1090712" y="2492896"/>
            <a:ext cx="98298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120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德摩根律：┐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= 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B,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┐(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= ┐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∨┐</a:t>
            </a:r>
            <a:r>
              <a:rPr lang="en-US" altLang="zh-CN" sz="2400" b="0" i="1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23392" y="3068960"/>
            <a:ext cx="6340797" cy="2830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algn="just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12.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蕴含等值式：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lvl="1" algn="just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13.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假言易位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→┐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  <a:p>
            <a:pPr lvl="1" algn="just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14.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等价等值式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= 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15. </a:t>
            </a:r>
            <a:r>
              <a:rPr lang="zh-CN" altLang="en-US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等价否定等值式</a:t>
            </a: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</a:t>
            </a:r>
            <a:r>
              <a:rPr lang="en-US" altLang="zh-CN" sz="2400" b="0" i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↔</a:t>
            </a:r>
            <a:r>
              <a:rPr lang="en-US" altLang="zh-CN" sz="2400" b="0" i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┐</a:t>
            </a:r>
            <a:r>
              <a:rPr lang="en-US" altLang="zh-CN" sz="2400" b="0" i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↔┐</a:t>
            </a:r>
            <a:r>
              <a:rPr lang="en-US" altLang="zh-CN" sz="2400" b="0" i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lvl="1" algn="just"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16. </a:t>
            </a:r>
            <a:r>
              <a:rPr lang="zh-CN" altLang="en-US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归谬论</a:t>
            </a: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(</a:t>
            </a:r>
            <a:r>
              <a:rPr lang="en-US" altLang="zh-CN" sz="2400" b="0" i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en-US" altLang="zh-CN" sz="2400" b="0" i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)∧(</a:t>
            </a:r>
            <a:r>
              <a:rPr lang="en-US" altLang="zh-CN" sz="2400" b="0" i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→┐</a:t>
            </a:r>
            <a:r>
              <a:rPr lang="en-US" altLang="zh-CN" sz="2400" b="0" i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= ┐</a:t>
            </a:r>
            <a:r>
              <a:rPr lang="en-US" altLang="zh-CN" sz="2400" b="0" i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AFE6C6E-FA29-4B83-B674-C6A018F61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utoUpdateAnimBg="0"/>
      <p:bldP spid="5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271464" y="2878455"/>
            <a:ext cx="10441160" cy="3596344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量词否定：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pt-BR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pt-BR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pt-BR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pt-BR" sz="2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量词交换：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量词消去：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换名：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中不含个体变量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 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量词分配：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))=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))=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(6)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量词辖域收缩与扩张：</a:t>
            </a:r>
            <a:r>
              <a:rPr lang="zh-CN" altLang="en-US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B,</a:t>
            </a:r>
            <a:r>
              <a:rPr lang="zh-CN" altLang="pt-BR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pt-BR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000" i="1" kern="12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x)</a:t>
            </a:r>
            <a:r>
              <a:rPr lang="en-US" altLang="zh-CN" sz="2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∧</a:t>
            </a:r>
            <a:r>
              <a:rPr kumimoji="1" lang="en-US" altLang="zh-CN" sz="2000" i="1" kern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1384" y="1700808"/>
            <a:ext cx="6130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定理</a:t>
            </a:r>
            <a:r>
              <a:rPr lang="en-US" altLang="zh-CN" dirty="0"/>
              <a:t>4.2.1  </a:t>
            </a:r>
            <a:r>
              <a:rPr lang="zh-CN" altLang="en-US" dirty="0"/>
              <a:t>有关量词的基本恒等式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9416" y="2420888"/>
            <a:ext cx="10153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是任意的谓词公式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含自由变量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含自由变量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不含自由变量</a:t>
            </a:r>
            <a:r>
              <a:rPr lang="en-US" altLang="zh-CN" sz="2000" b="0" i="1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endParaRPr lang="zh-CN" altLang="en-US" sz="2000" b="0" i="1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70476" y="2216764"/>
            <a:ext cx="10556720" cy="3456384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是谓词公式的任意解释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中的个体域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pt-BR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下：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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等式得证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1040" y="1722294"/>
            <a:ext cx="1104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  <a:r>
              <a:rPr lang="en-US" altLang="zh-CN" sz="2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7408" y="2175334"/>
            <a:ext cx="11424592" cy="352839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))=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pt-BR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解释</a:t>
            </a:r>
            <a:r>
              <a:rPr lang="en-US" altLang="zh-CN" sz="2400" i="1" dirty="0">
                <a:solidFill>
                  <a:srgbClr val="FFCC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下：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为真且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为真</a:t>
            </a: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为假或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 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为假或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xA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为假 </a:t>
            </a: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等式得证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1040" y="1722294"/>
            <a:ext cx="1104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</a:t>
            </a:r>
            <a:r>
              <a:rPr lang="en-US" altLang="zh-CN" sz="2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400" b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4.2.1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谓词公式的等值演算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2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2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26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55440" y="2286621"/>
            <a:ext cx="10801200" cy="211959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前束范式：谓词公式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形如□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□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…□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i="1" kern="1200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□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是量词或</a:t>
            </a: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kern="12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…,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i="1" kern="1200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是个体变量</a:t>
            </a:r>
          </a:p>
          <a:p>
            <a:pPr marL="0" indent="0" eaLnBrk="1" hangingPunct="1">
              <a:buNone/>
              <a:defRPr/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是不含量词的谓词公式</a:t>
            </a:r>
          </a:p>
          <a:p>
            <a:pPr marL="0" indent="0" eaLnBrk="1" hangingPunct="1"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前缀： □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□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…□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400" i="1" kern="1200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zh-CN" sz="2400" baseline="-25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主式：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pt-BR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9376" y="1660707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>
                <a:sym typeface="Symbol" panose="05050102010706020507" pitchFamily="18" charset="2"/>
              </a:rPr>
              <a:t>定义</a:t>
            </a:r>
            <a:r>
              <a:rPr lang="en-US" altLang="zh-CN" dirty="0">
                <a:sym typeface="Symbol" panose="05050102010706020507" pitchFamily="18" charset="2"/>
              </a:rPr>
              <a:t>4.2.2  </a:t>
            </a:r>
            <a:r>
              <a:rPr lang="zh-CN" altLang="en-US" dirty="0">
                <a:sym typeface="Symbol" panose="05050102010706020507" pitchFamily="18" charset="2"/>
              </a:rPr>
              <a:t>前束范式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74794" y="4448114"/>
            <a:ext cx="17607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defRPr/>
            </a:pPr>
            <a:r>
              <a:rPr lang="zh-CN" altLang="en-US" sz="2800" b="0" dirty="0">
                <a:solidFill>
                  <a:srgbClr val="FFC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例</a:t>
            </a:r>
            <a:r>
              <a:rPr lang="en-US" altLang="zh-CN" sz="2800" b="0" dirty="0">
                <a:solidFill>
                  <a:srgbClr val="FFC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4.2.2</a:t>
            </a:r>
            <a:endParaRPr lang="zh-CN" altLang="en-US" sz="2800" b="0" dirty="0">
              <a:solidFill>
                <a:srgbClr val="FFCC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5360" y="5850315"/>
            <a:ext cx="9505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ym typeface="Symbol" panose="05050102010706020507" pitchFamily="18" charset="2"/>
              </a:rPr>
              <a:t>定理</a:t>
            </a:r>
            <a:r>
              <a:rPr lang="en-US" altLang="zh-CN" dirty="0">
                <a:sym typeface="Symbol" panose="05050102010706020507" pitchFamily="18" charset="2"/>
              </a:rPr>
              <a:t>4.2.1  </a:t>
            </a:r>
            <a:r>
              <a:rPr lang="zh-CN" altLang="en-US" dirty="0">
                <a:sym typeface="Symbol" panose="05050102010706020507" pitchFamily="18" charset="2"/>
              </a:rPr>
              <a:t>任何谓词公式都存在与之等值的前束范式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703512" y="4406211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pt-BR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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x)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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pt-BR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(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)∧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4.2.2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谓词公式的前束范式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4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49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6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8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01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343472" y="2348880"/>
            <a:ext cx="8893175" cy="3812368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yC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yC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         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消去无用量词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         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换名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消去重名个体变量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uC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    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消去→和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))∨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     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内移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至谓词前面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pt-BR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)∧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1" lang="en-US" altLang="zh-CN" sz="2400" i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))     (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量词前移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1384" y="1700808"/>
            <a:ext cx="1015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defRPr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4.2.3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求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)∨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zB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)→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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yC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的前束范式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1463" y="2506777"/>
            <a:ext cx="6480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解：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8" y="336712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4.2.2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谓词公式的前束范式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0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0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0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0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0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75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9(2), 10(1)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3392" y="1844824"/>
            <a:ext cx="10945216" cy="1687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指出谓词公式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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xR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的指导变元、量词的辖域、约束变元和自由变元。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求谓词公式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))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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yR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的前束范式。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3.1|2.7|5.6|5.9|4.4|3.1|2.4|3.5|5.8|1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1728</Words>
  <Application>Microsoft Office PowerPoint</Application>
  <PresentationFormat>宽屏</PresentationFormat>
  <Paragraphs>115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楷体_GB2312</vt:lpstr>
      <vt:lpstr>宋体</vt:lpstr>
      <vt:lpstr>微软雅黑</vt:lpstr>
      <vt:lpstr>Arial</vt:lpstr>
      <vt:lpstr>Calibri</vt:lpstr>
      <vt:lpstr>Symbol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784</cp:revision>
  <dcterms:created xsi:type="dcterms:W3CDTF">2008-05-09T05:16:00Z</dcterms:created>
  <dcterms:modified xsi:type="dcterms:W3CDTF">2026-03-30T02:10:03Z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E7089B49AB784F34BE931FCCC0787506_12</vt:lpwstr>
  </property>
  <property fmtid="{D5CDD505-2E9C-101B-9397-08002B2CF9AE}" pid="3" name="KSOProductBuildVer">
    <vt:lpwstr>2052-12.1.0.16729</vt:lpwstr>
  </property>
</Properties>
</file>