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3" r:id="rId2"/>
    <p:sldId id="266" r:id="rId3"/>
    <p:sldId id="268" r:id="rId4"/>
    <p:sldId id="275" r:id="rId5"/>
    <p:sldId id="267" r:id="rId6"/>
    <p:sldId id="269" r:id="rId7"/>
    <p:sldId id="270" r:id="rId8"/>
    <p:sldId id="273" r:id="rId9"/>
    <p:sldId id="274" r:id="rId10"/>
  </p:sldIdLst>
  <p:sldSz cx="12192000" cy="6858000"/>
  <p:notesSz cx="6858000" cy="9144000"/>
  <p:custDataLst>
    <p:tags r:id="rId1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FF3300"/>
    <a:srgbClr val="336699"/>
    <a:srgbClr val="3333CC"/>
    <a:srgbClr val="333399"/>
    <a:srgbClr val="006699"/>
    <a:srgbClr val="003399"/>
    <a:srgbClr val="FF7C80"/>
    <a:srgbClr val="FF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86003" autoAdjust="0"/>
  </p:normalViewPr>
  <p:slideViewPr>
    <p:cSldViewPr showGuides="1">
      <p:cViewPr varScale="1">
        <p:scale>
          <a:sx n="68" d="100"/>
          <a:sy n="68" d="100"/>
        </p:scale>
        <p:origin x="446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26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C6A90-CF39-4625-810A-4C5B9DCF36E9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6D8B5-507E-45EB-A262-A7BFAFD8EF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6387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33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200456" y="11309"/>
            <a:ext cx="19457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集合论</a:t>
            </a:r>
            <a:endParaRPr lang="en-US" altLang="zh-CN" sz="2000" b="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ization.zhihuishu.com/course/design/1782278457766580224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9800" y="1772816"/>
            <a:ext cx="7772400" cy="1920875"/>
          </a:xfrm>
        </p:spPr>
        <p:txBody>
          <a:bodyPr/>
          <a:lstStyle/>
          <a:p>
            <a:pPr>
              <a:defRPr/>
            </a:pPr>
            <a:r>
              <a:rPr lang="zh-CN" altLang="en-US" sz="6600" b="1" dirty="0"/>
              <a:t>离散数学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95600" y="3933056"/>
            <a:ext cx="6400800" cy="2040632"/>
          </a:xfrm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zh-CN" altLang="en-US" sz="2800" dirty="0"/>
              <a:t>卢兴见</a:t>
            </a:r>
            <a:endParaRPr lang="en-US" altLang="zh-CN" sz="2800" dirty="0"/>
          </a:p>
          <a:p>
            <a:pPr>
              <a:spcBef>
                <a:spcPts val="600"/>
              </a:spcBef>
              <a:defRPr/>
            </a:pPr>
            <a:r>
              <a:rPr lang="zh-CN" altLang="en-US" sz="2800" dirty="0"/>
              <a:t>华东师范大学计算机学院</a:t>
            </a:r>
            <a:endParaRPr lang="en-US" altLang="zh-CN" sz="2800" dirty="0"/>
          </a:p>
          <a:p>
            <a:pPr>
              <a:spcBef>
                <a:spcPts val="600"/>
              </a:spcBef>
              <a:defRPr/>
            </a:pPr>
            <a:r>
              <a:rPr lang="en-US" altLang="zh-CN" sz="2800" dirty="0"/>
              <a:t>xjlu@cs.ecnu.edu.cn</a:t>
            </a:r>
          </a:p>
          <a:p>
            <a:pPr>
              <a:spcBef>
                <a:spcPts val="600"/>
              </a:spcBef>
              <a:defRPr/>
            </a:pPr>
            <a:r>
              <a:rPr lang="en-US" altLang="zh-CN" sz="2800" dirty="0"/>
              <a:t>18621501976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文本占位符 73730"/>
          <p:cNvSpPr>
            <a:spLocks noGrp="1"/>
          </p:cNvSpPr>
          <p:nvPr>
            <p:ph idx="1"/>
          </p:nvPr>
        </p:nvSpPr>
        <p:spPr>
          <a:xfrm>
            <a:off x="659396" y="286292"/>
            <a:ext cx="10873208" cy="324036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zh-CN" altLang="en-US" sz="3600" b="1" noProof="1">
                <a:solidFill>
                  <a:srgbClr val="FFFF00"/>
                </a:solidFill>
              </a:rPr>
              <a:t>一、什么是离散数学？</a:t>
            </a:r>
            <a:endParaRPr lang="en-US" altLang="zh-CN" sz="3600" b="1" noProof="1">
              <a:solidFill>
                <a:srgbClr val="FFFF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noProof="1"/>
              <a:t>数学的研究对象根据其数据类型可以分为两种：</a:t>
            </a:r>
            <a:endParaRPr lang="en-US" altLang="zh-CN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altLang="zh-CN" b="1" noProof="1"/>
              <a:t>   </a:t>
            </a:r>
            <a:r>
              <a:rPr lang="zh-CN" altLang="en-US" b="1" noProof="1">
                <a:solidFill>
                  <a:srgbClr val="FFC000"/>
                </a:solidFill>
              </a:rPr>
              <a:t>连续对象</a:t>
            </a:r>
            <a:r>
              <a:rPr lang="zh-CN" altLang="en-US" b="1" noProof="1"/>
              <a:t>：如长度、温度、面积等。</a:t>
            </a:r>
            <a:endParaRPr lang="en-US" altLang="zh-CN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altLang="zh-CN" b="1" noProof="1"/>
              <a:t>   </a:t>
            </a:r>
            <a:r>
              <a:rPr lang="zh-CN" altLang="en-US" b="1" noProof="1">
                <a:solidFill>
                  <a:srgbClr val="FFC000"/>
                </a:solidFill>
              </a:rPr>
              <a:t>离散对象</a:t>
            </a:r>
            <a:r>
              <a:rPr lang="zh-CN" altLang="en-US" b="1" noProof="1"/>
              <a:t>：如商店商品，学生所学课程等。</a:t>
            </a:r>
            <a:endParaRPr lang="en-US" altLang="zh-CN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zh-CN" sz="3600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zh-CN" sz="3600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zh-CN" sz="3600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zh-CN" sz="3600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zh-CN" sz="3600" b="1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altLang="zh-CN" sz="3600" b="1" noProof="1"/>
          </a:p>
          <a:p>
            <a:pPr eaLnBrk="1" hangingPunct="1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b="1" noProof="1">
                <a:solidFill>
                  <a:srgbClr val="FFFF00"/>
                </a:solidFill>
              </a:rPr>
              <a:t>离散数学</a:t>
            </a:r>
            <a:r>
              <a:rPr lang="zh-CN" altLang="en-US" b="1" noProof="1"/>
              <a:t>是研究</a:t>
            </a:r>
            <a:r>
              <a:rPr lang="zh-CN" altLang="en-US" b="1" noProof="1">
                <a:solidFill>
                  <a:srgbClr val="FF0000"/>
                </a:solidFill>
              </a:rPr>
              <a:t>离散对象</a:t>
            </a:r>
            <a:r>
              <a:rPr lang="zh-CN" altLang="en-US" b="1" noProof="1"/>
              <a:t>的结构及其它们之间相互关系的科学，研究对象为有限或无穷可数个元素。</a:t>
            </a:r>
            <a:endParaRPr lang="en-US" altLang="zh-CN" noProof="1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sz="2800" noProof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9" y="2618509"/>
            <a:ext cx="1874682" cy="4953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9" y="3312437"/>
            <a:ext cx="2187130" cy="9602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933" y="2368719"/>
            <a:ext cx="1874682" cy="101114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9933" y="3498238"/>
            <a:ext cx="2495136" cy="1373469"/>
          </a:xfrm>
          <a:prstGeom prst="rect">
            <a:avLst/>
          </a:prstGeom>
        </p:spPr>
      </p:pic>
      <p:sp>
        <p:nvSpPr>
          <p:cNvPr id="9" name="爆炸形: 8 pt  8"/>
          <p:cNvSpPr/>
          <p:nvPr/>
        </p:nvSpPr>
        <p:spPr bwMode="auto">
          <a:xfrm>
            <a:off x="972803" y="4289770"/>
            <a:ext cx="2187130" cy="1201843"/>
          </a:xfrm>
          <a:prstGeom prst="irregularSeal1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离散例子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381" y="2368719"/>
            <a:ext cx="2187130" cy="149364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952" y="3933056"/>
            <a:ext cx="3490146" cy="130524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812" y="2383341"/>
            <a:ext cx="2292491" cy="1479027"/>
          </a:xfrm>
          <a:prstGeom prst="rect">
            <a:avLst/>
          </a:prstGeom>
        </p:spPr>
      </p:pic>
      <p:sp>
        <p:nvSpPr>
          <p:cNvPr id="17" name="爆炸形: 8 pt  16"/>
          <p:cNvSpPr/>
          <p:nvPr/>
        </p:nvSpPr>
        <p:spPr bwMode="auto">
          <a:xfrm>
            <a:off x="6384032" y="3862368"/>
            <a:ext cx="1952553" cy="1479027"/>
          </a:xfrm>
          <a:prstGeom prst="irregularSeal1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不离散</a:t>
            </a:r>
            <a:endParaRPr kumimoji="1" lang="en-US" altLang="zh-CN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例子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文本占位符 75778"/>
          <p:cNvSpPr>
            <a:spLocks noGrp="1"/>
          </p:cNvSpPr>
          <p:nvPr>
            <p:ph idx="1"/>
          </p:nvPr>
        </p:nvSpPr>
        <p:spPr>
          <a:xfrm>
            <a:off x="767408" y="404664"/>
            <a:ext cx="10945216" cy="59039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kumimoji="1" lang="zh-CN" altLang="en-US" sz="3600" b="1" kern="1200" noProof="1">
                <a:solidFill>
                  <a:srgbClr val="FFFF00"/>
                </a:solidFill>
              </a:rPr>
              <a:t>二、离散数学与计算机科学的关系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1600" b="1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1600" b="1" noProof="1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noProof="1">
                <a:solidFill>
                  <a:srgbClr val="FFFF00"/>
                </a:solidFill>
              </a:rPr>
              <a:t>离散数学是计算机科学的理论基础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200" b="1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/>
              <a:t>计算机是离散的机器，计算机的理论模型是离散的图灵机（</a:t>
            </a:r>
            <a:r>
              <a:rPr lang="en-US" altLang="zh-CN" sz="2200" noProof="1"/>
              <a:t>1936</a:t>
            </a:r>
            <a:r>
              <a:rPr lang="zh-CN" altLang="en-US" sz="2200" noProof="1"/>
              <a:t>）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zh-CN" altLang="en-US" sz="2200" noProof="1"/>
              <a:t>计算机软件和硬件都属于离散结构，必然大量使用离散数学</a:t>
            </a:r>
            <a:endParaRPr lang="en-US" altLang="zh-CN" sz="2200" noProof="1"/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zh-CN" altLang="en-US" sz="2200" noProof="1"/>
              <a:t>本质上计算机只处理离散对象，通过近似和模拟等手段处理连续对象</a:t>
            </a:r>
            <a:endParaRPr lang="en-US" altLang="zh-CN" sz="22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200" noProof="1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noProof="1">
                <a:solidFill>
                  <a:srgbClr val="FFFF00"/>
                </a:solidFill>
              </a:rPr>
              <a:t>离散数学在计算机科学中直接有用，是计算机科学的工具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2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/>
              <a:t>     后继课程（编译原理、数据结构、操作系统等）的基础；实际应用的基础工具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200" noProof="1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noProof="1">
                <a:solidFill>
                  <a:srgbClr val="FFFF00"/>
                </a:solidFill>
              </a:rPr>
              <a:t>计算机科学和离散数学处理问题的方法、思维方式有相似之处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200" noProof="1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/>
              <a:t>     提供所需的思维训练，培养所需的分析问题和解决问题的能力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200" noProof="1"/>
          </a:p>
        </p:txBody>
      </p:sp>
      <p:sp>
        <p:nvSpPr>
          <p:cNvPr id="2" name="文本框 1"/>
          <p:cNvSpPr txBox="1"/>
          <p:nvPr/>
        </p:nvSpPr>
        <p:spPr>
          <a:xfrm>
            <a:off x="8760296" y="1196752"/>
            <a:ext cx="1800324" cy="646331"/>
          </a:xfrm>
          <a:prstGeom prst="rect">
            <a:avLst/>
          </a:prstGeom>
          <a:solidFill>
            <a:srgbClr val="336699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600" dirty="0">
                <a:solidFill>
                  <a:schemeClr val="bg1"/>
                </a:solidFill>
                <a:highlight>
                  <a:srgbClr val="808000"/>
                </a:highlight>
              </a:rPr>
              <a:t>float    x; </a:t>
            </a:r>
            <a:endParaRPr lang="zh-CN" altLang="en-US" sz="3600" dirty="0">
              <a:solidFill>
                <a:schemeClr val="bg1"/>
              </a:solidFill>
              <a:highlight>
                <a:srgbClr val="8080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3392" y="412389"/>
            <a:ext cx="11305256" cy="611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spcAft>
                <a:spcPts val="2400"/>
              </a:spcAft>
              <a:defRPr/>
            </a:pPr>
            <a:r>
              <a:rPr lang="zh-CN" altLang="en-US" sz="3600" dirty="0">
                <a:solidFill>
                  <a:srgbClr val="FFFF00"/>
                </a:solidFill>
                <a:latin typeface="+mn-lt"/>
                <a:ea typeface="+mn-ea"/>
              </a:rPr>
              <a:t>三、离散数学课程目的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zh-CN" sz="3200" noProof="1">
                <a:solidFill>
                  <a:srgbClr val="FFFF00"/>
                </a:solidFill>
              </a:rPr>
              <a:t>1. </a:t>
            </a:r>
            <a:r>
              <a:rPr lang="zh-CN" altLang="en-US" sz="3200" noProof="1">
                <a:solidFill>
                  <a:srgbClr val="FFFF00"/>
                </a:solidFill>
              </a:rPr>
              <a:t>掌握离散数学的基本概念和基本原理</a:t>
            </a:r>
            <a:endParaRPr lang="en-US" altLang="zh-CN" sz="3200" noProof="1">
              <a:solidFill>
                <a:srgbClr val="FFFF00"/>
              </a:solidFill>
            </a:endParaRPr>
          </a:p>
          <a:p>
            <a:r>
              <a:rPr lang="zh-CN" altLang="en-US" sz="2800" noProof="1">
                <a:solidFill>
                  <a:schemeClr val="bg1"/>
                </a:solidFill>
              </a:rPr>
              <a:t>所涉及的概念、方法和理论，大量出现在“编译原理”、“数据结构”、“操作系统”、“数据库系统”、“算法分析”、“人工智能”等众多领域，为学习这些课程做了必要的知识准备。</a:t>
            </a:r>
            <a:endParaRPr lang="en-US" altLang="zh-CN" sz="2800" noProof="1">
              <a:solidFill>
                <a:schemeClr val="bg1"/>
              </a:solidFill>
            </a:endParaRPr>
          </a:p>
          <a:p>
            <a:endParaRPr lang="en-US" altLang="zh-CN" sz="2400" noProof="1">
              <a:solidFill>
                <a:schemeClr val="bg1"/>
              </a:solidFill>
            </a:endParaRPr>
          </a:p>
          <a:p>
            <a:endParaRPr lang="en-US" altLang="zh-CN" sz="2400" noProof="1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zh-CN" sz="3200" noProof="1">
                <a:solidFill>
                  <a:srgbClr val="FFFF00"/>
                </a:solidFill>
              </a:rPr>
              <a:t>2.</a:t>
            </a:r>
            <a:r>
              <a:rPr lang="zh-CN" altLang="en-US" sz="3200" noProof="1">
                <a:solidFill>
                  <a:srgbClr val="FFFF00"/>
                </a:solidFill>
              </a:rPr>
              <a:t> 提供良好的数学训练</a:t>
            </a:r>
            <a:endParaRPr lang="en-US" altLang="zh-CN" sz="3200" noProof="1">
              <a:solidFill>
                <a:srgbClr val="FFFF00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800" noProof="1">
                <a:solidFill>
                  <a:schemeClr val="bg1"/>
                </a:solidFill>
              </a:rPr>
              <a:t>（</a:t>
            </a:r>
            <a:r>
              <a:rPr lang="en-US" altLang="zh-CN" sz="2800" noProof="1">
                <a:solidFill>
                  <a:schemeClr val="bg1"/>
                </a:solidFill>
              </a:rPr>
              <a:t>1</a:t>
            </a:r>
            <a:r>
              <a:rPr lang="zh-CN" altLang="en-US" sz="2800" noProof="1">
                <a:solidFill>
                  <a:schemeClr val="bg1"/>
                </a:solidFill>
              </a:rPr>
              <a:t>）提高逻辑思维、抽象思维能力</a:t>
            </a:r>
            <a:endParaRPr lang="en-US" altLang="zh-CN" sz="2800" noProof="1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800" noProof="1">
                <a:solidFill>
                  <a:schemeClr val="bg1"/>
                </a:solidFill>
              </a:rPr>
              <a:t>（</a:t>
            </a:r>
            <a:r>
              <a:rPr lang="en-US" altLang="zh-CN" sz="2800" noProof="1">
                <a:solidFill>
                  <a:schemeClr val="bg1"/>
                </a:solidFill>
              </a:rPr>
              <a:t>2</a:t>
            </a:r>
            <a:r>
              <a:rPr lang="zh-CN" altLang="en-US" sz="2800" noProof="1">
                <a:solidFill>
                  <a:schemeClr val="bg1"/>
                </a:solidFill>
              </a:rPr>
              <a:t>）提高严密的推理能力</a:t>
            </a:r>
            <a:endParaRPr lang="en-US" altLang="zh-CN" sz="2800" noProof="1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800" noProof="1">
                <a:solidFill>
                  <a:schemeClr val="bg1"/>
                </a:solidFill>
              </a:rPr>
              <a:t>（</a:t>
            </a:r>
            <a:r>
              <a:rPr lang="en-US" altLang="zh-CN" sz="2800" noProof="1">
                <a:solidFill>
                  <a:schemeClr val="bg1"/>
                </a:solidFill>
              </a:rPr>
              <a:t>3</a:t>
            </a:r>
            <a:r>
              <a:rPr lang="zh-CN" altLang="en-US" sz="2800" noProof="1">
                <a:solidFill>
                  <a:schemeClr val="bg1"/>
                </a:solidFill>
              </a:rPr>
              <a:t>）提高数学语言描述能力</a:t>
            </a:r>
            <a:endParaRPr lang="en-US" altLang="zh-CN" sz="2800" noProof="1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800" noProof="1">
                <a:solidFill>
                  <a:schemeClr val="bg1"/>
                </a:solidFill>
              </a:rPr>
              <a:t>（</a:t>
            </a:r>
            <a:r>
              <a:rPr lang="en-US" altLang="zh-CN" sz="2800" noProof="1">
                <a:solidFill>
                  <a:schemeClr val="bg1"/>
                </a:solidFill>
              </a:rPr>
              <a:t>4</a:t>
            </a:r>
            <a:r>
              <a:rPr lang="zh-CN" altLang="en-US" sz="2800" noProof="1">
                <a:solidFill>
                  <a:schemeClr val="bg1"/>
                </a:solidFill>
              </a:rPr>
              <a:t>）提高判断对错能力</a:t>
            </a:r>
            <a:r>
              <a:rPr lang="en-US" altLang="zh-CN" sz="2800" noProof="1">
                <a:solidFill>
                  <a:schemeClr val="bg1"/>
                </a:solidFill>
              </a:rPr>
              <a:t>——</a:t>
            </a:r>
            <a:r>
              <a:rPr lang="zh-CN" altLang="en-US" sz="2800" noProof="1">
                <a:solidFill>
                  <a:schemeClr val="bg1"/>
                </a:solidFill>
              </a:rPr>
              <a:t>独立工作能力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6" name="右大括号 5"/>
          <p:cNvSpPr/>
          <p:nvPr/>
        </p:nvSpPr>
        <p:spPr bwMode="auto">
          <a:xfrm>
            <a:off x="7549440" y="4509120"/>
            <a:ext cx="504056" cy="1872208"/>
          </a:xfrm>
          <a:prstGeom prst="rightBrace">
            <a:avLst/>
          </a:prstGeom>
          <a:noFill/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53496" y="4941168"/>
            <a:ext cx="288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分析问题与</a:t>
            </a:r>
            <a:endParaRPr lang="en-US" altLang="zh-CN" sz="2800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解决问题的能力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710" y="1378885"/>
            <a:ext cx="7866579" cy="46492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11424" y="195802"/>
            <a:ext cx="7133684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spcAft>
                <a:spcPts val="2400"/>
              </a:spcAft>
              <a:defRPr/>
            </a:pPr>
            <a:r>
              <a:rPr lang="zh-CN" altLang="en-US" sz="3600" dirty="0">
                <a:solidFill>
                  <a:srgbClr val="FFFF00"/>
                </a:solidFill>
                <a:latin typeface="+mn-lt"/>
                <a:ea typeface="+mn-ea"/>
              </a:rPr>
              <a:t>四、离散数学主要内容（本课程）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27448" y="6200533"/>
            <a:ext cx="761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bg1"/>
                </a:solidFill>
              </a:rPr>
              <a:t>离散数学数智化课程链接：</a:t>
            </a:r>
            <a:r>
              <a:rPr lang="zh-CN" altLang="en-US" sz="2400" dirty="0">
                <a:solidFill>
                  <a:srgbClr val="FFFF00"/>
                </a:solidFill>
                <a:hlinkClick r:id="rId3"/>
              </a:rPr>
              <a:t>离散数学 </a:t>
            </a:r>
            <a:r>
              <a:rPr lang="en-US" altLang="zh-CN" sz="2400" dirty="0">
                <a:solidFill>
                  <a:srgbClr val="FFFF00"/>
                </a:solidFill>
                <a:hlinkClick r:id="rId3"/>
              </a:rPr>
              <a:t>(zhihuishu.com)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8903" y="857781"/>
            <a:ext cx="10394192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noProof="1">
                <a:solidFill>
                  <a:srgbClr val="FFFF00"/>
                </a:solidFill>
              </a:rPr>
              <a:t>离散数学是现代数学的一个重要分支，随着计算机科学的发展而逐步建立。</a:t>
            </a:r>
            <a:endParaRPr lang="en-US" altLang="zh-CN" sz="2400" noProof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文本占位符 76802"/>
          <p:cNvSpPr>
            <a:spLocks noGrp="1"/>
          </p:cNvSpPr>
          <p:nvPr>
            <p:ph idx="1"/>
          </p:nvPr>
        </p:nvSpPr>
        <p:spPr>
          <a:xfrm>
            <a:off x="839416" y="836712"/>
            <a:ext cx="10801200" cy="53609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600" b="1" noProof="1"/>
              <a:t>五、如何学好离散数学？</a:t>
            </a:r>
            <a:endParaRPr lang="zh-CN" altLang="en-US" sz="3600" noProof="1"/>
          </a:p>
          <a:p>
            <a:pPr eaLnBrk="1" hangingPunct="1">
              <a:defRPr/>
            </a:pPr>
            <a:endParaRPr lang="zh-CN" altLang="en-US" sz="3600" b="1" noProof="1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b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掌握概念：</a:t>
            </a:r>
            <a:endParaRPr kumimoji="1" lang="en-US" altLang="zh-CN" b="1" kern="1200" noProof="1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lang="en-US" altLang="zh-CN" noProof="1"/>
              <a:t>   </a:t>
            </a:r>
            <a:r>
              <a:rPr lang="zh-CN" altLang="en-US" noProof="1"/>
              <a:t>彻底理解基本概念和方法（本质、背景、实际意义），</a:t>
            </a:r>
            <a:endParaRPr lang="en-US" altLang="zh-CN" noProof="1"/>
          </a:p>
          <a:p>
            <a:pPr marL="0" indent="0" eaLnBrk="1" hangingPunct="1">
              <a:buNone/>
              <a:defRPr/>
            </a:pPr>
            <a:r>
              <a:rPr lang="en-US" altLang="zh-CN" noProof="1"/>
              <a:t>   </a:t>
            </a:r>
            <a:r>
              <a:rPr lang="zh-CN" altLang="en-US" noProof="1"/>
              <a:t>多思考，在模棱两可的地方多下功夫，弄懂、弄透；</a:t>
            </a:r>
            <a:endParaRPr lang="en-US" altLang="zh-CN" noProof="1"/>
          </a:p>
          <a:p>
            <a:pPr marL="0" indent="0" eaLnBrk="1" hangingPunct="1">
              <a:buNone/>
              <a:defRPr/>
            </a:pPr>
            <a:endParaRPr lang="zh-CN" altLang="en-US" noProof="1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b="1" kern="1200" noProof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认真完成作业：</a:t>
            </a:r>
          </a:p>
          <a:p>
            <a:pPr marL="0" indent="0" eaLnBrk="1" hangingPunct="1">
              <a:buNone/>
              <a:defRPr/>
            </a:pPr>
            <a:r>
              <a:rPr lang="zh-CN" altLang="en-US" noProof="1"/>
              <a:t>    多做习题，灵活应用，举一反三</a:t>
            </a:r>
          </a:p>
          <a:p>
            <a:pPr eaLnBrk="1" hangingPunct="1"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文本占位符 77826"/>
          <p:cNvSpPr>
            <a:spLocks noGrp="1"/>
          </p:cNvSpPr>
          <p:nvPr>
            <p:ph idx="1"/>
          </p:nvPr>
        </p:nvSpPr>
        <p:spPr>
          <a:xfrm>
            <a:off x="407368" y="458787"/>
            <a:ext cx="11784632" cy="3114229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3600" b="1" noProof="1">
                <a:solidFill>
                  <a:srgbClr val="FFFF00"/>
                </a:solidFill>
              </a:rPr>
              <a:t>教材</a:t>
            </a:r>
            <a:endParaRPr lang="en-US" altLang="zh-CN" sz="3600" b="1" noProof="1">
              <a:solidFill>
                <a:srgbClr val="FFFF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noProof="1"/>
              <a:t>《</a:t>
            </a:r>
            <a:r>
              <a:rPr lang="zh-CN" altLang="en-US" noProof="1"/>
              <a:t>离散数学 第</a:t>
            </a:r>
            <a:r>
              <a:rPr lang="en-US" altLang="zh-CN" noProof="1"/>
              <a:t>4</a:t>
            </a:r>
            <a:r>
              <a:rPr lang="zh-CN" altLang="en-US" noProof="1"/>
              <a:t>版</a:t>
            </a:r>
            <a:r>
              <a:rPr lang="en-US" altLang="zh-CN" noProof="1"/>
              <a:t>》</a:t>
            </a:r>
            <a:r>
              <a:rPr lang="zh-CN" altLang="en-US" noProof="1"/>
              <a:t>，章炯民等，华东师范大学出版社，</a:t>
            </a:r>
            <a:r>
              <a:rPr lang="en-US" altLang="zh-CN" noProof="1"/>
              <a:t>2021</a:t>
            </a:r>
            <a:r>
              <a:rPr lang="zh-CN" altLang="en-US" noProof="1"/>
              <a:t>年</a:t>
            </a:r>
            <a:endParaRPr lang="en-US" altLang="zh-CN" noProof="1"/>
          </a:p>
          <a:p>
            <a:pPr eaLnBrk="1" hangingPunct="1">
              <a:defRPr/>
            </a:pPr>
            <a:r>
              <a:rPr lang="zh-CN" altLang="en-US" noProof="1"/>
              <a:t>集合论：第</a:t>
            </a:r>
            <a:r>
              <a:rPr lang="en-US" altLang="zh-CN" noProof="1"/>
              <a:t>1</a:t>
            </a:r>
            <a:r>
              <a:rPr lang="zh-CN" altLang="en-US" noProof="1"/>
              <a:t>、</a:t>
            </a:r>
            <a:r>
              <a:rPr lang="en-US" altLang="zh-CN" noProof="1"/>
              <a:t>5</a:t>
            </a:r>
            <a:r>
              <a:rPr lang="zh-CN" altLang="en-US" noProof="1"/>
              <a:t>、</a:t>
            </a:r>
            <a:r>
              <a:rPr lang="en-US" altLang="zh-CN" noProof="1"/>
              <a:t>6</a:t>
            </a:r>
            <a:r>
              <a:rPr lang="zh-CN" altLang="en-US" noProof="1"/>
              <a:t>章</a:t>
            </a:r>
            <a:endParaRPr lang="en-US" altLang="zh-CN" noProof="1"/>
          </a:p>
          <a:p>
            <a:pPr eaLnBrk="1" hangingPunct="1">
              <a:defRPr/>
            </a:pPr>
            <a:r>
              <a:rPr lang="zh-CN" altLang="en-US" noProof="1"/>
              <a:t>数理逻辑：第</a:t>
            </a:r>
            <a:r>
              <a:rPr lang="en-US" altLang="zh-CN" noProof="1"/>
              <a:t>3</a:t>
            </a:r>
            <a:r>
              <a:rPr lang="zh-CN" altLang="en-US" noProof="1"/>
              <a:t>、</a:t>
            </a:r>
            <a:r>
              <a:rPr lang="en-US" altLang="zh-CN" noProof="1"/>
              <a:t>4</a:t>
            </a:r>
            <a:r>
              <a:rPr lang="zh-CN" altLang="en-US" noProof="1"/>
              <a:t>章</a:t>
            </a:r>
            <a:endParaRPr lang="en-US" altLang="zh-CN" noProof="1"/>
          </a:p>
          <a:p>
            <a:pPr eaLnBrk="1" hangingPunct="1">
              <a:defRPr/>
            </a:pPr>
            <a:r>
              <a:rPr lang="zh-CN" altLang="en-US" noProof="1"/>
              <a:t>图论：第</a:t>
            </a:r>
            <a:r>
              <a:rPr lang="en-US" altLang="zh-CN" noProof="1"/>
              <a:t>7</a:t>
            </a:r>
            <a:r>
              <a:rPr lang="zh-CN" altLang="en-US" noProof="1"/>
              <a:t>、</a:t>
            </a:r>
            <a:r>
              <a:rPr lang="en-US" altLang="zh-CN" noProof="1"/>
              <a:t>8</a:t>
            </a:r>
            <a:r>
              <a:rPr lang="zh-CN" altLang="en-US" noProof="1"/>
              <a:t>章</a:t>
            </a:r>
            <a:endParaRPr lang="en-US" altLang="zh-CN" noProof="1"/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600" b="1" noProof="1">
                <a:solidFill>
                  <a:srgbClr val="FFFF00"/>
                </a:solidFill>
              </a:rPr>
              <a:t>参考书</a:t>
            </a:r>
            <a:endParaRPr lang="zh-CN" altLang="en-US" sz="3600" noProof="1">
              <a:solidFill>
                <a:srgbClr val="FFFF00"/>
              </a:solidFill>
            </a:endParaRPr>
          </a:p>
          <a:p>
            <a:pPr eaLnBrk="1" hangingPunct="1">
              <a:defRPr/>
            </a:pPr>
            <a:r>
              <a:rPr lang="en-US" altLang="zh-CN" noProof="1"/>
              <a:t>《</a:t>
            </a:r>
            <a:r>
              <a:rPr lang="zh-CN" altLang="en-US" noProof="1"/>
              <a:t>离散数学及其应用</a:t>
            </a:r>
            <a:r>
              <a:rPr lang="en-US" altLang="zh-CN" noProof="1"/>
              <a:t>》</a:t>
            </a:r>
            <a:r>
              <a:rPr lang="zh-CN" altLang="en-US" noProof="1"/>
              <a:t>，</a:t>
            </a:r>
            <a:r>
              <a:rPr lang="en-US" altLang="zh-CN" noProof="1"/>
              <a:t>Kenneth H.Rosen</a:t>
            </a:r>
            <a:r>
              <a:rPr lang="zh-CN" altLang="en-US" noProof="1"/>
              <a:t>，机械工业出版社</a:t>
            </a:r>
          </a:p>
          <a:p>
            <a:pPr eaLnBrk="1" hangingPunct="1">
              <a:defRPr/>
            </a:pPr>
            <a:r>
              <a:rPr lang="en-US" altLang="zh-CN" noProof="1">
                <a:sym typeface="+mn-ea"/>
              </a:rPr>
              <a:t>《</a:t>
            </a:r>
            <a:r>
              <a:rPr lang="zh-CN" altLang="en-US" noProof="1">
                <a:sym typeface="+mn-ea"/>
              </a:rPr>
              <a:t>什么是数学</a:t>
            </a:r>
            <a:r>
              <a:rPr lang="en-US" altLang="zh-CN" noProof="1">
                <a:sym typeface="+mn-ea"/>
              </a:rPr>
              <a:t>》</a:t>
            </a:r>
            <a:r>
              <a:rPr lang="zh-CN" altLang="en-US" noProof="1">
                <a:sym typeface="+mn-ea"/>
              </a:rPr>
              <a:t>，</a:t>
            </a:r>
            <a:r>
              <a:rPr lang="en-US" altLang="zh-CN" noProof="1">
                <a:sym typeface="+mn-ea"/>
              </a:rPr>
              <a:t>Herbert Robbins</a:t>
            </a:r>
            <a:r>
              <a:rPr lang="zh-CN" altLang="en-US" noProof="1">
                <a:sym typeface="+mn-ea"/>
              </a:rPr>
              <a:t>，人民邮电出版社</a:t>
            </a:r>
            <a:endParaRPr lang="zh-CN" altLang="en-US" noProof="1"/>
          </a:p>
          <a:p>
            <a:pPr eaLnBrk="1" hangingPunct="1">
              <a:defRPr/>
            </a:pPr>
            <a:r>
              <a:rPr lang="en-US" altLang="zh-CN" noProof="1"/>
              <a:t>《</a:t>
            </a:r>
            <a:r>
              <a:rPr lang="zh-CN" altLang="zh-CN" noProof="1"/>
              <a:t>具体</a:t>
            </a:r>
            <a:r>
              <a:rPr lang="zh-CN" altLang="en-US" noProof="1"/>
              <a:t>数学：计算机科学基础》，Ronald L. Graham，Donald E. Knuth，</a:t>
            </a:r>
            <a:r>
              <a:rPr lang="zh-CN" altLang="zh-CN" noProof="1"/>
              <a:t>oren patashnik</a:t>
            </a:r>
            <a:r>
              <a:rPr lang="zh-CN" altLang="en-US" noProof="1"/>
              <a:t>，人民邮电出版社</a:t>
            </a:r>
          </a:p>
          <a:p>
            <a:pPr marL="0" indent="0" eaLnBrk="1" hangingPunct="1">
              <a:buNone/>
              <a:defRPr/>
            </a:pPr>
            <a:endParaRPr lang="en-US" altLang="zh-CN" noProof="1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noProof="1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文本占位符 77826"/>
          <p:cNvSpPr>
            <a:spLocks noGrp="1"/>
          </p:cNvSpPr>
          <p:nvPr>
            <p:ph idx="1"/>
          </p:nvPr>
        </p:nvSpPr>
        <p:spPr>
          <a:xfrm>
            <a:off x="407368" y="620689"/>
            <a:ext cx="11593288" cy="43924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3600" b="1" noProof="1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4000" b="1" noProof="1">
                <a:solidFill>
                  <a:srgbClr val="FFFF00"/>
                </a:solidFill>
              </a:rPr>
              <a:t>考核方法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noProof="1"/>
          </a:p>
          <a:p>
            <a:pPr eaLnBrk="1" hangingPunct="1">
              <a:defRPr/>
            </a:pPr>
            <a:r>
              <a:rPr lang="zh-CN" altLang="en-US" sz="3600" noProof="1"/>
              <a:t>期末考试，占比：</a:t>
            </a:r>
            <a:r>
              <a:rPr lang="en-US" altLang="zh-CN" sz="3600" noProof="1"/>
              <a:t>60%</a:t>
            </a:r>
            <a:endParaRPr lang="zh-CN" altLang="en-US" sz="3600" noProof="1"/>
          </a:p>
          <a:p>
            <a:pPr eaLnBrk="1" hangingPunct="1">
              <a:defRPr/>
            </a:pPr>
            <a:r>
              <a:rPr lang="zh-CN" altLang="en-US" sz="3600" noProof="1">
                <a:sym typeface="+mn-ea"/>
              </a:rPr>
              <a:t>期中考试，占比：</a:t>
            </a:r>
            <a:r>
              <a:rPr lang="en-US" altLang="zh-CN" sz="3600" noProof="1">
                <a:sym typeface="+mn-ea"/>
              </a:rPr>
              <a:t>20%</a:t>
            </a:r>
          </a:p>
          <a:p>
            <a:pPr eaLnBrk="1" hangingPunct="1">
              <a:defRPr/>
            </a:pPr>
            <a:r>
              <a:rPr lang="zh-CN" altLang="en-US" sz="3600" noProof="1">
                <a:sym typeface="+mn-ea"/>
              </a:rPr>
              <a:t>线上自测、平时作业、考勤、课程项目等，占比：</a:t>
            </a:r>
            <a:r>
              <a:rPr lang="en-US" altLang="zh-CN" sz="3600" noProof="1">
                <a:sym typeface="+mn-ea"/>
              </a:rPr>
              <a:t>20%</a:t>
            </a:r>
            <a:endParaRPr lang="zh-CN" altLang="en-US" sz="3600" noProof="1">
              <a:sym typeface="+mn-ea"/>
            </a:endParaRPr>
          </a:p>
          <a:p>
            <a:pPr marL="0" indent="0" eaLnBrk="1" hangingPunct="1">
              <a:buNone/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412776"/>
            <a:ext cx="10972800" cy="3024336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4000" b="1" noProof="1">
                <a:solidFill>
                  <a:srgbClr val="FFFF00"/>
                </a:solidFill>
              </a:rPr>
              <a:t>助教</a:t>
            </a:r>
          </a:p>
          <a:p>
            <a:endParaRPr lang="en-US" altLang="zh-CN" dirty="0"/>
          </a:p>
          <a:p>
            <a:r>
              <a:rPr lang="zh-CN" altLang="en-US" dirty="0"/>
              <a:t>李银莹，</a:t>
            </a:r>
            <a:r>
              <a:rPr lang="en-US" altLang="zh-CN" dirty="0"/>
              <a:t>18328381496</a:t>
            </a:r>
            <a:r>
              <a:rPr lang="zh-CN" altLang="en-US" dirty="0"/>
              <a:t>，</a:t>
            </a:r>
            <a:r>
              <a:rPr lang="en-US" altLang="zh-CN" dirty="0"/>
              <a:t>yinyingli0603@163.com</a:t>
            </a:r>
          </a:p>
          <a:p>
            <a:r>
              <a:rPr lang="zh-CN" altLang="en-US" dirty="0"/>
              <a:t>金博林，</a:t>
            </a:r>
            <a:r>
              <a:rPr lang="en-US" altLang="zh-CN" dirty="0"/>
              <a:t>17630308343</a:t>
            </a:r>
            <a:r>
              <a:rPr lang="zh-CN" altLang="en-US" dirty="0"/>
              <a:t>，</a:t>
            </a:r>
            <a:r>
              <a:rPr lang="en-US" altLang="zh-CN" dirty="0"/>
              <a:t>1776595376@qq.com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宽屏</PresentationFormat>
  <Paragraphs>79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宋体</vt:lpstr>
      <vt:lpstr>微软雅黑</vt:lpstr>
      <vt:lpstr>Arial</vt:lpstr>
      <vt:lpstr>Times New Roman</vt:lpstr>
      <vt:lpstr>Wingdings</vt:lpstr>
      <vt:lpstr>默认设计模板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695</cp:revision>
  <dcterms:created xsi:type="dcterms:W3CDTF">2008-05-09T05:16:00Z</dcterms:created>
  <dcterms:modified xsi:type="dcterms:W3CDTF">2026-03-02T03:14:45Z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66DB6E9B2A1C47CDB32FF01B59808BCB_13</vt:lpwstr>
  </property>
  <property fmtid="{D5CDD505-2E9C-101B-9397-08002B2CF9AE}" pid="3" name="KSOProductBuildVer">
    <vt:lpwstr>2052-12.1.0.23542</vt:lpwstr>
  </property>
</Properties>
</file>