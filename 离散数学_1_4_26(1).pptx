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338" r:id="rId3"/>
    <p:sldId id="384" r:id="rId4"/>
    <p:sldId id="361" r:id="rId5"/>
    <p:sldId id="390" r:id="rId6"/>
    <p:sldId id="391" r:id="rId7"/>
    <p:sldId id="405" r:id="rId8"/>
    <p:sldId id="407" r:id="rId9"/>
    <p:sldId id="392" r:id="rId10"/>
    <p:sldId id="393" r:id="rId11"/>
    <p:sldId id="400" r:id="rId12"/>
    <p:sldId id="401" r:id="rId13"/>
    <p:sldId id="402" r:id="rId14"/>
    <p:sldId id="396" r:id="rId15"/>
    <p:sldId id="403" r:id="rId16"/>
    <p:sldId id="404" r:id="rId17"/>
    <p:sldId id="275" r:id="rId18"/>
    <p:sldId id="408" r:id="rId19"/>
    <p:sldId id="274" r:id="rId20"/>
    <p:sldId id="356" r:id="rId21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99"/>
    <a:srgbClr val="FFCCFF"/>
    <a:srgbClr val="FF00FF"/>
    <a:srgbClr val="FF7C80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86003" autoAdjust="0"/>
  </p:normalViewPr>
  <p:slideViewPr>
    <p:cSldViewPr showGuides="1">
      <p:cViewPr varScale="1">
        <p:scale>
          <a:sx n="62" d="100"/>
          <a:sy n="62" d="100"/>
        </p:scale>
        <p:origin x="72" y="4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6C83C70-A0C4-4BE8-A79D-D6C8915E01B0}" type="slidenum">
              <a:rPr lang="en-US" altLang="zh-CN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416480" y="11309"/>
            <a:ext cx="17297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集合论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第一章 集合论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 txBox="1">
            <a:spLocks noChangeArrowheads="1"/>
          </p:cNvSpPr>
          <p:nvPr/>
        </p:nvSpPr>
        <p:spPr bwMode="auto">
          <a:xfrm>
            <a:off x="3899756" y="3212976"/>
            <a:ext cx="4392488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554461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有限集合的计数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79376" y="1609852"/>
            <a:ext cx="669674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集合中元素可以计数吗？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99456" y="2328119"/>
            <a:ext cx="8460940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可以！有限集合简单</a:t>
            </a:r>
            <a:r>
              <a:rPr lang="en-US" altLang="zh-CN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但无限集合比较复杂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600056" y="440040"/>
            <a:ext cx="123892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 txBox="1">
                <a:spLocks noChangeArrowheads="1"/>
              </p:cNvSpPr>
              <p:nvPr/>
            </p:nvSpPr>
            <p:spPr bwMode="auto">
              <a:xfrm>
                <a:off x="407368" y="3102168"/>
                <a:ext cx="11089232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en-US" sz="2800" b="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已知有限集合</a:t>
                </a:r>
                <a:r>
                  <a:rPr lang="en-US" altLang="zh-CN" sz="28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B,  A</a:t>
                </a:r>
                <a14:m>
                  <m:oMath xmlns:m="http://schemas.openxmlformats.org/officeDocument/2006/math">
                    <m:r>
                      <a:rPr lang="en-US" altLang="zh-CN" sz="2800" b="0" i="1" noProof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8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8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的计数可以由</a:t>
                </a:r>
                <a:r>
                  <a:rPr lang="en-US" altLang="zh-CN" sz="28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8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直接得出吗</a:t>
                </a:r>
                <a:r>
                  <a:rPr lang="zh-CN" altLang="en-US" sz="2800" b="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？</a:t>
                </a:r>
              </a:p>
            </p:txBody>
          </p:sp>
        </mc:Choice>
        <mc:Fallback xmlns="">
          <p:sp>
            <p:nvSpPr>
              <p:cNvPr id="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368" y="3102168"/>
                <a:ext cx="11089232" cy="791525"/>
              </a:xfrm>
              <a:prstGeom prst="rect">
                <a:avLst/>
              </a:prstGeom>
              <a:blipFill rotWithShape="1">
                <a:blip r:embed="rId4"/>
                <a:stretch>
                  <a:fillRect l="-3" t="-24" r="5" b="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199456" y="3918701"/>
            <a:ext cx="3780420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这要看两个集合的关系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1" grpId="0"/>
      <p:bldP spid="9" grpId="0"/>
      <p:bldP spid="8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940436" y="1646169"/>
            <a:ext cx="766732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有限集与无限集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94484" y="2288524"/>
            <a:ext cx="5529104" cy="1192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有限集：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含有限个元素的集合</a:t>
            </a:r>
            <a:endParaRPr lang="zh-CN" altLang="en-US" sz="2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487488" y="3284984"/>
            <a:ext cx="5320075" cy="1192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无限集：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含无限个元素的集合</a:t>
            </a:r>
            <a:endParaRPr lang="zh-CN" altLang="en-US" sz="26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3" grpId="0"/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633551" y="1553227"/>
            <a:ext cx="349086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有限集的计数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87599" y="2195583"/>
            <a:ext cx="5529104" cy="791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|</a:t>
            </a:r>
            <a:r>
              <a:rPr lang="en-US" altLang="zh-CN" sz="26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|</a:t>
            </a:r>
            <a:endParaRPr lang="zh-CN" alt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1199456" y="3005915"/>
            <a:ext cx="5320075" cy="55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元集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|</a:t>
            </a:r>
            <a:r>
              <a:rPr lang="en-US" altLang="zh-CN" sz="26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| =</a:t>
            </a:r>
            <a:r>
              <a:rPr lang="en-US" altLang="zh-CN" sz="26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6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33589" y="3840557"/>
            <a:ext cx="24482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|{1, 2, {4}}|=3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535013" y="3838420"/>
            <a:ext cx="864096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07968" y="3866160"/>
            <a:ext cx="2448272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元集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对话气泡: 圆角矩形 12"/>
          <p:cNvSpPr/>
          <p:nvPr/>
        </p:nvSpPr>
        <p:spPr bwMode="auto">
          <a:xfrm>
            <a:off x="7392144" y="5449218"/>
            <a:ext cx="4104456" cy="595271"/>
          </a:xfrm>
          <a:prstGeom prst="wedgeRoundRectCallout">
            <a:avLst>
              <a:gd name="adj1" fmla="val -66744"/>
              <a:gd name="adj2" fmla="val -1268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zh-CN" sz="2400" b="0" i="1" dirty="0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a, c</a:t>
            </a: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是什么？将在第</a:t>
            </a:r>
            <a:r>
              <a:rPr lang="en-US" altLang="zh-CN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章研究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07968" y="5110726"/>
            <a:ext cx="2448272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无限集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807968" y="4488443"/>
            <a:ext cx="2448272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元集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07968" y="5733009"/>
            <a:ext cx="2448272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无限集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33589" y="4470135"/>
            <a:ext cx="24482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|{1, 2, {4, 5}}|=3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433589" y="5099713"/>
            <a:ext cx="24482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i="1" dirty="0">
                <a:solidFill>
                  <a:srgbClr val="FFC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|=</a:t>
            </a:r>
            <a:r>
              <a:rPr lang="en-US" altLang="zh-CN" sz="2400" i="1" dirty="0">
                <a:solidFill>
                  <a:srgbClr val="FFC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433589" y="5729290"/>
            <a:ext cx="24482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i="1" dirty="0">
                <a:solidFill>
                  <a:srgbClr val="FFC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|=</a:t>
            </a:r>
            <a:r>
              <a:rPr lang="en-US" altLang="zh-CN" sz="2400" i="1" dirty="0">
                <a:solidFill>
                  <a:srgbClr val="FFC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6" grpId="0"/>
      <p:bldP spid="14" grpId="0"/>
      <p:bldP spid="10" grpId="0"/>
      <p:bldP spid="11" grpId="0"/>
      <p:bldP spid="12" grpId="0"/>
      <p:bldP spid="13" grpId="0" animBg="1"/>
      <p:bldP spid="3" grpId="0"/>
      <p:bldP spid="16" grpId="0"/>
      <p:bldP spid="17" grpId="0"/>
      <p:bldP spid="4" grpId="0"/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9153603" y="4220394"/>
            <a:ext cx="2484000" cy="1620000"/>
            <a:chOff x="4283" y="2691"/>
            <a:chExt cx="1247" cy="1134"/>
          </a:xfrm>
        </p:grpSpPr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4283" y="2691"/>
              <a:ext cx="1247" cy="113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4349" y="2760"/>
              <a:ext cx="149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11" name="Group 13"/>
          <p:cNvGrpSpPr/>
          <p:nvPr/>
        </p:nvGrpSpPr>
        <p:grpSpPr bwMode="auto">
          <a:xfrm>
            <a:off x="9153603" y="1849222"/>
            <a:ext cx="2484000" cy="1620000"/>
            <a:chOff x="1571" y="1087"/>
            <a:chExt cx="1247" cy="1134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1571" y="1087"/>
              <a:ext cx="1247" cy="113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642" y="1156"/>
              <a:ext cx="149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14" name="Group 16"/>
          <p:cNvGrpSpPr/>
          <p:nvPr/>
        </p:nvGrpSpPr>
        <p:grpSpPr bwMode="auto">
          <a:xfrm>
            <a:off x="9894310" y="2074181"/>
            <a:ext cx="1239837" cy="1239837"/>
            <a:chOff x="1715" y="1235"/>
            <a:chExt cx="907" cy="907"/>
          </a:xfrm>
        </p:grpSpPr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1715" y="1235"/>
              <a:ext cx="907" cy="907"/>
            </a:xfrm>
            <a:prstGeom prst="ellipse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2334" y="1533"/>
              <a:ext cx="175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7" name="Group 19"/>
          <p:cNvGrpSpPr/>
          <p:nvPr/>
        </p:nvGrpSpPr>
        <p:grpSpPr bwMode="auto">
          <a:xfrm>
            <a:off x="6308749" y="1849222"/>
            <a:ext cx="2484000" cy="1620000"/>
            <a:chOff x="215" y="1087"/>
            <a:chExt cx="1247" cy="1134"/>
          </a:xfrm>
        </p:grpSpPr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215" y="1087"/>
              <a:ext cx="1247" cy="113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281" y="1156"/>
              <a:ext cx="149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20" name="Group 22"/>
          <p:cNvGrpSpPr/>
          <p:nvPr/>
        </p:nvGrpSpPr>
        <p:grpSpPr bwMode="auto">
          <a:xfrm>
            <a:off x="6766578" y="2637840"/>
            <a:ext cx="719138" cy="719137"/>
            <a:chOff x="322" y="1617"/>
            <a:chExt cx="453" cy="453"/>
          </a:xfrm>
        </p:grpSpPr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322" y="1617"/>
              <a:ext cx="453" cy="453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461" y="1709"/>
              <a:ext cx="15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23" name="Group 25"/>
          <p:cNvGrpSpPr/>
          <p:nvPr/>
        </p:nvGrpSpPr>
        <p:grpSpPr bwMode="auto">
          <a:xfrm>
            <a:off x="7706379" y="2028057"/>
            <a:ext cx="900113" cy="900112"/>
            <a:chOff x="726" y="1201"/>
            <a:chExt cx="567" cy="567"/>
          </a:xfrm>
        </p:grpSpPr>
        <p:sp>
          <p:nvSpPr>
            <p:cNvPr id="24" name="Oval 26"/>
            <p:cNvSpPr>
              <a:spLocks noChangeArrowheads="1"/>
            </p:cNvSpPr>
            <p:nvPr/>
          </p:nvSpPr>
          <p:spPr bwMode="auto">
            <a:xfrm>
              <a:off x="726" y="1201"/>
              <a:ext cx="567" cy="567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924" y="1349"/>
              <a:ext cx="15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7488499" y="3589428"/>
            <a:ext cx="12319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A∩B=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</p:txBody>
      </p:sp>
      <p:grpSp>
        <p:nvGrpSpPr>
          <p:cNvPr id="27" name="Group 29"/>
          <p:cNvGrpSpPr/>
          <p:nvPr/>
        </p:nvGrpSpPr>
        <p:grpSpPr bwMode="auto">
          <a:xfrm>
            <a:off x="10054647" y="2456768"/>
            <a:ext cx="719138" cy="719138"/>
            <a:chOff x="1816" y="1476"/>
            <a:chExt cx="453" cy="453"/>
          </a:xfrm>
        </p:grpSpPr>
        <p:sp>
          <p:nvSpPr>
            <p:cNvPr id="28" name="Oval 30"/>
            <p:cNvSpPr>
              <a:spLocks noChangeArrowheads="1"/>
            </p:cNvSpPr>
            <p:nvPr/>
          </p:nvSpPr>
          <p:spPr bwMode="auto">
            <a:xfrm>
              <a:off x="1816" y="1476"/>
              <a:ext cx="453" cy="453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1956" y="1568"/>
              <a:ext cx="15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9974524" y="3636916"/>
            <a:ext cx="11461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A∩B=A</a:t>
            </a:r>
          </a:p>
        </p:txBody>
      </p:sp>
      <p:grpSp>
        <p:nvGrpSpPr>
          <p:cNvPr id="31" name="Group 33"/>
          <p:cNvGrpSpPr/>
          <p:nvPr/>
        </p:nvGrpSpPr>
        <p:grpSpPr bwMode="auto">
          <a:xfrm>
            <a:off x="619043" y="4220394"/>
            <a:ext cx="2484000" cy="1620000"/>
            <a:chOff x="2927" y="1087"/>
            <a:chExt cx="1247" cy="1134"/>
          </a:xfrm>
        </p:grpSpPr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2927" y="1087"/>
              <a:ext cx="1247" cy="113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2999" y="1156"/>
              <a:ext cx="150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34" name="Group 36"/>
          <p:cNvGrpSpPr/>
          <p:nvPr/>
        </p:nvGrpSpPr>
        <p:grpSpPr bwMode="auto">
          <a:xfrm>
            <a:off x="1095895" y="4680581"/>
            <a:ext cx="900112" cy="858837"/>
            <a:chOff x="2985" y="1379"/>
            <a:chExt cx="680" cy="680"/>
          </a:xfrm>
        </p:grpSpPr>
        <p:sp>
          <p:nvSpPr>
            <p:cNvPr id="35" name="Oval 37" descr="宽上对角线"/>
            <p:cNvSpPr>
              <a:spLocks noChangeArrowheads="1"/>
            </p:cNvSpPr>
            <p:nvPr/>
          </p:nvSpPr>
          <p:spPr bwMode="auto">
            <a:xfrm>
              <a:off x="2985" y="1379"/>
              <a:ext cx="680" cy="680"/>
            </a:xfrm>
            <a:prstGeom prst="ellipse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3174" y="1493"/>
              <a:ext cx="180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7" name="Group 39"/>
          <p:cNvGrpSpPr/>
          <p:nvPr/>
        </p:nvGrpSpPr>
        <p:grpSpPr bwMode="auto">
          <a:xfrm>
            <a:off x="1800745" y="4680581"/>
            <a:ext cx="881062" cy="858837"/>
            <a:chOff x="3451" y="1379"/>
            <a:chExt cx="680" cy="680"/>
          </a:xfrm>
        </p:grpSpPr>
        <p:sp>
          <p:nvSpPr>
            <p:cNvPr id="38" name="Oval 40"/>
            <p:cNvSpPr>
              <a:spLocks noChangeArrowheads="1"/>
            </p:cNvSpPr>
            <p:nvPr/>
          </p:nvSpPr>
          <p:spPr bwMode="auto">
            <a:xfrm>
              <a:off x="3451" y="1379"/>
              <a:ext cx="680" cy="6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39" name="Text Box 41"/>
            <p:cNvSpPr txBox="1">
              <a:spLocks noChangeArrowheads="1"/>
            </p:cNvSpPr>
            <p:nvPr/>
          </p:nvSpPr>
          <p:spPr bwMode="auto">
            <a:xfrm>
              <a:off x="3707" y="1493"/>
              <a:ext cx="18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1610245" y="5939711"/>
            <a:ext cx="5429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A-B</a:t>
            </a:r>
          </a:p>
        </p:txBody>
      </p:sp>
      <p:grpSp>
        <p:nvGrpSpPr>
          <p:cNvPr id="41" name="Group 43"/>
          <p:cNvGrpSpPr/>
          <p:nvPr/>
        </p:nvGrpSpPr>
        <p:grpSpPr bwMode="auto">
          <a:xfrm>
            <a:off x="619043" y="1852815"/>
            <a:ext cx="2484000" cy="1620000"/>
            <a:chOff x="4283" y="1087"/>
            <a:chExt cx="1247" cy="1134"/>
          </a:xfrm>
        </p:grpSpPr>
        <p:sp>
          <p:nvSpPr>
            <p:cNvPr id="42" name="Rectangle 44"/>
            <p:cNvSpPr>
              <a:spLocks noChangeArrowheads="1"/>
            </p:cNvSpPr>
            <p:nvPr/>
          </p:nvSpPr>
          <p:spPr bwMode="auto">
            <a:xfrm>
              <a:off x="4283" y="1087"/>
              <a:ext cx="1247" cy="113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auto">
            <a:xfrm>
              <a:off x="4349" y="1156"/>
              <a:ext cx="148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44" name="Group 46"/>
          <p:cNvGrpSpPr/>
          <p:nvPr/>
        </p:nvGrpSpPr>
        <p:grpSpPr bwMode="auto">
          <a:xfrm>
            <a:off x="1155583" y="2239291"/>
            <a:ext cx="1027112" cy="1087437"/>
            <a:chOff x="4345" y="1379"/>
            <a:chExt cx="680" cy="680"/>
          </a:xfrm>
        </p:grpSpPr>
        <p:sp>
          <p:nvSpPr>
            <p:cNvPr id="45" name="Oval 47" descr="宽上对角线"/>
            <p:cNvSpPr>
              <a:spLocks noChangeArrowheads="1"/>
            </p:cNvSpPr>
            <p:nvPr/>
          </p:nvSpPr>
          <p:spPr bwMode="auto">
            <a:xfrm>
              <a:off x="4345" y="1379"/>
              <a:ext cx="680" cy="680"/>
            </a:xfrm>
            <a:prstGeom prst="ellipse">
              <a:avLst/>
            </a:prstGeom>
            <a:pattFill prst="wdUpDiag">
              <a:fgClr>
                <a:schemeClr val="tx1">
                  <a:alpha val="70195"/>
                </a:schemeClr>
              </a:fgClr>
              <a:bgClr>
                <a:schemeClr val="bg1">
                  <a:alpha val="70195"/>
                </a:schemeClr>
              </a:bgClr>
            </a:patt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46" name="Text Box 48"/>
            <p:cNvSpPr txBox="1">
              <a:spLocks noChangeArrowheads="1"/>
            </p:cNvSpPr>
            <p:nvPr/>
          </p:nvSpPr>
          <p:spPr bwMode="auto">
            <a:xfrm>
              <a:off x="4543" y="1526"/>
              <a:ext cx="15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66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47" name="Group 49"/>
          <p:cNvGrpSpPr/>
          <p:nvPr/>
        </p:nvGrpSpPr>
        <p:grpSpPr bwMode="auto">
          <a:xfrm>
            <a:off x="1854083" y="2239291"/>
            <a:ext cx="862012" cy="858837"/>
            <a:chOff x="4785" y="1379"/>
            <a:chExt cx="680" cy="680"/>
          </a:xfrm>
        </p:grpSpPr>
        <p:sp>
          <p:nvSpPr>
            <p:cNvPr id="48" name="Oval 50" descr="宽上对角线"/>
            <p:cNvSpPr>
              <a:spLocks noChangeArrowheads="1"/>
            </p:cNvSpPr>
            <p:nvPr/>
          </p:nvSpPr>
          <p:spPr bwMode="auto">
            <a:xfrm>
              <a:off x="4785" y="1379"/>
              <a:ext cx="680" cy="680"/>
            </a:xfrm>
            <a:prstGeom prst="ellipse">
              <a:avLst/>
            </a:prstGeom>
            <a:pattFill prst="wdUpDiag">
              <a:fgClr>
                <a:schemeClr val="tx1">
                  <a:alpha val="70195"/>
                </a:schemeClr>
              </a:fgClr>
              <a:bgClr>
                <a:schemeClr val="bg1">
                  <a:alpha val="70195"/>
                </a:schemeClr>
              </a:bgClr>
            </a:patt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49" name="Text Box 51"/>
            <p:cNvSpPr txBox="1">
              <a:spLocks noChangeArrowheads="1"/>
            </p:cNvSpPr>
            <p:nvPr/>
          </p:nvSpPr>
          <p:spPr bwMode="auto">
            <a:xfrm>
              <a:off x="5103" y="1521"/>
              <a:ext cx="18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50" name="Text Box 52"/>
          <p:cNvSpPr txBox="1">
            <a:spLocks noChangeArrowheads="1"/>
          </p:cNvSpPr>
          <p:nvPr/>
        </p:nvSpPr>
        <p:spPr bwMode="auto">
          <a:xfrm>
            <a:off x="1690422" y="3588721"/>
            <a:ext cx="747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</a:t>
            </a:r>
            <a:r>
              <a:rPr kumimoji="0" lang="en-US" altLang="zh-C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∪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51" name="Group 53"/>
          <p:cNvGrpSpPr/>
          <p:nvPr/>
        </p:nvGrpSpPr>
        <p:grpSpPr bwMode="auto">
          <a:xfrm>
            <a:off x="3463896" y="1852815"/>
            <a:ext cx="2484000" cy="1620000"/>
            <a:chOff x="215" y="2691"/>
            <a:chExt cx="1247" cy="1134"/>
          </a:xfrm>
        </p:grpSpPr>
        <p:sp>
          <p:nvSpPr>
            <p:cNvPr id="52" name="Rectangle 54"/>
            <p:cNvSpPr>
              <a:spLocks noChangeArrowheads="1"/>
            </p:cNvSpPr>
            <p:nvPr/>
          </p:nvSpPr>
          <p:spPr bwMode="auto">
            <a:xfrm>
              <a:off x="215" y="2691"/>
              <a:ext cx="1247" cy="113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281" y="2760"/>
              <a:ext cx="149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54" name="Group 56"/>
          <p:cNvGrpSpPr/>
          <p:nvPr/>
        </p:nvGrpSpPr>
        <p:grpSpPr bwMode="auto">
          <a:xfrm>
            <a:off x="4123550" y="2354415"/>
            <a:ext cx="965200" cy="839788"/>
            <a:chOff x="304" y="3071"/>
            <a:chExt cx="680" cy="680"/>
          </a:xfrm>
        </p:grpSpPr>
        <p:sp>
          <p:nvSpPr>
            <p:cNvPr id="55" name="Oval 57"/>
            <p:cNvSpPr>
              <a:spLocks noChangeArrowheads="1"/>
            </p:cNvSpPr>
            <p:nvPr/>
          </p:nvSpPr>
          <p:spPr bwMode="auto">
            <a:xfrm>
              <a:off x="304" y="3071"/>
              <a:ext cx="680" cy="680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6" name="Text Box 58"/>
            <p:cNvSpPr txBox="1">
              <a:spLocks noChangeArrowheads="1"/>
            </p:cNvSpPr>
            <p:nvPr/>
          </p:nvSpPr>
          <p:spPr bwMode="auto">
            <a:xfrm>
              <a:off x="358" y="3286"/>
              <a:ext cx="168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rgbClr val="FF0066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" name="Group 59"/>
          <p:cNvGrpSpPr/>
          <p:nvPr/>
        </p:nvGrpSpPr>
        <p:grpSpPr bwMode="auto">
          <a:xfrm>
            <a:off x="4764900" y="2340128"/>
            <a:ext cx="857250" cy="777875"/>
            <a:chOff x="699" y="3071"/>
            <a:chExt cx="680" cy="680"/>
          </a:xfrm>
        </p:grpSpPr>
        <p:sp>
          <p:nvSpPr>
            <p:cNvPr id="58" name="Oval 60"/>
            <p:cNvSpPr>
              <a:spLocks noChangeArrowheads="1"/>
            </p:cNvSpPr>
            <p:nvPr/>
          </p:nvSpPr>
          <p:spPr bwMode="auto">
            <a:xfrm>
              <a:off x="699" y="3071"/>
              <a:ext cx="680" cy="680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9" name="Text Box 61"/>
            <p:cNvSpPr txBox="1">
              <a:spLocks noChangeArrowheads="1"/>
            </p:cNvSpPr>
            <p:nvPr/>
          </p:nvSpPr>
          <p:spPr bwMode="auto">
            <a:xfrm>
              <a:off x="1050" y="3243"/>
              <a:ext cx="189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60" name="Text Box 62"/>
          <p:cNvSpPr txBox="1">
            <a:spLocks noChangeArrowheads="1"/>
          </p:cNvSpPr>
          <p:nvPr/>
        </p:nvSpPr>
        <p:spPr bwMode="auto">
          <a:xfrm>
            <a:off x="4606150" y="3590060"/>
            <a:ext cx="7477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</a:t>
            </a:r>
            <a:r>
              <a:rPr kumimoji="0" lang="en-US" altLang="zh-C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∩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61" name="Group 63"/>
          <p:cNvGrpSpPr/>
          <p:nvPr/>
        </p:nvGrpSpPr>
        <p:grpSpPr bwMode="auto">
          <a:xfrm>
            <a:off x="4886323" y="4220394"/>
            <a:ext cx="2484000" cy="1620000"/>
            <a:chOff x="1571" y="2691"/>
            <a:chExt cx="1247" cy="1134"/>
          </a:xfrm>
        </p:grpSpPr>
        <p:sp>
          <p:nvSpPr>
            <p:cNvPr id="62" name="Rectangle 64" descr="宽上对角线"/>
            <p:cNvSpPr>
              <a:spLocks noChangeArrowheads="1"/>
            </p:cNvSpPr>
            <p:nvPr/>
          </p:nvSpPr>
          <p:spPr bwMode="auto">
            <a:xfrm>
              <a:off x="1571" y="2691"/>
              <a:ext cx="1247" cy="1134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3" name="Text Box 65"/>
            <p:cNvSpPr txBox="1">
              <a:spLocks noChangeArrowheads="1"/>
            </p:cNvSpPr>
            <p:nvPr/>
          </p:nvSpPr>
          <p:spPr bwMode="auto">
            <a:xfrm>
              <a:off x="1643" y="2760"/>
              <a:ext cx="149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64" name="Group 66"/>
          <p:cNvGrpSpPr/>
          <p:nvPr/>
        </p:nvGrpSpPr>
        <p:grpSpPr bwMode="auto">
          <a:xfrm>
            <a:off x="5639748" y="4464503"/>
            <a:ext cx="1079500" cy="1079500"/>
            <a:chOff x="1852" y="2900"/>
            <a:chExt cx="680" cy="680"/>
          </a:xfrm>
        </p:grpSpPr>
        <p:sp>
          <p:nvSpPr>
            <p:cNvPr id="65" name="Oval 67"/>
            <p:cNvSpPr>
              <a:spLocks noChangeArrowheads="1"/>
            </p:cNvSpPr>
            <p:nvPr/>
          </p:nvSpPr>
          <p:spPr bwMode="auto">
            <a:xfrm>
              <a:off x="1852" y="2900"/>
              <a:ext cx="680" cy="6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6" name="Text Box 68"/>
            <p:cNvSpPr txBox="1">
              <a:spLocks noChangeArrowheads="1"/>
            </p:cNvSpPr>
            <p:nvPr/>
          </p:nvSpPr>
          <p:spPr bwMode="auto">
            <a:xfrm>
              <a:off x="2117" y="3105"/>
              <a:ext cx="15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66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67" name="Text Box 69"/>
          <p:cNvSpPr txBox="1">
            <a:spLocks noChangeArrowheads="1"/>
          </p:cNvSpPr>
          <p:nvPr/>
        </p:nvSpPr>
        <p:spPr bwMode="auto">
          <a:xfrm>
            <a:off x="5882636" y="5929997"/>
            <a:ext cx="389016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Ā</a:t>
            </a:r>
          </a:p>
        </p:txBody>
      </p:sp>
      <p:grpSp>
        <p:nvGrpSpPr>
          <p:cNvPr id="72" name="Group 74"/>
          <p:cNvGrpSpPr/>
          <p:nvPr/>
        </p:nvGrpSpPr>
        <p:grpSpPr bwMode="auto">
          <a:xfrm>
            <a:off x="9991193" y="4935407"/>
            <a:ext cx="896937" cy="850900"/>
            <a:chOff x="4571" y="3181"/>
            <a:chExt cx="588" cy="609"/>
          </a:xfrm>
        </p:grpSpPr>
        <p:pic>
          <p:nvPicPr>
            <p:cNvPr id="73" name="Picture 75" descr="c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1" y="3181"/>
              <a:ext cx="588" cy="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Text Box 76"/>
            <p:cNvSpPr txBox="1">
              <a:spLocks noChangeArrowheads="1"/>
            </p:cNvSpPr>
            <p:nvPr/>
          </p:nvSpPr>
          <p:spPr bwMode="auto">
            <a:xfrm>
              <a:off x="4799" y="3482"/>
              <a:ext cx="157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75" name="Text Box 77"/>
          <p:cNvSpPr txBox="1">
            <a:spLocks noChangeArrowheads="1"/>
          </p:cNvSpPr>
          <p:nvPr/>
        </p:nvSpPr>
        <p:spPr bwMode="auto">
          <a:xfrm>
            <a:off x="9803073" y="5915624"/>
            <a:ext cx="12731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A∩B</a:t>
            </a:r>
            <a:r>
              <a:rPr kumimoji="0" lang="en-US" altLang="zh-C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-C</a:t>
            </a:r>
          </a:p>
        </p:txBody>
      </p:sp>
      <p:grpSp>
        <p:nvGrpSpPr>
          <p:cNvPr id="76" name="Group 78"/>
          <p:cNvGrpSpPr/>
          <p:nvPr/>
        </p:nvGrpSpPr>
        <p:grpSpPr bwMode="auto">
          <a:xfrm>
            <a:off x="9800693" y="4536945"/>
            <a:ext cx="900112" cy="900112"/>
            <a:chOff x="4451" y="2930"/>
            <a:chExt cx="567" cy="567"/>
          </a:xfrm>
        </p:grpSpPr>
        <p:sp>
          <p:nvSpPr>
            <p:cNvPr id="77" name="Text Box 79"/>
            <p:cNvSpPr txBox="1">
              <a:spLocks noChangeArrowheads="1"/>
            </p:cNvSpPr>
            <p:nvPr/>
          </p:nvSpPr>
          <p:spPr bwMode="auto">
            <a:xfrm>
              <a:off x="4612" y="2953"/>
              <a:ext cx="15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rgbClr val="FF0066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8" name="Oval 80"/>
            <p:cNvSpPr>
              <a:spLocks noChangeArrowheads="1"/>
            </p:cNvSpPr>
            <p:nvPr/>
          </p:nvSpPr>
          <p:spPr bwMode="auto">
            <a:xfrm>
              <a:off x="4451" y="2930"/>
              <a:ext cx="567" cy="5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>
                      <a:alpha val="7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Group 81"/>
          <p:cNvGrpSpPr/>
          <p:nvPr/>
        </p:nvGrpSpPr>
        <p:grpSpPr bwMode="auto">
          <a:xfrm>
            <a:off x="10365843" y="4536945"/>
            <a:ext cx="827087" cy="839787"/>
            <a:chOff x="4807" y="2930"/>
            <a:chExt cx="567" cy="567"/>
          </a:xfrm>
        </p:grpSpPr>
        <p:sp>
          <p:nvSpPr>
            <p:cNvPr id="80" name="Text Box 82"/>
            <p:cNvSpPr txBox="1">
              <a:spLocks noChangeArrowheads="1"/>
            </p:cNvSpPr>
            <p:nvPr/>
          </p:nvSpPr>
          <p:spPr bwMode="auto">
            <a:xfrm>
              <a:off x="5092" y="2991"/>
              <a:ext cx="1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81" name="Oval 83"/>
            <p:cNvSpPr>
              <a:spLocks noChangeArrowheads="1"/>
            </p:cNvSpPr>
            <p:nvPr/>
          </p:nvSpPr>
          <p:spPr bwMode="auto">
            <a:xfrm>
              <a:off x="4807" y="2930"/>
              <a:ext cx="567" cy="5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pic>
        <p:nvPicPr>
          <p:cNvPr id="82" name="Picture 84" descr="c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4843" y="4944932"/>
            <a:ext cx="5715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Oval 86"/>
          <p:cNvSpPr>
            <a:spLocks noChangeArrowheads="1"/>
          </p:cNvSpPr>
          <p:nvPr/>
        </p:nvSpPr>
        <p:spPr bwMode="auto">
          <a:xfrm>
            <a:off x="1134943" y="2234518"/>
            <a:ext cx="1079500" cy="10795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7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85" name="Picture 87" descr="A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237" y="2453761"/>
            <a:ext cx="389427" cy="596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Rectangle 91"/>
          <p:cNvSpPr>
            <a:spLocks noChangeArrowheads="1"/>
          </p:cNvSpPr>
          <p:nvPr/>
        </p:nvSpPr>
        <p:spPr bwMode="auto">
          <a:xfrm>
            <a:off x="4764900" y="512501"/>
            <a:ext cx="74676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集合间的关系与运算的表示：文氏图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(Venn Diagrams)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30" grpId="0" autoUpdateAnimBg="0"/>
      <p:bldP spid="40" grpId="0" autoUpdateAnimBg="0"/>
      <p:bldP spid="50" grpId="0" autoUpdateAnimBg="0"/>
      <p:bldP spid="60" grpId="0" autoUpdateAnimBg="0"/>
      <p:bldP spid="67" grpId="0" autoUpdateAnimBg="0"/>
      <p:bldP spid="75" grpId="0" autoUpdateAnimBg="0"/>
      <p:bldP spid="84" grpId="0" animBg="1"/>
      <p:bldP spid="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ChangeArrowheads="1"/>
          </p:cNvSpPr>
          <p:nvPr/>
        </p:nvSpPr>
        <p:spPr bwMode="auto">
          <a:xfrm>
            <a:off x="479376" y="1484784"/>
            <a:ext cx="11233247" cy="1697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0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24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名会外国语的科技人员进行掌握外语情况的调查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其统计结果如下：会英、日、德和法语的人分别为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13, 5, 10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人。其中同时会英语和日语的有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人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会英、德和法语中任两种语言的都是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人。已知会日语的人既不会法语也不会德语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分别求只会一种语言的人数和会三种语言的人数。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grpSp>
        <p:nvGrpSpPr>
          <p:cNvPr id="4" name="Group 33"/>
          <p:cNvGrpSpPr/>
          <p:nvPr/>
        </p:nvGrpSpPr>
        <p:grpSpPr bwMode="auto">
          <a:xfrm>
            <a:off x="9084664" y="3980334"/>
            <a:ext cx="2303462" cy="2174875"/>
            <a:chOff x="295" y="2110"/>
            <a:chExt cx="1451" cy="1370"/>
          </a:xfrm>
        </p:grpSpPr>
        <p:sp>
          <p:nvSpPr>
            <p:cNvPr id="6" name="Oval 8"/>
            <p:cNvSpPr>
              <a:spLocks noChangeArrowheads="1"/>
            </p:cNvSpPr>
            <p:nvPr/>
          </p:nvSpPr>
          <p:spPr bwMode="auto">
            <a:xfrm>
              <a:off x="295" y="2296"/>
              <a:ext cx="680" cy="635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Oval 9"/>
            <p:cNvSpPr>
              <a:spLocks noChangeArrowheads="1"/>
            </p:cNvSpPr>
            <p:nvPr/>
          </p:nvSpPr>
          <p:spPr bwMode="auto">
            <a:xfrm>
              <a:off x="567" y="2296"/>
              <a:ext cx="680" cy="635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1066" y="2296"/>
              <a:ext cx="680" cy="635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431" y="2659"/>
              <a:ext cx="680" cy="635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839" y="211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bg1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1383" y="2110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bg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385" y="211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657" y="324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10019701" y="4227983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10811865" y="456453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cs typeface="Times New Roman" panose="02020603050405020304" pitchFamily="18" charset="0"/>
              </a:rPr>
              <a:t>5-2</a:t>
            </a:r>
            <a:endParaRPr lang="en-US" altLang="zh-CN" baseline="-2500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10308626" y="4564533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cs typeface="Times New Roman" panose="02020603050405020304" pitchFamily="18" charset="0"/>
              </a:rPr>
              <a:t>2</a:t>
            </a:r>
            <a:endParaRPr lang="en-US" altLang="zh-CN" baseline="-25000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9732364" y="5428133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9660926" y="4802658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endParaRPr lang="en-US" altLang="zh-CN" i="1" baseline="-250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9298977" y="499633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4-</a:t>
            </a:r>
            <a:r>
              <a:rPr lang="en-US" altLang="zh-CN" i="1" dirty="0">
                <a:solidFill>
                  <a:schemeClr val="bg1"/>
                </a:solidFill>
                <a:cs typeface="Times New Roman" panose="02020603050405020304" pitchFamily="18" charset="0"/>
              </a:rPr>
              <a:t>x</a:t>
            </a:r>
            <a:endParaRPr lang="en-US" altLang="zh-CN" i="1" baseline="-250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9156101" y="442007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9875240" y="499633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4-</a:t>
            </a:r>
            <a:r>
              <a:rPr lang="en-US" altLang="zh-CN" i="1" dirty="0">
                <a:solidFill>
                  <a:schemeClr val="bg1"/>
                </a:solidFill>
                <a:cs typeface="Times New Roman" panose="02020603050405020304" pitchFamily="18" charset="0"/>
              </a:rPr>
              <a:t>x</a:t>
            </a:r>
            <a:endParaRPr lang="en-US" altLang="zh-CN" i="1" baseline="-250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9587902" y="434704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4-</a:t>
            </a:r>
            <a:r>
              <a:rPr lang="en-US" altLang="zh-CN" i="1" dirty="0">
                <a:solidFill>
                  <a:schemeClr val="bg1"/>
                </a:solidFill>
                <a:cs typeface="Times New Roman" panose="02020603050405020304" pitchFamily="18" charset="0"/>
              </a:rPr>
              <a:t>x</a:t>
            </a:r>
            <a:endParaRPr lang="en-US" altLang="zh-CN" i="1" baseline="-250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1306311" y="3229699"/>
            <a:ext cx="10081815" cy="657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0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分别表示会英、法、德、日语的人的集合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根据题意得文氏图。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29"/>
          <p:cNvSpPr>
            <a:spLocks noChangeArrowheads="1"/>
          </p:cNvSpPr>
          <p:nvPr/>
        </p:nvSpPr>
        <p:spPr bwMode="auto">
          <a:xfrm>
            <a:off x="1343742" y="3778340"/>
            <a:ext cx="7489303" cy="121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0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设同时会三种语言有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人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只会英、法或德语一种语言的分别是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人。则有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91200" y="3267598"/>
            <a:ext cx="8151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AutoShape 30"/>
          <p:cNvSpPr/>
          <p:nvPr/>
        </p:nvSpPr>
        <p:spPr bwMode="auto">
          <a:xfrm>
            <a:off x="3377923" y="4513495"/>
            <a:ext cx="144463" cy="1368425"/>
          </a:xfrm>
          <a:prstGeom prst="leftBrace">
            <a:avLst>
              <a:gd name="adj1" fmla="val 78937"/>
              <a:gd name="adj2" fmla="val 50000"/>
            </a:avLst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>
              <a:solidFill>
                <a:srgbClr val="FFC000"/>
              </a:solidFill>
            </a:endParaRPr>
          </a:p>
        </p:txBody>
      </p: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3591360" y="4309461"/>
            <a:ext cx="3457575" cy="1710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+2(4-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)+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+2=13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+2(4-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)+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=9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+2(4-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)+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=10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+3(4-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)+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=24-5=19</a:t>
            </a:r>
          </a:p>
        </p:txBody>
      </p:sp>
      <p:sp>
        <p:nvSpPr>
          <p:cNvPr id="28" name="Rectangle 32"/>
          <p:cNvSpPr>
            <a:spLocks noChangeArrowheads="1"/>
          </p:cNvSpPr>
          <p:nvPr/>
        </p:nvSpPr>
        <p:spPr bwMode="auto">
          <a:xfrm>
            <a:off x="1127448" y="5978348"/>
            <a:ext cx="5689600" cy="495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解方程组得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=1,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=4,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=2,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=3.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9" dur="8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0" dur="80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80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 animBg="1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7436151" y="2205804"/>
            <a:ext cx="4308862" cy="3160672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8400" y="1661323"/>
            <a:ext cx="11138199" cy="495298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在内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既不能被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6, 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也不能被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整除的数有多少个。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410370" y="2268427"/>
            <a:ext cx="1116012" cy="377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lang="en-US" altLang="zh-CN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221188" name="Rectangle 4"/>
          <p:cNvSpPr>
            <a:spLocks noChangeArrowheads="1"/>
          </p:cNvSpPr>
          <p:nvPr/>
        </p:nvSpPr>
        <p:spPr bwMode="auto">
          <a:xfrm>
            <a:off x="1389335" y="2233485"/>
            <a:ext cx="4079875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1000 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21189" name="Rectangle 5"/>
          <p:cNvSpPr>
            <a:spLocks noChangeArrowheads="1"/>
          </p:cNvSpPr>
          <p:nvPr/>
        </p:nvSpPr>
        <p:spPr bwMode="auto">
          <a:xfrm>
            <a:off x="869518" y="3620960"/>
            <a:ext cx="5237146" cy="2808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indent="4508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(1000/5) = 200 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(1000/6) = 166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(1000/8) = 125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(5, 6)) = 33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(5, 8)) = 25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(6, 8)) = 41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(5, 6, 8)) = 8</a:t>
            </a:r>
          </a:p>
        </p:txBody>
      </p:sp>
      <p:sp>
        <p:nvSpPr>
          <p:cNvPr id="221190" name="Text Box 6"/>
          <p:cNvSpPr txBox="1">
            <a:spLocks noChangeArrowheads="1"/>
          </p:cNvSpPr>
          <p:nvPr/>
        </p:nvSpPr>
        <p:spPr bwMode="auto">
          <a:xfrm>
            <a:off x="9643458" y="3712039"/>
            <a:ext cx="22762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rgbClr val="FFCC99"/>
                </a:solidFill>
                <a:latin typeface="Arial" panose="020B0604020202020204" pitchFamily="34" charset="0"/>
              </a:rPr>
              <a:t>33</a:t>
            </a:r>
            <a:endParaRPr kumimoji="0" lang="en-US" altLang="zh-CN" baseline="-25000" dirty="0">
              <a:solidFill>
                <a:srgbClr val="FFCC99"/>
              </a:solidFill>
              <a:latin typeface="Arial" panose="020B0604020202020204" pitchFamily="34" charset="0"/>
            </a:endParaRPr>
          </a:p>
        </p:txBody>
      </p:sp>
      <p:grpSp>
        <p:nvGrpSpPr>
          <p:cNvPr id="221191" name="Group 7"/>
          <p:cNvGrpSpPr/>
          <p:nvPr/>
        </p:nvGrpSpPr>
        <p:grpSpPr bwMode="auto">
          <a:xfrm>
            <a:off x="9186259" y="2435688"/>
            <a:ext cx="1800225" cy="1800225"/>
            <a:chOff x="4279" y="2228"/>
            <a:chExt cx="1134" cy="1134"/>
          </a:xfrm>
        </p:grpSpPr>
        <p:sp>
          <p:nvSpPr>
            <p:cNvPr id="40986" name="Oval 8"/>
            <p:cNvSpPr>
              <a:spLocks noChangeArrowheads="1"/>
            </p:cNvSpPr>
            <p:nvPr/>
          </p:nvSpPr>
          <p:spPr bwMode="auto">
            <a:xfrm>
              <a:off x="4279" y="2228"/>
              <a:ext cx="1134" cy="113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alpha val="59999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7" name="AutoShape 9"/>
            <p:cNvSpPr>
              <a:spLocks noChangeArrowheads="1"/>
            </p:cNvSpPr>
            <p:nvPr/>
          </p:nvSpPr>
          <p:spPr bwMode="auto">
            <a:xfrm>
              <a:off x="4696" y="2415"/>
              <a:ext cx="555" cy="172"/>
            </a:xfrm>
            <a:prstGeom prst="wedgeRoundRectCallout">
              <a:avLst>
                <a:gd name="adj1" fmla="val -13359"/>
                <a:gd name="adj2" fmla="val 42361"/>
                <a:gd name="adj3" fmla="val 16667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</a:t>
              </a:r>
              <a:r>
                <a:rPr kumimoji="0" lang="en-US" altLang="zh-CN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|=166</a:t>
              </a:r>
              <a:endParaRPr kumimoji="0" lang="en-US" altLang="zh-CN" baseline="-25000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21194" name="Group 10"/>
          <p:cNvGrpSpPr/>
          <p:nvPr/>
        </p:nvGrpSpPr>
        <p:grpSpPr bwMode="auto">
          <a:xfrm>
            <a:off x="7738459" y="2454739"/>
            <a:ext cx="1800225" cy="1800225"/>
            <a:chOff x="3596" y="2192"/>
            <a:chExt cx="1134" cy="1134"/>
          </a:xfrm>
        </p:grpSpPr>
        <p:sp>
          <p:nvSpPr>
            <p:cNvPr id="40984" name="Oval 11"/>
            <p:cNvSpPr>
              <a:spLocks noChangeArrowheads="1"/>
            </p:cNvSpPr>
            <p:nvPr/>
          </p:nvSpPr>
          <p:spPr bwMode="auto">
            <a:xfrm>
              <a:off x="3596" y="2192"/>
              <a:ext cx="1134" cy="113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alpha val="7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5" name="AutoShape 12"/>
            <p:cNvSpPr>
              <a:spLocks noChangeArrowheads="1"/>
            </p:cNvSpPr>
            <p:nvPr/>
          </p:nvSpPr>
          <p:spPr bwMode="auto">
            <a:xfrm>
              <a:off x="3900" y="2323"/>
              <a:ext cx="525" cy="172"/>
            </a:xfrm>
            <a:prstGeom prst="wedgeRoundRectCallout">
              <a:avLst>
                <a:gd name="adj1" fmla="val 26803"/>
                <a:gd name="adj2" fmla="val 49418"/>
                <a:gd name="adj3" fmla="val 16667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</a:t>
              </a:r>
              <a:r>
                <a:rPr kumimoji="0" lang="en-US" altLang="zh-CN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A</a:t>
              </a:r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|=200</a:t>
              </a:r>
              <a:endParaRPr kumimoji="0" lang="en-US" altLang="zh-CN" baseline="-25000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21197" name="Group 13"/>
          <p:cNvGrpSpPr/>
          <p:nvPr/>
        </p:nvGrpSpPr>
        <p:grpSpPr bwMode="auto">
          <a:xfrm>
            <a:off x="8576657" y="3483438"/>
            <a:ext cx="1800225" cy="1800225"/>
            <a:chOff x="3938" y="2726"/>
            <a:chExt cx="1134" cy="1134"/>
          </a:xfrm>
        </p:grpSpPr>
        <p:sp>
          <p:nvSpPr>
            <p:cNvPr id="40982" name="Oval 14"/>
            <p:cNvSpPr>
              <a:spLocks noChangeArrowheads="1"/>
            </p:cNvSpPr>
            <p:nvPr/>
          </p:nvSpPr>
          <p:spPr bwMode="auto">
            <a:xfrm>
              <a:off x="3938" y="2726"/>
              <a:ext cx="1134" cy="113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3" name="AutoShape 15"/>
            <p:cNvSpPr>
              <a:spLocks noChangeArrowheads="1"/>
            </p:cNvSpPr>
            <p:nvPr/>
          </p:nvSpPr>
          <p:spPr bwMode="auto">
            <a:xfrm>
              <a:off x="4257" y="3587"/>
              <a:ext cx="521" cy="172"/>
            </a:xfrm>
            <a:prstGeom prst="wedgeRoundRectCallout">
              <a:avLst>
                <a:gd name="adj1" fmla="val -43950"/>
                <a:gd name="adj2" fmla="val -18129"/>
                <a:gd name="adj3" fmla="val 16667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</a:t>
              </a:r>
              <a:r>
                <a:rPr kumimoji="0" lang="en-US" altLang="zh-CN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C</a:t>
              </a:r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|=125</a:t>
              </a:r>
              <a:endParaRPr kumimoji="0" lang="en-US" altLang="zh-CN" baseline="-25000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21200" name="Text Box 16"/>
          <p:cNvSpPr txBox="1">
            <a:spLocks noChangeArrowheads="1"/>
          </p:cNvSpPr>
          <p:nvPr/>
        </p:nvSpPr>
        <p:spPr bwMode="auto">
          <a:xfrm>
            <a:off x="9295796" y="3516776"/>
            <a:ext cx="114300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dirty="0">
                <a:solidFill>
                  <a:srgbClr val="92D050"/>
                </a:solidFill>
                <a:latin typeface="Arial" panose="020B0604020202020204" pitchFamily="34" charset="0"/>
              </a:rPr>
              <a:t>8</a:t>
            </a:r>
            <a:endParaRPr kumimoji="0" lang="en-US" altLang="zh-CN" baseline="-25000" dirty="0">
              <a:solidFill>
                <a:srgbClr val="92D050"/>
              </a:solidFill>
              <a:latin typeface="Arial" panose="020B0604020202020204" pitchFamily="34" charset="0"/>
            </a:endParaRPr>
          </a:p>
        </p:txBody>
      </p:sp>
      <p:sp>
        <p:nvSpPr>
          <p:cNvPr id="221201" name="Text Box 17"/>
          <p:cNvSpPr txBox="1">
            <a:spLocks noChangeArrowheads="1"/>
          </p:cNvSpPr>
          <p:nvPr/>
        </p:nvSpPr>
        <p:spPr bwMode="auto">
          <a:xfrm>
            <a:off x="10348864" y="3278478"/>
            <a:ext cx="34144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100</a:t>
            </a:r>
            <a:endParaRPr kumimoji="0" lang="en-US" altLang="zh-CN" baseline="-250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221202" name="Text Box 18"/>
          <p:cNvSpPr txBox="1">
            <a:spLocks noChangeArrowheads="1"/>
          </p:cNvSpPr>
          <p:nvPr/>
        </p:nvSpPr>
        <p:spPr bwMode="auto">
          <a:xfrm>
            <a:off x="9249143" y="3107073"/>
            <a:ext cx="22762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chemeClr val="accent1">
                    <a:lumMod val="90000"/>
                  </a:schemeClr>
                </a:solidFill>
                <a:latin typeface="Arial" panose="020B0604020202020204" pitchFamily="34" charset="0"/>
              </a:rPr>
              <a:t>25</a:t>
            </a:r>
            <a:endParaRPr kumimoji="0" lang="en-US" altLang="zh-CN" baseline="-25000" dirty="0">
              <a:solidFill>
                <a:schemeClr val="accent1">
                  <a:lumMod val="9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21206" name="Text Box 22"/>
          <p:cNvSpPr txBox="1">
            <a:spLocks noChangeArrowheads="1"/>
          </p:cNvSpPr>
          <p:nvPr/>
        </p:nvSpPr>
        <p:spPr bwMode="auto">
          <a:xfrm>
            <a:off x="9362956" y="4330212"/>
            <a:ext cx="22762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67</a:t>
            </a:r>
            <a:endParaRPr kumimoji="0" lang="en-US" altLang="zh-CN" baseline="-250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221207" name="Text Box 23"/>
          <p:cNvSpPr txBox="1">
            <a:spLocks noChangeArrowheads="1"/>
          </p:cNvSpPr>
          <p:nvPr/>
        </p:nvSpPr>
        <p:spPr bwMode="auto">
          <a:xfrm>
            <a:off x="8881458" y="3788239"/>
            <a:ext cx="22762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17</a:t>
            </a:r>
            <a:endParaRPr kumimoji="0" lang="en-US" altLang="zh-CN" baseline="-25000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21208" name="Text Box 24"/>
          <p:cNvSpPr txBox="1">
            <a:spLocks noChangeArrowheads="1"/>
          </p:cNvSpPr>
          <p:nvPr/>
        </p:nvSpPr>
        <p:spPr bwMode="auto">
          <a:xfrm>
            <a:off x="8300221" y="3137907"/>
            <a:ext cx="57261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786056" y="5737689"/>
            <a:ext cx="3674839" cy="463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508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1000-(200+100+33+67)=600</a:t>
            </a:r>
          </a:p>
        </p:txBody>
      </p:sp>
      <p:sp>
        <p:nvSpPr>
          <p:cNvPr id="4" name="AutoShape 12"/>
          <p:cNvSpPr>
            <a:spLocks noChangeArrowheads="1"/>
          </p:cNvSpPr>
          <p:nvPr/>
        </p:nvSpPr>
        <p:spPr bwMode="auto">
          <a:xfrm>
            <a:off x="10837097" y="2204864"/>
            <a:ext cx="833438" cy="273050"/>
          </a:xfrm>
          <a:prstGeom prst="wedgeRoundRectCallout">
            <a:avLst>
              <a:gd name="adj1" fmla="val 26803"/>
              <a:gd name="adj2" fmla="val 49418"/>
              <a:gd name="adj3" fmla="val 16667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dirty="0">
                <a:solidFill>
                  <a:srgbClr val="FF00FF"/>
                </a:solidFill>
                <a:latin typeface="Arial" panose="020B0604020202020204" pitchFamily="34" charset="0"/>
              </a:rPr>
              <a:t>|</a:t>
            </a:r>
            <a:r>
              <a:rPr kumimoji="0" lang="en-US" altLang="zh-CN" i="1" dirty="0">
                <a:solidFill>
                  <a:srgbClr val="FF00FF"/>
                </a:solidFill>
                <a:cs typeface="Times New Roman" panose="02020603050405020304" pitchFamily="18" charset="0"/>
              </a:rPr>
              <a:t>S</a:t>
            </a:r>
            <a:r>
              <a:rPr kumimoji="0" lang="en-US" altLang="zh-CN" dirty="0">
                <a:solidFill>
                  <a:srgbClr val="FF00FF"/>
                </a:solidFill>
                <a:latin typeface="Arial" panose="020B0604020202020204" pitchFamily="34" charset="0"/>
              </a:rPr>
              <a:t>|=1000</a:t>
            </a:r>
            <a:endParaRPr kumimoji="0" lang="en-US" altLang="zh-CN" baseline="-25000" dirty="0">
              <a:solidFill>
                <a:srgbClr val="FF00FF"/>
              </a:solidFill>
              <a:latin typeface="Arial" panose="020B0604020202020204" pitchFamily="34" charset="0"/>
            </a:endParaRP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28" name="对话气泡: 圆角矩形 27"/>
          <p:cNvSpPr/>
          <p:nvPr/>
        </p:nvSpPr>
        <p:spPr bwMode="auto">
          <a:xfrm>
            <a:off x="5388920" y="5307786"/>
            <a:ext cx="2345861" cy="495298"/>
          </a:xfrm>
          <a:prstGeom prst="wedgeRoundRectCallout">
            <a:avLst>
              <a:gd name="adj1" fmla="val -64105"/>
              <a:gd name="adj2" fmla="val -13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0" i="1" dirty="0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0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求最小公倍数</a:t>
            </a: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对话气泡: 圆角矩形 28"/>
          <p:cNvSpPr/>
          <p:nvPr/>
        </p:nvSpPr>
        <p:spPr bwMode="auto">
          <a:xfrm>
            <a:off x="4414727" y="3778686"/>
            <a:ext cx="1723011" cy="495298"/>
          </a:xfrm>
          <a:prstGeom prst="wedgeRoundRectCallout">
            <a:avLst>
              <a:gd name="adj1" fmla="val -75023"/>
              <a:gd name="adj2" fmla="val -551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0" i="1" dirty="0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0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向下取整</a:t>
            </a: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1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1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1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1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1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1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1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1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1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21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1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2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2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2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2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2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2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0962" grpId="0" build="p"/>
      <p:bldP spid="221187" grpId="0"/>
      <p:bldP spid="221190" grpId="0" autoUpdateAnimBg="0"/>
      <p:bldP spid="221200" grpId="0" autoUpdateAnimBg="0"/>
      <p:bldP spid="221201" grpId="0" autoUpdateAnimBg="0"/>
      <p:bldP spid="221202" grpId="0" autoUpdateAnimBg="0"/>
      <p:bldP spid="221206" grpId="0" autoUpdateAnimBg="0"/>
      <p:bldP spid="221207" grpId="0" autoUpdateAnimBg="0"/>
      <p:bldP spid="221208" grpId="0"/>
      <p:bldP spid="2" grpId="0"/>
      <p:bldP spid="4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07368" y="1572847"/>
            <a:ext cx="5885980" cy="654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1.4.1(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有限集基数的几个结论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415480" y="2252396"/>
            <a:ext cx="6093618" cy="246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有限集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容斥原理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6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|·|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|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)|=2</a:t>
            </a:r>
            <a:r>
              <a:rPr lang="en-US" altLang="zh-CN" sz="26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6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36302" y="1572349"/>
            <a:ext cx="6093618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|(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容斥原理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3352" y="2141903"/>
            <a:ext cx="919615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3159" y="2936244"/>
            <a:ext cx="609361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画出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</a:t>
            </a:r>
            <a:r>
              <a:rPr kumimoji="0" lang="en-US" altLang="zh-C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∪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的文氏图</a:t>
            </a:r>
          </a:p>
        </p:txBody>
      </p:sp>
      <p:grpSp>
        <p:nvGrpSpPr>
          <p:cNvPr id="28" name="Group 43"/>
          <p:cNvGrpSpPr/>
          <p:nvPr/>
        </p:nvGrpSpPr>
        <p:grpSpPr bwMode="auto">
          <a:xfrm>
            <a:off x="7502870" y="1895954"/>
            <a:ext cx="2484000" cy="1620000"/>
            <a:chOff x="4283" y="1087"/>
            <a:chExt cx="1247" cy="1134"/>
          </a:xfrm>
        </p:grpSpPr>
        <p:sp>
          <p:nvSpPr>
            <p:cNvPr id="29" name="Rectangle 44"/>
            <p:cNvSpPr>
              <a:spLocks noChangeArrowheads="1"/>
            </p:cNvSpPr>
            <p:nvPr/>
          </p:nvSpPr>
          <p:spPr bwMode="auto">
            <a:xfrm>
              <a:off x="4283" y="1087"/>
              <a:ext cx="1247" cy="113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0" name="Text Box 45"/>
            <p:cNvSpPr txBox="1">
              <a:spLocks noChangeArrowheads="1"/>
            </p:cNvSpPr>
            <p:nvPr/>
          </p:nvSpPr>
          <p:spPr bwMode="auto">
            <a:xfrm>
              <a:off x="4349" y="1156"/>
              <a:ext cx="148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0" lang="en-US" altLang="zh-CN" sz="3200" i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31" name="Group 46"/>
          <p:cNvGrpSpPr/>
          <p:nvPr/>
        </p:nvGrpSpPr>
        <p:grpSpPr bwMode="auto">
          <a:xfrm>
            <a:off x="8039410" y="2282430"/>
            <a:ext cx="1027112" cy="1087437"/>
            <a:chOff x="4345" y="1379"/>
            <a:chExt cx="680" cy="680"/>
          </a:xfrm>
        </p:grpSpPr>
        <p:sp>
          <p:nvSpPr>
            <p:cNvPr id="32" name="Oval 47" descr="宽上对角线"/>
            <p:cNvSpPr>
              <a:spLocks noChangeArrowheads="1"/>
            </p:cNvSpPr>
            <p:nvPr/>
          </p:nvSpPr>
          <p:spPr bwMode="auto">
            <a:xfrm>
              <a:off x="4345" y="1379"/>
              <a:ext cx="680" cy="680"/>
            </a:xfrm>
            <a:prstGeom prst="ellipse">
              <a:avLst/>
            </a:prstGeom>
            <a:pattFill prst="wdUpDiag">
              <a:fgClr>
                <a:schemeClr val="tx1">
                  <a:alpha val="70195"/>
                </a:schemeClr>
              </a:fgClr>
              <a:bgClr>
                <a:schemeClr val="bg1">
                  <a:alpha val="70195"/>
                </a:schemeClr>
              </a:bgClr>
            </a:patt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33" name="Text Box 48"/>
            <p:cNvSpPr txBox="1">
              <a:spLocks noChangeArrowheads="1"/>
            </p:cNvSpPr>
            <p:nvPr/>
          </p:nvSpPr>
          <p:spPr bwMode="auto">
            <a:xfrm>
              <a:off x="4543" y="1526"/>
              <a:ext cx="15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 dirty="0">
                  <a:solidFill>
                    <a:srgbClr val="FF0066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4" name="Group 49"/>
          <p:cNvGrpSpPr/>
          <p:nvPr/>
        </p:nvGrpSpPr>
        <p:grpSpPr bwMode="auto">
          <a:xfrm>
            <a:off x="8737910" y="2282430"/>
            <a:ext cx="862012" cy="858837"/>
            <a:chOff x="4785" y="1379"/>
            <a:chExt cx="680" cy="680"/>
          </a:xfrm>
        </p:grpSpPr>
        <p:sp>
          <p:nvSpPr>
            <p:cNvPr id="35" name="Oval 50" descr="宽上对角线"/>
            <p:cNvSpPr>
              <a:spLocks noChangeArrowheads="1"/>
            </p:cNvSpPr>
            <p:nvPr/>
          </p:nvSpPr>
          <p:spPr bwMode="auto">
            <a:xfrm>
              <a:off x="4785" y="1379"/>
              <a:ext cx="680" cy="680"/>
            </a:xfrm>
            <a:prstGeom prst="ellipse">
              <a:avLst/>
            </a:prstGeom>
            <a:pattFill prst="wdUpDiag">
              <a:fgClr>
                <a:schemeClr val="tx1">
                  <a:alpha val="70195"/>
                </a:schemeClr>
              </a:fgClr>
              <a:bgClr>
                <a:schemeClr val="bg1">
                  <a:alpha val="70195"/>
                </a:schemeClr>
              </a:bgClr>
            </a:patt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36" name="Text Box 51"/>
            <p:cNvSpPr txBox="1">
              <a:spLocks noChangeArrowheads="1"/>
            </p:cNvSpPr>
            <p:nvPr/>
          </p:nvSpPr>
          <p:spPr bwMode="auto">
            <a:xfrm>
              <a:off x="5103" y="1521"/>
              <a:ext cx="18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7" name="Text Box 52"/>
          <p:cNvSpPr txBox="1">
            <a:spLocks noChangeArrowheads="1"/>
          </p:cNvSpPr>
          <p:nvPr/>
        </p:nvSpPr>
        <p:spPr bwMode="auto">
          <a:xfrm>
            <a:off x="8574249" y="3631860"/>
            <a:ext cx="747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A</a:t>
            </a:r>
            <a:r>
              <a:rPr kumimoji="0" lang="en-US" altLang="zh-C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∪</a:t>
            </a:r>
            <a:r>
              <a:rPr kumimoji="0" lang="en-US" altLang="zh-CN" sz="2400" i="1" dirty="0">
                <a:solidFill>
                  <a:schemeClr val="bg1"/>
                </a:solidFill>
                <a:cs typeface="Times New Roman" panose="02020603050405020304" pitchFamily="18" charset="0"/>
              </a:rPr>
              <a:t>B</a:t>
            </a:r>
          </a:p>
        </p:txBody>
      </p:sp>
      <p:pic>
        <p:nvPicPr>
          <p:cNvPr id="38" name="Picture 87" descr="A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88698">
            <a:off x="8735201" y="2395039"/>
            <a:ext cx="352175" cy="740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723159" y="3719274"/>
            <a:ext cx="6093618" cy="579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中的元素“数”了两次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32223" y="4502304"/>
            <a:ext cx="6093618" cy="579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因此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25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1" grpId="0"/>
      <p:bldP spid="37" grpId="0" autoUpdateAnimBg="0"/>
      <p:bldP spid="18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36302" y="1572349"/>
            <a:ext cx="6093618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|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|·|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63352" y="2141903"/>
            <a:ext cx="919615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353110" y="2276872"/>
            <a:ext cx="8973241" cy="2616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7624445" algn="l"/>
              </a:tabLst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考虑构造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中的元素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的方法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分解为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步</a:t>
            </a: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7624445" algn="l"/>
              </a:tabLst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首先确定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种取法</a:t>
            </a: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7624445" algn="l"/>
              </a:tabLst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然后确定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种取法</a:t>
            </a: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7624445" algn="l"/>
              </a:tabLst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由乘法原理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中的二元组共有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|·|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种不同的方法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每种不同的构造方法都对应了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中的一个不同的元素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3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9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63352" y="2141903"/>
            <a:ext cx="919615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353110" y="2276872"/>
            <a:ext cx="10287506" cy="404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子集与 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位的二进制串相对应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|&gt;0(|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i="1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})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考虑构造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中的元素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的子集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的方法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分解为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步：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首先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处理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有两种方法：放入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或丢弃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接着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处理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也有两种方法：放入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或丢弃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最后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处理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有两种方法：放入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或丢弃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由乘法原理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的子集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共有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种不同的方法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每种不同的构造方法都对应了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中的一个不同的元素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3392" y="1505177"/>
            <a:ext cx="3096344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|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)|=2</a:t>
            </a:r>
            <a:r>
              <a:rPr lang="en-US" altLang="zh-CN" sz="28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8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63352" y="2141903"/>
            <a:ext cx="919615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353110" y="2276872"/>
            <a:ext cx="10287506" cy="404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针对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应用数学归纳法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只有一个元素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所以结论成立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设当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时结论成立。现在证明当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时结论也成立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是由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个元素组成的集合：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令 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∪{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于是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)∪{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∪{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)} 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T=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∪{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)} 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由归纳假设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)|=2</a:t>
            </a:r>
            <a:r>
              <a:rPr lang="en-US" altLang="zh-CN" sz="24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显然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T|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)|=2</a:t>
            </a:r>
            <a:r>
              <a:rPr lang="en-US" altLang="zh-CN" sz="24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en-US" altLang="zh-CN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共有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sz="24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个元素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3392" y="1505177"/>
            <a:ext cx="3096344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|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)|=2</a:t>
            </a:r>
            <a:r>
              <a:rPr lang="en-US" altLang="zh-CN" sz="28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800" b="0" i="1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9" name="对话气泡: 圆角矩形 8"/>
          <p:cNvSpPr/>
          <p:nvPr/>
        </p:nvSpPr>
        <p:spPr bwMode="auto">
          <a:xfrm>
            <a:off x="5842499" y="2065317"/>
            <a:ext cx="4176464" cy="595271"/>
          </a:xfrm>
          <a:prstGeom prst="wedgeRoundRectCallout">
            <a:avLst>
              <a:gd name="adj1" fmla="val -61855"/>
              <a:gd name="adj2" fmla="val -522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为什么还要有这一步？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对话气泡: 圆角矩形 9"/>
          <p:cNvSpPr/>
          <p:nvPr/>
        </p:nvSpPr>
        <p:spPr bwMode="auto">
          <a:xfrm rot="19894150">
            <a:off x="9716258" y="5409883"/>
            <a:ext cx="2203570" cy="595271"/>
          </a:xfrm>
          <a:prstGeom prst="wedgeRoundRectCallout">
            <a:avLst>
              <a:gd name="adj1" fmla="val -49018"/>
              <a:gd name="adj2" fmla="val -771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数学的严谨性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07368" y="1556791"/>
            <a:ext cx="136815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1.4.1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03512" y="1588346"/>
            <a:ext cx="10190604" cy="168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一软件公司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每位工程师至少精通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中的一种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的工程师有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25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的工程师有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13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既精通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又精通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的工程师有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位。问这家软件公司共有多少位工程师？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021705" y="3628957"/>
            <a:ext cx="6636392" cy="2443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设：精通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的工程师的集合：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的工程师的集合：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既精通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又精通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的工程师的集合：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全体工程师的集合：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 25+13-8=30 </a:t>
            </a: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94078" y="3653649"/>
            <a:ext cx="554533" cy="440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7"/>
          <p:cNvGrpSpPr/>
          <p:nvPr/>
        </p:nvGrpSpPr>
        <p:grpSpPr bwMode="auto">
          <a:xfrm>
            <a:off x="9344000" y="3157908"/>
            <a:ext cx="1800225" cy="1800225"/>
            <a:chOff x="4279" y="2228"/>
            <a:chExt cx="1134" cy="1134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4279" y="2228"/>
              <a:ext cx="1134" cy="113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alpha val="59999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4696" y="2415"/>
              <a:ext cx="555" cy="172"/>
            </a:xfrm>
            <a:prstGeom prst="wedgeRoundRectCallout">
              <a:avLst>
                <a:gd name="adj1" fmla="val -13359"/>
                <a:gd name="adj2" fmla="val 42361"/>
                <a:gd name="adj3" fmla="val 16667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</a:t>
              </a:r>
              <a:r>
                <a:rPr kumimoji="0" lang="en-US" altLang="zh-CN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|=13</a:t>
              </a:r>
              <a:endParaRPr kumimoji="0" lang="en-US" altLang="zh-CN" baseline="-25000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 bwMode="auto">
          <a:xfrm>
            <a:off x="7896200" y="3176959"/>
            <a:ext cx="1800225" cy="1800225"/>
            <a:chOff x="3596" y="2192"/>
            <a:chExt cx="1134" cy="1134"/>
          </a:xfrm>
        </p:grpSpPr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596" y="2192"/>
              <a:ext cx="1134" cy="113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alpha val="7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3900" y="2323"/>
              <a:ext cx="525" cy="172"/>
            </a:xfrm>
            <a:prstGeom prst="wedgeRoundRectCallout">
              <a:avLst>
                <a:gd name="adj1" fmla="val 26803"/>
                <a:gd name="adj2" fmla="val 49418"/>
                <a:gd name="adj3" fmla="val 16667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</a:t>
              </a:r>
              <a:r>
                <a:rPr kumimoji="0" lang="en-US" altLang="zh-CN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A</a:t>
              </a:r>
              <a:r>
                <a:rPr kumimoji="0" lang="en-US" altLang="zh-CN" dirty="0">
                  <a:solidFill>
                    <a:srgbClr val="FF00FF"/>
                  </a:solidFill>
                  <a:latin typeface="Arial" panose="020B0604020202020204" pitchFamily="34" charset="0"/>
                </a:rPr>
                <a:t>|=25</a:t>
              </a:r>
              <a:endParaRPr kumimoji="0" lang="en-US" altLang="zh-CN" baseline="-25000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435012" y="3836237"/>
            <a:ext cx="45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8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597078" y="4402654"/>
            <a:ext cx="462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92D050"/>
                </a:solidFill>
              </a:rPr>
              <a:t>17</a:t>
            </a:r>
            <a:endParaRPr lang="zh-CN" altLang="en-US" sz="2000" dirty="0">
              <a:solidFill>
                <a:srgbClr val="92D05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201944" y="4367494"/>
            <a:ext cx="462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</a:rPr>
              <a:t>5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724647" y="5118692"/>
            <a:ext cx="1708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17+8+5=30 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0" grpId="0"/>
      <p:bldP spid="21" grpId="0"/>
      <p:bldP spid="2" grpId="0"/>
      <p:bldP spid="14" grpId="0"/>
      <p:bldP spid="15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07368" y="1556791"/>
            <a:ext cx="129614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1.4.2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03512" y="1763162"/>
            <a:ext cx="8784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的正整数中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含因子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的正整数共有多少个？</a:t>
            </a: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93177" y="2669897"/>
            <a:ext cx="1116012" cy="377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lang="en-US" altLang="zh-CN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415480" y="2696914"/>
            <a:ext cx="4079875" cy="1049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100 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11424" y="3930514"/>
            <a:ext cx="3936975" cy="118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indent="4508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(100/3) = 33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(100/5) = 20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(3, 5)) = 6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87888" y="2610513"/>
            <a:ext cx="5832648" cy="960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既含因子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又含因子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的正整数的集合：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含因子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的正整数的集合：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127448" y="5301209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A</a:t>
            </a:r>
            <a:r>
              <a:rPr lang="en-US" altLang="zh-CN" sz="2400" b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</a:rPr>
              <a:t>|=|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rgbClr val="FFC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A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</a:rPr>
              <a:t>|=33+20-6=47</a:t>
            </a:r>
            <a:r>
              <a:rPr lang="en-US" altLang="zh-CN" sz="2400" b="0" dirty="0">
                <a:solidFill>
                  <a:srgbClr val="FFC000"/>
                </a:solidFill>
              </a:rPr>
              <a:t> </a:t>
            </a:r>
            <a:endParaRPr lang="zh-CN" altLang="en-US" sz="2400" b="0" dirty="0">
              <a:solidFill>
                <a:srgbClr val="FFC000"/>
              </a:solidFill>
            </a:endParaRPr>
          </a:p>
        </p:txBody>
      </p:sp>
      <p:sp>
        <p:nvSpPr>
          <p:cNvPr id="13" name="对话气泡: 圆角矩形 12"/>
          <p:cNvSpPr/>
          <p:nvPr/>
        </p:nvSpPr>
        <p:spPr bwMode="auto">
          <a:xfrm>
            <a:off x="7680176" y="4792334"/>
            <a:ext cx="3312368" cy="595271"/>
          </a:xfrm>
          <a:prstGeom prst="wedgeRoundRectCallout">
            <a:avLst>
              <a:gd name="adj1" fmla="val -49003"/>
              <a:gd name="adj2" fmla="val -821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0" dirty="0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文氏图</a:t>
            </a: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法检查一下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1" grpId="0"/>
      <p:bldP spid="10" grpId="0"/>
      <p:bldP spid="1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12274" y="1729658"/>
            <a:ext cx="144016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1.4.3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31505" y="1834988"/>
            <a:ext cx="10153128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有限集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。证明：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79376" y="2826720"/>
            <a:ext cx="1116012" cy="377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2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43472" y="2638595"/>
            <a:ext cx="9145016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|+(|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|)-(|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)|-|(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)|)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=|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|-|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|+|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18393" y="5949280"/>
            <a:ext cx="3358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上例可推广到</a:t>
            </a:r>
            <a:r>
              <a:rPr lang="en-US" altLang="zh-CN" sz="20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0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个集合的情况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1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9376" y="1690212"/>
            <a:ext cx="11161240" cy="1882804"/>
          </a:xfrm>
        </p:spPr>
        <p:txBody>
          <a:bodyPr/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en-US" altLang="zh-CN" sz="240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元集容斥原理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包含排斥原理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*：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为有限集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…,  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 err="1"/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i="1" dirty="0"/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个性质。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中的任何元素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或者不具有性质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=1…n),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两种情况必居其一。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的元素构成的子集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中不具有性质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…,  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 err="1"/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的元素数为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764294" y="3883308"/>
                <a:ext cx="3158203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6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6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60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6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6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6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6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6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6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6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294" y="3883308"/>
                <a:ext cx="3158203" cy="492443"/>
              </a:xfrm>
              <a:prstGeom prst="rect">
                <a:avLst/>
              </a:prstGeom>
              <a:blipFill rotWithShape="1">
                <a:blip r:embed="rId2"/>
                <a:stretch>
                  <a:fillRect l="-8" t="-57" r="19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83432" y="4464573"/>
                <a:ext cx="9144397" cy="114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m:rPr>
                          <m:nor/>
                        </m:rPr>
                        <a:rPr lang="en-US" altLang="zh-CN" sz="2400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CN" sz="240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464573"/>
                <a:ext cx="9144397" cy="1146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286252" y="5640393"/>
                <a:ext cx="581858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6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252" y="5640393"/>
                <a:ext cx="581858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p:sp>
        <p:nvSpPr>
          <p:cNvPr id="14" name="对话气泡: 圆角矩形 13"/>
          <p:cNvSpPr/>
          <p:nvPr/>
        </p:nvSpPr>
        <p:spPr bwMode="auto">
          <a:xfrm rot="19894150">
            <a:off x="9788526" y="5327953"/>
            <a:ext cx="2016224" cy="595271"/>
          </a:xfrm>
          <a:prstGeom prst="wedgeRoundRectCallout">
            <a:avLst>
              <a:gd name="adj1" fmla="val -49018"/>
              <a:gd name="adj2" fmla="val -771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如何证明？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07368" y="1690212"/>
            <a:ext cx="11377264" cy="1882804"/>
          </a:xfrm>
        </p:spPr>
        <p:txBody>
          <a:bodyPr/>
          <a:lstStyle/>
          <a:p>
            <a:pPr marL="179705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en-US" altLang="zh-CN" sz="2400" i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元集容斥原理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包含排斥原理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的推论*：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为有限集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…,  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 err="1"/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i="1" dirty="0"/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个性质。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中的任何元素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或者不具有性质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=1…n),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两种情况必居其一。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9705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的元素构成的子集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中至少具有性质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…,  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dirty="0" err="1"/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的元素数为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919536" y="5622442"/>
                <a:ext cx="620391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2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zh-CN" sz="2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2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∩…∩</m:t>
                    </m:r>
                    <m:acc>
                      <m:accPr>
                        <m:chr m:val="̅"/>
                        <m:ctrlPr>
                          <a:rPr lang="en-US" altLang="zh-CN" sz="2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acc>
                    <m:r>
                      <a:rPr lang="en-US" altLang="zh-CN" sz="2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600" dirty="0">
                    <a:solidFill>
                      <a:srgbClr val="FFFF00"/>
                    </a:solidFill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…∪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acc>
                  </m:oMath>
                </a14:m>
                <a:endParaRPr lang="zh-CN" altLang="en-US" sz="2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5622442"/>
                <a:ext cx="6203914" cy="492443"/>
              </a:xfrm>
              <a:prstGeom prst="rect">
                <a:avLst/>
              </a:prstGeom>
              <a:blipFill>
                <a:blip r:embed="rId2"/>
                <a:stretch>
                  <a:fillRect t="-11111" b="-30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775520" y="3402622"/>
                <a:ext cx="10153128" cy="114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∪…∪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CN" sz="240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402622"/>
                <a:ext cx="10153128" cy="1146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511824" y="4734136"/>
                <a:ext cx="5818587" cy="501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6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4734136"/>
                <a:ext cx="5818587" cy="5014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8401" y="1661323"/>
            <a:ext cx="11430180" cy="495298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在内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既不能被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6, 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也不能被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整除的数有多少个。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410370" y="2268427"/>
            <a:ext cx="1116012" cy="377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lang="en-US" altLang="zh-CN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221188" name="Rectangle 4"/>
          <p:cNvSpPr>
            <a:spLocks noChangeArrowheads="1"/>
          </p:cNvSpPr>
          <p:nvPr/>
        </p:nvSpPr>
        <p:spPr bwMode="auto">
          <a:xfrm>
            <a:off x="1283123" y="2279082"/>
            <a:ext cx="4079875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1000 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= {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可被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 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21189" name="Rectangle 5"/>
          <p:cNvSpPr>
            <a:spLocks noChangeArrowheads="1"/>
          </p:cNvSpPr>
          <p:nvPr/>
        </p:nvSpPr>
        <p:spPr bwMode="auto">
          <a:xfrm>
            <a:off x="911424" y="3663850"/>
            <a:ext cx="4824536" cy="2808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indent="4508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(1000/5) = 200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(1000/6) = 166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(1000/8) = 125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(5, 6)) = 33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(5, 8)) = 25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(6, 8)) = 41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 =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(1000/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lcm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(5, 6, 8)) = 8</a:t>
            </a: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有限集合的计数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795820" y="2309013"/>
                <a:ext cx="5257845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en-US" altLang="zh-CN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en-US" altLang="zh-CN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zh-CN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altLang="zh-CN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zh-CN" alt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820" y="2309013"/>
                <a:ext cx="5257845" cy="400815"/>
              </a:xfrm>
              <a:prstGeom prst="rect">
                <a:avLst/>
              </a:prstGeom>
              <a:blipFill rotWithShape="1">
                <a:blip r:embed="rId2"/>
                <a:stretch>
                  <a:fillRect l="-3" t="-38" r="4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5559258" y="3156810"/>
                <a:ext cx="5721318" cy="960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US" altLang="zh-CN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(200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166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125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33−25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41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altLang="zh-CN" sz="2000" b="0" dirty="0">
                    <a:solidFill>
                      <a:schemeClr val="bg1"/>
                    </a:solidFill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b="0" dirty="0">
                    <a:solidFill>
                      <a:schemeClr val="bg1"/>
                    </a:solidFill>
                  </a:rPr>
                  <a:t>=600</a:t>
                </a:r>
                <a:endParaRPr lang="zh-CN" alt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258" y="3156810"/>
                <a:ext cx="5721318" cy="960328"/>
              </a:xfrm>
              <a:prstGeom prst="rect">
                <a:avLst/>
              </a:prstGeom>
              <a:blipFill rotWithShape="1">
                <a:blip r:embed="rId3"/>
                <a:stretch>
                  <a:fillRect l="-8" t="-23" r="8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5559258" y="2771411"/>
                <a:ext cx="62293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|+|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|+|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|−|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|−|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|−|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|+|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m:rPr>
                        <m:nor/>
                      </m:rPr>
                      <a:rPr lang="en-US" altLang="zh-CN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000" b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CN" sz="2000" b="0" dirty="0">
                    <a:solidFill>
                      <a:schemeClr val="bg1"/>
                    </a:solidFill>
                  </a:rPr>
                  <a:t>)</a:t>
                </a:r>
                <a:endParaRPr lang="zh-CN" alt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258" y="2771411"/>
                <a:ext cx="6229323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8" t="-68" r="7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99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8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/>
      <p:bldP spid="221188" grpId="0"/>
      <p:bldP spid="221189" grpId="0"/>
      <p:bldP spid="5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00517" y="116632"/>
            <a:ext cx="7128792" cy="1228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4000" b="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4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19</a:t>
            </a:r>
            <a:r>
              <a:rPr lang="zh-CN" altLang="en-US" sz="4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26, 27(3)(5)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7432" y="1628637"/>
            <a:ext cx="11327200" cy="2935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开头或者以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00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结束的不同的字节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(8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位的二进制串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有多少个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200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的正整数中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但不能被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整除的正整数共有多少个？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互素的正整数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即与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之间的最大公因子为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的那些正整数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共有多少个？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2361</Words>
  <Application>Microsoft Office PowerPoint</Application>
  <PresentationFormat>宽屏</PresentationFormat>
  <Paragraphs>247</Paragraphs>
  <Slides>20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华文细黑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770</cp:revision>
  <dcterms:created xsi:type="dcterms:W3CDTF">2008-05-09T05:16:00Z</dcterms:created>
  <dcterms:modified xsi:type="dcterms:W3CDTF">2026-03-09T03:24:37Z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BE26640C773D436A9AC765FF64EF6504_13</vt:lpwstr>
  </property>
  <property fmtid="{D5CDD505-2E9C-101B-9397-08002B2CF9AE}" pid="3" name="KSOProductBuildVer">
    <vt:lpwstr>2052-12.1.0.16388</vt:lpwstr>
  </property>
</Properties>
</file>