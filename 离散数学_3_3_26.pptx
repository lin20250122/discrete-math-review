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7" r:id="rId2"/>
    <p:sldId id="377" r:id="rId3"/>
    <p:sldId id="338" r:id="rId4"/>
    <p:sldId id="404" r:id="rId5"/>
    <p:sldId id="405" r:id="rId6"/>
    <p:sldId id="408" r:id="rId7"/>
    <p:sldId id="409" r:id="rId8"/>
    <p:sldId id="436" r:id="rId9"/>
    <p:sldId id="410" r:id="rId10"/>
    <p:sldId id="411" r:id="rId11"/>
    <p:sldId id="451" r:id="rId12"/>
    <p:sldId id="412" r:id="rId13"/>
    <p:sldId id="413" r:id="rId14"/>
    <p:sldId id="414" r:id="rId15"/>
    <p:sldId id="415" r:id="rId16"/>
    <p:sldId id="453" r:id="rId17"/>
    <p:sldId id="437" r:id="rId18"/>
    <p:sldId id="440" r:id="rId19"/>
    <p:sldId id="441" r:id="rId20"/>
    <p:sldId id="442" r:id="rId21"/>
    <p:sldId id="443" r:id="rId22"/>
    <p:sldId id="444" r:id="rId23"/>
    <p:sldId id="446" r:id="rId24"/>
    <p:sldId id="434" r:id="rId25"/>
    <p:sldId id="447" r:id="rId26"/>
    <p:sldId id="427" r:id="rId27"/>
    <p:sldId id="455" r:id="rId28"/>
    <p:sldId id="429" r:id="rId29"/>
    <p:sldId id="450" r:id="rId30"/>
    <p:sldId id="454" r:id="rId31"/>
    <p:sldId id="431" r:id="rId32"/>
    <p:sldId id="433" r:id="rId33"/>
    <p:sldId id="452" r:id="rId34"/>
    <p:sldId id="399" r:id="rId35"/>
  </p:sldIdLst>
  <p:sldSz cx="12192000" cy="6858000"/>
  <p:notesSz cx="6858000" cy="9144000"/>
  <p:custDataLst>
    <p:tags r:id="rId37"/>
  </p:custDataLst>
  <p:defaultTextStyle>
    <a:defPPr>
      <a:defRPr lang="zh-CN"/>
    </a:defPPr>
    <a:lvl1pPr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16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16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FF7C80"/>
    <a:srgbClr val="FFFF00"/>
    <a:srgbClr val="FF3300"/>
    <a:srgbClr val="0033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98" autoAdjust="0"/>
    <p:restoredTop sz="86003" autoAdjust="0"/>
  </p:normalViewPr>
  <p:slideViewPr>
    <p:cSldViewPr showGuides="1">
      <p:cViewPr varScale="1">
        <p:scale>
          <a:sx n="79" d="100"/>
          <a:sy n="79" d="100"/>
        </p:scale>
        <p:origin x="264" y="6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kumimoji="0" sz="1200" b="0">
                <a:latin typeface="Arial" panose="020B0604020202020204" pitchFamily="34" charset="0"/>
              </a:defRPr>
            </a:lvl1pPr>
          </a:lstStyle>
          <a:p>
            <a:pPr>
              <a:defRPr/>
            </a:pPr>
            <a:endParaRPr lang="en-US" altLang="zh-CN"/>
          </a:p>
        </p:txBody>
      </p:sp>
      <p:sp>
        <p:nvSpPr>
          <p:cNvPr id="6553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kumimoji="0" sz="1200" b="0">
                <a:latin typeface="Arial" panose="020B0604020202020204" pitchFamily="34" charset="0"/>
              </a:defRPr>
            </a:lvl1pPr>
          </a:lstStyle>
          <a:p>
            <a:pPr>
              <a:defRPr/>
            </a:pPr>
            <a:endParaRPr lang="en-US" altLang="zh-CN"/>
          </a:p>
        </p:txBody>
      </p:sp>
      <p:sp>
        <p:nvSpPr>
          <p:cNvPr id="3891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554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554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kumimoji="0" sz="1200" b="0">
                <a:latin typeface="Arial" panose="020B0604020202020204" pitchFamily="34" charset="0"/>
              </a:defRPr>
            </a:lvl1pPr>
          </a:lstStyle>
          <a:p>
            <a:pPr>
              <a:defRPr/>
            </a:pPr>
            <a:endParaRPr lang="en-US" altLang="zh-CN"/>
          </a:p>
        </p:txBody>
      </p:sp>
      <p:sp>
        <p:nvSpPr>
          <p:cNvPr id="6554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200" b="0">
                <a:latin typeface="Arial" panose="020B0604020202020204" pitchFamily="34" charset="0"/>
              </a:defRPr>
            </a:lvl1pPr>
          </a:lstStyle>
          <a:p>
            <a:fld id="{BADCFBF9-860F-4F90-B134-F893524A9FE6}"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3</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AED4378-671D-4A05-A82C-3DB44689DDED}" type="slidenum">
              <a:rPr lang="en-US" altLang="zh-CN" smtClean="0"/>
              <a:t>16</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AED4378-671D-4A05-A82C-3DB44689DDED}" type="slidenum">
              <a:rPr lang="en-US" altLang="zh-CN" smtClean="0"/>
              <a:t>17</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AED4378-671D-4A05-A82C-3DB44689DDED}" type="slidenum">
              <a:rPr lang="en-US" altLang="zh-CN" smtClean="0"/>
              <a:t>24</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ADCFBF9-860F-4F90-B134-F893524A9FE6}" type="slidenum">
              <a:rPr lang="en-US" altLang="zh-CN" smtClean="0"/>
              <a:t>34</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dirty="0"/>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6"/>
          <p:cNvSpPr>
            <a:spLocks noGrp="1" noChangeArrowheads="1"/>
          </p:cNvSpPr>
          <p:nvPr>
            <p:ph type="sldNum" sz="quarter" idx="10"/>
          </p:nvPr>
        </p:nvSpPr>
        <p:spPr/>
        <p:txBody>
          <a:bodyPr/>
          <a:lstStyle>
            <a:lvl1pPr>
              <a:defRPr/>
            </a:lvl1pPr>
          </a:lstStyle>
          <a:p>
            <a:fld id="{F7F6A5AF-1443-405D-A63C-1DA2EF827E5F}"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TextBox 8"/>
          <p:cNvSpPr txBox="1">
            <a:spLocks noChangeArrowheads="1"/>
          </p:cNvSpPr>
          <p:nvPr userDrawn="1"/>
        </p:nvSpPr>
        <p:spPr bwMode="auto">
          <a:xfrm>
            <a:off x="10970762" y="50195"/>
            <a:ext cx="121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Bef>
                <a:spcPct val="50000"/>
              </a:spcBef>
              <a:defRPr/>
            </a:pPr>
            <a:r>
              <a:rPr lang="zh-CN" altLang="en-US" sz="2000" dirty="0">
                <a:solidFill>
                  <a:srgbClr val="7F7F7F"/>
                </a:solidFill>
              </a:rPr>
              <a:t>离散数学</a:t>
            </a:r>
          </a:p>
        </p:txBody>
      </p:sp>
      <p:sp>
        <p:nvSpPr>
          <p:cNvPr id="2" name="标题 1"/>
          <p:cNvSpPr>
            <a:spLocks noGrp="1"/>
          </p:cNvSpPr>
          <p:nvPr>
            <p:ph type="title"/>
          </p:nvPr>
        </p:nvSpPr>
        <p:spPr>
          <a:xfrm>
            <a:off x="911424" y="50195"/>
            <a:ext cx="10972800" cy="1143000"/>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p:txBody>
          <a:bodyPr/>
          <a:lstStyle>
            <a:lvl1pPr>
              <a:defRPr>
                <a:solidFill>
                  <a:srgbClr val="003399"/>
                </a:solidFill>
              </a:defRPr>
            </a:lvl1pPr>
          </a:lstStyle>
          <a:p>
            <a:fld id="{9D73877B-74AE-4634-8955-8B92B699D7D7}"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C51CD6DC-2977-469C-827E-1A1841E80F85}"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D12FC91A-76FC-48FB-8078-168CC0EC6377}"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Box 7"/>
          <p:cNvSpPr txBox="1">
            <a:spLocks noChangeArrowheads="1"/>
          </p:cNvSpPr>
          <p:nvPr userDrawn="1"/>
        </p:nvSpPr>
        <p:spPr bwMode="auto">
          <a:xfrm>
            <a:off x="10128448" y="11309"/>
            <a:ext cx="20177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spcBef>
                <a:spcPct val="50000"/>
              </a:spcBef>
              <a:defRPr/>
            </a:pPr>
            <a:r>
              <a:rPr lang="zh-CN" altLang="en-US" sz="2000" b="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2000" b="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章  命题逻辑</a:t>
            </a:r>
            <a:endParaRPr lang="en-US" altLang="zh-CN" sz="2000" b="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Rectangle 4"/>
          <p:cNvSpPr>
            <a:spLocks noGrp="1" noChangeArrowheads="1"/>
          </p:cNvSpPr>
          <p:nvPr>
            <p:ph type="dt" sz="half" idx="10"/>
          </p:nvPr>
        </p:nvSpPr>
        <p:spPr>
          <a:xfrm>
            <a:off x="609600" y="6245225"/>
            <a:ext cx="2844800" cy="476250"/>
          </a:xfrm>
          <a:prstGeom prst="rect">
            <a:avLst/>
          </a:prstGeom>
        </p:spPr>
        <p:txBody>
          <a:bodyPr/>
          <a:lstStyle>
            <a:lvl1pPr algn="ctr">
              <a:spcBef>
                <a:spcPct val="50000"/>
              </a:spcBef>
              <a:defRPr/>
            </a:lvl1pPr>
          </a:lstStyle>
          <a:p>
            <a:pPr>
              <a:defRPr/>
            </a:pPr>
            <a:endParaRPr lang="en-US" altLang="zh-CN"/>
          </a:p>
        </p:txBody>
      </p:sp>
      <p:sp>
        <p:nvSpPr>
          <p:cNvPr id="4" name="Rectangle 5"/>
          <p:cNvSpPr>
            <a:spLocks noGrp="1" noChangeArrowheads="1"/>
          </p:cNvSpPr>
          <p:nvPr>
            <p:ph type="ftr" sz="quarter" idx="11"/>
          </p:nvPr>
        </p:nvSpPr>
        <p:spPr>
          <a:xfrm>
            <a:off x="4165600" y="6245225"/>
            <a:ext cx="3860800" cy="476250"/>
          </a:xfrm>
          <a:prstGeom prst="rect">
            <a:avLst/>
          </a:prstGeom>
        </p:spPr>
        <p:txBody>
          <a:bodyPr/>
          <a:lstStyle>
            <a:lvl1pPr algn="ctr">
              <a:spcBef>
                <a:spcPct val="50000"/>
              </a:spcBef>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19472F5C-1417-4827-93CA-7FE37B1FF370}" type="slidenum">
              <a:rPr lang="en-US" altLang="zh-CN"/>
              <a:t>‹#›</a:t>
            </a:fld>
            <a:endParaRPr lang="en-US" altLang="zh-CN"/>
          </a:p>
        </p:txBody>
      </p:sp>
      <p:sp>
        <p:nvSpPr>
          <p:cNvPr id="7" name="圆角矩形 4"/>
          <p:cNvSpPr>
            <a:spLocks noChangeArrowheads="1"/>
          </p:cNvSpPr>
          <p:nvPr userDrawn="1"/>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0" name="Rectangle 6"/>
          <p:cNvSpPr>
            <a:spLocks noGrp="1" noChangeArrowheads="1"/>
          </p:cNvSpPr>
          <p:nvPr>
            <p:ph type="sldNum" sz="quarter" idx="4"/>
          </p:nvPr>
        </p:nvSpPr>
        <p:spPr bwMode="auto">
          <a:xfrm>
            <a:off x="2117" y="6503989"/>
            <a:ext cx="812800" cy="238125"/>
          </a:xfrm>
          <a:prstGeom prst="rect">
            <a:avLst/>
          </a:prstGeom>
          <a:noFill/>
          <a:ln w="9525">
            <a:noFill/>
            <a:miter lim="800000"/>
          </a:ln>
          <a:effectLst/>
        </p:spPr>
        <p:txBody>
          <a:bodyPr vert="horz" wrap="square" lIns="91440" tIns="45720" rIns="91440" bIns="45720" numCol="1" anchor="t" anchorCtr="0" compatLnSpc="1"/>
          <a:lstStyle>
            <a:lvl1pPr algn="ctr">
              <a:defRPr kumimoji="0" sz="1400" b="0">
                <a:solidFill>
                  <a:srgbClr val="7F7F7F"/>
                </a:solidFill>
                <a:latin typeface="Arial" panose="020B0604020202020204" pitchFamily="34" charset="0"/>
              </a:defRPr>
            </a:lvl1pPr>
          </a:lstStyle>
          <a:p>
            <a:fld id="{56FB0DFF-F635-4648-B05A-78129B270A74}"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bg1"/>
          </a:solidFill>
          <a:latin typeface="+mn-lt"/>
          <a:ea typeface="+mn-ea"/>
        </a:defRPr>
      </a:lvl2pPr>
      <a:lvl3pPr marL="1143000" indent="-228600" algn="l" rtl="0" eaLnBrk="0" fontAlgn="base" hangingPunct="0">
        <a:spcBef>
          <a:spcPct val="20000"/>
        </a:spcBef>
        <a:spcAft>
          <a:spcPct val="0"/>
        </a:spcAft>
        <a:buChar char="•"/>
        <a:defRPr sz="2400">
          <a:solidFill>
            <a:schemeClr val="bg1"/>
          </a:solidFill>
          <a:latin typeface="+mn-lt"/>
          <a:ea typeface="+mn-ea"/>
        </a:defRPr>
      </a:lvl3pPr>
      <a:lvl4pPr marL="1600200" indent="-228600" algn="l" rtl="0" eaLnBrk="0" fontAlgn="base" hangingPunct="0">
        <a:spcBef>
          <a:spcPct val="20000"/>
        </a:spcBef>
        <a:spcAft>
          <a:spcPct val="0"/>
        </a:spcAft>
        <a:buChar char="–"/>
        <a:defRPr sz="2000">
          <a:solidFill>
            <a:schemeClr val="bg1"/>
          </a:solidFill>
          <a:latin typeface="+mn-lt"/>
          <a:ea typeface="+mn-ea"/>
        </a:defRPr>
      </a:lvl4pPr>
      <a:lvl5pPr marL="2057400" indent="-228600" algn="l" rtl="0" eaLnBrk="0" fontAlgn="base" hangingPunct="0">
        <a:spcBef>
          <a:spcPct val="20000"/>
        </a:spcBef>
        <a:spcAft>
          <a:spcPct val="0"/>
        </a:spcAft>
        <a:buChar char="»"/>
        <a:defRPr sz="2000">
          <a:solidFill>
            <a:schemeClr val="bg1"/>
          </a:solidFill>
          <a:latin typeface="+mn-lt"/>
          <a:ea typeface="+mn-ea"/>
        </a:defRPr>
      </a:lvl5pPr>
      <a:lvl6pPr marL="2514600" indent="-228600" algn="l" rtl="0" fontAlgn="base">
        <a:spcBef>
          <a:spcPct val="20000"/>
        </a:spcBef>
        <a:spcAft>
          <a:spcPct val="0"/>
        </a:spcAft>
        <a:buChar char="»"/>
        <a:defRPr sz="2000">
          <a:solidFill>
            <a:schemeClr val="bg1"/>
          </a:solidFill>
          <a:latin typeface="+mn-lt"/>
          <a:ea typeface="+mn-ea"/>
        </a:defRPr>
      </a:lvl6pPr>
      <a:lvl7pPr marL="2971800" indent="-228600" algn="l" rtl="0" fontAlgn="base">
        <a:spcBef>
          <a:spcPct val="20000"/>
        </a:spcBef>
        <a:spcAft>
          <a:spcPct val="0"/>
        </a:spcAft>
        <a:buChar char="»"/>
        <a:defRPr sz="2000">
          <a:solidFill>
            <a:schemeClr val="bg1"/>
          </a:solidFill>
          <a:latin typeface="+mn-lt"/>
          <a:ea typeface="+mn-ea"/>
        </a:defRPr>
      </a:lvl7pPr>
      <a:lvl8pPr marL="3429000" indent="-228600" algn="l" rtl="0" fontAlgn="base">
        <a:spcBef>
          <a:spcPct val="20000"/>
        </a:spcBef>
        <a:spcAft>
          <a:spcPct val="0"/>
        </a:spcAft>
        <a:buChar char="»"/>
        <a:defRPr sz="2000">
          <a:solidFill>
            <a:schemeClr val="bg1"/>
          </a:solidFill>
          <a:latin typeface="+mn-lt"/>
          <a:ea typeface="+mn-ea"/>
        </a:defRPr>
      </a:lvl8pPr>
      <a:lvl9pPr marL="3886200" indent="-228600" algn="l" rtl="0" fontAlgn="base">
        <a:spcBef>
          <a:spcPct val="20000"/>
        </a:spcBef>
        <a:spcAft>
          <a:spcPct val="0"/>
        </a:spcAft>
        <a:buChar char="»"/>
        <a:defRPr sz="2000">
          <a:solidFill>
            <a:schemeClr val="bg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txBox="1">
            <a:spLocks noChangeArrowheads="1"/>
          </p:cNvSpPr>
          <p:nvPr/>
        </p:nvSpPr>
        <p:spPr bwMode="auto">
          <a:xfrm>
            <a:off x="2135188" y="1773238"/>
            <a:ext cx="7772400" cy="1583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5400"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楷体_GB2312"/>
              </a:rPr>
              <a:t>第三章 命题逻辑</a:t>
            </a:r>
          </a:p>
        </p:txBody>
      </p:sp>
      <p:sp>
        <p:nvSpPr>
          <p:cNvPr id="6" name="Rectangle 3"/>
          <p:cNvSpPr txBox="1">
            <a:spLocks noChangeArrowheads="1"/>
          </p:cNvSpPr>
          <p:nvPr/>
        </p:nvSpPr>
        <p:spPr bwMode="auto">
          <a:xfrm>
            <a:off x="2423592" y="4221088"/>
            <a:ext cx="7772400" cy="1727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lnSpc>
                <a:spcPct val="150000"/>
              </a:lnSpc>
              <a:buFontTx/>
              <a:buNone/>
            </a:pPr>
            <a:r>
              <a:rPr lang="zh-CN" altLang="en-US"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华东师范大学计算机科学与技术学院</a:t>
            </a:r>
            <a:endParaRPr lang="en-US" altLang="zh-CN"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eaLnBrk="1" hangingPunct="1">
              <a:lnSpc>
                <a:spcPct val="150000"/>
              </a:lnSpc>
              <a:buFontTx/>
              <a:buNone/>
            </a:pPr>
            <a:r>
              <a:rPr lang="zh-CN" altLang="en-US"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主讲教师：卢兴见</a:t>
            </a:r>
            <a:endParaRPr lang="en-US" altLang="zh-CN" b="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p:cNvSpPr txBox="1">
            <a:spLocks noChangeArrowheads="1"/>
          </p:cNvSpPr>
          <p:nvPr/>
        </p:nvSpPr>
        <p:spPr bwMode="auto">
          <a:xfrm>
            <a:off x="551384" y="1791480"/>
            <a:ext cx="51125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457200" indent="-457200" eaLnBrk="1" hangingPunct="1">
              <a:spcBef>
                <a:spcPct val="50000"/>
              </a:spcBef>
              <a:buClr>
                <a:srgbClr val="FFC000"/>
              </a:buClr>
              <a:buSzPct val="80000"/>
              <a:buFont typeface="Wingdings" panose="05000000000000000000" pitchFamily="2" charset="2"/>
              <a:buChar char="n"/>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t>关于范式</a:t>
            </a:r>
          </a:p>
        </p:txBody>
      </p:sp>
      <p:sp>
        <p:nvSpPr>
          <p:cNvPr id="8" name="Rectangle 2"/>
          <p:cNvSpPr txBox="1">
            <a:spLocks noChangeArrowheads="1"/>
          </p:cNvSpPr>
          <p:nvPr/>
        </p:nvSpPr>
        <p:spPr bwMode="auto">
          <a:xfrm>
            <a:off x="4943872" y="299120"/>
            <a:ext cx="4248472"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3600" b="0" dirty="0">
                <a:latin typeface="Times New Roman" panose="02020603050405020304" pitchFamily="18" charset="0"/>
                <a:ea typeface="微软雅黑" panose="020B0503020204020204" pitchFamily="34" charset="-122"/>
                <a:cs typeface="Times New Roman" panose="02020603050405020304" pitchFamily="18" charset="0"/>
              </a:rPr>
              <a:t>3.3</a:t>
            </a:r>
            <a:r>
              <a:rPr lang="en-US" altLang="zh-CN" sz="36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3600" b="0" dirty="0">
                <a:latin typeface="Times New Roman" panose="02020603050405020304" pitchFamily="18" charset="0"/>
                <a:ea typeface="微软雅黑" panose="020B0503020204020204" pitchFamily="34" charset="-122"/>
                <a:cs typeface="Times New Roman" panose="02020603050405020304" pitchFamily="18" charset="0"/>
              </a:rPr>
              <a:t>范式</a:t>
            </a:r>
            <a:endParaRPr lang="zh-CN" altLang="en-US" sz="360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3"/>
          <p:cNvSpPr txBox="1">
            <a:spLocks noChangeArrowheads="1"/>
          </p:cNvSpPr>
          <p:nvPr/>
        </p:nvSpPr>
        <p:spPr bwMode="auto">
          <a:xfrm>
            <a:off x="551384" y="3913629"/>
            <a:ext cx="70797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457200" indent="-457200" eaLnBrk="1" hangingPunct="1">
              <a:spcBef>
                <a:spcPct val="50000"/>
              </a:spcBef>
              <a:buClr>
                <a:srgbClr val="FFC000"/>
              </a:buClr>
              <a:buSzPct val="80000"/>
              <a:buFont typeface="Wingdings" panose="05000000000000000000" pitchFamily="2" charset="2"/>
              <a:buChar char="n"/>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t>关于联结词</a:t>
            </a:r>
            <a:endParaRPr lang="en-US" altLang="zh-CN" dirty="0"/>
          </a:p>
        </p:txBody>
      </p:sp>
      <p:sp>
        <p:nvSpPr>
          <p:cNvPr id="10" name="文本框 9"/>
          <p:cNvSpPr txBox="1"/>
          <p:nvPr/>
        </p:nvSpPr>
        <p:spPr>
          <a:xfrm>
            <a:off x="2543927" y="4486101"/>
            <a:ext cx="5976665" cy="1688860"/>
          </a:xfrm>
          <a:prstGeom prst="rect">
            <a:avLst/>
          </a:prstGeom>
          <a:noFill/>
        </p:spPr>
        <p:txBody>
          <a:bodyPr wrap="square">
            <a:spAutoFit/>
          </a:bodyPr>
          <a:lstStyle>
            <a:defPPr>
              <a:defRPr lang="zh-CN"/>
            </a:defPPr>
            <a:lvl1pPr marL="0" indent="0" eaLnBrk="1" hangingPunct="1">
              <a:lnSpc>
                <a:spcPct val="200000"/>
              </a:lnSpc>
              <a:defRPr sz="2400" b="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stStyle>
          <a:p>
            <a:pPr>
              <a:lnSpc>
                <a:spcPct val="150000"/>
              </a:lnSpc>
            </a:pPr>
            <a:r>
              <a:rPr lang="en-US" altLang="zh-CN" dirty="0"/>
              <a:t>(1) 5</a:t>
            </a:r>
            <a:r>
              <a:rPr lang="zh-CN" altLang="en-US" dirty="0"/>
              <a:t>个联结词可以描述所有命题逻辑吗？</a:t>
            </a:r>
          </a:p>
          <a:p>
            <a:pPr>
              <a:lnSpc>
                <a:spcPct val="150000"/>
              </a:lnSpc>
            </a:pPr>
            <a:r>
              <a:rPr lang="en-US" altLang="zh-CN" dirty="0"/>
              <a:t>(2) </a:t>
            </a:r>
            <a:r>
              <a:rPr lang="zh-CN" altLang="en-US" dirty="0"/>
              <a:t>这</a:t>
            </a:r>
            <a:r>
              <a:rPr lang="en-US" altLang="zh-CN" dirty="0"/>
              <a:t>5</a:t>
            </a:r>
            <a:r>
              <a:rPr lang="zh-CN" altLang="en-US" dirty="0"/>
              <a:t>个是否都需要？</a:t>
            </a:r>
            <a:endParaRPr lang="en-US" altLang="zh-CN" dirty="0"/>
          </a:p>
          <a:p>
            <a:pPr>
              <a:lnSpc>
                <a:spcPct val="150000"/>
              </a:lnSpc>
            </a:pPr>
            <a:r>
              <a:rPr lang="en-US" altLang="zh-CN" dirty="0"/>
              <a:t>(3) </a:t>
            </a:r>
            <a:r>
              <a:rPr lang="zh-CN" altLang="en-US" dirty="0"/>
              <a:t>能否简化？</a:t>
            </a:r>
          </a:p>
        </p:txBody>
      </p:sp>
      <p:sp>
        <p:nvSpPr>
          <p:cNvPr id="7" name="文本框 6"/>
          <p:cNvSpPr txBox="1"/>
          <p:nvPr/>
        </p:nvSpPr>
        <p:spPr>
          <a:xfrm>
            <a:off x="2567608" y="2149134"/>
            <a:ext cx="3672408" cy="1688860"/>
          </a:xfrm>
          <a:prstGeom prst="rect">
            <a:avLst/>
          </a:prstGeom>
          <a:noFill/>
        </p:spPr>
        <p:txBody>
          <a:bodyPr wrap="square">
            <a:spAutoFit/>
          </a:bodyPr>
          <a:lstStyle>
            <a:defPPr>
              <a:defRPr lang="zh-CN"/>
            </a:defPPr>
            <a:lvl1pPr marL="0" indent="0" eaLnBrk="1" hangingPunct="1">
              <a:lnSpc>
                <a:spcPct val="200000"/>
              </a:lnSpc>
              <a:defRPr sz="2400" b="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stStyle>
          <a:p>
            <a:pPr>
              <a:lnSpc>
                <a:spcPct val="150000"/>
              </a:lnSpc>
            </a:pPr>
            <a:r>
              <a:rPr lang="en-US" altLang="zh-CN" dirty="0"/>
              <a:t>(1) </a:t>
            </a:r>
            <a:r>
              <a:rPr lang="zh-CN" altLang="en-US" dirty="0"/>
              <a:t>是什么？</a:t>
            </a:r>
          </a:p>
          <a:p>
            <a:pPr>
              <a:lnSpc>
                <a:spcPct val="150000"/>
              </a:lnSpc>
            </a:pPr>
            <a:r>
              <a:rPr lang="en-US" altLang="zh-CN" dirty="0"/>
              <a:t>(2) </a:t>
            </a:r>
            <a:r>
              <a:rPr lang="zh-CN" altLang="en-US" dirty="0"/>
              <a:t>怎么得到？</a:t>
            </a:r>
          </a:p>
          <a:p>
            <a:pPr>
              <a:lnSpc>
                <a:spcPct val="150000"/>
              </a:lnSpc>
            </a:pPr>
            <a:r>
              <a:rPr lang="en-US" altLang="zh-CN" dirty="0"/>
              <a:t>(3) </a:t>
            </a:r>
            <a:r>
              <a:rPr lang="zh-CN" altLang="en-US" dirty="0"/>
              <a:t>有什么用途？</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 calcmode="lin" valueType="num">
                                      <p:cBhvr additive="base">
                                        <p:cTn id="12"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42" presetClass="entr" presetSubtype="0" fill="hold" nodeType="after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1000"/>
                                        <p:tgtEl>
                                          <p:spTgt spid="7">
                                            <p:txEl>
                                              <p:pRg st="0" end="0"/>
                                            </p:txEl>
                                          </p:spTgt>
                                        </p:tgtEl>
                                      </p:cBhvr>
                                    </p:animEffect>
                                    <p:anim calcmode="lin" valueType="num">
                                      <p:cBhvr>
                                        <p:cTn id="1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2" presetClass="entr" presetSubtype="0" fill="hold" nodeType="after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Effect transition="in" filter="fade">
                                      <p:cBhvr>
                                        <p:cTn id="23" dur="1000"/>
                                        <p:tgtEl>
                                          <p:spTgt spid="7">
                                            <p:txEl>
                                              <p:pRg st="1" end="1"/>
                                            </p:txEl>
                                          </p:spTgt>
                                        </p:tgtEl>
                                      </p:cBhvr>
                                    </p:animEffect>
                                    <p:anim calcmode="lin" valueType="num">
                                      <p:cBhvr>
                                        <p:cTn id="2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5"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26" fill="hold">
                            <p:stCondLst>
                              <p:cond delay="2500"/>
                            </p:stCondLst>
                            <p:childTnLst>
                              <p:par>
                                <p:cTn id="27" presetID="42" presetClass="entr" presetSubtype="0" fill="hold" nodeType="after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animEffect transition="in" filter="fade">
                                      <p:cBhvr>
                                        <p:cTn id="29" dur="1000"/>
                                        <p:tgtEl>
                                          <p:spTgt spid="7">
                                            <p:txEl>
                                              <p:pRg st="2" end="2"/>
                                            </p:txEl>
                                          </p:spTgt>
                                        </p:tgtEl>
                                      </p:cBhvr>
                                    </p:animEffect>
                                    <p:anim calcmode="lin" valueType="num">
                                      <p:cBhvr>
                                        <p:cTn id="3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5">
                                            <p:txEl>
                                              <p:pRg st="0" end="0"/>
                                            </p:txEl>
                                          </p:spTgt>
                                        </p:tgtEl>
                                        <p:attrNameLst>
                                          <p:attrName>style.visibility</p:attrName>
                                        </p:attrNameLst>
                                      </p:cBhvr>
                                      <p:to>
                                        <p:strVal val="visible"/>
                                      </p:to>
                                    </p:set>
                                    <p:anim calcmode="lin" valueType="num">
                                      <p:cBhvr additive="base">
                                        <p:cTn id="36"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38" fill="hold">
                            <p:stCondLst>
                              <p:cond delay="500"/>
                            </p:stCondLst>
                            <p:childTnLst>
                              <p:par>
                                <p:cTn id="39" presetID="42" presetClass="entr" presetSubtype="0" fill="hold" nodeType="afterEffect">
                                  <p:stCondLst>
                                    <p:cond delay="0"/>
                                  </p:stCondLst>
                                  <p:childTnLst>
                                    <p:set>
                                      <p:cBhvr>
                                        <p:cTn id="40" dur="1" fill="hold">
                                          <p:stCondLst>
                                            <p:cond delay="0"/>
                                          </p:stCondLst>
                                        </p:cTn>
                                        <p:tgtEl>
                                          <p:spTgt spid="10">
                                            <p:txEl>
                                              <p:pRg st="0" end="0"/>
                                            </p:txEl>
                                          </p:spTgt>
                                        </p:tgtEl>
                                        <p:attrNameLst>
                                          <p:attrName>style.visibility</p:attrName>
                                        </p:attrNameLst>
                                      </p:cBhvr>
                                      <p:to>
                                        <p:strVal val="visible"/>
                                      </p:to>
                                    </p:set>
                                    <p:animEffect transition="in" filter="fade">
                                      <p:cBhvr>
                                        <p:cTn id="41" dur="1000"/>
                                        <p:tgtEl>
                                          <p:spTgt spid="10">
                                            <p:txEl>
                                              <p:pRg st="0" end="0"/>
                                            </p:txEl>
                                          </p:spTgt>
                                        </p:tgtEl>
                                      </p:cBhvr>
                                    </p:animEffect>
                                    <p:anim calcmode="lin" valueType="num">
                                      <p:cBhvr>
                                        <p:cTn id="4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44" fill="hold">
                            <p:stCondLst>
                              <p:cond delay="1500"/>
                            </p:stCondLst>
                            <p:childTnLst>
                              <p:par>
                                <p:cTn id="45" presetID="42" presetClass="entr" presetSubtype="0" fill="hold" nodeType="afterEffect">
                                  <p:stCondLst>
                                    <p:cond delay="0"/>
                                  </p:stCondLst>
                                  <p:childTnLst>
                                    <p:set>
                                      <p:cBhvr>
                                        <p:cTn id="46" dur="1" fill="hold">
                                          <p:stCondLst>
                                            <p:cond delay="0"/>
                                          </p:stCondLst>
                                        </p:cTn>
                                        <p:tgtEl>
                                          <p:spTgt spid="10">
                                            <p:txEl>
                                              <p:pRg st="1" end="1"/>
                                            </p:txEl>
                                          </p:spTgt>
                                        </p:tgtEl>
                                        <p:attrNameLst>
                                          <p:attrName>style.visibility</p:attrName>
                                        </p:attrNameLst>
                                      </p:cBhvr>
                                      <p:to>
                                        <p:strVal val="visible"/>
                                      </p:to>
                                    </p:set>
                                    <p:animEffect transition="in" filter="fade">
                                      <p:cBhvr>
                                        <p:cTn id="47" dur="1000"/>
                                        <p:tgtEl>
                                          <p:spTgt spid="10">
                                            <p:txEl>
                                              <p:pRg st="1" end="1"/>
                                            </p:txEl>
                                          </p:spTgt>
                                        </p:tgtEl>
                                      </p:cBhvr>
                                    </p:animEffect>
                                    <p:anim calcmode="lin" valueType="num">
                                      <p:cBhvr>
                                        <p:cTn id="48"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49"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par>
                          <p:cTn id="50" fill="hold">
                            <p:stCondLst>
                              <p:cond delay="2500"/>
                            </p:stCondLst>
                            <p:childTnLst>
                              <p:par>
                                <p:cTn id="51" presetID="42" presetClass="entr" presetSubtype="0" fill="hold" nodeType="afterEffect">
                                  <p:stCondLst>
                                    <p:cond delay="0"/>
                                  </p:stCondLst>
                                  <p:childTnLst>
                                    <p:set>
                                      <p:cBhvr>
                                        <p:cTn id="52" dur="1" fill="hold">
                                          <p:stCondLst>
                                            <p:cond delay="0"/>
                                          </p:stCondLst>
                                        </p:cTn>
                                        <p:tgtEl>
                                          <p:spTgt spid="10">
                                            <p:txEl>
                                              <p:pRg st="2" end="2"/>
                                            </p:txEl>
                                          </p:spTgt>
                                        </p:tgtEl>
                                        <p:attrNameLst>
                                          <p:attrName>style.visibility</p:attrName>
                                        </p:attrNameLst>
                                      </p:cBhvr>
                                      <p:to>
                                        <p:strVal val="visible"/>
                                      </p:to>
                                    </p:set>
                                    <p:animEffect transition="in" filter="fade">
                                      <p:cBhvr>
                                        <p:cTn id="53" dur="1000"/>
                                        <p:tgtEl>
                                          <p:spTgt spid="10">
                                            <p:txEl>
                                              <p:pRg st="2" end="2"/>
                                            </p:txEl>
                                          </p:spTgt>
                                        </p:tgtEl>
                                      </p:cBhvr>
                                    </p:animEffect>
                                    <p:anim calcmode="lin" valueType="num">
                                      <p:cBhvr>
                                        <p:cTn id="54"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55"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8" grpId="0"/>
      <p:bldP spid="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txBox="1">
            <a:spLocks noChangeArrowheads="1"/>
          </p:cNvSpPr>
          <p:nvPr/>
        </p:nvSpPr>
        <p:spPr bwMode="auto">
          <a:xfrm>
            <a:off x="4943872" y="116632"/>
            <a:ext cx="482453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本节内容要点</a:t>
            </a:r>
          </a:p>
        </p:txBody>
      </p:sp>
      <p:sp>
        <p:nvSpPr>
          <p:cNvPr id="2" name="Text Box 4"/>
          <p:cNvSpPr txBox="1">
            <a:spLocks noChangeArrowheads="1"/>
          </p:cNvSpPr>
          <p:nvPr/>
        </p:nvSpPr>
        <p:spPr bwMode="auto">
          <a:xfrm>
            <a:off x="2182344" y="2301392"/>
            <a:ext cx="25753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3.3.1</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主析取范式</a:t>
            </a:r>
          </a:p>
        </p:txBody>
      </p:sp>
      <p:sp>
        <p:nvSpPr>
          <p:cNvPr id="3" name="Text Box 5"/>
          <p:cNvSpPr txBox="1">
            <a:spLocks noChangeArrowheads="1"/>
          </p:cNvSpPr>
          <p:nvPr/>
        </p:nvSpPr>
        <p:spPr bwMode="auto">
          <a:xfrm>
            <a:off x="1149952" y="5331489"/>
            <a:ext cx="36207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3.3.3</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联结词的功能完备集</a:t>
            </a:r>
          </a:p>
        </p:txBody>
      </p:sp>
      <p:sp>
        <p:nvSpPr>
          <p:cNvPr id="4" name="AutoShape 6"/>
          <p:cNvSpPr/>
          <p:nvPr/>
        </p:nvSpPr>
        <p:spPr bwMode="auto">
          <a:xfrm>
            <a:off x="4673973" y="1931064"/>
            <a:ext cx="339725" cy="1219200"/>
          </a:xfrm>
          <a:prstGeom prst="leftBrace">
            <a:avLst>
              <a:gd name="adj1" fmla="val 32203"/>
              <a:gd name="adj2" fmla="val 50000"/>
            </a:avLst>
          </a:prstGeom>
          <a:noFill/>
          <a:ln w="9525">
            <a:solidFill>
              <a:srgbClr val="FFFF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rgbClr val="FFC000"/>
              </a:solidFill>
              <a:latin typeface="Tahoma" panose="020B0604030504040204" pitchFamily="34" charset="0"/>
            </a:endParaRPr>
          </a:p>
        </p:txBody>
      </p:sp>
      <p:sp>
        <p:nvSpPr>
          <p:cNvPr id="5" name="Text Box 7"/>
          <p:cNvSpPr txBox="1">
            <a:spLocks noChangeArrowheads="1"/>
          </p:cNvSpPr>
          <p:nvPr/>
        </p:nvSpPr>
        <p:spPr bwMode="auto">
          <a:xfrm>
            <a:off x="5013698" y="1747395"/>
            <a:ext cx="360258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简单析取式</a:t>
            </a:r>
          </a:p>
          <a:p>
            <a:pPr eaLnBrk="1" fontAlgn="t"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极小项</a:t>
            </a:r>
          </a:p>
          <a:p>
            <a:pPr eaLnBrk="1" fontAlgn="t"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主析取范式</a:t>
            </a:r>
          </a:p>
        </p:txBody>
      </p:sp>
      <p:sp>
        <p:nvSpPr>
          <p:cNvPr id="6" name="AutoShape 8"/>
          <p:cNvSpPr/>
          <p:nvPr/>
        </p:nvSpPr>
        <p:spPr bwMode="auto">
          <a:xfrm>
            <a:off x="4725832" y="5104201"/>
            <a:ext cx="256909" cy="789438"/>
          </a:xfrm>
          <a:prstGeom prst="leftBrace">
            <a:avLst>
              <a:gd name="adj1" fmla="val 32163"/>
              <a:gd name="adj2" fmla="val 47751"/>
            </a:avLst>
          </a:prstGeom>
          <a:noFill/>
          <a:ln w="9525">
            <a:solidFill>
              <a:srgbClr val="FFFF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rgbClr val="FFC000"/>
              </a:solidFill>
              <a:latin typeface="Tahoma" panose="020B0604030504040204" pitchFamily="34" charset="0"/>
            </a:endParaRPr>
          </a:p>
        </p:txBody>
      </p:sp>
      <p:sp>
        <p:nvSpPr>
          <p:cNvPr id="12" name="Text Box 9"/>
          <p:cNvSpPr txBox="1">
            <a:spLocks noChangeArrowheads="1"/>
          </p:cNvSpPr>
          <p:nvPr/>
        </p:nvSpPr>
        <p:spPr bwMode="auto">
          <a:xfrm>
            <a:off x="5029696" y="5054489"/>
            <a:ext cx="3620715"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真值函数</a:t>
            </a:r>
          </a:p>
          <a:p>
            <a:pPr eaLnBrk="1" fontAlgn="t"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联结词的功能完备集</a:t>
            </a:r>
          </a:p>
        </p:txBody>
      </p:sp>
      <p:sp>
        <p:nvSpPr>
          <p:cNvPr id="14" name="Text Box 4"/>
          <p:cNvSpPr txBox="1">
            <a:spLocks noChangeArrowheads="1"/>
          </p:cNvSpPr>
          <p:nvPr/>
        </p:nvSpPr>
        <p:spPr bwMode="auto">
          <a:xfrm>
            <a:off x="7165602" y="4356029"/>
            <a:ext cx="432157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核心：极大项、极小项</a:t>
            </a:r>
          </a:p>
        </p:txBody>
      </p:sp>
      <p:sp>
        <p:nvSpPr>
          <p:cNvPr id="10" name="Text Box 4"/>
          <p:cNvSpPr txBox="1">
            <a:spLocks noChangeArrowheads="1"/>
          </p:cNvSpPr>
          <p:nvPr/>
        </p:nvSpPr>
        <p:spPr bwMode="auto">
          <a:xfrm>
            <a:off x="2098611" y="3894364"/>
            <a:ext cx="25753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3.3.1</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主合取范式</a:t>
            </a:r>
          </a:p>
        </p:txBody>
      </p:sp>
      <p:sp>
        <p:nvSpPr>
          <p:cNvPr id="11" name="AutoShape 6"/>
          <p:cNvSpPr/>
          <p:nvPr/>
        </p:nvSpPr>
        <p:spPr bwMode="auto">
          <a:xfrm>
            <a:off x="4590240" y="3524036"/>
            <a:ext cx="339725" cy="1219200"/>
          </a:xfrm>
          <a:prstGeom prst="leftBrace">
            <a:avLst>
              <a:gd name="adj1" fmla="val 32203"/>
              <a:gd name="adj2" fmla="val 50000"/>
            </a:avLst>
          </a:prstGeom>
          <a:noFill/>
          <a:ln w="9525">
            <a:solidFill>
              <a:srgbClr val="FFFF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400">
              <a:solidFill>
                <a:srgbClr val="FFC000"/>
              </a:solidFill>
              <a:latin typeface="Tahoma" panose="020B0604030504040204" pitchFamily="34" charset="0"/>
            </a:endParaRPr>
          </a:p>
        </p:txBody>
      </p:sp>
      <p:sp>
        <p:nvSpPr>
          <p:cNvPr id="13" name="Text Box 7"/>
          <p:cNvSpPr txBox="1">
            <a:spLocks noChangeArrowheads="1"/>
          </p:cNvSpPr>
          <p:nvPr/>
        </p:nvSpPr>
        <p:spPr bwMode="auto">
          <a:xfrm>
            <a:off x="4929965" y="3340367"/>
            <a:ext cx="360258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fontAlgn="t"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简单合取式</a:t>
            </a:r>
          </a:p>
          <a:p>
            <a:pPr eaLnBrk="1" fontAlgn="t"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极大项</a:t>
            </a:r>
          </a:p>
          <a:p>
            <a:pPr eaLnBrk="1" fontAlgn="t"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主合取范式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par>
                          <p:cTn id="38" fill="hold">
                            <p:stCondLst>
                              <p:cond delay="500"/>
                            </p:stCondLst>
                            <p:childTnLst>
                              <p:par>
                                <p:cTn id="39" presetID="22" presetClass="entr" presetSubtype="8"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left)">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 fill="hold"/>
                                        <p:tgtEl>
                                          <p:spTgt spid="14"/>
                                        </p:tgtEl>
                                        <p:attrNameLst>
                                          <p:attrName>ppt_w</p:attrName>
                                        </p:attrNameLst>
                                      </p:cBhvr>
                                      <p:tavLst>
                                        <p:tav tm="0">
                                          <p:val>
                                            <p:fltVal val="0"/>
                                          </p:val>
                                        </p:tav>
                                        <p:tav tm="100000">
                                          <p:val>
                                            <p:strVal val="#ppt_w"/>
                                          </p:val>
                                        </p:tav>
                                      </p:tavLst>
                                    </p:anim>
                                    <p:anim calcmode="lin" valueType="num">
                                      <p:cBhvr>
                                        <p:cTn id="51" dur="500" fill="hold"/>
                                        <p:tgtEl>
                                          <p:spTgt spid="14"/>
                                        </p:tgtEl>
                                        <p:attrNameLst>
                                          <p:attrName>ppt_h</p:attrName>
                                        </p:attrNameLst>
                                      </p:cBhvr>
                                      <p:tavLst>
                                        <p:tav tm="0">
                                          <p:val>
                                            <p:fltVal val="0"/>
                                          </p:val>
                                        </p:tav>
                                        <p:tav tm="100000">
                                          <p:val>
                                            <p:strVal val="#ppt_h"/>
                                          </p:val>
                                        </p:tav>
                                      </p:tavLst>
                                    </p:anim>
                                    <p:animEffect transition="in" filter="fade">
                                      <p:cBhvr>
                                        <p:cTn id="5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 grpId="0"/>
      <p:bldP spid="3" grpId="0"/>
      <p:bldP spid="4" grpId="0" animBg="1"/>
      <p:bldP spid="5" grpId="0"/>
      <p:bldP spid="6" grpId="0" animBg="1"/>
      <p:bldP spid="12" grpId="0"/>
      <p:bldP spid="14" grpId="0"/>
      <p:bldP spid="10" grpId="0"/>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3" name="Text Box 5"/>
          <p:cNvSpPr txBox="1">
            <a:spLocks noChangeArrowheads="1"/>
          </p:cNvSpPr>
          <p:nvPr/>
        </p:nvSpPr>
        <p:spPr bwMode="auto">
          <a:xfrm>
            <a:off x="1004219" y="2268829"/>
            <a:ext cx="9657333" cy="1551194"/>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342900" indent="-342900" algn="just" eaLnBrk="1" hangingPunct="1">
              <a:lnSpc>
                <a:spcPct val="115000"/>
              </a:lnSpc>
              <a:spcBef>
                <a:spcPct val="25000"/>
              </a:spcBef>
              <a:buClr>
                <a:srgbClr val="FF7C80"/>
              </a:buClr>
              <a:buSzPct val="80000"/>
              <a:buFont typeface="Wingdings" panose="05000000000000000000" pitchFamily="2" charset="2"/>
              <a:buChar char="l"/>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命题变量及其否定统称作</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文字</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eaLnBrk="1" hangingPunct="1">
              <a:lnSpc>
                <a:spcPct val="115000"/>
              </a:lnSpc>
              <a:spcBef>
                <a:spcPct val="25000"/>
              </a:spcBef>
              <a:buClr>
                <a:srgbClr val="FF7C80"/>
              </a:buClr>
              <a:buSzPct val="80000"/>
              <a:buFont typeface="Wingdings" panose="05000000000000000000" pitchFamily="2" charset="2"/>
              <a:buChar char="l"/>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仅由有限个文字构成的析取式称作</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简单析取式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eaLnBrk="1" hangingPunct="1">
              <a:lnSpc>
                <a:spcPct val="115000"/>
              </a:lnSpc>
              <a:spcBef>
                <a:spcPct val="25000"/>
              </a:spcBef>
              <a:buClr>
                <a:srgbClr val="FF7C80"/>
              </a:buClr>
              <a:buSzPct val="80000"/>
              <a:buFont typeface="Wingdings" panose="05000000000000000000" pitchFamily="2" charset="2"/>
              <a:buChar char="l"/>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仅由有限个文字构成的合取式称作</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简单合取式</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4696" name="Text Box 8"/>
          <p:cNvSpPr txBox="1">
            <a:spLocks noChangeArrowheads="1"/>
          </p:cNvSpPr>
          <p:nvPr/>
        </p:nvSpPr>
        <p:spPr bwMode="auto">
          <a:xfrm>
            <a:off x="588392" y="4221088"/>
            <a:ext cx="9657333" cy="1656544"/>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15000"/>
              </a:lnSpc>
              <a:spcBef>
                <a:spcPct val="25000"/>
              </a:spcBef>
              <a:buFontTx/>
              <a:buNone/>
            </a:pP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都是简单析取式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15000"/>
              </a:lnSpc>
              <a:spcBef>
                <a:spcPct val="25000"/>
              </a:spcBef>
              <a:buFontTx/>
              <a:buNone/>
            </a:pP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都是简单合取式。</a:t>
            </a:r>
          </a:p>
          <a:p>
            <a:pPr algn="just" eaLnBrk="1" hangingPunct="1">
              <a:lnSpc>
                <a:spcPct val="115000"/>
              </a:lnSpc>
              <a:spcBef>
                <a:spcPts val="1800"/>
              </a:spcBef>
              <a:buFontTx/>
              <a:buNone/>
            </a:pP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注</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    单个文字既是简单析取式又是简单合取式。</a:t>
            </a:r>
          </a:p>
        </p:txBody>
      </p:sp>
      <p:sp>
        <p:nvSpPr>
          <p:cNvPr id="6" name="Rectangle 5"/>
          <p:cNvSpPr txBox="1">
            <a:spLocks noChangeArrowheads="1"/>
          </p:cNvSpPr>
          <p:nvPr/>
        </p:nvSpPr>
        <p:spPr bwMode="auto">
          <a:xfrm>
            <a:off x="365634" y="1646776"/>
            <a:ext cx="50514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kumimoji="1" lang="en-US" altLang="zh-CN"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文字</a:t>
            </a:r>
          </a:p>
        </p:txBody>
      </p:sp>
      <p:sp>
        <p:nvSpPr>
          <p:cNvPr id="2" name="Rectangle 7"/>
          <p:cNvSpPr txBox="1">
            <a:spLocks noChangeArrowheads="1"/>
          </p:cNvSpPr>
          <p:nvPr/>
        </p:nvSpPr>
        <p:spPr bwMode="auto">
          <a:xfrm>
            <a:off x="5159376" y="44450"/>
            <a:ext cx="5508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latin typeface="Times New Roman" panose="02020603050405020304" pitchFamily="18" charset="0"/>
                <a:ea typeface="微软雅黑" panose="020B0503020204020204" pitchFamily="34" charset="-122"/>
                <a:cs typeface="Times New Roman" panose="02020603050405020304" pitchFamily="18" charset="0"/>
              </a:rPr>
              <a:t>简单析取式和简单合取式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500"/>
                            </p:stCondLst>
                            <p:childTnLst>
                              <p:par>
                                <p:cTn id="13" presetID="9" presetClass="entr" presetSubtype="0" fill="hold" nodeType="afterEffect">
                                  <p:stCondLst>
                                    <p:cond delay="500"/>
                                  </p:stCondLst>
                                  <p:childTnLst>
                                    <p:set>
                                      <p:cBhvr>
                                        <p:cTn id="14" dur="1" fill="hold">
                                          <p:stCondLst>
                                            <p:cond delay="0"/>
                                          </p:stCondLst>
                                        </p:cTn>
                                        <p:tgtEl>
                                          <p:spTgt spid="114693">
                                            <p:txEl>
                                              <p:pRg st="0" end="0"/>
                                            </p:txEl>
                                          </p:spTgt>
                                        </p:tgtEl>
                                        <p:attrNameLst>
                                          <p:attrName>style.visibility</p:attrName>
                                        </p:attrNameLst>
                                      </p:cBhvr>
                                      <p:to>
                                        <p:strVal val="visible"/>
                                      </p:to>
                                    </p:set>
                                    <p:animEffect transition="in" filter="dissolve">
                                      <p:cBhvr>
                                        <p:cTn id="15" dur="500"/>
                                        <p:tgtEl>
                                          <p:spTgt spid="114693">
                                            <p:txEl>
                                              <p:pRg st="0" end="0"/>
                                            </p:txEl>
                                          </p:spTgt>
                                        </p:tgtEl>
                                      </p:cBhvr>
                                    </p:animEffect>
                                  </p:childTnLst>
                                </p:cTn>
                              </p:par>
                            </p:childTnLst>
                          </p:cTn>
                        </p:par>
                        <p:par>
                          <p:cTn id="16" fill="hold">
                            <p:stCondLst>
                              <p:cond delay="1500"/>
                            </p:stCondLst>
                            <p:childTnLst>
                              <p:par>
                                <p:cTn id="17" presetID="9" presetClass="entr" presetSubtype="0" fill="hold" nodeType="afterEffect">
                                  <p:stCondLst>
                                    <p:cond delay="500"/>
                                  </p:stCondLst>
                                  <p:childTnLst>
                                    <p:set>
                                      <p:cBhvr>
                                        <p:cTn id="18" dur="1" fill="hold">
                                          <p:stCondLst>
                                            <p:cond delay="0"/>
                                          </p:stCondLst>
                                        </p:cTn>
                                        <p:tgtEl>
                                          <p:spTgt spid="114693">
                                            <p:txEl>
                                              <p:pRg st="1" end="1"/>
                                            </p:txEl>
                                          </p:spTgt>
                                        </p:tgtEl>
                                        <p:attrNameLst>
                                          <p:attrName>style.visibility</p:attrName>
                                        </p:attrNameLst>
                                      </p:cBhvr>
                                      <p:to>
                                        <p:strVal val="visible"/>
                                      </p:to>
                                    </p:set>
                                    <p:animEffect transition="in" filter="dissolve">
                                      <p:cBhvr>
                                        <p:cTn id="19" dur="500"/>
                                        <p:tgtEl>
                                          <p:spTgt spid="114693">
                                            <p:txEl>
                                              <p:pRg st="1" end="1"/>
                                            </p:txEl>
                                          </p:spTgt>
                                        </p:tgtEl>
                                      </p:cBhvr>
                                    </p:animEffect>
                                  </p:childTnLst>
                                </p:cTn>
                              </p:par>
                            </p:childTnLst>
                          </p:cTn>
                        </p:par>
                        <p:par>
                          <p:cTn id="20" fill="hold">
                            <p:stCondLst>
                              <p:cond delay="2500"/>
                            </p:stCondLst>
                            <p:childTnLst>
                              <p:par>
                                <p:cTn id="21" presetID="9" presetClass="entr" presetSubtype="0" fill="hold" nodeType="afterEffect">
                                  <p:stCondLst>
                                    <p:cond delay="500"/>
                                  </p:stCondLst>
                                  <p:childTnLst>
                                    <p:set>
                                      <p:cBhvr>
                                        <p:cTn id="22" dur="1" fill="hold">
                                          <p:stCondLst>
                                            <p:cond delay="0"/>
                                          </p:stCondLst>
                                        </p:cTn>
                                        <p:tgtEl>
                                          <p:spTgt spid="114693">
                                            <p:txEl>
                                              <p:pRg st="2" end="2"/>
                                            </p:txEl>
                                          </p:spTgt>
                                        </p:tgtEl>
                                        <p:attrNameLst>
                                          <p:attrName>style.visibility</p:attrName>
                                        </p:attrNameLst>
                                      </p:cBhvr>
                                      <p:to>
                                        <p:strVal val="visible"/>
                                      </p:to>
                                    </p:set>
                                    <p:animEffect transition="in" filter="dissolve">
                                      <p:cBhvr>
                                        <p:cTn id="23" dur="500"/>
                                        <p:tgtEl>
                                          <p:spTgt spid="11469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114696">
                                            <p:txEl>
                                              <p:pRg st="0" end="0"/>
                                            </p:txEl>
                                          </p:spTgt>
                                        </p:tgtEl>
                                        <p:attrNameLst>
                                          <p:attrName>style.visibility</p:attrName>
                                        </p:attrNameLst>
                                      </p:cBhvr>
                                      <p:to>
                                        <p:strVal val="visible"/>
                                      </p:to>
                                    </p:set>
                                    <p:animEffect transition="in" filter="barn(outVertical)">
                                      <p:cBhvr>
                                        <p:cTn id="28" dur="500"/>
                                        <p:tgtEl>
                                          <p:spTgt spid="114696">
                                            <p:txEl>
                                              <p:pRg st="0" end="0"/>
                                            </p:txEl>
                                          </p:spTgt>
                                        </p:tgtEl>
                                      </p:cBhvr>
                                    </p:animEffect>
                                  </p:childTnLst>
                                </p:cTn>
                              </p:par>
                            </p:childTnLst>
                          </p:cTn>
                        </p:par>
                        <p:par>
                          <p:cTn id="29" fill="hold">
                            <p:stCondLst>
                              <p:cond delay="500"/>
                            </p:stCondLst>
                            <p:childTnLst>
                              <p:par>
                                <p:cTn id="30" presetID="16" presetClass="entr" presetSubtype="37" fill="hold" grpId="0" nodeType="afterEffect">
                                  <p:stCondLst>
                                    <p:cond delay="0"/>
                                  </p:stCondLst>
                                  <p:childTnLst>
                                    <p:set>
                                      <p:cBhvr>
                                        <p:cTn id="31" dur="1" fill="hold">
                                          <p:stCondLst>
                                            <p:cond delay="0"/>
                                          </p:stCondLst>
                                        </p:cTn>
                                        <p:tgtEl>
                                          <p:spTgt spid="114696">
                                            <p:txEl>
                                              <p:pRg st="1" end="1"/>
                                            </p:txEl>
                                          </p:spTgt>
                                        </p:tgtEl>
                                        <p:attrNameLst>
                                          <p:attrName>style.visibility</p:attrName>
                                        </p:attrNameLst>
                                      </p:cBhvr>
                                      <p:to>
                                        <p:strVal val="visible"/>
                                      </p:to>
                                    </p:set>
                                    <p:animEffect transition="in" filter="barn(outVertical)">
                                      <p:cBhvr>
                                        <p:cTn id="32" dur="500"/>
                                        <p:tgtEl>
                                          <p:spTgt spid="11469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114696">
                                            <p:txEl>
                                              <p:pRg st="2" end="2"/>
                                            </p:txEl>
                                          </p:spTgt>
                                        </p:tgtEl>
                                        <p:attrNameLst>
                                          <p:attrName>style.visibility</p:attrName>
                                        </p:attrNameLst>
                                      </p:cBhvr>
                                      <p:to>
                                        <p:strVal val="visible"/>
                                      </p:to>
                                    </p:set>
                                    <p:animEffect transition="in" filter="barn(outVertical)">
                                      <p:cBhvr>
                                        <p:cTn id="37" dur="500"/>
                                        <p:tgtEl>
                                          <p:spTgt spid="11469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6" grpId="0" uiExpand="1" build="p" autoUpdateAnimBg="0"/>
      <p:bldP spid="6"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569516" y="3844889"/>
            <a:ext cx="11215116" cy="44781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15000"/>
              </a:lnSpc>
              <a:spcBef>
                <a:spcPct val="25000"/>
              </a:spcBef>
              <a:buFontTx/>
              <a:buNone/>
            </a:pP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是一个析取范式</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是一个合取范式。</a:t>
            </a:r>
          </a:p>
        </p:txBody>
      </p:sp>
      <p:sp>
        <p:nvSpPr>
          <p:cNvPr id="149507" name="Text Box 3"/>
          <p:cNvSpPr txBox="1">
            <a:spLocks noChangeArrowheads="1"/>
          </p:cNvSpPr>
          <p:nvPr/>
        </p:nvSpPr>
        <p:spPr bwMode="auto">
          <a:xfrm>
            <a:off x="641524" y="2173444"/>
            <a:ext cx="9680886" cy="1518044"/>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342900" indent="-342900" algn="just" eaLnBrk="1" hangingPunct="1">
              <a:lnSpc>
                <a:spcPct val="115000"/>
              </a:lnSpc>
              <a:spcBef>
                <a:spcPct val="25000"/>
              </a:spcBef>
              <a:buClr>
                <a:srgbClr val="FF7C80"/>
              </a:buClr>
              <a:buSzPct val="80000"/>
              <a:buFont typeface="Wingdings" panose="05000000000000000000" pitchFamily="2" charset="2"/>
              <a:buChar char="l"/>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由有限个简单合取式构成的析取式称为</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析取范式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gn="just" eaLnBrk="1" hangingPunct="1">
              <a:lnSpc>
                <a:spcPct val="115000"/>
              </a:lnSpc>
              <a:spcBef>
                <a:spcPct val="25000"/>
              </a:spcBef>
              <a:buClr>
                <a:srgbClr val="FF7C80"/>
              </a:buClr>
              <a:buSzPct val="80000"/>
              <a:buFont typeface="Wingdings" panose="05000000000000000000" pitchFamily="2" charset="2"/>
              <a:buChar char="l"/>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由有限个简单析取式构成的合取式成为</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合取范式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gn="just" eaLnBrk="1" hangingPunct="1">
              <a:lnSpc>
                <a:spcPct val="115000"/>
              </a:lnSpc>
              <a:spcBef>
                <a:spcPct val="25000"/>
              </a:spcBef>
              <a:buClr>
                <a:srgbClr val="FF7C80"/>
              </a:buClr>
              <a:buSzPct val="80000"/>
              <a:buFont typeface="Wingdings" panose="05000000000000000000" pitchFamily="2" charset="2"/>
              <a:buChar char="l"/>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析取范式与合取范式统称为</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范式</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 name="Rectangle 5"/>
          <p:cNvSpPr txBox="1">
            <a:spLocks noChangeArrowheads="1"/>
          </p:cNvSpPr>
          <p:nvPr/>
        </p:nvSpPr>
        <p:spPr bwMode="auto">
          <a:xfrm>
            <a:off x="365634" y="1646776"/>
            <a:ext cx="50514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kumimoji="1" lang="en-US" altLang="zh-CN"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范式</a:t>
            </a:r>
          </a:p>
        </p:txBody>
      </p:sp>
      <p:sp>
        <p:nvSpPr>
          <p:cNvPr id="7" name="Text Box 2"/>
          <p:cNvSpPr txBox="1">
            <a:spLocks noChangeArrowheads="1"/>
          </p:cNvSpPr>
          <p:nvPr/>
        </p:nvSpPr>
        <p:spPr bwMode="auto">
          <a:xfrm>
            <a:off x="641524" y="4498650"/>
            <a:ext cx="11071100" cy="193129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15000"/>
              </a:lnSpc>
              <a:spcBef>
                <a:spcPct val="25000"/>
              </a:spcBef>
              <a:buFontTx/>
              <a:buNone/>
            </a:pP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注</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单个文字既是简单析取式又是简单合取式。</a:t>
            </a:r>
          </a:p>
          <a:p>
            <a:pPr algn="just" eaLnBrk="1" hangingPunct="1">
              <a:lnSpc>
                <a:spcPct val="115000"/>
              </a:lnSpc>
              <a:spcBef>
                <a:spcPts val="18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形如┐</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的公式既是由一个简单合取式构成的析取范式</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又是由三个简单析取式构成的合取范式。</a:t>
            </a:r>
          </a:p>
          <a:p>
            <a:pPr algn="just" eaLnBrk="1" hangingPunct="1">
              <a:lnSpc>
                <a:spcPct val="115000"/>
              </a:lnSpc>
              <a:spcBef>
                <a:spcPct val="25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形如</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的公式既可看成析取范式也可看成合取范式。</a:t>
            </a:r>
          </a:p>
        </p:txBody>
      </p:sp>
      <p:sp>
        <p:nvSpPr>
          <p:cNvPr id="3" name="Rectangle 7"/>
          <p:cNvSpPr txBox="1">
            <a:spLocks noChangeArrowheads="1"/>
          </p:cNvSpPr>
          <p:nvPr/>
        </p:nvSpPr>
        <p:spPr bwMode="auto">
          <a:xfrm>
            <a:off x="5159376" y="44450"/>
            <a:ext cx="5508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latin typeface="Times New Roman" panose="02020603050405020304" pitchFamily="18" charset="0"/>
                <a:ea typeface="微软雅黑" panose="020B0503020204020204" pitchFamily="34" charset="-122"/>
                <a:cs typeface="Times New Roman" panose="02020603050405020304" pitchFamily="18" charset="0"/>
              </a:rPr>
              <a:t>析取范式与合取范式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9" presetClass="entr" presetSubtype="0" fill="hold" nodeType="afterEffect">
                                  <p:stCondLst>
                                    <p:cond delay="500"/>
                                  </p:stCondLst>
                                  <p:childTnLst>
                                    <p:set>
                                      <p:cBhvr>
                                        <p:cTn id="10" dur="1" fill="hold">
                                          <p:stCondLst>
                                            <p:cond delay="0"/>
                                          </p:stCondLst>
                                        </p:cTn>
                                        <p:tgtEl>
                                          <p:spTgt spid="149507">
                                            <p:txEl>
                                              <p:pRg st="0" end="0"/>
                                            </p:txEl>
                                          </p:spTgt>
                                        </p:tgtEl>
                                        <p:attrNameLst>
                                          <p:attrName>style.visibility</p:attrName>
                                        </p:attrNameLst>
                                      </p:cBhvr>
                                      <p:to>
                                        <p:strVal val="visible"/>
                                      </p:to>
                                    </p:set>
                                    <p:animEffect transition="in" filter="dissolve">
                                      <p:cBhvr>
                                        <p:cTn id="11" dur="500"/>
                                        <p:tgtEl>
                                          <p:spTgt spid="149507">
                                            <p:txEl>
                                              <p:pRg st="0" end="0"/>
                                            </p:txEl>
                                          </p:spTgt>
                                        </p:tgtEl>
                                      </p:cBhvr>
                                    </p:animEffect>
                                  </p:childTnLst>
                                </p:cTn>
                              </p:par>
                            </p:childTnLst>
                          </p:cTn>
                        </p:par>
                        <p:par>
                          <p:cTn id="12" fill="hold">
                            <p:stCondLst>
                              <p:cond delay="1500"/>
                            </p:stCondLst>
                            <p:childTnLst>
                              <p:par>
                                <p:cTn id="13" presetID="9" presetClass="entr" presetSubtype="0" fill="hold" nodeType="afterEffect">
                                  <p:stCondLst>
                                    <p:cond delay="500"/>
                                  </p:stCondLst>
                                  <p:childTnLst>
                                    <p:set>
                                      <p:cBhvr>
                                        <p:cTn id="14" dur="1" fill="hold">
                                          <p:stCondLst>
                                            <p:cond delay="0"/>
                                          </p:stCondLst>
                                        </p:cTn>
                                        <p:tgtEl>
                                          <p:spTgt spid="149507">
                                            <p:txEl>
                                              <p:pRg st="1" end="1"/>
                                            </p:txEl>
                                          </p:spTgt>
                                        </p:tgtEl>
                                        <p:attrNameLst>
                                          <p:attrName>style.visibility</p:attrName>
                                        </p:attrNameLst>
                                      </p:cBhvr>
                                      <p:to>
                                        <p:strVal val="visible"/>
                                      </p:to>
                                    </p:set>
                                    <p:animEffect transition="in" filter="dissolve">
                                      <p:cBhvr>
                                        <p:cTn id="15" dur="500"/>
                                        <p:tgtEl>
                                          <p:spTgt spid="149507">
                                            <p:txEl>
                                              <p:pRg st="1" end="1"/>
                                            </p:txEl>
                                          </p:spTgt>
                                        </p:tgtEl>
                                      </p:cBhvr>
                                    </p:animEffect>
                                  </p:childTnLst>
                                </p:cTn>
                              </p:par>
                            </p:childTnLst>
                          </p:cTn>
                        </p:par>
                        <p:par>
                          <p:cTn id="16" fill="hold">
                            <p:stCondLst>
                              <p:cond delay="2500"/>
                            </p:stCondLst>
                            <p:childTnLst>
                              <p:par>
                                <p:cTn id="17" presetID="9" presetClass="entr" presetSubtype="0" fill="hold" nodeType="afterEffect">
                                  <p:stCondLst>
                                    <p:cond delay="500"/>
                                  </p:stCondLst>
                                  <p:childTnLst>
                                    <p:set>
                                      <p:cBhvr>
                                        <p:cTn id="18" dur="1" fill="hold">
                                          <p:stCondLst>
                                            <p:cond delay="0"/>
                                          </p:stCondLst>
                                        </p:cTn>
                                        <p:tgtEl>
                                          <p:spTgt spid="149507">
                                            <p:txEl>
                                              <p:pRg st="2" end="2"/>
                                            </p:txEl>
                                          </p:spTgt>
                                        </p:tgtEl>
                                        <p:attrNameLst>
                                          <p:attrName>style.visibility</p:attrName>
                                        </p:attrNameLst>
                                      </p:cBhvr>
                                      <p:to>
                                        <p:strVal val="visible"/>
                                      </p:to>
                                    </p:set>
                                    <p:animEffect transition="in" filter="dissolve">
                                      <p:cBhvr>
                                        <p:cTn id="19" dur="500"/>
                                        <p:tgtEl>
                                          <p:spTgt spid="149507">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37" fill="hold" grpId="0" nodeType="clickEffect">
                                  <p:stCondLst>
                                    <p:cond delay="0"/>
                                  </p:stCondLst>
                                  <p:childTnLst>
                                    <p:set>
                                      <p:cBhvr>
                                        <p:cTn id="23" dur="1" fill="hold">
                                          <p:stCondLst>
                                            <p:cond delay="0"/>
                                          </p:stCondLst>
                                        </p:cTn>
                                        <p:tgtEl>
                                          <p:spTgt spid="149506">
                                            <p:txEl>
                                              <p:pRg st="0" end="0"/>
                                            </p:txEl>
                                          </p:spTgt>
                                        </p:tgtEl>
                                        <p:attrNameLst>
                                          <p:attrName>style.visibility</p:attrName>
                                        </p:attrNameLst>
                                      </p:cBhvr>
                                      <p:to>
                                        <p:strVal val="visible"/>
                                      </p:to>
                                    </p:set>
                                    <p:animEffect transition="in" filter="barn(outVertical)">
                                      <p:cBhvr>
                                        <p:cTn id="24" dur="500"/>
                                        <p:tgtEl>
                                          <p:spTgt spid="14950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37" fill="hold" grpId="0"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barn(outVertical)">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37" fill="hold" grpId="0" nodeType="clickEffect">
                                  <p:stCondLst>
                                    <p:cond delay="0"/>
                                  </p:stCondLst>
                                  <p:childTnLst>
                                    <p:set>
                                      <p:cBhvr>
                                        <p:cTn id="33" dur="1" fill="hold">
                                          <p:stCondLst>
                                            <p:cond delay="0"/>
                                          </p:stCondLst>
                                        </p:cTn>
                                        <p:tgtEl>
                                          <p:spTgt spid="7">
                                            <p:txEl>
                                              <p:pRg st="1" end="1"/>
                                            </p:txEl>
                                          </p:spTgt>
                                        </p:tgtEl>
                                        <p:attrNameLst>
                                          <p:attrName>style.visibility</p:attrName>
                                        </p:attrNameLst>
                                      </p:cBhvr>
                                      <p:to>
                                        <p:strVal val="visible"/>
                                      </p:to>
                                    </p:set>
                                    <p:animEffect transition="in" filter="barn(outVertical)">
                                      <p:cBhvr>
                                        <p:cTn id="34" dur="500"/>
                                        <p:tgtEl>
                                          <p:spTgt spid="7">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grpId="0"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animEffect transition="in" filter="barn(outVertical)">
                                      <p:cBhvr>
                                        <p:cTn id="39"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build="p" autoUpdateAnimBg="0"/>
      <p:bldP spid="2" grpId="0"/>
      <p:bldP spid="7" grpId="0" uiExpand="1"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Text Box 5"/>
          <p:cNvSpPr txBox="1">
            <a:spLocks noChangeArrowheads="1"/>
          </p:cNvSpPr>
          <p:nvPr/>
        </p:nvSpPr>
        <p:spPr bwMode="auto">
          <a:xfrm>
            <a:off x="442865" y="1719327"/>
            <a:ext cx="102251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457200" indent="-457200" eaLnBrk="1" hangingPunct="1">
              <a:spcBef>
                <a:spcPct val="50000"/>
              </a:spcBef>
              <a:buClr>
                <a:srgbClr val="FFC000"/>
              </a:buClr>
              <a:buSzPct val="80000"/>
              <a:buFont typeface="Wingdings" panose="05000000000000000000" pitchFamily="2" charset="2"/>
              <a:buChar char="n"/>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t>求给定公式的范式的步骤：</a:t>
            </a:r>
          </a:p>
        </p:txBody>
      </p:sp>
      <p:sp>
        <p:nvSpPr>
          <p:cNvPr id="5" name="文本框 4"/>
          <p:cNvSpPr txBox="1"/>
          <p:nvPr/>
        </p:nvSpPr>
        <p:spPr>
          <a:xfrm>
            <a:off x="946921" y="2376380"/>
            <a:ext cx="9217024" cy="2239074"/>
          </a:xfrm>
          <a:prstGeom prst="rect">
            <a:avLst/>
          </a:prstGeom>
          <a:noFill/>
        </p:spPr>
        <p:txBody>
          <a:bodyPr wrap="square">
            <a:spAutoFit/>
          </a:bodyPr>
          <a:lstStyle/>
          <a:p>
            <a:pPr lvl="1">
              <a:lnSpc>
                <a:spcPct val="150000"/>
              </a:lnSpc>
            </a:pPr>
            <a:r>
              <a:rPr lang="en-US" altLang="zh-CN" sz="2400" b="0" dirty="0">
                <a:solidFill>
                  <a:schemeClr val="bg1"/>
                </a:solidFill>
                <a:ea typeface="微软雅黑" panose="020B0503020204020204" pitchFamily="34" charset="-122"/>
                <a:cs typeface="Times New Roman" panose="02020603050405020304" pitchFamily="18" charset="0"/>
              </a:rPr>
              <a:t>(1) </a:t>
            </a:r>
            <a:r>
              <a:rPr lang="zh-CN" altLang="en-US" sz="2400" b="0" dirty="0">
                <a:solidFill>
                  <a:schemeClr val="bg1"/>
                </a:solidFill>
                <a:ea typeface="微软雅黑" panose="020B0503020204020204" pitchFamily="34" charset="-122"/>
                <a:cs typeface="Times New Roman" panose="02020603050405020304" pitchFamily="18" charset="0"/>
              </a:rPr>
              <a:t>消去联结词→和↔</a:t>
            </a:r>
            <a:r>
              <a:rPr lang="en-US" altLang="zh-CN" sz="2400" b="0" dirty="0">
                <a:solidFill>
                  <a:schemeClr val="bg1"/>
                </a:solidFill>
                <a:ea typeface="微软雅黑" panose="020B0503020204020204" pitchFamily="34" charset="-122"/>
                <a:cs typeface="Times New Roman" panose="02020603050405020304" pitchFamily="18" charset="0"/>
              </a:rPr>
              <a:t> </a:t>
            </a:r>
            <a:r>
              <a:rPr lang="en-US" altLang="zh-CN"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sym typeface="Symbol" panose="05050102010706020507" pitchFamily="18" charset="2"/>
              </a:rPr>
              <a:t>(</a:t>
            </a:r>
            <a:r>
              <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蕴涵和等价恒等式</a:t>
            </a:r>
            <a:r>
              <a:rPr lang="en-US" altLang="zh-CN"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en-US" altLang="zh-CN" sz="2400" b="0" dirty="0">
                <a:solidFill>
                  <a:schemeClr val="bg1"/>
                </a:solidFill>
                <a:ea typeface="微软雅黑" panose="020B0503020204020204" pitchFamily="34" charset="-122"/>
                <a:cs typeface="Times New Roman" panose="02020603050405020304" pitchFamily="18" charset="0"/>
              </a:rPr>
              <a:t>;</a:t>
            </a:r>
            <a:endPar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a:p>
            <a:pPr lvl="1">
              <a:lnSpc>
                <a:spcPct val="150000"/>
              </a:lnSpc>
            </a:pPr>
            <a:r>
              <a:rPr lang="en-US" altLang="zh-CN" sz="2400" b="0" dirty="0">
                <a:solidFill>
                  <a:schemeClr val="bg1"/>
                </a:solidFill>
                <a:ea typeface="微软雅黑" panose="020B0503020204020204" pitchFamily="34" charset="-122"/>
                <a:cs typeface="Times New Roman" panose="02020603050405020304" pitchFamily="18" charset="0"/>
              </a:rPr>
              <a:t>(2) </a:t>
            </a:r>
            <a:r>
              <a:rPr lang="zh-CN" altLang="en-US" sz="2400" b="0" dirty="0">
                <a:solidFill>
                  <a:schemeClr val="bg1"/>
                </a:solidFill>
                <a:ea typeface="微软雅黑" panose="020B0503020204020204" pitchFamily="34" charset="-122"/>
                <a:cs typeface="Times New Roman" panose="02020603050405020304" pitchFamily="18" charset="0"/>
              </a:rPr>
              <a:t>否定号┐的消去</a:t>
            </a:r>
            <a:r>
              <a:rPr lang="en-US" altLang="zh-CN"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双重否定</a:t>
            </a:r>
            <a:r>
              <a:rPr lang="en-US" altLang="zh-CN"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zh-CN" altLang="en-US" sz="2400" b="0" dirty="0">
                <a:solidFill>
                  <a:schemeClr val="bg1"/>
                </a:solidFill>
                <a:ea typeface="微软雅黑" panose="020B0503020204020204" pitchFamily="34" charset="-122"/>
                <a:cs typeface="Times New Roman" panose="02020603050405020304" pitchFamily="18" charset="0"/>
              </a:rPr>
              <a:t>或内移</a:t>
            </a:r>
            <a:r>
              <a:rPr lang="en-US" altLang="zh-CN"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德摩根律</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endPar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a:p>
            <a:pPr lvl="1">
              <a:lnSpc>
                <a:spcPct val="150000"/>
              </a:lnSpc>
            </a:pPr>
            <a:r>
              <a:rPr lang="en-US" altLang="zh-CN" sz="2400" b="0" dirty="0">
                <a:solidFill>
                  <a:schemeClr val="bg1"/>
                </a:solidFill>
                <a:ea typeface="微软雅黑" panose="020B0503020204020204" pitchFamily="34" charset="-122"/>
                <a:cs typeface="Times New Roman" panose="02020603050405020304" pitchFamily="18" charset="0"/>
              </a:rPr>
              <a:t>(3)</a:t>
            </a:r>
            <a:r>
              <a:rPr lang="zh-CN" altLang="en-US" sz="2400" b="0" dirty="0">
                <a:solidFill>
                  <a:schemeClr val="bg1"/>
                </a:solidFill>
                <a:ea typeface="微软雅黑" panose="020B0503020204020204" pitchFamily="34" charset="-122"/>
                <a:cs typeface="Times New Roman" panose="02020603050405020304" pitchFamily="18" charset="0"/>
              </a:rPr>
              <a:t>利用</a:t>
            </a:r>
            <a:r>
              <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∧对∨的分配律</a:t>
            </a:r>
            <a:r>
              <a:rPr lang="zh-CN" altLang="en-US" sz="2400" b="0" dirty="0">
                <a:solidFill>
                  <a:schemeClr val="bg1"/>
                </a:solidFill>
                <a:ea typeface="微软雅黑" panose="020B0503020204020204" pitchFamily="34" charset="-122"/>
                <a:cs typeface="Times New Roman" panose="02020603050405020304" pitchFamily="18" charset="0"/>
              </a:rPr>
              <a:t>求析取范式；</a:t>
            </a:r>
            <a:endParaRPr lang="en-US" altLang="zh-CN" sz="2400" b="0" dirty="0">
              <a:solidFill>
                <a:schemeClr val="bg1"/>
              </a:solidFill>
              <a:ea typeface="微软雅黑" panose="020B0503020204020204" pitchFamily="34" charset="-122"/>
              <a:cs typeface="Times New Roman" panose="02020603050405020304" pitchFamily="18" charset="0"/>
            </a:endParaRPr>
          </a:p>
          <a:p>
            <a:pPr lvl="1">
              <a:lnSpc>
                <a:spcPct val="150000"/>
              </a:lnSpc>
            </a:pPr>
            <a:r>
              <a:rPr lang="zh-CN" altLang="en-US" sz="2400" b="0" dirty="0">
                <a:solidFill>
                  <a:schemeClr val="bg1"/>
                </a:solidFill>
                <a:ea typeface="微软雅黑" panose="020B0503020204020204" pitchFamily="34" charset="-122"/>
                <a:cs typeface="Times New Roman" panose="02020603050405020304" pitchFamily="18" charset="0"/>
              </a:rPr>
              <a:t>     利用</a:t>
            </a:r>
            <a:r>
              <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∨对∧的分配律</a:t>
            </a:r>
            <a:r>
              <a:rPr lang="zh-CN" altLang="en-US" sz="2400" b="0" dirty="0">
                <a:solidFill>
                  <a:schemeClr val="bg1"/>
                </a:solidFill>
                <a:ea typeface="微软雅黑" panose="020B0503020204020204" pitchFamily="34" charset="-122"/>
                <a:cs typeface="Times New Roman" panose="02020603050405020304" pitchFamily="18" charset="0"/>
              </a:rPr>
              <a:t>求合取范式。 </a:t>
            </a:r>
          </a:p>
        </p:txBody>
      </p:sp>
      <p:sp>
        <p:nvSpPr>
          <p:cNvPr id="3" name="Rectangle 7"/>
          <p:cNvSpPr txBox="1">
            <a:spLocks noChangeArrowheads="1"/>
          </p:cNvSpPr>
          <p:nvPr/>
        </p:nvSpPr>
        <p:spPr bwMode="auto">
          <a:xfrm>
            <a:off x="5159376" y="44450"/>
            <a:ext cx="5508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latin typeface="Times New Roman" panose="02020603050405020304" pitchFamily="18" charset="0"/>
                <a:ea typeface="微软雅黑" panose="020B0503020204020204" pitchFamily="34" charset="-122"/>
                <a:cs typeface="Times New Roman" panose="02020603050405020304" pitchFamily="18" charset="0"/>
              </a:rPr>
              <a:t>析取范式与合取范式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17765">
                                            <p:txEl>
                                              <p:pRg st="0" end="0"/>
                                            </p:txEl>
                                          </p:spTgt>
                                        </p:tgtEl>
                                        <p:attrNameLst>
                                          <p:attrName>style.visibility</p:attrName>
                                        </p:attrNameLst>
                                      </p:cBhvr>
                                      <p:to>
                                        <p:strVal val="visible"/>
                                      </p:to>
                                    </p:set>
                                    <p:animEffect transition="in" filter="wipe(left)">
                                      <p:cBhvr>
                                        <p:cTn id="7" dur="500"/>
                                        <p:tgtEl>
                                          <p:spTgt spid="1177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1000"/>
                                        <p:tgtEl>
                                          <p:spTgt spid="5">
                                            <p:txEl>
                                              <p:pRg st="1" end="1"/>
                                            </p:txEl>
                                          </p:spTgt>
                                        </p:tgtEl>
                                      </p:cBhvr>
                                    </p:animEffect>
                                    <p:anim calcmode="lin" valueType="num">
                                      <p:cBhvr>
                                        <p:cTn id="20"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fade">
                                      <p:cBhvr>
                                        <p:cTn id="26" dur="1000"/>
                                        <p:tgtEl>
                                          <p:spTgt spid="5">
                                            <p:txEl>
                                              <p:pRg st="2" end="2"/>
                                            </p:txEl>
                                          </p:spTgt>
                                        </p:tgtEl>
                                      </p:cBhvr>
                                    </p:animEffect>
                                    <p:anim calcmode="lin" valueType="num">
                                      <p:cBhvr>
                                        <p:cTn id="27"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Effect transition="in" filter="fade">
                                      <p:cBhvr>
                                        <p:cTn id="33" dur="1000"/>
                                        <p:tgtEl>
                                          <p:spTgt spid="5">
                                            <p:txEl>
                                              <p:pRg st="3" end="3"/>
                                            </p:txEl>
                                          </p:spTgt>
                                        </p:tgtEl>
                                      </p:cBhvr>
                                    </p:animEffect>
                                    <p:anim calcmode="lin" valueType="num">
                                      <p:cBhvr>
                                        <p:cTn id="34"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9" name="Text Box 5"/>
          <p:cNvSpPr txBox="1">
            <a:spLocks noChangeArrowheads="1"/>
          </p:cNvSpPr>
          <p:nvPr/>
        </p:nvSpPr>
        <p:spPr bwMode="auto">
          <a:xfrm>
            <a:off x="839416" y="3157624"/>
            <a:ext cx="7056784"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(1)</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合取范式：</a:t>
            </a:r>
          </a:p>
          <a:p>
            <a:pPr lvl="2" algn="just">
              <a:lnSpc>
                <a:spcPct val="95000"/>
              </a:lnSpc>
              <a:spcBef>
                <a:spcPct val="50000"/>
              </a:spcBef>
              <a:buFontTx/>
              <a:buNone/>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p>
          <a:p>
            <a:pPr lvl="2" algn="just">
              <a:lnSpc>
                <a:spcPct val="95000"/>
              </a:lnSpc>
              <a:spcBef>
                <a:spcPct val="50000"/>
              </a:spcBef>
              <a:buFontTx/>
              <a:buNone/>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p>
          <a:p>
            <a:pPr lvl="2" algn="just">
              <a:lnSpc>
                <a:spcPct val="95000"/>
              </a:lnSpc>
              <a:spcBef>
                <a:spcPct val="50000"/>
              </a:spcBef>
              <a:buFontTx/>
              <a:buNone/>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p>
          <a:p>
            <a:pPr lvl="2" algn="just">
              <a:lnSpc>
                <a:spcPct val="95000"/>
              </a:lnSpc>
              <a:spcBef>
                <a:spcPct val="50000"/>
              </a:spcBef>
              <a:buFontTx/>
              <a:buNone/>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p>
          <a:p>
            <a:pPr lvl="2" algn="just">
              <a:lnSpc>
                <a:spcPct val="95000"/>
              </a:lnSpc>
              <a:spcBef>
                <a:spcPct val="50000"/>
              </a:spcBef>
              <a:buFontTx/>
              <a:buNone/>
            </a:pP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b="0"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118790" name="Rectangle 6"/>
          <p:cNvSpPr>
            <a:spLocks noChangeArrowheads="1"/>
          </p:cNvSpPr>
          <p:nvPr/>
        </p:nvSpPr>
        <p:spPr bwMode="auto">
          <a:xfrm>
            <a:off x="7752184" y="3576119"/>
            <a:ext cx="13131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消去→</a:t>
            </a: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8791" name="Rectangle 7"/>
          <p:cNvSpPr>
            <a:spLocks noChangeArrowheads="1"/>
          </p:cNvSpPr>
          <p:nvPr/>
        </p:nvSpPr>
        <p:spPr bwMode="auto">
          <a:xfrm>
            <a:off x="7752185" y="4127700"/>
            <a:ext cx="13131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消去↔</a:t>
            </a: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8792" name="Rectangle 8"/>
          <p:cNvSpPr>
            <a:spLocks noChangeArrowheads="1"/>
          </p:cNvSpPr>
          <p:nvPr/>
        </p:nvSpPr>
        <p:spPr bwMode="auto">
          <a:xfrm>
            <a:off x="7752184" y="4679281"/>
            <a:ext cx="13131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消去→</a:t>
            </a: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8793" name="Rectangle 9"/>
          <p:cNvSpPr>
            <a:spLocks noChangeArrowheads="1"/>
          </p:cNvSpPr>
          <p:nvPr/>
        </p:nvSpPr>
        <p:spPr bwMode="auto">
          <a:xfrm>
            <a:off x="7752185" y="5230862"/>
            <a:ext cx="4083169" cy="44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lnSpc>
                <a:spcPct val="95000"/>
              </a:lnSpc>
              <a:spcBef>
                <a:spcPct val="50000"/>
              </a:spcBef>
              <a:buFontTx/>
              <a:buNone/>
            </a:pP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否定号内移</a:t>
            </a: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结合律</a:t>
            </a: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交换律</a:t>
            </a: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8794" name="Rectangle 10"/>
          <p:cNvSpPr>
            <a:spLocks noChangeArrowheads="1"/>
          </p:cNvSpPr>
          <p:nvPr/>
        </p:nvSpPr>
        <p:spPr bwMode="auto">
          <a:xfrm>
            <a:off x="7752185" y="5763976"/>
            <a:ext cx="25442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对∧的分配律</a:t>
            </a: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9947" name="Rectangle 14"/>
          <p:cNvSpPr>
            <a:spLocks noGrp="1" noChangeArrowheads="1"/>
          </p:cNvSpPr>
          <p:nvPr>
            <p:ph type="title" idx="4294967295"/>
          </p:nvPr>
        </p:nvSpPr>
        <p:spPr>
          <a:xfrm>
            <a:off x="479376" y="1678680"/>
            <a:ext cx="8714252" cy="695326"/>
          </a:xfrm>
          <a:ln>
            <a:noFill/>
          </a:ln>
        </p:spPr>
        <p:txBody>
          <a:bodyPr/>
          <a:lstStyle/>
          <a:p>
            <a:pPr algn="l">
              <a:lnSpc>
                <a:spcPct val="150000"/>
              </a:lnSpc>
            </a:pPr>
            <a:r>
              <a:rPr lang="zh-CN" altLang="en-US"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3.3.1  </a:t>
            </a:r>
            <a:r>
              <a:rPr lang="zh-CN" altLang="en-US"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求公式</a:t>
            </a:r>
            <a:r>
              <a:rPr lang="en-US" altLang="zh-CN"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的合取范式与析取范式。</a:t>
            </a:r>
            <a:endParaRPr lang="en-US" altLang="zh-CN" sz="240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p:cNvSpPr txBox="1"/>
          <p:nvPr/>
        </p:nvSpPr>
        <p:spPr>
          <a:xfrm>
            <a:off x="479376" y="2695959"/>
            <a:ext cx="864096" cy="461665"/>
          </a:xfrm>
          <a:prstGeom prst="rect">
            <a:avLst/>
          </a:prstGeom>
          <a:noFill/>
        </p:spPr>
        <p:txBody>
          <a:bodyPr wrap="square">
            <a:spAutoFit/>
          </a:bodyPr>
          <a:lstStyle/>
          <a:p>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解</a:t>
            </a:r>
            <a:r>
              <a:rPr lang="en-US" altLang="zh-CN"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sym typeface="Wingdings" panose="05000000000000000000" pitchFamily="2" charset="2"/>
              </a:rPr>
              <a:t>: </a:t>
            </a:r>
            <a:endParaRPr lang="zh-CN" altLang="en-US" sz="2400" dirty="0">
              <a:solidFill>
                <a:srgbClr val="FFFF00"/>
              </a:solidFill>
              <a:effectLst>
                <a:outerShdw blurRad="38100" dist="38100" dir="2700000" algn="tl">
                  <a:srgbClr val="000000">
                    <a:alpha val="43137"/>
                  </a:srgbClr>
                </a:outerShdw>
              </a:effectLst>
            </a:endParaRPr>
          </a:p>
        </p:txBody>
      </p:sp>
      <p:sp>
        <p:nvSpPr>
          <p:cNvPr id="3" name="Rectangle 7"/>
          <p:cNvSpPr txBox="1">
            <a:spLocks noChangeArrowheads="1"/>
          </p:cNvSpPr>
          <p:nvPr/>
        </p:nvSpPr>
        <p:spPr bwMode="auto">
          <a:xfrm>
            <a:off x="5159376" y="44450"/>
            <a:ext cx="5508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latin typeface="Times New Roman" panose="02020603050405020304" pitchFamily="18" charset="0"/>
                <a:ea typeface="微软雅黑" panose="020B0503020204020204" pitchFamily="34" charset="-122"/>
                <a:cs typeface="Times New Roman" panose="02020603050405020304" pitchFamily="18" charset="0"/>
              </a:rPr>
              <a:t>析取范式与合取范式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9947"/>
                                        </p:tgtEl>
                                        <p:attrNameLst>
                                          <p:attrName>style.visibility</p:attrName>
                                        </p:attrNameLst>
                                      </p:cBhvr>
                                      <p:to>
                                        <p:strVal val="visible"/>
                                      </p:to>
                                    </p:set>
                                    <p:animEffect transition="in" filter="wipe(left)">
                                      <p:cBhvr>
                                        <p:cTn id="7" dur="500"/>
                                        <p:tgtEl>
                                          <p:spTgt spid="3994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par>
                          <p:cTn id="12" fill="hold">
                            <p:stCondLst>
                              <p:cond delay="0"/>
                            </p:stCondLst>
                            <p:childTnLst>
                              <p:par>
                                <p:cTn id="13" presetID="9" presetClass="entr" presetSubtype="0" fill="hold" nodeType="afterEffect">
                                  <p:stCondLst>
                                    <p:cond delay="0"/>
                                  </p:stCondLst>
                                  <p:childTnLst>
                                    <p:set>
                                      <p:cBhvr>
                                        <p:cTn id="14" dur="1" fill="hold">
                                          <p:stCondLst>
                                            <p:cond delay="0"/>
                                          </p:stCondLst>
                                        </p:cTn>
                                        <p:tgtEl>
                                          <p:spTgt spid="118789">
                                            <p:txEl>
                                              <p:pRg st="0" end="0"/>
                                            </p:txEl>
                                          </p:spTgt>
                                        </p:tgtEl>
                                        <p:attrNameLst>
                                          <p:attrName>style.visibility</p:attrName>
                                        </p:attrNameLst>
                                      </p:cBhvr>
                                      <p:to>
                                        <p:strVal val="visible"/>
                                      </p:to>
                                    </p:set>
                                    <p:animEffect transition="in" filter="dissolve">
                                      <p:cBhvr>
                                        <p:cTn id="15" dur="500"/>
                                        <p:tgtEl>
                                          <p:spTgt spid="11878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nodeType="clickEffect">
                                  <p:stCondLst>
                                    <p:cond delay="0"/>
                                  </p:stCondLst>
                                  <p:iterate type="lt">
                                    <p:tmPct val="50000"/>
                                  </p:iterate>
                                  <p:childTnLst>
                                    <p:set>
                                      <p:cBhvr>
                                        <p:cTn id="19" dur="1" fill="hold">
                                          <p:stCondLst>
                                            <p:cond delay="0"/>
                                          </p:stCondLst>
                                        </p:cTn>
                                        <p:tgtEl>
                                          <p:spTgt spid="118789">
                                            <p:txEl>
                                              <p:pRg st="1" end="1"/>
                                            </p:txEl>
                                          </p:spTgt>
                                        </p:tgtEl>
                                        <p:attrNameLst>
                                          <p:attrName>style.visibility</p:attrName>
                                        </p:attrNameLst>
                                      </p:cBhvr>
                                      <p:to>
                                        <p:strVal val="visible"/>
                                      </p:to>
                                    </p:set>
                                    <p:anim calcmode="discrete" valueType="clr">
                                      <p:cBhvr override="childStyle">
                                        <p:cTn id="20" dur="80"/>
                                        <p:tgtEl>
                                          <p:spTgt spid="11878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118789">
                                            <p:txEl>
                                              <p:pRg st="1" end="1"/>
                                            </p:txEl>
                                          </p:spTgt>
                                        </p:tgtEl>
                                        <p:attrNameLst>
                                          <p:attrName>fillcolor</p:attrName>
                                        </p:attrNameLst>
                                      </p:cBhvr>
                                      <p:tavLst>
                                        <p:tav tm="0">
                                          <p:val>
                                            <p:clrVal>
                                              <a:schemeClr val="accent2"/>
                                            </p:clrVal>
                                          </p:val>
                                        </p:tav>
                                        <p:tav tm="50000">
                                          <p:val>
                                            <p:clrVal>
                                              <a:schemeClr val="hlink"/>
                                            </p:clrVal>
                                          </p:val>
                                        </p:tav>
                                      </p:tavLst>
                                    </p:anim>
                                    <p:set>
                                      <p:cBhvr>
                                        <p:cTn id="22" dur="80"/>
                                        <p:tgtEl>
                                          <p:spTgt spid="118789">
                                            <p:txEl>
                                              <p:pRg st="1" end="1"/>
                                            </p:txEl>
                                          </p:spTgt>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8790"/>
                                        </p:tgtEl>
                                        <p:attrNameLst>
                                          <p:attrName>style.visibility</p:attrName>
                                        </p:attrNameLst>
                                      </p:cBhvr>
                                      <p:to>
                                        <p:strVal val="visible"/>
                                      </p:to>
                                    </p:set>
                                    <p:animEffect transition="in" filter="dissolve">
                                      <p:cBhvr>
                                        <p:cTn id="27" dur="500"/>
                                        <p:tgtEl>
                                          <p:spTgt spid="118790"/>
                                        </p:tgtEl>
                                      </p:cBhvr>
                                    </p:animEffect>
                                  </p:childTnLst>
                                </p:cTn>
                              </p:par>
                            </p:childTnLst>
                          </p:cTn>
                        </p:par>
                      </p:childTnLst>
                    </p:cTn>
                  </p:par>
                  <p:par>
                    <p:cTn id="28" fill="hold">
                      <p:stCondLst>
                        <p:cond delay="indefinite"/>
                      </p:stCondLst>
                      <p:childTnLst>
                        <p:par>
                          <p:cTn id="29" fill="hold">
                            <p:stCondLst>
                              <p:cond delay="0"/>
                            </p:stCondLst>
                            <p:childTnLst>
                              <p:par>
                                <p:cTn id="30" presetID="27" presetClass="entr" presetSubtype="0" fill="hold" nodeType="clickEffect">
                                  <p:stCondLst>
                                    <p:cond delay="0"/>
                                  </p:stCondLst>
                                  <p:iterate type="lt">
                                    <p:tmPct val="50000"/>
                                  </p:iterate>
                                  <p:childTnLst>
                                    <p:set>
                                      <p:cBhvr>
                                        <p:cTn id="31" dur="1" fill="hold">
                                          <p:stCondLst>
                                            <p:cond delay="0"/>
                                          </p:stCondLst>
                                        </p:cTn>
                                        <p:tgtEl>
                                          <p:spTgt spid="118789">
                                            <p:txEl>
                                              <p:pRg st="2" end="2"/>
                                            </p:txEl>
                                          </p:spTgt>
                                        </p:tgtEl>
                                        <p:attrNameLst>
                                          <p:attrName>style.visibility</p:attrName>
                                        </p:attrNameLst>
                                      </p:cBhvr>
                                      <p:to>
                                        <p:strVal val="visible"/>
                                      </p:to>
                                    </p:set>
                                    <p:anim calcmode="discrete" valueType="clr">
                                      <p:cBhvr override="childStyle">
                                        <p:cTn id="32" dur="80"/>
                                        <p:tgtEl>
                                          <p:spTgt spid="11878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118789">
                                            <p:txEl>
                                              <p:pRg st="2" end="2"/>
                                            </p:txEl>
                                          </p:spTgt>
                                        </p:tgtEl>
                                        <p:attrNameLst>
                                          <p:attrName>fillcolor</p:attrName>
                                        </p:attrNameLst>
                                      </p:cBhvr>
                                      <p:tavLst>
                                        <p:tav tm="0">
                                          <p:val>
                                            <p:clrVal>
                                              <a:schemeClr val="accent2"/>
                                            </p:clrVal>
                                          </p:val>
                                        </p:tav>
                                        <p:tav tm="50000">
                                          <p:val>
                                            <p:clrVal>
                                              <a:schemeClr val="hlink"/>
                                            </p:clrVal>
                                          </p:val>
                                        </p:tav>
                                      </p:tavLst>
                                    </p:anim>
                                    <p:set>
                                      <p:cBhvr>
                                        <p:cTn id="34" dur="80"/>
                                        <p:tgtEl>
                                          <p:spTgt spid="118789">
                                            <p:txEl>
                                              <p:pRg st="2" end="2"/>
                                            </p:txEl>
                                          </p:spTgt>
                                        </p:tgtEl>
                                        <p:attrNameLst>
                                          <p:attrName>fill.type</p:attrName>
                                        </p:attrNameLst>
                                      </p:cBhvr>
                                      <p:to>
                                        <p:strVal val="solid"/>
                                      </p:to>
                                    </p:se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8791"/>
                                        </p:tgtEl>
                                        <p:attrNameLst>
                                          <p:attrName>style.visibility</p:attrName>
                                        </p:attrNameLst>
                                      </p:cBhvr>
                                      <p:to>
                                        <p:strVal val="visible"/>
                                      </p:to>
                                    </p:set>
                                    <p:animEffect transition="in" filter="dissolve">
                                      <p:cBhvr>
                                        <p:cTn id="39" dur="500"/>
                                        <p:tgtEl>
                                          <p:spTgt spid="118791"/>
                                        </p:tgtEl>
                                      </p:cBhvr>
                                    </p:animEffect>
                                  </p:childTnLst>
                                </p:cTn>
                              </p:par>
                            </p:childTnLst>
                          </p:cTn>
                        </p:par>
                      </p:childTnLst>
                    </p:cTn>
                  </p:par>
                  <p:par>
                    <p:cTn id="40" fill="hold">
                      <p:stCondLst>
                        <p:cond delay="indefinite"/>
                      </p:stCondLst>
                      <p:childTnLst>
                        <p:par>
                          <p:cTn id="41" fill="hold">
                            <p:stCondLst>
                              <p:cond delay="0"/>
                            </p:stCondLst>
                            <p:childTnLst>
                              <p:par>
                                <p:cTn id="42" presetID="27" presetClass="entr" presetSubtype="0" fill="hold" nodeType="clickEffect">
                                  <p:stCondLst>
                                    <p:cond delay="0"/>
                                  </p:stCondLst>
                                  <p:iterate type="lt">
                                    <p:tmPct val="50000"/>
                                  </p:iterate>
                                  <p:childTnLst>
                                    <p:set>
                                      <p:cBhvr>
                                        <p:cTn id="43" dur="1" fill="hold">
                                          <p:stCondLst>
                                            <p:cond delay="0"/>
                                          </p:stCondLst>
                                        </p:cTn>
                                        <p:tgtEl>
                                          <p:spTgt spid="118789">
                                            <p:txEl>
                                              <p:pRg st="3" end="3"/>
                                            </p:txEl>
                                          </p:spTgt>
                                        </p:tgtEl>
                                        <p:attrNameLst>
                                          <p:attrName>style.visibility</p:attrName>
                                        </p:attrNameLst>
                                      </p:cBhvr>
                                      <p:to>
                                        <p:strVal val="visible"/>
                                      </p:to>
                                    </p:set>
                                    <p:anim calcmode="discrete" valueType="clr">
                                      <p:cBhvr override="childStyle">
                                        <p:cTn id="44" dur="80"/>
                                        <p:tgtEl>
                                          <p:spTgt spid="118789">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5" dur="80"/>
                                        <p:tgtEl>
                                          <p:spTgt spid="118789">
                                            <p:txEl>
                                              <p:pRg st="3" end="3"/>
                                            </p:txEl>
                                          </p:spTgt>
                                        </p:tgtEl>
                                        <p:attrNameLst>
                                          <p:attrName>fillcolor</p:attrName>
                                        </p:attrNameLst>
                                      </p:cBhvr>
                                      <p:tavLst>
                                        <p:tav tm="0">
                                          <p:val>
                                            <p:clrVal>
                                              <a:schemeClr val="accent2"/>
                                            </p:clrVal>
                                          </p:val>
                                        </p:tav>
                                        <p:tav tm="50000">
                                          <p:val>
                                            <p:clrVal>
                                              <a:schemeClr val="hlink"/>
                                            </p:clrVal>
                                          </p:val>
                                        </p:tav>
                                      </p:tavLst>
                                    </p:anim>
                                    <p:set>
                                      <p:cBhvr>
                                        <p:cTn id="46" dur="80"/>
                                        <p:tgtEl>
                                          <p:spTgt spid="118789">
                                            <p:txEl>
                                              <p:pRg st="3" end="3"/>
                                            </p:txEl>
                                          </p:spTgt>
                                        </p:tgtEl>
                                        <p:attrNameLst>
                                          <p:attrName>fill.type</p:attrName>
                                        </p:attrNameLst>
                                      </p:cBhvr>
                                      <p:to>
                                        <p:strVal val="solid"/>
                                      </p:to>
                                    </p:se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18792"/>
                                        </p:tgtEl>
                                        <p:attrNameLst>
                                          <p:attrName>style.visibility</p:attrName>
                                        </p:attrNameLst>
                                      </p:cBhvr>
                                      <p:to>
                                        <p:strVal val="visible"/>
                                      </p:to>
                                    </p:set>
                                    <p:animEffect transition="in" filter="dissolve">
                                      <p:cBhvr>
                                        <p:cTn id="51" dur="500"/>
                                        <p:tgtEl>
                                          <p:spTgt spid="118792"/>
                                        </p:tgtEl>
                                      </p:cBhvr>
                                    </p:animEffect>
                                  </p:childTnLst>
                                </p:cTn>
                              </p:par>
                            </p:childTnLst>
                          </p:cTn>
                        </p:par>
                      </p:childTnLst>
                    </p:cTn>
                  </p:par>
                  <p:par>
                    <p:cTn id="52" fill="hold">
                      <p:stCondLst>
                        <p:cond delay="indefinite"/>
                      </p:stCondLst>
                      <p:childTnLst>
                        <p:par>
                          <p:cTn id="53" fill="hold">
                            <p:stCondLst>
                              <p:cond delay="0"/>
                            </p:stCondLst>
                            <p:childTnLst>
                              <p:par>
                                <p:cTn id="54" presetID="27" presetClass="entr" presetSubtype="0" fill="hold" nodeType="clickEffect">
                                  <p:stCondLst>
                                    <p:cond delay="0"/>
                                  </p:stCondLst>
                                  <p:iterate type="lt">
                                    <p:tmPct val="50000"/>
                                  </p:iterate>
                                  <p:childTnLst>
                                    <p:set>
                                      <p:cBhvr>
                                        <p:cTn id="55" dur="1" fill="hold">
                                          <p:stCondLst>
                                            <p:cond delay="0"/>
                                          </p:stCondLst>
                                        </p:cTn>
                                        <p:tgtEl>
                                          <p:spTgt spid="118789">
                                            <p:txEl>
                                              <p:pRg st="4" end="4"/>
                                            </p:txEl>
                                          </p:spTgt>
                                        </p:tgtEl>
                                        <p:attrNameLst>
                                          <p:attrName>style.visibility</p:attrName>
                                        </p:attrNameLst>
                                      </p:cBhvr>
                                      <p:to>
                                        <p:strVal val="visible"/>
                                      </p:to>
                                    </p:set>
                                    <p:anim calcmode="discrete" valueType="clr">
                                      <p:cBhvr override="childStyle">
                                        <p:cTn id="56" dur="80"/>
                                        <p:tgtEl>
                                          <p:spTgt spid="118789">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118789">
                                            <p:txEl>
                                              <p:pRg st="4" end="4"/>
                                            </p:txEl>
                                          </p:spTgt>
                                        </p:tgtEl>
                                        <p:attrNameLst>
                                          <p:attrName>fillcolor</p:attrName>
                                        </p:attrNameLst>
                                      </p:cBhvr>
                                      <p:tavLst>
                                        <p:tav tm="0">
                                          <p:val>
                                            <p:clrVal>
                                              <a:schemeClr val="accent2"/>
                                            </p:clrVal>
                                          </p:val>
                                        </p:tav>
                                        <p:tav tm="50000">
                                          <p:val>
                                            <p:clrVal>
                                              <a:schemeClr val="hlink"/>
                                            </p:clrVal>
                                          </p:val>
                                        </p:tav>
                                      </p:tavLst>
                                    </p:anim>
                                    <p:set>
                                      <p:cBhvr>
                                        <p:cTn id="58" dur="80"/>
                                        <p:tgtEl>
                                          <p:spTgt spid="118789">
                                            <p:txEl>
                                              <p:pRg st="4" end="4"/>
                                            </p:txEl>
                                          </p:spTgt>
                                        </p:tgtEl>
                                        <p:attrNameLst>
                                          <p:attrName>fill.type</p:attrName>
                                        </p:attrNameLst>
                                      </p:cBhvr>
                                      <p:to>
                                        <p:strVal val="solid"/>
                                      </p:to>
                                    </p:se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118793"/>
                                        </p:tgtEl>
                                        <p:attrNameLst>
                                          <p:attrName>style.visibility</p:attrName>
                                        </p:attrNameLst>
                                      </p:cBhvr>
                                      <p:to>
                                        <p:strVal val="visible"/>
                                      </p:to>
                                    </p:set>
                                    <p:animEffect transition="in" filter="dissolve">
                                      <p:cBhvr>
                                        <p:cTn id="63" dur="500"/>
                                        <p:tgtEl>
                                          <p:spTgt spid="118793"/>
                                        </p:tgtEl>
                                      </p:cBhvr>
                                    </p:animEffect>
                                  </p:childTnLst>
                                </p:cTn>
                              </p:par>
                            </p:childTnLst>
                          </p:cTn>
                        </p:par>
                      </p:childTnLst>
                    </p:cTn>
                  </p:par>
                  <p:par>
                    <p:cTn id="64" fill="hold">
                      <p:stCondLst>
                        <p:cond delay="indefinite"/>
                      </p:stCondLst>
                      <p:childTnLst>
                        <p:par>
                          <p:cTn id="65" fill="hold">
                            <p:stCondLst>
                              <p:cond delay="0"/>
                            </p:stCondLst>
                            <p:childTnLst>
                              <p:par>
                                <p:cTn id="66" presetID="27" presetClass="entr" presetSubtype="0" fill="hold" nodeType="clickEffect">
                                  <p:stCondLst>
                                    <p:cond delay="0"/>
                                  </p:stCondLst>
                                  <p:iterate type="lt">
                                    <p:tmPct val="50000"/>
                                  </p:iterate>
                                  <p:childTnLst>
                                    <p:set>
                                      <p:cBhvr>
                                        <p:cTn id="67" dur="1" fill="hold">
                                          <p:stCondLst>
                                            <p:cond delay="0"/>
                                          </p:stCondLst>
                                        </p:cTn>
                                        <p:tgtEl>
                                          <p:spTgt spid="118789">
                                            <p:txEl>
                                              <p:pRg st="5" end="5"/>
                                            </p:txEl>
                                          </p:spTgt>
                                        </p:tgtEl>
                                        <p:attrNameLst>
                                          <p:attrName>style.visibility</p:attrName>
                                        </p:attrNameLst>
                                      </p:cBhvr>
                                      <p:to>
                                        <p:strVal val="visible"/>
                                      </p:to>
                                    </p:set>
                                    <p:anim calcmode="discrete" valueType="clr">
                                      <p:cBhvr override="childStyle">
                                        <p:cTn id="68" dur="80"/>
                                        <p:tgtEl>
                                          <p:spTgt spid="118789">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9" dur="80"/>
                                        <p:tgtEl>
                                          <p:spTgt spid="118789">
                                            <p:txEl>
                                              <p:pRg st="5" end="5"/>
                                            </p:txEl>
                                          </p:spTgt>
                                        </p:tgtEl>
                                        <p:attrNameLst>
                                          <p:attrName>fillcolor</p:attrName>
                                        </p:attrNameLst>
                                      </p:cBhvr>
                                      <p:tavLst>
                                        <p:tav tm="0">
                                          <p:val>
                                            <p:clrVal>
                                              <a:schemeClr val="accent2"/>
                                            </p:clrVal>
                                          </p:val>
                                        </p:tav>
                                        <p:tav tm="50000">
                                          <p:val>
                                            <p:clrVal>
                                              <a:schemeClr val="hlink"/>
                                            </p:clrVal>
                                          </p:val>
                                        </p:tav>
                                      </p:tavLst>
                                    </p:anim>
                                    <p:set>
                                      <p:cBhvr>
                                        <p:cTn id="70" dur="80"/>
                                        <p:tgtEl>
                                          <p:spTgt spid="118789">
                                            <p:txEl>
                                              <p:pRg st="5" end="5"/>
                                            </p:txEl>
                                          </p:spTgt>
                                        </p:tgtEl>
                                        <p:attrNameLst>
                                          <p:attrName>fill.type</p:attrName>
                                        </p:attrNameLst>
                                      </p:cBhvr>
                                      <p:to>
                                        <p:strVal val="solid"/>
                                      </p:to>
                                    </p:se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118794"/>
                                        </p:tgtEl>
                                        <p:attrNameLst>
                                          <p:attrName>style.visibility</p:attrName>
                                        </p:attrNameLst>
                                      </p:cBhvr>
                                      <p:to>
                                        <p:strVal val="visible"/>
                                      </p:to>
                                    </p:set>
                                    <p:animEffect transition="in" filter="dissolve">
                                      <p:cBhvr>
                                        <p:cTn id="75" dur="500"/>
                                        <p:tgtEl>
                                          <p:spTgt spid="118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0" grpId="0"/>
      <p:bldP spid="118791" grpId="0"/>
      <p:bldP spid="118792" grpId="0"/>
      <p:bldP spid="118793" grpId="0"/>
      <p:bldP spid="118794" grpId="0"/>
      <p:bldP spid="39947"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9" name="Text Box 5"/>
          <p:cNvSpPr txBox="1">
            <a:spLocks noChangeArrowheads="1"/>
          </p:cNvSpPr>
          <p:nvPr/>
        </p:nvSpPr>
        <p:spPr bwMode="auto">
          <a:xfrm>
            <a:off x="839416" y="2852936"/>
            <a:ext cx="10081120" cy="240681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95000"/>
              </a:lnSpc>
              <a:spcBef>
                <a:spcPct val="50000"/>
              </a:spcBef>
              <a:buFontTx/>
              <a:buNone/>
            </a:pP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析取范式</a:t>
            </a:r>
          </a:p>
          <a:p>
            <a:pPr lvl="2" algn="just">
              <a:lnSpc>
                <a:spcPct val="95000"/>
              </a:lnSpc>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p>
          <a:p>
            <a:pPr lvl="2">
              <a:lnSpc>
                <a:spcPct val="95000"/>
              </a:lnSpc>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p>
          <a:p>
            <a:pPr lvl="2">
              <a:lnSpc>
                <a:spcPct val="95000"/>
              </a:lnSpc>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p>
          <a:p>
            <a:pPr lvl="2" algn="just">
              <a:lnSpc>
                <a:spcPct val="95000"/>
              </a:lnSpc>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8795" name="Rectangle 11"/>
          <p:cNvSpPr>
            <a:spLocks noChangeArrowheads="1"/>
          </p:cNvSpPr>
          <p:nvPr/>
        </p:nvSpPr>
        <p:spPr bwMode="auto">
          <a:xfrm>
            <a:off x="7125819" y="3351649"/>
            <a:ext cx="2435282" cy="40011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见上述第一至四步</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8796" name="Rectangle 12"/>
          <p:cNvSpPr>
            <a:spLocks noChangeArrowheads="1"/>
          </p:cNvSpPr>
          <p:nvPr/>
        </p:nvSpPr>
        <p:spPr bwMode="auto">
          <a:xfrm>
            <a:off x="7266883" y="4305699"/>
            <a:ext cx="2153154" cy="40011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对∨的分配律</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8797" name="Rectangle 13"/>
          <p:cNvSpPr>
            <a:spLocks noChangeArrowheads="1"/>
          </p:cNvSpPr>
          <p:nvPr/>
        </p:nvSpPr>
        <p:spPr bwMode="auto">
          <a:xfrm>
            <a:off x="7241235" y="4903374"/>
            <a:ext cx="2178802" cy="38472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lnSpc>
                <a:spcPct val="95000"/>
              </a:lnSpc>
              <a:spcBef>
                <a:spcPct val="50000"/>
              </a:spcBef>
              <a:buFontTx/>
              <a:buNone/>
            </a:pP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矛盾律和同一律</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 name="Rectangle 14"/>
          <p:cNvSpPr txBox="1">
            <a:spLocks noChangeArrowheads="1"/>
          </p:cNvSpPr>
          <p:nvPr/>
        </p:nvSpPr>
        <p:spPr bwMode="auto">
          <a:xfrm>
            <a:off x="479376" y="1678680"/>
            <a:ext cx="8714252" cy="695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lnSpc>
                <a:spcPct val="150000"/>
              </a:lnSpc>
            </a:pPr>
            <a:r>
              <a:rPr kumimoji="0" lang="zh-CN" altLang="en-US"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例</a:t>
            </a:r>
            <a:r>
              <a:rPr kumimoji="0" lang="en-US" altLang="zh-CN"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3.3.1  </a:t>
            </a:r>
            <a:r>
              <a:rPr kumimoji="0" lang="zh-CN" altLang="en-US"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求公式</a:t>
            </a:r>
            <a:r>
              <a:rPr kumimoji="0" lang="en-US" altLang="zh-CN"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0" i="1" kern="0"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400" b="0" kern="0"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0" i="1" kern="0" dirty="0" err="1">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kumimoji="0" lang="en-US" altLang="zh-CN"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b="0" i="1"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t>
            </a:r>
            <a:r>
              <a:rPr kumimoji="0" lang="zh-CN" altLang="en-US"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的合取范式与析取范式。</a:t>
            </a:r>
            <a:endParaRPr kumimoji="0" lang="en-US" altLang="zh-CN" sz="2400" b="0" kern="0" dirty="0">
              <a:solidFill>
                <a:srgbClr val="FFCC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479376" y="2430434"/>
            <a:ext cx="864096" cy="461665"/>
          </a:xfrm>
          <a:prstGeom prst="rect">
            <a:avLst/>
          </a:prstGeom>
          <a:noFill/>
        </p:spPr>
        <p:txBody>
          <a:bodyPr wrap="square">
            <a:spAutoFit/>
          </a:bodyPr>
          <a:lstStyle/>
          <a:p>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解</a:t>
            </a:r>
            <a:r>
              <a:rPr lang="en-US" altLang="zh-CN"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sym typeface="Wingdings" panose="05000000000000000000" pitchFamily="2" charset="2"/>
              </a:rPr>
              <a:t>: </a:t>
            </a:r>
            <a:endParaRPr lang="zh-CN" altLang="en-US" sz="2400" dirty="0">
              <a:solidFill>
                <a:srgbClr val="FFFF00"/>
              </a:solidFill>
              <a:effectLst>
                <a:outerShdw blurRad="38100" dist="38100" dir="2700000" algn="tl">
                  <a:srgbClr val="000000">
                    <a:alpha val="43137"/>
                  </a:srgbClr>
                </a:outerShdw>
              </a:effectLst>
            </a:endParaRPr>
          </a:p>
        </p:txBody>
      </p:sp>
      <p:sp>
        <p:nvSpPr>
          <p:cNvPr id="3" name="Rectangle 7"/>
          <p:cNvSpPr txBox="1">
            <a:spLocks noChangeArrowheads="1"/>
          </p:cNvSpPr>
          <p:nvPr/>
        </p:nvSpPr>
        <p:spPr bwMode="auto">
          <a:xfrm>
            <a:off x="5159376" y="44450"/>
            <a:ext cx="5508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latin typeface="Times New Roman" panose="02020603050405020304" pitchFamily="18" charset="0"/>
                <a:ea typeface="微软雅黑" panose="020B0503020204020204" pitchFamily="34" charset="-122"/>
                <a:cs typeface="Times New Roman" panose="02020603050405020304" pitchFamily="18" charset="0"/>
              </a:rPr>
              <a:t>析取范式与合取范式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18789">
                                            <p:txEl>
                                              <p:pRg st="0" end="0"/>
                                            </p:txEl>
                                          </p:spTgt>
                                        </p:tgtEl>
                                        <p:attrNameLst>
                                          <p:attrName>style.visibility</p:attrName>
                                        </p:attrNameLst>
                                      </p:cBhvr>
                                      <p:to>
                                        <p:strVal val="visible"/>
                                      </p:to>
                                    </p:set>
                                    <p:anim calcmode="lin" valueType="num">
                                      <p:cBhvr>
                                        <p:cTn id="7" dur="500" fill="hold"/>
                                        <p:tgtEl>
                                          <p:spTgt spid="11878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18789">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7" presetClass="entr" presetSubtype="0" fill="hold" nodeType="clickEffect">
                                  <p:stCondLst>
                                    <p:cond delay="0"/>
                                  </p:stCondLst>
                                  <p:iterate type="lt">
                                    <p:tmPct val="50000"/>
                                  </p:iterate>
                                  <p:childTnLst>
                                    <p:set>
                                      <p:cBhvr>
                                        <p:cTn id="12" dur="1" fill="hold">
                                          <p:stCondLst>
                                            <p:cond delay="0"/>
                                          </p:stCondLst>
                                        </p:cTn>
                                        <p:tgtEl>
                                          <p:spTgt spid="118789">
                                            <p:txEl>
                                              <p:pRg st="1" end="1"/>
                                            </p:txEl>
                                          </p:spTgt>
                                        </p:tgtEl>
                                        <p:attrNameLst>
                                          <p:attrName>style.visibility</p:attrName>
                                        </p:attrNameLst>
                                      </p:cBhvr>
                                      <p:to>
                                        <p:strVal val="visible"/>
                                      </p:to>
                                    </p:set>
                                    <p:anim calcmode="discrete" valueType="clr">
                                      <p:cBhvr override="childStyle">
                                        <p:cTn id="13" dur="80"/>
                                        <p:tgtEl>
                                          <p:spTgt spid="11878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118789">
                                            <p:txEl>
                                              <p:pRg st="1" end="1"/>
                                            </p:txEl>
                                          </p:spTgt>
                                        </p:tgtEl>
                                        <p:attrNameLst>
                                          <p:attrName>fillcolor</p:attrName>
                                        </p:attrNameLst>
                                      </p:cBhvr>
                                      <p:tavLst>
                                        <p:tav tm="0">
                                          <p:val>
                                            <p:clrVal>
                                              <a:schemeClr val="accent2"/>
                                            </p:clrVal>
                                          </p:val>
                                        </p:tav>
                                        <p:tav tm="50000">
                                          <p:val>
                                            <p:clrVal>
                                              <a:schemeClr val="hlink"/>
                                            </p:clrVal>
                                          </p:val>
                                        </p:tav>
                                      </p:tavLst>
                                    </p:anim>
                                    <p:set>
                                      <p:cBhvr>
                                        <p:cTn id="15" dur="80"/>
                                        <p:tgtEl>
                                          <p:spTgt spid="118789">
                                            <p:txEl>
                                              <p:pRg st="1" end="1"/>
                                            </p:txEl>
                                          </p:spTgt>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8795"/>
                                        </p:tgtEl>
                                        <p:attrNameLst>
                                          <p:attrName>style.visibility</p:attrName>
                                        </p:attrNameLst>
                                      </p:cBhvr>
                                      <p:to>
                                        <p:strVal val="visible"/>
                                      </p:to>
                                    </p:set>
                                    <p:animEffect transition="in" filter="dissolve">
                                      <p:cBhvr>
                                        <p:cTn id="20" dur="500"/>
                                        <p:tgtEl>
                                          <p:spTgt spid="118795"/>
                                        </p:tgtEl>
                                      </p:cBhvr>
                                    </p:animEffect>
                                  </p:childTnLst>
                                </p:cTn>
                              </p:par>
                            </p:childTnLst>
                          </p:cTn>
                        </p:par>
                      </p:childTnLst>
                    </p:cTn>
                  </p:par>
                  <p:par>
                    <p:cTn id="21" fill="hold">
                      <p:stCondLst>
                        <p:cond delay="indefinite"/>
                      </p:stCondLst>
                      <p:childTnLst>
                        <p:par>
                          <p:cTn id="22" fill="hold">
                            <p:stCondLst>
                              <p:cond delay="0"/>
                            </p:stCondLst>
                            <p:childTnLst>
                              <p:par>
                                <p:cTn id="23" presetID="27" presetClass="entr" presetSubtype="0" fill="hold" nodeType="clickEffect">
                                  <p:stCondLst>
                                    <p:cond delay="0"/>
                                  </p:stCondLst>
                                  <p:iterate type="lt">
                                    <p:tmPct val="50000"/>
                                  </p:iterate>
                                  <p:childTnLst>
                                    <p:set>
                                      <p:cBhvr>
                                        <p:cTn id="24" dur="1" fill="hold">
                                          <p:stCondLst>
                                            <p:cond delay="0"/>
                                          </p:stCondLst>
                                        </p:cTn>
                                        <p:tgtEl>
                                          <p:spTgt spid="118789">
                                            <p:txEl>
                                              <p:pRg st="2" end="2"/>
                                            </p:txEl>
                                          </p:spTgt>
                                        </p:tgtEl>
                                        <p:attrNameLst>
                                          <p:attrName>style.visibility</p:attrName>
                                        </p:attrNameLst>
                                      </p:cBhvr>
                                      <p:to>
                                        <p:strVal val="visible"/>
                                      </p:to>
                                    </p:set>
                                    <p:anim calcmode="discrete" valueType="clr">
                                      <p:cBhvr override="childStyle">
                                        <p:cTn id="25" dur="80"/>
                                        <p:tgtEl>
                                          <p:spTgt spid="11878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118789">
                                            <p:txEl>
                                              <p:pRg st="2" end="2"/>
                                            </p:txEl>
                                          </p:spTgt>
                                        </p:tgtEl>
                                        <p:attrNameLst>
                                          <p:attrName>fillcolor</p:attrName>
                                        </p:attrNameLst>
                                      </p:cBhvr>
                                      <p:tavLst>
                                        <p:tav tm="0">
                                          <p:val>
                                            <p:clrVal>
                                              <a:schemeClr val="accent2"/>
                                            </p:clrVal>
                                          </p:val>
                                        </p:tav>
                                        <p:tav tm="50000">
                                          <p:val>
                                            <p:clrVal>
                                              <a:schemeClr val="hlink"/>
                                            </p:clrVal>
                                          </p:val>
                                        </p:tav>
                                      </p:tavLst>
                                    </p:anim>
                                    <p:set>
                                      <p:cBhvr>
                                        <p:cTn id="27" dur="80"/>
                                        <p:tgtEl>
                                          <p:spTgt spid="118789">
                                            <p:txEl>
                                              <p:pRg st="2" end="2"/>
                                            </p:txEl>
                                          </p:spTgt>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27" presetClass="entr" presetSubtype="0" fill="hold" grpId="0" nodeType="clickEffect">
                                  <p:stCondLst>
                                    <p:cond delay="0"/>
                                  </p:stCondLst>
                                  <p:iterate type="lt">
                                    <p:tmPct val="50000"/>
                                  </p:iterate>
                                  <p:childTnLst>
                                    <p:set>
                                      <p:cBhvr>
                                        <p:cTn id="31" dur="1" fill="hold">
                                          <p:stCondLst>
                                            <p:cond delay="0"/>
                                          </p:stCondLst>
                                        </p:cTn>
                                        <p:tgtEl>
                                          <p:spTgt spid="118796"/>
                                        </p:tgtEl>
                                        <p:attrNameLst>
                                          <p:attrName>style.visibility</p:attrName>
                                        </p:attrNameLst>
                                      </p:cBhvr>
                                      <p:to>
                                        <p:strVal val="visible"/>
                                      </p:to>
                                    </p:set>
                                    <p:anim calcmode="discrete" valueType="clr">
                                      <p:cBhvr override="childStyle">
                                        <p:cTn id="32" dur="80"/>
                                        <p:tgtEl>
                                          <p:spTgt spid="118796"/>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118796"/>
                                        </p:tgtEl>
                                        <p:attrNameLst>
                                          <p:attrName>fillcolor</p:attrName>
                                        </p:attrNameLst>
                                      </p:cBhvr>
                                      <p:tavLst>
                                        <p:tav tm="0">
                                          <p:val>
                                            <p:clrVal>
                                              <a:schemeClr val="accent2"/>
                                            </p:clrVal>
                                          </p:val>
                                        </p:tav>
                                        <p:tav tm="50000">
                                          <p:val>
                                            <p:clrVal>
                                              <a:schemeClr val="hlink"/>
                                            </p:clrVal>
                                          </p:val>
                                        </p:tav>
                                      </p:tavLst>
                                    </p:anim>
                                    <p:set>
                                      <p:cBhvr>
                                        <p:cTn id="34" dur="80"/>
                                        <p:tgtEl>
                                          <p:spTgt spid="118796"/>
                                        </p:tgtEl>
                                        <p:attrNameLst>
                                          <p:attrName>fill.type</p:attrName>
                                        </p:attrNameLst>
                                      </p:cBhvr>
                                      <p:to>
                                        <p:strVal val="solid"/>
                                      </p:to>
                                    </p:set>
                                  </p:childTnLst>
                                </p:cTn>
                              </p:par>
                            </p:childTnLst>
                          </p:cTn>
                        </p:par>
                      </p:childTnLst>
                    </p:cTn>
                  </p:par>
                  <p:par>
                    <p:cTn id="35" fill="hold">
                      <p:stCondLst>
                        <p:cond delay="indefinite"/>
                      </p:stCondLst>
                      <p:childTnLst>
                        <p:par>
                          <p:cTn id="36" fill="hold">
                            <p:stCondLst>
                              <p:cond delay="0"/>
                            </p:stCondLst>
                            <p:childTnLst>
                              <p:par>
                                <p:cTn id="37" presetID="27" presetClass="entr" presetSubtype="0" fill="hold" nodeType="clickEffect">
                                  <p:stCondLst>
                                    <p:cond delay="0"/>
                                  </p:stCondLst>
                                  <p:iterate type="lt">
                                    <p:tmPct val="50000"/>
                                  </p:iterate>
                                  <p:childTnLst>
                                    <p:set>
                                      <p:cBhvr>
                                        <p:cTn id="38" dur="1" fill="hold">
                                          <p:stCondLst>
                                            <p:cond delay="0"/>
                                          </p:stCondLst>
                                        </p:cTn>
                                        <p:tgtEl>
                                          <p:spTgt spid="118789">
                                            <p:txEl>
                                              <p:pRg st="4" end="4"/>
                                            </p:txEl>
                                          </p:spTgt>
                                        </p:tgtEl>
                                        <p:attrNameLst>
                                          <p:attrName>style.visibility</p:attrName>
                                        </p:attrNameLst>
                                      </p:cBhvr>
                                      <p:to>
                                        <p:strVal val="visible"/>
                                      </p:to>
                                    </p:set>
                                    <p:anim calcmode="discrete" valueType="clr">
                                      <p:cBhvr override="childStyle">
                                        <p:cTn id="39" dur="80"/>
                                        <p:tgtEl>
                                          <p:spTgt spid="118789">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118789">
                                            <p:txEl>
                                              <p:pRg st="4" end="4"/>
                                            </p:txEl>
                                          </p:spTgt>
                                        </p:tgtEl>
                                        <p:attrNameLst>
                                          <p:attrName>fillcolor</p:attrName>
                                        </p:attrNameLst>
                                      </p:cBhvr>
                                      <p:tavLst>
                                        <p:tav tm="0">
                                          <p:val>
                                            <p:clrVal>
                                              <a:schemeClr val="accent2"/>
                                            </p:clrVal>
                                          </p:val>
                                        </p:tav>
                                        <p:tav tm="50000">
                                          <p:val>
                                            <p:clrVal>
                                              <a:schemeClr val="hlink"/>
                                            </p:clrVal>
                                          </p:val>
                                        </p:tav>
                                      </p:tavLst>
                                    </p:anim>
                                    <p:set>
                                      <p:cBhvr>
                                        <p:cTn id="41" dur="80"/>
                                        <p:tgtEl>
                                          <p:spTgt spid="118789">
                                            <p:txEl>
                                              <p:pRg st="4" end="4"/>
                                            </p:txEl>
                                          </p:spTgt>
                                        </p:tgtEl>
                                        <p:attrNameLst>
                                          <p:attrName>fill.type</p:attrName>
                                        </p:attrNameLst>
                                      </p:cBhvr>
                                      <p:to>
                                        <p:strVal val="solid"/>
                                      </p:to>
                                    </p:se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18797"/>
                                        </p:tgtEl>
                                        <p:attrNameLst>
                                          <p:attrName>style.visibility</p:attrName>
                                        </p:attrNameLst>
                                      </p:cBhvr>
                                      <p:to>
                                        <p:strVal val="visible"/>
                                      </p:to>
                                    </p:set>
                                    <p:animEffect transition="in" filter="dissolve">
                                      <p:cBhvr>
                                        <p:cTn id="46" dur="500"/>
                                        <p:tgtEl>
                                          <p:spTgt spid="118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5" grpId="0"/>
      <p:bldP spid="118796" grpId="0"/>
      <p:bldP spid="11879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Text Box 4"/>
          <p:cNvSpPr txBox="1">
            <a:spLocks noChangeArrowheads="1"/>
          </p:cNvSpPr>
          <p:nvPr/>
        </p:nvSpPr>
        <p:spPr bwMode="auto">
          <a:xfrm>
            <a:off x="839416" y="2348880"/>
            <a:ext cx="10854356" cy="219220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har char="•"/>
              <a:defRPr sz="3200">
                <a:solidFill>
                  <a:schemeClr val="bg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bg1"/>
                </a:solidFill>
                <a:latin typeface="Arial" panose="020B0604020202020204" pitchFamily="34" charset="0"/>
                <a:ea typeface="宋体" panose="02010600030101010101" pitchFamily="2" charset="-122"/>
              </a:defRPr>
            </a:lvl2pPr>
            <a:lvl3pPr marL="1371600" indent="-457200">
              <a:spcBef>
                <a:spcPct val="20000"/>
              </a:spcBef>
              <a:buChar char="•"/>
              <a:defRPr sz="2400">
                <a:solidFill>
                  <a:schemeClr val="bg1"/>
                </a:solidFill>
                <a:latin typeface="Arial" panose="020B0604020202020204" pitchFamily="34" charset="0"/>
                <a:ea typeface="宋体" panose="02010600030101010101" pitchFamily="2" charset="-122"/>
              </a:defRPr>
            </a:lvl3pPr>
            <a:lvl4pPr marL="1828800" indent="-457200">
              <a:spcBef>
                <a:spcPct val="20000"/>
              </a:spcBef>
              <a:buChar char="–"/>
              <a:defRPr sz="2000">
                <a:solidFill>
                  <a:schemeClr val="bg1"/>
                </a:solidFill>
                <a:latin typeface="Arial" panose="020B0604020202020204" pitchFamily="34" charset="0"/>
                <a:ea typeface="宋体" panose="02010600030101010101" pitchFamily="2" charset="-122"/>
              </a:defRPr>
            </a:lvl4pPr>
            <a:lvl5pPr marL="2286000" indent="-457200">
              <a:spcBef>
                <a:spcPct val="20000"/>
              </a:spcBef>
              <a:buChar char="»"/>
              <a:defRPr sz="2000">
                <a:solidFill>
                  <a:schemeClr val="bg1"/>
                </a:solidFill>
                <a:latin typeface="Arial" panose="020B0604020202020204" pitchFamily="34" charset="0"/>
                <a:ea typeface="宋体" panose="02010600030101010101" pitchFamily="2" charset="-122"/>
              </a:defRPr>
            </a:lvl5pPr>
            <a:lvl6pPr marL="27432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32004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6576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41148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FontTx/>
              <a:buAutoNum type="arabicPeriod"/>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在演算过程中</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利用交换律</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可使每个简单析取式或简单合取式中命题变量都按字典序出现。</a:t>
            </a:r>
          </a:p>
          <a:p>
            <a:pPr algn="just" eaLnBrk="1" hangingPunct="1">
              <a:lnSpc>
                <a:spcPct val="150000"/>
              </a:lnSpc>
              <a:spcBef>
                <a:spcPct val="50000"/>
              </a:spcBef>
              <a:buFontTx/>
              <a:buAutoNum type="arabicPeriod"/>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上述求析取范式的过程中</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第二步和第三步结果都是析取范式。这说明命题公式的析取范式是不唯一的。</a:t>
            </a:r>
          </a:p>
          <a:p>
            <a:pPr algn="just" eaLnBrk="1" hangingPunct="1">
              <a:lnSpc>
                <a:spcPct val="150000"/>
              </a:lnSpc>
              <a:spcBef>
                <a:spcPct val="5000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同样</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合取范式也是不唯一的。</a:t>
            </a:r>
          </a:p>
        </p:txBody>
      </p:sp>
      <p:sp>
        <p:nvSpPr>
          <p:cNvPr id="40963" name="Rectangle 5"/>
          <p:cNvSpPr>
            <a:spLocks noGrp="1" noChangeArrowheads="1"/>
          </p:cNvSpPr>
          <p:nvPr>
            <p:ph type="title" idx="4294967295"/>
          </p:nvPr>
        </p:nvSpPr>
        <p:spPr>
          <a:xfrm>
            <a:off x="479376" y="1700808"/>
            <a:ext cx="5051425"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范式的注解</a:t>
            </a:r>
          </a:p>
        </p:txBody>
      </p:sp>
      <p:sp>
        <p:nvSpPr>
          <p:cNvPr id="4" name="Rectangle 7"/>
          <p:cNvSpPr txBox="1">
            <a:spLocks noChangeArrowheads="1"/>
          </p:cNvSpPr>
          <p:nvPr/>
        </p:nvSpPr>
        <p:spPr bwMode="auto">
          <a:xfrm>
            <a:off x="5159376" y="44450"/>
            <a:ext cx="5508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latin typeface="Times New Roman" panose="02020603050405020304" pitchFamily="18" charset="0"/>
                <a:ea typeface="微软雅黑" panose="020B0503020204020204" pitchFamily="34" charset="-122"/>
                <a:cs typeface="Times New Roman" panose="02020603050405020304" pitchFamily="18" charset="0"/>
              </a:rPr>
              <a:t>析取范式与合取范式</a:t>
            </a:r>
          </a:p>
        </p:txBody>
      </p:sp>
      <p:sp>
        <p:nvSpPr>
          <p:cNvPr id="6" name="文本框 5"/>
          <p:cNvSpPr txBox="1"/>
          <p:nvPr/>
        </p:nvSpPr>
        <p:spPr>
          <a:xfrm>
            <a:off x="1283278" y="4941168"/>
            <a:ext cx="9378802" cy="961097"/>
          </a:xfrm>
          <a:prstGeom prst="rect">
            <a:avLst/>
          </a:prstGeom>
          <a:noFill/>
        </p:spPr>
        <p:txBody>
          <a:bodyPr wrap="square">
            <a:spAutoFit/>
          </a:bodyPr>
          <a:lstStyle/>
          <a:p>
            <a:pPr>
              <a:lnSpc>
                <a:spcPct val="150000"/>
              </a:lnSpc>
            </a:pP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为了得到唯一的规范化形式的范式</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需要定义主析取范式和主合取范式。</a:t>
            </a:r>
            <a:endPar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为此</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先引入如下极小项和极大项概念。</a:t>
            </a:r>
            <a:endParaRPr lang="zh-CN" altLang="en-US" sz="2000" dirty="0">
              <a:solidFill>
                <a:srgbClr val="92D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wipe(left)">
                                      <p:cBhvr>
                                        <p:cTn id="7" dur="500"/>
                                        <p:tgtEl>
                                          <p:spTgt spid="40963"/>
                                        </p:tgtEl>
                                      </p:cBhvr>
                                    </p:animEffect>
                                  </p:childTnLst>
                                </p:cTn>
                              </p:par>
                            </p:childTnLst>
                          </p:cTn>
                        </p:par>
                        <p:par>
                          <p:cTn id="8" fill="hold">
                            <p:stCondLst>
                              <p:cond delay="500"/>
                            </p:stCondLst>
                            <p:childTnLst>
                              <p:par>
                                <p:cTn id="9" presetID="22" presetClass="entr" presetSubtype="8" fill="hold" nodeType="afterEffect">
                                  <p:stCondLst>
                                    <p:cond delay="500"/>
                                  </p:stCondLst>
                                  <p:iterate type="wd">
                                    <p:tmPct val="10000"/>
                                  </p:iterate>
                                  <p:childTnLst>
                                    <p:set>
                                      <p:cBhvr>
                                        <p:cTn id="10" dur="1" fill="hold">
                                          <p:stCondLst>
                                            <p:cond delay="0"/>
                                          </p:stCondLst>
                                        </p:cTn>
                                        <p:tgtEl>
                                          <p:spTgt spid="119812">
                                            <p:txEl>
                                              <p:pRg st="0" end="0"/>
                                            </p:txEl>
                                          </p:spTgt>
                                        </p:tgtEl>
                                        <p:attrNameLst>
                                          <p:attrName>style.visibility</p:attrName>
                                        </p:attrNameLst>
                                      </p:cBhvr>
                                      <p:to>
                                        <p:strVal val="visible"/>
                                      </p:to>
                                    </p:set>
                                    <p:animEffect transition="in" filter="wipe(left)">
                                      <p:cBhvr>
                                        <p:cTn id="11" dur="500"/>
                                        <p:tgtEl>
                                          <p:spTgt spid="119812">
                                            <p:txEl>
                                              <p:pRg st="0" end="0"/>
                                            </p:txEl>
                                          </p:spTgt>
                                        </p:tgtEl>
                                      </p:cBhvr>
                                    </p:animEffect>
                                  </p:childTnLst>
                                </p:cTn>
                              </p:par>
                            </p:childTnLst>
                          </p:cTn>
                        </p:par>
                        <p:par>
                          <p:cTn id="12" fill="hold">
                            <p:stCondLst>
                              <p:cond delay="3099"/>
                            </p:stCondLst>
                            <p:childTnLst>
                              <p:par>
                                <p:cTn id="13" presetID="22" presetClass="entr" presetSubtype="8" fill="hold" nodeType="afterEffect">
                                  <p:stCondLst>
                                    <p:cond delay="500"/>
                                  </p:stCondLst>
                                  <p:iterate type="wd">
                                    <p:tmPct val="10000"/>
                                  </p:iterate>
                                  <p:childTnLst>
                                    <p:set>
                                      <p:cBhvr>
                                        <p:cTn id="14" dur="1" fill="hold">
                                          <p:stCondLst>
                                            <p:cond delay="0"/>
                                          </p:stCondLst>
                                        </p:cTn>
                                        <p:tgtEl>
                                          <p:spTgt spid="119812">
                                            <p:txEl>
                                              <p:pRg st="1" end="1"/>
                                            </p:txEl>
                                          </p:spTgt>
                                        </p:tgtEl>
                                        <p:attrNameLst>
                                          <p:attrName>style.visibility</p:attrName>
                                        </p:attrNameLst>
                                      </p:cBhvr>
                                      <p:to>
                                        <p:strVal val="visible"/>
                                      </p:to>
                                    </p:set>
                                    <p:animEffect transition="in" filter="wipe(left)">
                                      <p:cBhvr>
                                        <p:cTn id="15" dur="500"/>
                                        <p:tgtEl>
                                          <p:spTgt spid="119812">
                                            <p:txEl>
                                              <p:pRg st="1" end="1"/>
                                            </p:txEl>
                                          </p:spTgt>
                                        </p:tgtEl>
                                      </p:cBhvr>
                                    </p:animEffect>
                                  </p:childTnLst>
                                </p:cTn>
                              </p:par>
                            </p:childTnLst>
                          </p:cTn>
                        </p:par>
                        <p:par>
                          <p:cTn id="16" fill="hold">
                            <p:stCondLst>
                              <p:cond delay="6399"/>
                            </p:stCondLst>
                            <p:childTnLst>
                              <p:par>
                                <p:cTn id="17" presetID="22" presetClass="entr" presetSubtype="8" fill="hold" nodeType="afterEffect">
                                  <p:stCondLst>
                                    <p:cond delay="500"/>
                                  </p:stCondLst>
                                  <p:iterate type="wd">
                                    <p:tmPct val="10000"/>
                                  </p:iterate>
                                  <p:childTnLst>
                                    <p:set>
                                      <p:cBhvr>
                                        <p:cTn id="18" dur="1" fill="hold">
                                          <p:stCondLst>
                                            <p:cond delay="0"/>
                                          </p:stCondLst>
                                        </p:cTn>
                                        <p:tgtEl>
                                          <p:spTgt spid="119812">
                                            <p:txEl>
                                              <p:pRg st="2" end="2"/>
                                            </p:txEl>
                                          </p:spTgt>
                                        </p:tgtEl>
                                        <p:attrNameLst>
                                          <p:attrName>style.visibility</p:attrName>
                                        </p:attrNameLst>
                                      </p:cBhvr>
                                      <p:to>
                                        <p:strVal val="visible"/>
                                      </p:to>
                                    </p:set>
                                    <p:animEffect transition="in" filter="wipe(left)">
                                      <p:cBhvr>
                                        <p:cTn id="19" dur="500"/>
                                        <p:tgtEl>
                                          <p:spTgt spid="119812">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iterate type="wd">
                                    <p:tmPct val="10000"/>
                                  </p:iterate>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8" name="Text Box 6"/>
          <p:cNvSpPr txBox="1">
            <a:spLocks noChangeArrowheads="1"/>
          </p:cNvSpPr>
          <p:nvPr/>
        </p:nvSpPr>
        <p:spPr bwMode="auto">
          <a:xfrm>
            <a:off x="841378" y="2348880"/>
            <a:ext cx="10081120" cy="136960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30000"/>
              </a:lnSpc>
              <a:spcBef>
                <a:spcPct val="5000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在含有</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个命题变量的命题公式</a:t>
            </a:r>
            <a:r>
              <a:rPr lang="en-US" altLang="zh-CN" sz="22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简单合取式</a:t>
            </a:r>
            <a:r>
              <a:rPr lang="en-US" altLang="zh-CN"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中</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若每个命题变量和它的否定式恰好出现一个且仅出现一次</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并且命题变量或其否定式按下标从小到大或按字典序排列</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则称公式</a:t>
            </a:r>
            <a:r>
              <a:rPr lang="en-US" altLang="zh-CN" sz="22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简单合取式</a:t>
            </a:r>
            <a:r>
              <a:rPr lang="en-US" altLang="zh-CN"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为</a:t>
            </a:r>
            <a:r>
              <a:rPr lang="zh-CN" altLang="en-US"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极小项</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1987" name="Rectangle 7"/>
          <p:cNvSpPr>
            <a:spLocks noGrp="1" noChangeArrowheads="1"/>
          </p:cNvSpPr>
          <p:nvPr>
            <p:ph type="title" idx="4294967295"/>
          </p:nvPr>
        </p:nvSpPr>
        <p:spPr>
          <a:xfrm>
            <a:off x="479376" y="1685962"/>
            <a:ext cx="5976664"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3.3.1(</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极小项</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Text Box 6"/>
          <p:cNvSpPr txBox="1">
            <a:spLocks noChangeArrowheads="1"/>
          </p:cNvSpPr>
          <p:nvPr/>
        </p:nvSpPr>
        <p:spPr bwMode="auto">
          <a:xfrm>
            <a:off x="841378" y="4293096"/>
            <a:ext cx="10081120" cy="197900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30000"/>
              </a:lnSpc>
              <a:spcBef>
                <a:spcPct val="5000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由于每个命题变量在极小项中以原形或否定式形式出现且仅出现一次</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因而</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个命题变量共可产生</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i="1" baseline="30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个不同的极小项。</a:t>
            </a:r>
            <a:endPar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30000"/>
              </a:lnSpc>
              <a:spcBef>
                <a:spcPct val="5000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每个极小项仅有一个成真赋值</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若一个极小项的成真赋值对应的二进制数转化为十进制数为</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则将该极小项记为</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baseline="-30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337322" y="3769876"/>
            <a:ext cx="1008112" cy="523220"/>
          </a:xfrm>
          <a:prstGeom prst="rect">
            <a:avLst/>
          </a:prstGeom>
          <a:noFill/>
        </p:spPr>
        <p:txBody>
          <a:bodyPr wrap="square">
            <a:spAutoFit/>
          </a:bodyPr>
          <a:lstStyle/>
          <a:p>
            <a:r>
              <a:rPr lang="zh-CN" altLang="en-US" sz="28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注：</a:t>
            </a:r>
            <a:endParaRPr lang="zh-CN" altLang="en-US" sz="2800" dirty="0">
              <a:solidFill>
                <a:srgbClr val="FFCCFF"/>
              </a:solidFill>
            </a:endParaRPr>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极小项的定义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wipe(left)">
                                      <p:cBhvr>
                                        <p:cTn id="7" dur="500"/>
                                        <p:tgtEl>
                                          <p:spTgt spid="419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0838">
                                            <p:txEl>
                                              <p:pRg st="0" end="0"/>
                                            </p:txEl>
                                          </p:spTgt>
                                        </p:tgtEl>
                                        <p:attrNameLst>
                                          <p:attrName>style.visibility</p:attrName>
                                        </p:attrNameLst>
                                      </p:cBhvr>
                                      <p:to>
                                        <p:strVal val="visible"/>
                                      </p:to>
                                    </p:set>
                                    <p:animEffect transition="in" filter="dissolve">
                                      <p:cBhvr>
                                        <p:cTn id="12" dur="500"/>
                                        <p:tgtEl>
                                          <p:spTgt spid="12083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dissolve">
                                      <p:cBhvr>
                                        <p:cTn id="21" dur="500"/>
                                        <p:tgtEl>
                                          <p:spTgt spid="5">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
                                            <p:txEl>
                                              <p:pRg st="1" end="1"/>
                                            </p:txEl>
                                          </p:spTgt>
                                        </p:tgtEl>
                                        <p:attrNameLst>
                                          <p:attrName>style.visibility</p:attrName>
                                        </p:attrNameLst>
                                      </p:cBhvr>
                                      <p:to>
                                        <p:strVal val="visible"/>
                                      </p:to>
                                    </p:set>
                                    <p:animEffect transition="in" filter="dissolve">
                                      <p:cBhvr>
                                        <p:cTn id="26"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8" name="Text Box 6"/>
          <p:cNvSpPr txBox="1">
            <a:spLocks noChangeArrowheads="1"/>
          </p:cNvSpPr>
          <p:nvPr/>
        </p:nvSpPr>
        <p:spPr bwMode="auto">
          <a:xfrm>
            <a:off x="839416" y="2345223"/>
            <a:ext cx="10081120" cy="136960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30000"/>
              </a:lnSpc>
              <a:spcBef>
                <a:spcPct val="5000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在含有</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个命题变量的命题公式</a:t>
            </a:r>
            <a:r>
              <a:rPr lang="en-US" altLang="zh-CN" sz="22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简单析取式</a:t>
            </a:r>
            <a:r>
              <a:rPr lang="en-US" altLang="zh-CN"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中</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若每个命题变量和它的否定式恰好出现一个且仅出现一次</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并且命题变量或其否定式按下标从小到大或按字典序排列</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则称公式</a:t>
            </a:r>
            <a:r>
              <a:rPr lang="en-US" altLang="zh-CN" sz="22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简单析取式</a:t>
            </a:r>
            <a:r>
              <a:rPr lang="en-US" altLang="zh-CN"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为</a:t>
            </a:r>
            <a:r>
              <a:rPr lang="zh-CN" altLang="en-US" sz="22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极大项</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1987" name="Rectangle 7"/>
          <p:cNvSpPr>
            <a:spLocks noGrp="1" noChangeArrowheads="1"/>
          </p:cNvSpPr>
          <p:nvPr>
            <p:ph type="title" idx="4294967295"/>
          </p:nvPr>
        </p:nvSpPr>
        <p:spPr>
          <a:xfrm>
            <a:off x="479376" y="1685962"/>
            <a:ext cx="5976664"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3.3.2(</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极大项</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Text Box 6"/>
          <p:cNvSpPr txBox="1">
            <a:spLocks noChangeArrowheads="1"/>
          </p:cNvSpPr>
          <p:nvPr/>
        </p:nvSpPr>
        <p:spPr bwMode="auto">
          <a:xfrm>
            <a:off x="767408" y="3861048"/>
            <a:ext cx="10081120" cy="153888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30000"/>
              </a:lnSpc>
              <a:spcBef>
                <a:spcPct val="50000"/>
              </a:spcBef>
              <a:buFontTx/>
              <a:buNone/>
            </a:pP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个命题变量可产生</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i="1" baseline="30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个不同的极大项。</a:t>
            </a:r>
            <a:endPar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30000"/>
              </a:lnSpc>
              <a:spcBef>
                <a:spcPct val="5000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每个极大项只有一个成假赋值。若一个极大项的成假赋值对应的十进制数为</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则将该极大项记为</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i="1" baseline="-30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极大项的定义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wipe(left)">
                                      <p:cBhvr>
                                        <p:cTn id="7" dur="500"/>
                                        <p:tgtEl>
                                          <p:spTgt spid="419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0838">
                                            <p:txEl>
                                              <p:pRg st="0" end="0"/>
                                            </p:txEl>
                                          </p:spTgt>
                                        </p:tgtEl>
                                        <p:attrNameLst>
                                          <p:attrName>style.visibility</p:attrName>
                                        </p:attrNameLst>
                                      </p:cBhvr>
                                      <p:to>
                                        <p:strVal val="visible"/>
                                      </p:to>
                                    </p:set>
                                    <p:animEffect transition="in" filter="dissolve">
                                      <p:cBhvr>
                                        <p:cTn id="12" dur="500"/>
                                        <p:tgtEl>
                                          <p:spTgt spid="12083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dissolv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dissolve">
                                      <p:cBhvr>
                                        <p:cTn id="2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3"/>
          <p:cNvSpPr txBox="1">
            <a:spLocks noChangeArrowheads="1"/>
          </p:cNvSpPr>
          <p:nvPr/>
        </p:nvSpPr>
        <p:spPr bwMode="auto">
          <a:xfrm>
            <a:off x="1905000" y="2844801"/>
            <a:ext cx="8305800" cy="217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fontAlgn="t" hangingPunct="1">
              <a:spcBef>
                <a:spcPct val="50000"/>
              </a:spcBef>
              <a:buFontTx/>
              <a:buNone/>
            </a:pPr>
            <a:endParaRPr lang="en-US" altLang="zh-CN" sz="5400" b="0">
              <a:latin typeface="Times New Roman" panose="02020603050405020304" pitchFamily="18" charset="0"/>
            </a:endParaRPr>
          </a:p>
          <a:p>
            <a:pPr algn="ctr" eaLnBrk="1" fontAlgn="t" hangingPunct="1">
              <a:spcBef>
                <a:spcPct val="50000"/>
              </a:spcBef>
              <a:buFontTx/>
              <a:buNone/>
            </a:pPr>
            <a:endParaRPr lang="en-US" altLang="zh-CN" sz="5400" b="0">
              <a:latin typeface="Times New Roman" panose="02020603050405020304" pitchFamily="18" charset="0"/>
            </a:endParaRPr>
          </a:p>
        </p:txBody>
      </p:sp>
      <p:graphicFrame>
        <p:nvGraphicFramePr>
          <p:cNvPr id="122059" name="Group 203"/>
          <p:cNvGraphicFramePr>
            <a:graphicFrameLocks noGrp="1"/>
          </p:cNvGraphicFramePr>
          <p:nvPr/>
        </p:nvGraphicFramePr>
        <p:xfrm>
          <a:off x="1881566" y="2936081"/>
          <a:ext cx="8763000" cy="3197226"/>
        </p:xfrm>
        <a:graphic>
          <a:graphicData uri="http://schemas.openxmlformats.org/drawingml/2006/table">
            <a:tbl>
              <a:tblPr/>
              <a:tblGrid>
                <a:gridCol w="17526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295400">
                  <a:extLst>
                    <a:ext uri="{9D8B030D-6E8A-4147-A177-3AD203B41FA5}">
                      <a16:colId xmlns:a16="http://schemas.microsoft.com/office/drawing/2014/main" val="20005"/>
                    </a:ext>
                  </a:extLst>
                </a:gridCol>
              </a:tblGrid>
              <a:tr h="335270">
                <a:tc gridSpan="3">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极小项</a:t>
                      </a:r>
                    </a:p>
                  </a:txBody>
                  <a:tcPr marT="45715" marB="45715"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gridSpan="3">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极大项</a:t>
                      </a:r>
                    </a:p>
                  </a:txBody>
                  <a:tcPr marT="45715" marB="45715"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496834">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公式</a:t>
                      </a:r>
                    </a:p>
                  </a:txBody>
                  <a:tcPr marT="45715" marB="45715"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成真赋值</a:t>
                      </a: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名称</a:t>
                      </a: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公式</a:t>
                      </a: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成假赋值</a:t>
                      </a: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6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名称</a:t>
                      </a:r>
                    </a:p>
                  </a:txBody>
                  <a:tcPr marT="45715" marB="45715"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2233">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3000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3000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62382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3000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3000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623821">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3000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3000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495247">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cap="flat">
                      <a:noFill/>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1"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zh-CN" sz="1600" b="0" i="0"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45715" marB="45715" horzOverflow="overflow">
                    <a:lnL w="12700" cap="flat" cmpd="sng" algn="ctr">
                      <a:solidFill>
                        <a:srgbClr val="FF7C80"/>
                      </a:solidFill>
                      <a:prstDash val="solid"/>
                      <a:round/>
                      <a:headEnd type="none" w="med" len="med"/>
                      <a:tailEnd type="none" w="med" len="med"/>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21917" name="Text Box 61"/>
          <p:cNvSpPr txBox="1">
            <a:spLocks noChangeArrowheads="1"/>
          </p:cNvSpPr>
          <p:nvPr/>
        </p:nvSpPr>
        <p:spPr bwMode="auto">
          <a:xfrm>
            <a:off x="869136" y="2225680"/>
            <a:ext cx="68421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两个变量</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形成的极小项与极大项 </a:t>
            </a:r>
          </a:p>
        </p:txBody>
      </p:sp>
      <p:graphicFrame>
        <p:nvGraphicFramePr>
          <p:cNvPr id="121934" name="Group 78"/>
          <p:cNvGraphicFramePr>
            <a:graphicFrameLocks noGrp="1"/>
          </p:cNvGraphicFramePr>
          <p:nvPr/>
        </p:nvGraphicFramePr>
        <p:xfrm>
          <a:off x="3640832" y="3828702"/>
          <a:ext cx="2743200" cy="406400"/>
        </p:xfrm>
        <a:graphic>
          <a:graphicData uri="http://schemas.openxmlformats.org/drawingml/2006/table">
            <a:tbl>
              <a:tblPr/>
              <a:tblGrid>
                <a:gridCol w="1219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406400">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0    0</a:t>
                      </a:r>
                    </a:p>
                  </a:txBody>
                  <a:tcPr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0"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0</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1949" name="Group 93"/>
          <p:cNvGraphicFramePr>
            <a:graphicFrameLocks noGrp="1"/>
          </p:cNvGraphicFramePr>
          <p:nvPr/>
        </p:nvGraphicFramePr>
        <p:xfrm>
          <a:off x="3640832" y="4474675"/>
          <a:ext cx="2743200" cy="336550"/>
        </p:xfrm>
        <a:graphic>
          <a:graphicData uri="http://schemas.openxmlformats.org/drawingml/2006/table">
            <a:tbl>
              <a:tblPr/>
              <a:tblGrid>
                <a:gridCol w="1219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36550">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0    1</a:t>
                      </a:r>
                    </a:p>
                  </a:txBody>
                  <a:tcPr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0"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1</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1969" name="Group 113"/>
          <p:cNvGraphicFramePr>
            <a:graphicFrameLocks noGrp="1"/>
          </p:cNvGraphicFramePr>
          <p:nvPr/>
        </p:nvGraphicFramePr>
        <p:xfrm>
          <a:off x="3640832" y="5050798"/>
          <a:ext cx="2743200" cy="360362"/>
        </p:xfrm>
        <a:graphic>
          <a:graphicData uri="http://schemas.openxmlformats.org/drawingml/2006/table">
            <a:tbl>
              <a:tblPr/>
              <a:tblGrid>
                <a:gridCol w="1219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60362">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1    0</a:t>
                      </a:r>
                    </a:p>
                  </a:txBody>
                  <a:tcPr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0"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2</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1984" name="Group 128"/>
          <p:cNvGraphicFramePr>
            <a:graphicFrameLocks noGrp="1"/>
          </p:cNvGraphicFramePr>
          <p:nvPr/>
        </p:nvGraphicFramePr>
        <p:xfrm>
          <a:off x="3640832" y="5650733"/>
          <a:ext cx="2743200" cy="358775"/>
        </p:xfrm>
        <a:graphic>
          <a:graphicData uri="http://schemas.openxmlformats.org/drawingml/2006/table">
            <a:tbl>
              <a:tblPr/>
              <a:tblGrid>
                <a:gridCol w="12192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tblGrid>
              <a:tr h="358775">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1    1</a:t>
                      </a:r>
                    </a:p>
                  </a:txBody>
                  <a:tcPr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0"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3</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2035" name="Group 179"/>
          <p:cNvGraphicFramePr>
            <a:graphicFrameLocks noGrp="1"/>
          </p:cNvGraphicFramePr>
          <p:nvPr/>
        </p:nvGraphicFramePr>
        <p:xfrm>
          <a:off x="8041704" y="3808090"/>
          <a:ext cx="2590800" cy="390525"/>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90525">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0    0</a:t>
                      </a:r>
                    </a:p>
                  </a:txBody>
                  <a:tcPr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0</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2038" name="Group 182"/>
          <p:cNvGraphicFramePr>
            <a:graphicFrameLocks noGrp="1"/>
          </p:cNvGraphicFramePr>
          <p:nvPr/>
        </p:nvGraphicFramePr>
        <p:xfrm>
          <a:off x="8041704" y="4427211"/>
          <a:ext cx="2590800" cy="376237"/>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76237">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0    1</a:t>
                      </a:r>
                    </a:p>
                  </a:txBody>
                  <a:tcPr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2041" name="Group 185"/>
          <p:cNvGraphicFramePr>
            <a:graphicFrameLocks noGrp="1"/>
          </p:cNvGraphicFramePr>
          <p:nvPr/>
        </p:nvGraphicFramePr>
        <p:xfrm>
          <a:off x="8041704" y="5032043"/>
          <a:ext cx="2590800" cy="360362"/>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60362">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1    0</a:t>
                      </a:r>
                    </a:p>
                  </a:txBody>
                  <a:tcPr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2044" name="Group 188"/>
          <p:cNvGraphicFramePr>
            <a:graphicFrameLocks noGrp="1"/>
          </p:cNvGraphicFramePr>
          <p:nvPr/>
        </p:nvGraphicFramePr>
        <p:xfrm>
          <a:off x="8041704" y="5621001"/>
          <a:ext cx="2590800" cy="360362"/>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60362">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1    1</a:t>
                      </a:r>
                    </a:p>
                  </a:txBody>
                  <a:tcPr horzOverflow="overflow">
                    <a:lnL cap="flat">
                      <a:noFill/>
                    </a:lnL>
                    <a:lnR>
                      <a:noFill/>
                    </a:lnR>
                    <a:lnT cap="flat">
                      <a:noFill/>
                    </a:lnT>
                    <a:lnB cap="flat">
                      <a:noFill/>
                    </a:lnB>
                    <a:lnTlToBr>
                      <a:noFill/>
                    </a:lnTlToBr>
                    <a:lnBlToTr>
                      <a:noFill/>
                    </a:lnBlToTr>
                    <a:noFill/>
                  </a:tcPr>
                </a:tc>
                <a:tc>
                  <a:txBody>
                    <a:bodyPr/>
                    <a:lstStyle>
                      <a:lvl1pPr marL="187325">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marL="377825">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marL="1143000">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marL="1562100">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marL="1981200">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marL="24384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marL="28956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marL="33528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marL="3810000"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187325"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3</a:t>
                      </a: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pSp>
        <p:nvGrpSpPr>
          <p:cNvPr id="122047" name="Group 191"/>
          <p:cNvGrpSpPr/>
          <p:nvPr/>
        </p:nvGrpSpPr>
        <p:grpSpPr bwMode="auto">
          <a:xfrm>
            <a:off x="3863677" y="2936081"/>
            <a:ext cx="2949835" cy="699469"/>
            <a:chOff x="2094" y="0"/>
            <a:chExt cx="695" cy="775"/>
          </a:xfrm>
          <a:solidFill>
            <a:srgbClr val="00B050"/>
          </a:solidFill>
        </p:grpSpPr>
        <p:sp>
          <p:nvSpPr>
            <p:cNvPr id="122045" name="AutoShape 189"/>
            <p:cNvSpPr>
              <a:spLocks noChangeArrowheads="1"/>
            </p:cNvSpPr>
            <p:nvPr/>
          </p:nvSpPr>
          <p:spPr bwMode="auto">
            <a:xfrm>
              <a:off x="2290" y="0"/>
              <a:ext cx="499" cy="571"/>
            </a:xfrm>
            <a:prstGeom prst="cloudCallout">
              <a:avLst>
                <a:gd name="adj1" fmla="val -43750"/>
                <a:gd name="adj2" fmla="val 70000"/>
              </a:avLst>
            </a:prstGeom>
            <a:grp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r>
                <a:rPr lang="zh-CN" altLang="en-US" b="0" dirty="0">
                  <a:solidFill>
                    <a:schemeClr val="accent6">
                      <a:lumMod val="20000"/>
                      <a:lumOff val="80000"/>
                    </a:schemeClr>
                  </a:solidFill>
                  <a:ea typeface="微软雅黑" panose="020B0503020204020204" pitchFamily="34" charset="-122"/>
                  <a:cs typeface="Times New Roman" panose="02020603050405020304" pitchFamily="18" charset="0"/>
                </a:rPr>
                <a:t>项的真值为</a:t>
              </a:r>
              <a:r>
                <a:rPr lang="en-US" altLang="zh-CN" b="0" dirty="0">
                  <a:solidFill>
                    <a:schemeClr val="accent6">
                      <a:lumMod val="20000"/>
                      <a:lumOff val="80000"/>
                    </a:schemeClr>
                  </a:solidFill>
                  <a:ea typeface="微软雅黑" panose="020B0503020204020204" pitchFamily="34" charset="-122"/>
                  <a:cs typeface="Times New Roman" panose="02020603050405020304" pitchFamily="18" charset="0"/>
                </a:rPr>
                <a:t>1</a:t>
              </a:r>
            </a:p>
          </p:txBody>
        </p:sp>
        <p:sp>
          <p:nvSpPr>
            <p:cNvPr id="43092" name="Line 190"/>
            <p:cNvSpPr>
              <a:spLocks noChangeShapeType="1"/>
            </p:cNvSpPr>
            <p:nvPr/>
          </p:nvSpPr>
          <p:spPr bwMode="auto">
            <a:xfrm flipV="1">
              <a:off x="2094" y="775"/>
              <a:ext cx="196" cy="0"/>
            </a:xfrm>
            <a:prstGeom prst="line">
              <a:avLst/>
            </a:prstGeom>
            <a:grpFill/>
            <a:ln w="381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0">
                <a:ea typeface="微软雅黑" panose="020B0503020204020204" pitchFamily="34" charset="-122"/>
                <a:cs typeface="Times New Roman" panose="02020603050405020304" pitchFamily="18" charset="0"/>
              </a:endParaRPr>
            </a:p>
          </p:txBody>
        </p:sp>
      </p:grpSp>
      <p:sp>
        <p:nvSpPr>
          <p:cNvPr id="122048" name="Rectangle 192"/>
          <p:cNvSpPr>
            <a:spLocks noChangeArrowheads="1"/>
          </p:cNvSpPr>
          <p:nvPr/>
        </p:nvSpPr>
        <p:spPr bwMode="auto">
          <a:xfrm>
            <a:off x="2341184" y="3808157"/>
            <a:ext cx="8890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buClr>
                <a:schemeClr val="folHlink"/>
              </a:buClr>
              <a:buSzPct val="60000"/>
              <a:buFont typeface="Wingdings" panose="05000000000000000000" pitchFamily="2" charset="2"/>
              <a:buNone/>
            </a:pPr>
            <a:r>
              <a:rPr lang="en-US" altLang="zh-CN" sz="1600" i="1" dirty="0">
                <a:latin typeface="Times New Roman" panose="02020603050405020304" pitchFamily="18" charset="0"/>
              </a:rPr>
              <a:t>┐p</a:t>
            </a:r>
            <a:r>
              <a:rPr lang="en-US" altLang="zh-CN" sz="1600" dirty="0">
                <a:latin typeface="Times New Roman" panose="02020603050405020304" pitchFamily="18" charset="0"/>
              </a:rPr>
              <a:t>∧</a:t>
            </a:r>
            <a:r>
              <a:rPr lang="en-US" altLang="zh-CN" sz="1600" i="1" dirty="0">
                <a:latin typeface="Times New Roman" panose="02020603050405020304" pitchFamily="18" charset="0"/>
              </a:rPr>
              <a:t>┐q</a:t>
            </a:r>
          </a:p>
        </p:txBody>
      </p:sp>
      <p:sp>
        <p:nvSpPr>
          <p:cNvPr id="122049" name="Rectangle 193"/>
          <p:cNvSpPr>
            <a:spLocks noChangeArrowheads="1"/>
          </p:cNvSpPr>
          <p:nvPr/>
        </p:nvSpPr>
        <p:spPr bwMode="auto">
          <a:xfrm>
            <a:off x="2341184" y="4422979"/>
            <a:ext cx="742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dirty="0">
                <a:latin typeface="Times New Roman" panose="02020603050405020304" pitchFamily="18" charset="0"/>
              </a:rPr>
              <a:t>┐</a:t>
            </a:r>
            <a:r>
              <a:rPr lang="en-US" altLang="zh-CN" sz="1600" i="1" dirty="0" err="1">
                <a:latin typeface="Times New Roman" panose="02020603050405020304" pitchFamily="18" charset="0"/>
              </a:rPr>
              <a:t>p</a:t>
            </a:r>
            <a:r>
              <a:rPr lang="en-US" altLang="zh-CN" sz="1600" dirty="0" err="1">
                <a:latin typeface="Times New Roman" panose="02020603050405020304" pitchFamily="18" charset="0"/>
              </a:rPr>
              <a:t>∧</a:t>
            </a:r>
            <a:r>
              <a:rPr lang="en-US" altLang="zh-CN" sz="1600" i="1" dirty="0" err="1">
                <a:latin typeface="Times New Roman" panose="02020603050405020304" pitchFamily="18" charset="0"/>
              </a:rPr>
              <a:t>q</a:t>
            </a:r>
            <a:endParaRPr lang="en-US" altLang="zh-CN" sz="1600" i="1" dirty="0">
              <a:latin typeface="Times New Roman" panose="02020603050405020304" pitchFamily="18" charset="0"/>
            </a:endParaRPr>
          </a:p>
        </p:txBody>
      </p:sp>
      <p:sp>
        <p:nvSpPr>
          <p:cNvPr id="122050" name="Rectangle 194"/>
          <p:cNvSpPr>
            <a:spLocks noChangeArrowheads="1"/>
          </p:cNvSpPr>
          <p:nvPr/>
        </p:nvSpPr>
        <p:spPr bwMode="auto">
          <a:xfrm>
            <a:off x="2341184" y="5037801"/>
            <a:ext cx="742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dirty="0">
                <a:latin typeface="Times New Roman" panose="02020603050405020304" pitchFamily="18" charset="0"/>
              </a:rPr>
              <a:t>p</a:t>
            </a:r>
            <a:r>
              <a:rPr lang="en-US" altLang="zh-CN" sz="1600" dirty="0">
                <a:latin typeface="Times New Roman" panose="02020603050405020304" pitchFamily="18" charset="0"/>
              </a:rPr>
              <a:t>∧</a:t>
            </a:r>
            <a:r>
              <a:rPr lang="en-US" altLang="zh-CN" sz="1600" i="1" dirty="0">
                <a:latin typeface="Times New Roman" panose="02020603050405020304" pitchFamily="18" charset="0"/>
              </a:rPr>
              <a:t>┐q</a:t>
            </a:r>
          </a:p>
        </p:txBody>
      </p:sp>
      <p:sp>
        <p:nvSpPr>
          <p:cNvPr id="122051" name="Rectangle 195"/>
          <p:cNvSpPr>
            <a:spLocks noChangeArrowheads="1"/>
          </p:cNvSpPr>
          <p:nvPr/>
        </p:nvSpPr>
        <p:spPr bwMode="auto">
          <a:xfrm>
            <a:off x="2341184" y="5652623"/>
            <a:ext cx="5969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dirty="0" err="1">
                <a:latin typeface="Times New Roman" panose="02020603050405020304" pitchFamily="18" charset="0"/>
              </a:rPr>
              <a:t>p</a:t>
            </a:r>
            <a:r>
              <a:rPr lang="en-US" altLang="zh-CN" sz="1600" dirty="0" err="1">
                <a:latin typeface="Times New Roman" panose="02020603050405020304" pitchFamily="18" charset="0"/>
              </a:rPr>
              <a:t>∧</a:t>
            </a:r>
            <a:r>
              <a:rPr lang="en-US" altLang="zh-CN" sz="1600" i="1" dirty="0" err="1">
                <a:latin typeface="Times New Roman" panose="02020603050405020304" pitchFamily="18" charset="0"/>
              </a:rPr>
              <a:t>q</a:t>
            </a:r>
            <a:endParaRPr lang="en-US" altLang="zh-CN" sz="1600" i="1" dirty="0">
              <a:latin typeface="Times New Roman" panose="02020603050405020304" pitchFamily="18" charset="0"/>
            </a:endParaRPr>
          </a:p>
        </p:txBody>
      </p:sp>
      <p:sp>
        <p:nvSpPr>
          <p:cNvPr id="122052" name="Rectangle 196"/>
          <p:cNvSpPr>
            <a:spLocks noChangeArrowheads="1"/>
          </p:cNvSpPr>
          <p:nvPr/>
        </p:nvSpPr>
        <p:spPr bwMode="auto">
          <a:xfrm>
            <a:off x="6780513" y="3809960"/>
            <a:ext cx="5969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dirty="0" err="1">
                <a:latin typeface="Times New Roman" panose="02020603050405020304" pitchFamily="18" charset="0"/>
              </a:rPr>
              <a:t>p</a:t>
            </a:r>
            <a:r>
              <a:rPr lang="en-US" altLang="zh-CN" sz="1600" dirty="0" err="1">
                <a:latin typeface="Times New Roman" panose="02020603050405020304" pitchFamily="18" charset="0"/>
              </a:rPr>
              <a:t>∨</a:t>
            </a:r>
            <a:r>
              <a:rPr lang="en-US" altLang="zh-CN" sz="1600" i="1" dirty="0" err="1">
                <a:latin typeface="Times New Roman" panose="02020603050405020304" pitchFamily="18" charset="0"/>
              </a:rPr>
              <a:t>q</a:t>
            </a:r>
            <a:endParaRPr lang="en-US" altLang="zh-CN" sz="1600" i="1" dirty="0">
              <a:latin typeface="Times New Roman" panose="02020603050405020304" pitchFamily="18" charset="0"/>
            </a:endParaRPr>
          </a:p>
        </p:txBody>
      </p:sp>
      <p:sp>
        <p:nvSpPr>
          <p:cNvPr id="122053" name="Rectangle 197"/>
          <p:cNvSpPr>
            <a:spLocks noChangeArrowheads="1"/>
          </p:cNvSpPr>
          <p:nvPr/>
        </p:nvSpPr>
        <p:spPr bwMode="auto">
          <a:xfrm>
            <a:off x="6780513" y="4407910"/>
            <a:ext cx="7429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a:latin typeface="Times New Roman" panose="02020603050405020304" pitchFamily="18" charset="0"/>
              </a:rPr>
              <a:t>p</a:t>
            </a:r>
            <a:r>
              <a:rPr lang="en-US" altLang="zh-CN" sz="1600">
                <a:latin typeface="Times New Roman" panose="02020603050405020304" pitchFamily="18" charset="0"/>
              </a:rPr>
              <a:t>∨</a:t>
            </a:r>
            <a:r>
              <a:rPr lang="en-US" altLang="zh-CN" sz="1600" i="1">
                <a:latin typeface="Times New Roman" panose="02020603050405020304" pitchFamily="18" charset="0"/>
              </a:rPr>
              <a:t>┐q</a:t>
            </a:r>
          </a:p>
        </p:txBody>
      </p:sp>
      <p:sp>
        <p:nvSpPr>
          <p:cNvPr id="122054" name="Rectangle 198"/>
          <p:cNvSpPr>
            <a:spLocks noChangeArrowheads="1"/>
          </p:cNvSpPr>
          <p:nvPr/>
        </p:nvSpPr>
        <p:spPr bwMode="auto">
          <a:xfrm>
            <a:off x="6780513" y="5005859"/>
            <a:ext cx="7429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a:latin typeface="Times New Roman" panose="02020603050405020304" pitchFamily="18" charset="0"/>
              </a:rPr>
              <a:t>┐p</a:t>
            </a:r>
            <a:r>
              <a:rPr lang="en-US" altLang="zh-CN" sz="1600">
                <a:latin typeface="Times New Roman" panose="02020603050405020304" pitchFamily="18" charset="0"/>
              </a:rPr>
              <a:t>∨</a:t>
            </a:r>
            <a:r>
              <a:rPr lang="en-US" altLang="zh-CN" sz="1600" i="1">
                <a:latin typeface="Times New Roman" panose="02020603050405020304" pitchFamily="18" charset="0"/>
              </a:rPr>
              <a:t>q</a:t>
            </a:r>
          </a:p>
        </p:txBody>
      </p:sp>
      <p:sp>
        <p:nvSpPr>
          <p:cNvPr id="122055" name="Rectangle 199"/>
          <p:cNvSpPr>
            <a:spLocks noChangeArrowheads="1"/>
          </p:cNvSpPr>
          <p:nvPr/>
        </p:nvSpPr>
        <p:spPr bwMode="auto">
          <a:xfrm>
            <a:off x="6780513" y="5603811"/>
            <a:ext cx="8890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600" i="1">
                <a:latin typeface="Times New Roman" panose="02020603050405020304" pitchFamily="18" charset="0"/>
              </a:rPr>
              <a:t>┐p</a:t>
            </a:r>
            <a:r>
              <a:rPr lang="en-US" altLang="zh-CN" sz="1600">
                <a:latin typeface="Times New Roman" panose="02020603050405020304" pitchFamily="18" charset="0"/>
              </a:rPr>
              <a:t>∨</a:t>
            </a:r>
            <a:r>
              <a:rPr lang="en-US" altLang="zh-CN" sz="1600" i="1">
                <a:latin typeface="Times New Roman" panose="02020603050405020304" pitchFamily="18" charset="0"/>
              </a:rPr>
              <a:t>┐q</a:t>
            </a:r>
          </a:p>
        </p:txBody>
      </p:sp>
      <p:grpSp>
        <p:nvGrpSpPr>
          <p:cNvPr id="122056" name="Group 200"/>
          <p:cNvGrpSpPr/>
          <p:nvPr/>
        </p:nvGrpSpPr>
        <p:grpSpPr bwMode="auto">
          <a:xfrm>
            <a:off x="8256240" y="2937114"/>
            <a:ext cx="2893781" cy="698436"/>
            <a:chOff x="2086" y="0"/>
            <a:chExt cx="703" cy="776"/>
          </a:xfrm>
          <a:solidFill>
            <a:srgbClr val="00B0F0"/>
          </a:solidFill>
        </p:grpSpPr>
        <p:sp>
          <p:nvSpPr>
            <p:cNvPr id="122057" name="AutoShape 201"/>
            <p:cNvSpPr>
              <a:spLocks noChangeArrowheads="1"/>
            </p:cNvSpPr>
            <p:nvPr/>
          </p:nvSpPr>
          <p:spPr bwMode="auto">
            <a:xfrm>
              <a:off x="2290" y="0"/>
              <a:ext cx="499" cy="571"/>
            </a:xfrm>
            <a:prstGeom prst="cloudCallout">
              <a:avLst>
                <a:gd name="adj1" fmla="val -43750"/>
                <a:gd name="adj2" fmla="val 70000"/>
              </a:avLst>
            </a:prstGeom>
            <a:grp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defRPr/>
              </a:pPr>
              <a:r>
                <a:rPr lang="zh-CN" altLang="en-US" b="0" dirty="0">
                  <a:solidFill>
                    <a:schemeClr val="accent6">
                      <a:lumMod val="20000"/>
                      <a:lumOff val="80000"/>
                    </a:schemeClr>
                  </a:solidFill>
                  <a:ea typeface="微软雅黑" panose="020B0503020204020204" pitchFamily="34" charset="-122"/>
                  <a:cs typeface="Times New Roman" panose="02020603050405020304" pitchFamily="18" charset="0"/>
                </a:rPr>
                <a:t>项的真值为</a:t>
              </a:r>
              <a:r>
                <a:rPr lang="en-US" altLang="zh-CN" b="0" dirty="0">
                  <a:solidFill>
                    <a:schemeClr val="accent6">
                      <a:lumMod val="20000"/>
                      <a:lumOff val="80000"/>
                    </a:schemeClr>
                  </a:solidFill>
                  <a:ea typeface="微软雅黑" panose="020B0503020204020204" pitchFamily="34" charset="-122"/>
                  <a:cs typeface="Times New Roman" panose="02020603050405020304" pitchFamily="18" charset="0"/>
                </a:rPr>
                <a:t>0</a:t>
              </a:r>
            </a:p>
          </p:txBody>
        </p:sp>
        <p:sp>
          <p:nvSpPr>
            <p:cNvPr id="43090" name="Line 202"/>
            <p:cNvSpPr>
              <a:spLocks noChangeShapeType="1"/>
            </p:cNvSpPr>
            <p:nvPr/>
          </p:nvSpPr>
          <p:spPr bwMode="auto">
            <a:xfrm flipV="1">
              <a:off x="2086" y="776"/>
              <a:ext cx="244" cy="0"/>
            </a:xfrm>
            <a:prstGeom prst="line">
              <a:avLst/>
            </a:prstGeom>
            <a:grpFill/>
            <a:ln w="38100">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0">
                <a:ea typeface="微软雅黑" panose="020B0503020204020204" pitchFamily="34" charset="-122"/>
                <a:cs typeface="Times New Roman" panose="02020603050405020304" pitchFamily="18" charset="0"/>
              </a:endParaRPr>
            </a:p>
          </p:txBody>
        </p:sp>
      </p:grpSp>
      <p:sp>
        <p:nvSpPr>
          <p:cNvPr id="43088" name="Rectangle 204"/>
          <p:cNvSpPr>
            <a:spLocks noGrp="1" noChangeArrowheads="1"/>
          </p:cNvSpPr>
          <p:nvPr>
            <p:ph type="title" idx="4294967295"/>
          </p:nvPr>
        </p:nvSpPr>
        <p:spPr>
          <a:xfrm>
            <a:off x="412371" y="1645728"/>
            <a:ext cx="5051425"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极大</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小</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项的真值表</a:t>
            </a: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极大</a:t>
            </a:r>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小</a:t>
            </a:r>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项的真值表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3088"/>
                                        </p:tgtEl>
                                        <p:attrNameLst>
                                          <p:attrName>style.visibility</p:attrName>
                                        </p:attrNameLst>
                                      </p:cBhvr>
                                      <p:to>
                                        <p:strVal val="visible"/>
                                      </p:to>
                                    </p:set>
                                    <p:animEffect transition="in" filter="wipe(left)">
                                      <p:cBhvr>
                                        <p:cTn id="7" dur="500"/>
                                        <p:tgtEl>
                                          <p:spTgt spid="430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1917"/>
                                        </p:tgtEl>
                                        <p:attrNameLst>
                                          <p:attrName>style.visibility</p:attrName>
                                        </p:attrNameLst>
                                      </p:cBhvr>
                                      <p:to>
                                        <p:strVal val="visible"/>
                                      </p:to>
                                    </p:set>
                                    <p:animEffect transition="in" filter="dissolve">
                                      <p:cBhvr>
                                        <p:cTn id="12" dur="500"/>
                                        <p:tgtEl>
                                          <p:spTgt spid="1219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2059"/>
                                        </p:tgtEl>
                                        <p:attrNameLst>
                                          <p:attrName>style.visibility</p:attrName>
                                        </p:attrNameLst>
                                      </p:cBhvr>
                                      <p:to>
                                        <p:strVal val="visible"/>
                                      </p:to>
                                    </p:set>
                                    <p:animEffect transition="in" filter="dissolve">
                                      <p:cBhvr>
                                        <p:cTn id="17" dur="500"/>
                                        <p:tgtEl>
                                          <p:spTgt spid="122059"/>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0" fill="hold" nodeType="clickEffect">
                                  <p:stCondLst>
                                    <p:cond delay="0"/>
                                  </p:stCondLst>
                                  <p:childTnLst>
                                    <p:set>
                                      <p:cBhvr>
                                        <p:cTn id="21" dur="1" fill="hold">
                                          <p:stCondLst>
                                            <p:cond delay="0"/>
                                          </p:stCondLst>
                                        </p:cTn>
                                        <p:tgtEl>
                                          <p:spTgt spid="122047"/>
                                        </p:tgtEl>
                                        <p:attrNameLst>
                                          <p:attrName>style.visibility</p:attrName>
                                        </p:attrNameLst>
                                      </p:cBhvr>
                                      <p:to>
                                        <p:strVal val="visible"/>
                                      </p:to>
                                    </p:set>
                                    <p:anim calcmode="lin" valueType="num">
                                      <p:cBhvr>
                                        <p:cTn id="22" dur="500" fill="hold"/>
                                        <p:tgtEl>
                                          <p:spTgt spid="122047"/>
                                        </p:tgtEl>
                                        <p:attrNameLst>
                                          <p:attrName>ppt_w</p:attrName>
                                        </p:attrNameLst>
                                      </p:cBhvr>
                                      <p:tavLst>
                                        <p:tav tm="0">
                                          <p:val>
                                            <p:fltVal val="0"/>
                                          </p:val>
                                        </p:tav>
                                        <p:tav tm="100000">
                                          <p:val>
                                            <p:strVal val="#ppt_w"/>
                                          </p:val>
                                        </p:tav>
                                      </p:tavLst>
                                    </p:anim>
                                    <p:anim calcmode="lin" valueType="num">
                                      <p:cBhvr>
                                        <p:cTn id="23" dur="500" fill="hold"/>
                                        <p:tgtEl>
                                          <p:spTgt spid="122047"/>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iterate type="lt">
                                    <p:tmAbs val="75"/>
                                  </p:iterate>
                                  <p:childTnLst>
                                    <p:set>
                                      <p:cBhvr>
                                        <p:cTn id="27" dur="1" fill="hold">
                                          <p:stCondLst>
                                            <p:cond delay="74"/>
                                          </p:stCondLst>
                                        </p:cTn>
                                        <p:tgtEl>
                                          <p:spTgt spid="12204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1934"/>
                                        </p:tgtEl>
                                        <p:attrNameLst>
                                          <p:attrName>style.visibility</p:attrName>
                                        </p:attrNameLst>
                                      </p:cBhvr>
                                      <p:to>
                                        <p:strVal val="visible"/>
                                      </p:to>
                                    </p:set>
                                    <p:animEffect transition="in" filter="dissolve">
                                      <p:cBhvr>
                                        <p:cTn id="32" dur="500"/>
                                        <p:tgtEl>
                                          <p:spTgt spid="121934"/>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iterate type="lt">
                                    <p:tmAbs val="75"/>
                                  </p:iterate>
                                  <p:childTnLst>
                                    <p:set>
                                      <p:cBhvr>
                                        <p:cTn id="36" dur="1" fill="hold">
                                          <p:stCondLst>
                                            <p:cond delay="74"/>
                                          </p:stCondLst>
                                        </p:cTn>
                                        <p:tgtEl>
                                          <p:spTgt spid="12204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121949"/>
                                        </p:tgtEl>
                                        <p:attrNameLst>
                                          <p:attrName>style.visibility</p:attrName>
                                        </p:attrNameLst>
                                      </p:cBhvr>
                                      <p:to>
                                        <p:strVal val="visible"/>
                                      </p:to>
                                    </p:set>
                                    <p:animEffect transition="in" filter="dissolve">
                                      <p:cBhvr>
                                        <p:cTn id="41" dur="500"/>
                                        <p:tgtEl>
                                          <p:spTgt spid="121949"/>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iterate type="lt">
                                    <p:tmAbs val="75"/>
                                  </p:iterate>
                                  <p:childTnLst>
                                    <p:set>
                                      <p:cBhvr>
                                        <p:cTn id="45" dur="1" fill="hold">
                                          <p:stCondLst>
                                            <p:cond delay="74"/>
                                          </p:stCondLst>
                                        </p:cTn>
                                        <p:tgtEl>
                                          <p:spTgt spid="12205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121969"/>
                                        </p:tgtEl>
                                        <p:attrNameLst>
                                          <p:attrName>style.visibility</p:attrName>
                                        </p:attrNameLst>
                                      </p:cBhvr>
                                      <p:to>
                                        <p:strVal val="visible"/>
                                      </p:to>
                                    </p:set>
                                    <p:animEffect transition="in" filter="dissolve">
                                      <p:cBhvr>
                                        <p:cTn id="50" dur="500"/>
                                        <p:tgtEl>
                                          <p:spTgt spid="121969"/>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iterate type="lt">
                                    <p:tmAbs val="75"/>
                                  </p:iterate>
                                  <p:childTnLst>
                                    <p:set>
                                      <p:cBhvr>
                                        <p:cTn id="54" dur="1" fill="hold">
                                          <p:stCondLst>
                                            <p:cond delay="74"/>
                                          </p:stCondLst>
                                        </p:cTn>
                                        <p:tgtEl>
                                          <p:spTgt spid="12205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nodeType="clickEffect">
                                  <p:stCondLst>
                                    <p:cond delay="0"/>
                                  </p:stCondLst>
                                  <p:childTnLst>
                                    <p:set>
                                      <p:cBhvr>
                                        <p:cTn id="58" dur="1" fill="hold">
                                          <p:stCondLst>
                                            <p:cond delay="0"/>
                                          </p:stCondLst>
                                        </p:cTn>
                                        <p:tgtEl>
                                          <p:spTgt spid="121984"/>
                                        </p:tgtEl>
                                        <p:attrNameLst>
                                          <p:attrName>style.visibility</p:attrName>
                                        </p:attrNameLst>
                                      </p:cBhvr>
                                      <p:to>
                                        <p:strVal val="visible"/>
                                      </p:to>
                                    </p:set>
                                    <p:animEffect transition="in" filter="dissolve">
                                      <p:cBhvr>
                                        <p:cTn id="59" dur="500"/>
                                        <p:tgtEl>
                                          <p:spTgt spid="121984"/>
                                        </p:tgtEl>
                                      </p:cBhvr>
                                    </p:animEffect>
                                  </p:childTnLst>
                                </p:cTn>
                              </p:par>
                            </p:childTnLst>
                          </p:cTn>
                        </p:par>
                      </p:childTnLst>
                    </p:cTn>
                  </p:par>
                  <p:par>
                    <p:cTn id="60" fill="hold">
                      <p:stCondLst>
                        <p:cond delay="indefinite"/>
                      </p:stCondLst>
                      <p:childTnLst>
                        <p:par>
                          <p:cTn id="61" fill="hold">
                            <p:stCondLst>
                              <p:cond delay="0"/>
                            </p:stCondLst>
                            <p:childTnLst>
                              <p:par>
                                <p:cTn id="62" presetID="17" presetClass="entr" presetSubtype="10" fill="hold" nodeType="clickEffect">
                                  <p:stCondLst>
                                    <p:cond delay="0"/>
                                  </p:stCondLst>
                                  <p:childTnLst>
                                    <p:set>
                                      <p:cBhvr>
                                        <p:cTn id="63" dur="1" fill="hold">
                                          <p:stCondLst>
                                            <p:cond delay="0"/>
                                          </p:stCondLst>
                                        </p:cTn>
                                        <p:tgtEl>
                                          <p:spTgt spid="122056"/>
                                        </p:tgtEl>
                                        <p:attrNameLst>
                                          <p:attrName>style.visibility</p:attrName>
                                        </p:attrNameLst>
                                      </p:cBhvr>
                                      <p:to>
                                        <p:strVal val="visible"/>
                                      </p:to>
                                    </p:set>
                                    <p:anim calcmode="lin" valueType="num">
                                      <p:cBhvr>
                                        <p:cTn id="64" dur="500" fill="hold"/>
                                        <p:tgtEl>
                                          <p:spTgt spid="122056"/>
                                        </p:tgtEl>
                                        <p:attrNameLst>
                                          <p:attrName>ppt_w</p:attrName>
                                        </p:attrNameLst>
                                      </p:cBhvr>
                                      <p:tavLst>
                                        <p:tav tm="0">
                                          <p:val>
                                            <p:fltVal val="0"/>
                                          </p:val>
                                        </p:tav>
                                        <p:tav tm="100000">
                                          <p:val>
                                            <p:strVal val="#ppt_w"/>
                                          </p:val>
                                        </p:tav>
                                      </p:tavLst>
                                    </p:anim>
                                    <p:anim calcmode="lin" valueType="num">
                                      <p:cBhvr>
                                        <p:cTn id="65" dur="500" fill="hold"/>
                                        <p:tgtEl>
                                          <p:spTgt spid="122056"/>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iterate type="lt">
                                    <p:tmAbs val="75"/>
                                  </p:iterate>
                                  <p:childTnLst>
                                    <p:set>
                                      <p:cBhvr>
                                        <p:cTn id="69" dur="1" fill="hold">
                                          <p:stCondLst>
                                            <p:cond delay="74"/>
                                          </p:stCondLst>
                                        </p:cTn>
                                        <p:tgtEl>
                                          <p:spTgt spid="12205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122035"/>
                                        </p:tgtEl>
                                        <p:attrNameLst>
                                          <p:attrName>style.visibility</p:attrName>
                                        </p:attrNameLst>
                                      </p:cBhvr>
                                      <p:to>
                                        <p:strVal val="visible"/>
                                      </p:to>
                                    </p:set>
                                    <p:animEffect transition="in" filter="dissolve">
                                      <p:cBhvr>
                                        <p:cTn id="74" dur="500"/>
                                        <p:tgtEl>
                                          <p:spTgt spid="12203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iterate type="lt">
                                    <p:tmAbs val="75"/>
                                  </p:iterate>
                                  <p:childTnLst>
                                    <p:set>
                                      <p:cBhvr>
                                        <p:cTn id="78" dur="1" fill="hold">
                                          <p:stCondLst>
                                            <p:cond delay="74"/>
                                          </p:stCondLst>
                                        </p:cTn>
                                        <p:tgtEl>
                                          <p:spTgt spid="12205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nodeType="clickEffect">
                                  <p:stCondLst>
                                    <p:cond delay="0"/>
                                  </p:stCondLst>
                                  <p:childTnLst>
                                    <p:set>
                                      <p:cBhvr>
                                        <p:cTn id="82" dur="1" fill="hold">
                                          <p:stCondLst>
                                            <p:cond delay="0"/>
                                          </p:stCondLst>
                                        </p:cTn>
                                        <p:tgtEl>
                                          <p:spTgt spid="122038"/>
                                        </p:tgtEl>
                                        <p:attrNameLst>
                                          <p:attrName>style.visibility</p:attrName>
                                        </p:attrNameLst>
                                      </p:cBhvr>
                                      <p:to>
                                        <p:strVal val="visible"/>
                                      </p:to>
                                    </p:set>
                                    <p:animEffect transition="in" filter="dissolve">
                                      <p:cBhvr>
                                        <p:cTn id="83" dur="500"/>
                                        <p:tgtEl>
                                          <p:spTgt spid="122038"/>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iterate type="lt">
                                    <p:tmAbs val="75"/>
                                  </p:iterate>
                                  <p:childTnLst>
                                    <p:set>
                                      <p:cBhvr>
                                        <p:cTn id="87" dur="1" fill="hold">
                                          <p:stCondLst>
                                            <p:cond delay="74"/>
                                          </p:stCondLst>
                                        </p:cTn>
                                        <p:tgtEl>
                                          <p:spTgt spid="12205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122041"/>
                                        </p:tgtEl>
                                        <p:attrNameLst>
                                          <p:attrName>style.visibility</p:attrName>
                                        </p:attrNameLst>
                                      </p:cBhvr>
                                      <p:to>
                                        <p:strVal val="visible"/>
                                      </p:to>
                                    </p:set>
                                    <p:animEffect transition="in" filter="dissolve">
                                      <p:cBhvr>
                                        <p:cTn id="92" dur="500"/>
                                        <p:tgtEl>
                                          <p:spTgt spid="122041"/>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iterate type="lt">
                                    <p:tmAbs val="75"/>
                                  </p:iterate>
                                  <p:childTnLst>
                                    <p:set>
                                      <p:cBhvr>
                                        <p:cTn id="96" dur="1" fill="hold">
                                          <p:stCondLst>
                                            <p:cond delay="74"/>
                                          </p:stCondLst>
                                        </p:cTn>
                                        <p:tgtEl>
                                          <p:spTgt spid="12205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nodeType="clickEffect">
                                  <p:stCondLst>
                                    <p:cond delay="0"/>
                                  </p:stCondLst>
                                  <p:childTnLst>
                                    <p:set>
                                      <p:cBhvr>
                                        <p:cTn id="100" dur="1" fill="hold">
                                          <p:stCondLst>
                                            <p:cond delay="0"/>
                                          </p:stCondLst>
                                        </p:cTn>
                                        <p:tgtEl>
                                          <p:spTgt spid="122044"/>
                                        </p:tgtEl>
                                        <p:attrNameLst>
                                          <p:attrName>style.visibility</p:attrName>
                                        </p:attrNameLst>
                                      </p:cBhvr>
                                      <p:to>
                                        <p:strVal val="visible"/>
                                      </p:to>
                                    </p:set>
                                    <p:animEffect transition="in" filter="dissolve">
                                      <p:cBhvr>
                                        <p:cTn id="101" dur="500"/>
                                        <p:tgtEl>
                                          <p:spTgt spid="1220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17" grpId="0" autoUpdateAnimBg="0"/>
      <p:bldP spid="122048" grpId="0" autoUpdateAnimBg="0"/>
      <p:bldP spid="122049" grpId="0" autoUpdateAnimBg="0"/>
      <p:bldP spid="122050" grpId="0" autoUpdateAnimBg="0"/>
      <p:bldP spid="122051" grpId="0" autoUpdateAnimBg="0"/>
      <p:bldP spid="122052" grpId="0" autoUpdateAnimBg="0"/>
      <p:bldP spid="122053" grpId="0" autoUpdateAnimBg="0"/>
      <p:bldP spid="122054" grpId="0" autoUpdateAnimBg="0"/>
      <p:bldP spid="122055" grpId="0" autoUpdateAnimBg="0"/>
      <p:bldP spid="4308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974" name="Group 94"/>
          <p:cNvGraphicFramePr>
            <a:graphicFrameLocks noGrp="1"/>
          </p:cNvGraphicFramePr>
          <p:nvPr/>
        </p:nvGraphicFramePr>
        <p:xfrm>
          <a:off x="1666057" y="2775550"/>
          <a:ext cx="8534400" cy="3581006"/>
        </p:xfrm>
        <a:graphic>
          <a:graphicData uri="http://schemas.openxmlformats.org/drawingml/2006/table">
            <a:tbl>
              <a:tblPr/>
              <a:tblGrid>
                <a:gridCol w="19050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406340">
                <a:tc gridSpan="3">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极小项 </a:t>
                      </a:r>
                    </a:p>
                  </a:txBody>
                  <a:tcPr marT="45714" marB="45714"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gridSpan="3">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极大项 </a:t>
                      </a:r>
                    </a:p>
                  </a:txBody>
                  <a:tcPr marT="45714" marB="45714"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65748">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公式</a:t>
                      </a:r>
                    </a:p>
                  </a:txBody>
                  <a:tcPr marT="45714" marB="45714"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成真赋值</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名称</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公式</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成假赋值</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1800" b="0" i="0" u="none" strike="noStrike" cap="none" normalizeH="0" baseline="0" dirty="0">
                          <a:ln>
                            <a:noFill/>
                          </a:ln>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名称</a:t>
                      </a:r>
                    </a:p>
                  </a:txBody>
                  <a:tcPr marT="45714" marB="45714"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756">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p</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r</a:t>
                      </a:r>
                    </a:p>
                  </a:txBody>
                  <a:tcPr marT="45714" marB="45714"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0  0  0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r</a:t>
                      </a:r>
                      <a:endPar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endParaRP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0  0  0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0</a:t>
                      </a:r>
                    </a:p>
                  </a:txBody>
                  <a:tcPr marT="45714" marB="45714" horzOverflow="overflow">
                    <a:lnL w="12700" cap="flat" cmpd="sng" algn="ctr">
                      <a:solidFill>
                        <a:srgbClr val="FF7C80"/>
                      </a:solidFill>
                      <a:prstDash val="solid"/>
                      <a:round/>
                      <a:headEnd type="none" w="med" len="med"/>
                      <a:tailEnd type="none" w="med" len="med"/>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36004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r</a:t>
                      </a:r>
                      <a:endPar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endParaRPr>
                    </a:p>
                  </a:txBody>
                  <a:tcPr marT="45714" marB="45714"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0  0  1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r</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0  0  1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a:t>
                      </a:r>
                    </a:p>
                  </a:txBody>
                  <a:tcPr marT="45714" marB="45714"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6004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r</a:t>
                      </a:r>
                    </a:p>
                  </a:txBody>
                  <a:tcPr marT="45714" marB="45714"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0  1  0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2</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r</a:t>
                      </a:r>
                      <a:endPar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endParaRP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0  1  0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T="45714" marB="45714"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6004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r</a:t>
                      </a:r>
                      <a:endPar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endParaRPr>
                    </a:p>
                  </a:txBody>
                  <a:tcPr marT="45714" marB="45714"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0  1  1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3</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r</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0  1  1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3</a:t>
                      </a:r>
                    </a:p>
                  </a:txBody>
                  <a:tcPr marT="45714" marB="45714"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6004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r</a:t>
                      </a:r>
                    </a:p>
                  </a:txBody>
                  <a:tcPr marT="45714" marB="45714"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1  0  0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4</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r</a:t>
                      </a:r>
                      <a:endPar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endParaRP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1  0  0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4</a:t>
                      </a:r>
                    </a:p>
                  </a:txBody>
                  <a:tcPr marT="45714" marB="45714"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6004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r</a:t>
                      </a:r>
                      <a:endPar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endParaRPr>
                    </a:p>
                  </a:txBody>
                  <a:tcPr marT="45714" marB="45714"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1  0  1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5</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r</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1  0  1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5</a:t>
                      </a:r>
                    </a:p>
                  </a:txBody>
                  <a:tcPr marT="45714" marB="45714"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36694">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r</a:t>
                      </a:r>
                    </a:p>
                  </a:txBody>
                  <a:tcPr marT="45714" marB="45714"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1  1  0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6</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r</a:t>
                      </a:r>
                      <a:endPar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endParaRP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1  1  0</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6</a:t>
                      </a:r>
                    </a:p>
                  </a:txBody>
                  <a:tcPr marT="45714" marB="45714" horzOverflow="overflow">
                    <a:lnL w="12700" cap="flat" cmpd="sng" algn="ctr">
                      <a:solidFill>
                        <a:srgbClr val="FF7C8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err="1">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err="1">
                          <a:ln>
                            <a:noFill/>
                          </a:ln>
                          <a:solidFill>
                            <a:schemeClr val="bg1"/>
                          </a:solidFill>
                          <a:effectLst/>
                          <a:latin typeface="Times New Roman" panose="02020603050405020304" pitchFamily="18" charset="0"/>
                          <a:ea typeface="宋体" panose="02010600030101010101" pitchFamily="2" charset="-122"/>
                          <a:cs typeface="+mn-cs"/>
                        </a:rPr>
                        <a:t>r</a:t>
                      </a:r>
                      <a:endPar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endParaRPr>
                    </a:p>
                  </a:txBody>
                  <a:tcPr marT="45714" marB="45714" horzOverflow="overflow">
                    <a:lnL cap="flat">
                      <a:noFill/>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FF00"/>
                          </a:solidFill>
                          <a:effectLst/>
                          <a:latin typeface="Times New Roman" panose="02020603050405020304" pitchFamily="18" charset="0"/>
                          <a:ea typeface="宋体" panose="02010600030101010101" pitchFamily="2" charset="-122"/>
                        </a:rPr>
                        <a:t>1  1  1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FF00"/>
                          </a:solidFill>
                          <a:effectLst/>
                          <a:latin typeface="Times New Roman" panose="02020603050405020304" pitchFamily="18" charset="0"/>
                          <a:ea typeface="宋体" panose="02010600030101010101" pitchFamily="2" charset="-122"/>
                        </a:rPr>
                        <a:t>7</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p</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q</a:t>
                      </a: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a:t>
                      </a:r>
                      <a:r>
                        <a:rPr kumimoji="1" lang="en-US" altLang="zh-CN" sz="1600" b="1" i="1" u="none" strike="noStrike" kern="1200" cap="none" normalizeH="0" baseline="0" dirty="0">
                          <a:ln>
                            <a:noFill/>
                          </a:ln>
                          <a:solidFill>
                            <a:schemeClr val="bg1"/>
                          </a:solidFill>
                          <a:effectLst/>
                          <a:latin typeface="Times New Roman" panose="02020603050405020304" pitchFamily="18" charset="0"/>
                          <a:ea typeface="宋体" panose="02010600030101010101" pitchFamily="2" charset="-122"/>
                          <a:cs typeface="+mn-cs"/>
                        </a:rPr>
                        <a:t>r</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1  1  1</a:t>
                      </a:r>
                    </a:p>
                  </a:txBody>
                  <a:tcPr marT="45714" marB="45714" horzOverflow="overflow">
                    <a:lnL w="12700" cap="flat" cmpd="sng" algn="ctr">
                      <a:solidFill>
                        <a:srgbClr val="FF7C80"/>
                      </a:solidFill>
                      <a:prstDash val="solid"/>
                      <a:round/>
                      <a:headEnd type="none" w="med" len="med"/>
                      <a:tailEnd type="none" w="med" len="med"/>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16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M</a:t>
                      </a:r>
                      <a:r>
                        <a:rPr kumimoji="1" lang="en-US" altLang="zh-CN" sz="1600" b="1" i="1"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7</a:t>
                      </a:r>
                    </a:p>
                  </a:txBody>
                  <a:tcPr marT="45714" marB="45714" horzOverflow="overflow">
                    <a:lnL w="12700" cap="flat" cmpd="sng" algn="ctr">
                      <a:solidFill>
                        <a:srgbClr val="FF7C80"/>
                      </a:solidFill>
                      <a:prstDash val="solid"/>
                      <a:round/>
                      <a:headEnd type="none" w="med" len="med"/>
                      <a:tailEnd type="none" w="med" len="med"/>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22973" name="Text Box 93"/>
          <p:cNvSpPr txBox="1">
            <a:spLocks noChangeArrowheads="1"/>
          </p:cNvSpPr>
          <p:nvPr/>
        </p:nvSpPr>
        <p:spPr bwMode="auto">
          <a:xfrm>
            <a:off x="3524775" y="2206101"/>
            <a:ext cx="565476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三个变量</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形成的极小项与极大项</a:t>
            </a:r>
          </a:p>
        </p:txBody>
      </p:sp>
      <p:sp>
        <p:nvSpPr>
          <p:cNvPr id="44103" name="Rectangle 113"/>
          <p:cNvSpPr>
            <a:spLocks noGrp="1" noChangeArrowheads="1"/>
          </p:cNvSpPr>
          <p:nvPr>
            <p:ph type="title" idx="4294967295"/>
          </p:nvPr>
        </p:nvSpPr>
        <p:spPr>
          <a:xfrm>
            <a:off x="479376" y="1641207"/>
            <a:ext cx="4824536"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极大</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小</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项的真值表</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续</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极大</a:t>
            </a:r>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小</a:t>
            </a:r>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项的真值表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4103"/>
                                        </p:tgtEl>
                                        <p:attrNameLst>
                                          <p:attrName>style.visibility</p:attrName>
                                        </p:attrNameLst>
                                      </p:cBhvr>
                                      <p:to>
                                        <p:strVal val="visible"/>
                                      </p:to>
                                    </p:set>
                                    <p:animEffect transition="in" filter="wipe(left)">
                                      <p:cBhvr>
                                        <p:cTn id="7" dur="500"/>
                                        <p:tgtEl>
                                          <p:spTgt spid="4410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2973"/>
                                        </p:tgtEl>
                                        <p:attrNameLst>
                                          <p:attrName>style.visibility</p:attrName>
                                        </p:attrNameLst>
                                      </p:cBhvr>
                                      <p:to>
                                        <p:strVal val="visible"/>
                                      </p:to>
                                    </p:set>
                                    <p:animEffect transition="in" filter="dissolve">
                                      <p:cBhvr>
                                        <p:cTn id="12" dur="500"/>
                                        <p:tgtEl>
                                          <p:spTgt spid="12297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2974"/>
                                        </p:tgtEl>
                                        <p:attrNameLst>
                                          <p:attrName>style.visibility</p:attrName>
                                        </p:attrNameLst>
                                      </p:cBhvr>
                                      <p:to>
                                        <p:strVal val="visible"/>
                                      </p:to>
                                    </p:set>
                                    <p:animEffect transition="in" filter="dissolve">
                                      <p:cBhvr>
                                        <p:cTn id="17" dur="500"/>
                                        <p:tgtEl>
                                          <p:spTgt spid="122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73" grpId="0"/>
      <p:bldP spid="4410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9" name="Text Box 5"/>
          <p:cNvSpPr txBox="1">
            <a:spLocks noChangeArrowheads="1"/>
          </p:cNvSpPr>
          <p:nvPr/>
        </p:nvSpPr>
        <p:spPr bwMode="auto">
          <a:xfrm>
            <a:off x="911424" y="3645024"/>
            <a:ext cx="10106736" cy="98488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lang="zh-CN" altLang="en-US"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定理</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baseline="-30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是命题变量</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err="1">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形成的</a:t>
            </a:r>
            <a:r>
              <a:rPr lang="zh-CN" altLang="en-US"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极小项和极大项</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则 </a:t>
            </a:r>
            <a:r>
              <a:rPr lang="zh-CN" altLang="en-US"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i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ct val="50000"/>
              </a:spcBef>
              <a:buFontTx/>
              <a:buNone/>
            </a:pPr>
            <a:r>
              <a:rPr lang="zh-CN" altLang="en-US"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证明：</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略</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可从以上两表验证该定理。</a:t>
            </a:r>
          </a:p>
        </p:txBody>
      </p:sp>
      <p:sp>
        <p:nvSpPr>
          <p:cNvPr id="45059" name="Rectangle 6"/>
          <p:cNvSpPr>
            <a:spLocks noGrp="1" noChangeArrowheads="1"/>
          </p:cNvSpPr>
          <p:nvPr>
            <p:ph type="title" idx="4294967295"/>
          </p:nvPr>
        </p:nvSpPr>
        <p:spPr>
          <a:xfrm>
            <a:off x="453760" y="1593626"/>
            <a:ext cx="2592288"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主范式定义</a:t>
            </a:r>
          </a:p>
        </p:txBody>
      </p:sp>
      <p:sp>
        <p:nvSpPr>
          <p:cNvPr id="5" name="Text Box 5"/>
          <p:cNvSpPr txBox="1">
            <a:spLocks noChangeArrowheads="1"/>
          </p:cNvSpPr>
          <p:nvPr/>
        </p:nvSpPr>
        <p:spPr bwMode="auto">
          <a:xfrm>
            <a:off x="911424" y="2195062"/>
            <a:ext cx="10106736" cy="961097"/>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FontTx/>
              <a:buNone/>
            </a:pPr>
            <a:r>
              <a:rPr lang="zh-CN" altLang="en-US"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定义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如果析取范式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合取范式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中所有的简单合取式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简单析取式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都是极小项</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极大项</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则称该析取式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合取式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为主析取范式</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主合取范式</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Text Box 5"/>
          <p:cNvSpPr txBox="1">
            <a:spLocks noChangeArrowheads="1"/>
          </p:cNvSpPr>
          <p:nvPr/>
        </p:nvSpPr>
        <p:spPr bwMode="auto">
          <a:xfrm>
            <a:off x="892077" y="5157192"/>
            <a:ext cx="10106736" cy="95340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ct val="50000"/>
              </a:spcBef>
              <a:buFontTx/>
              <a:buNone/>
            </a:pPr>
            <a:r>
              <a:rPr lang="zh-CN" altLang="en-US"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定理</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任何命题公式都存在着与之等值的</a:t>
            </a:r>
            <a:r>
              <a:rPr lang="zh-CN" altLang="en-US"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主析取范式和主合取范式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并且是</a:t>
            </a:r>
            <a:r>
              <a:rPr lang="zh-CN" altLang="en-US"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唯一</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的。</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ct val="50000"/>
              </a:spcBef>
              <a:buFontTx/>
              <a:buNone/>
            </a:pPr>
            <a:r>
              <a:rPr lang="zh-CN" altLang="en-US"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证明：</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略。</a:t>
            </a: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主范式的定义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059"/>
                                        </p:tgtEl>
                                        <p:attrNameLst>
                                          <p:attrName>style.visibility</p:attrName>
                                        </p:attrNameLst>
                                      </p:cBhvr>
                                      <p:to>
                                        <p:strVal val="visible"/>
                                      </p:to>
                                    </p:set>
                                    <p:animEffect transition="in" filter="wipe(left)">
                                      <p:cBhvr>
                                        <p:cTn id="7" dur="500"/>
                                        <p:tgtEl>
                                          <p:spTgt spid="4505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ox(in)">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3909">
                                            <p:txEl>
                                              <p:pRg st="0" end="0"/>
                                            </p:txEl>
                                          </p:spTgt>
                                        </p:tgtEl>
                                        <p:attrNameLst>
                                          <p:attrName>style.visibility</p:attrName>
                                        </p:attrNameLst>
                                      </p:cBhvr>
                                      <p:to>
                                        <p:strVal val="visible"/>
                                      </p:to>
                                    </p:set>
                                    <p:animEffect transition="in" filter="dissolve">
                                      <p:cBhvr>
                                        <p:cTn id="17" dur="500"/>
                                        <p:tgtEl>
                                          <p:spTgt spid="12390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3909">
                                            <p:txEl>
                                              <p:pRg st="1" end="1"/>
                                            </p:txEl>
                                          </p:spTgt>
                                        </p:tgtEl>
                                        <p:attrNameLst>
                                          <p:attrName>style.visibility</p:attrName>
                                        </p:attrNameLst>
                                      </p:cBhvr>
                                      <p:to>
                                        <p:strVal val="visible"/>
                                      </p:to>
                                    </p:set>
                                    <p:animEffect transition="in" filter="dissolve">
                                      <p:cBhvr>
                                        <p:cTn id="22" dur="500"/>
                                        <p:tgtEl>
                                          <p:spTgt spid="12390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dissolve">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dissolve">
                                      <p:cBhvr>
                                        <p:cTn id="3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3" name="Text Box 5"/>
          <p:cNvSpPr txBox="1">
            <a:spLocks noChangeArrowheads="1"/>
          </p:cNvSpPr>
          <p:nvPr/>
        </p:nvSpPr>
        <p:spPr bwMode="auto">
          <a:xfrm>
            <a:off x="983431" y="4134730"/>
            <a:ext cx="10805317" cy="2400657"/>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lvl="2" indent="-457200" algn="just">
              <a:lnSpc>
                <a:spcPct val="150000"/>
              </a:lnSpc>
              <a:spcBef>
                <a:spcPts val="0"/>
              </a:spcBef>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先通过等值演算将所给的命题公式化为</a:t>
            </a:r>
            <a:r>
              <a:rPr lang="zh-CN" altLang="en-US" sz="2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析取范式</a:t>
            </a:r>
            <a:r>
              <a:rPr lang="en-US" altLang="zh-CN" sz="2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合取范式</a:t>
            </a:r>
            <a:r>
              <a:rPr lang="en-US" altLang="zh-CN" sz="2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a:p>
            <a:pPr marL="0" lvl="2" indent="-457200" algn="just">
              <a:lnSpc>
                <a:spcPct val="150000"/>
              </a:lnSpc>
              <a:spcBef>
                <a:spcPts val="0"/>
              </a:spcBef>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若某个简单合取式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简单析取式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中既不含变量</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又不含变 项┐</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则通过：</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marL="0" lvl="2" indent="-457200" algn="just">
              <a:lnSpc>
                <a:spcPct val="150000"/>
              </a:lnSpc>
              <a:spcBef>
                <a:spcPts val="0"/>
              </a:spcBef>
              <a:buNone/>
            </a:pP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或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∨0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baseline="-30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marL="0" lvl="2" indent="-457200" algn="just">
              <a:lnSpc>
                <a:spcPct val="150000"/>
              </a:lnSpc>
              <a:spcBef>
                <a:spcPts val="0"/>
              </a:spcBef>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补齐变量</a:t>
            </a:r>
            <a:r>
              <a:rPr lang="en-US" altLang="zh-CN"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rgbClr val="FFFF00"/>
                </a:solidFill>
                <a:latin typeface="Times New Roman" panose="02020603050405020304" pitchFamily="18" charset="0"/>
              </a:rPr>
              <a:t>同一律、排中律</a:t>
            </a:r>
            <a:r>
              <a:rPr lang="en-US" altLang="zh-CN" sz="2000" dirty="0">
                <a:solidFill>
                  <a:srgbClr val="FFFF00"/>
                </a:solidFill>
                <a:latin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2" indent="-457200" algn="just">
              <a:lnSpc>
                <a:spcPct val="150000"/>
              </a:lnSpc>
              <a:spcBef>
                <a:spcPts val="0"/>
              </a:spcBef>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消去重复变量和矛盾式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如用</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,0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分别代替</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 m</a:t>
            </a:r>
            <a:r>
              <a:rPr lang="en-US" altLang="zh-CN" sz="2000" b="0" i="1" baseline="-25000" dirty="0">
                <a:latin typeface="Times New Roman" panose="02020603050405020304" pitchFamily="18" charset="0"/>
                <a:ea typeface="微软雅黑" panose="020B0503020204020204" pitchFamily="34" charset="-122"/>
                <a:cs typeface="Times New Roman" panose="02020603050405020304" pitchFamily="18" charset="0"/>
              </a:rPr>
              <a:t>i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i="1"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和矛盾式等。 </a:t>
            </a:r>
          </a:p>
        </p:txBody>
      </p:sp>
      <p:sp>
        <p:nvSpPr>
          <p:cNvPr id="46083" name="Rectangle 6"/>
          <p:cNvSpPr>
            <a:spLocks noGrp="1" noChangeArrowheads="1"/>
          </p:cNvSpPr>
          <p:nvPr>
            <p:ph type="title" idx="4294967295"/>
          </p:nvPr>
        </p:nvSpPr>
        <p:spPr>
          <a:xfrm>
            <a:off x="418205" y="1663637"/>
            <a:ext cx="5688632"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主析取范式和主合取范式的求法</a:t>
            </a:r>
          </a:p>
        </p:txBody>
      </p:sp>
      <p:sp>
        <p:nvSpPr>
          <p:cNvPr id="6" name="Rectangle 6"/>
          <p:cNvSpPr txBox="1">
            <a:spLocks noChangeArrowheads="1"/>
          </p:cNvSpPr>
          <p:nvPr/>
        </p:nvSpPr>
        <p:spPr bwMode="auto">
          <a:xfrm>
            <a:off x="403251" y="3790521"/>
            <a:ext cx="20162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eaLnBrk="1" hangingPunct="1">
              <a:spcBef>
                <a:spcPct val="50000"/>
              </a:spcBef>
              <a:buClr>
                <a:srgbClr val="FFC000"/>
              </a:buClr>
              <a:buSzPct val="80000"/>
            </a:pPr>
            <a:r>
              <a:rPr kumimoji="1" lang="en-US" altLang="zh-CN" sz="24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等值演算</a:t>
            </a:r>
            <a:endParaRPr kumimoji="1" lang="zh-CN" altLang="en-US" sz="24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6"/>
          <p:cNvSpPr txBox="1">
            <a:spLocks noChangeArrowheads="1"/>
          </p:cNvSpPr>
          <p:nvPr/>
        </p:nvSpPr>
        <p:spPr bwMode="auto">
          <a:xfrm>
            <a:off x="403251" y="2274837"/>
            <a:ext cx="1876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eaLnBrk="1" hangingPunct="1">
              <a:spcBef>
                <a:spcPct val="50000"/>
              </a:spcBef>
              <a:buClr>
                <a:srgbClr val="FFC000"/>
              </a:buClr>
              <a:buSzPct val="80000"/>
            </a:pPr>
            <a:r>
              <a:rPr kumimoji="1" lang="en-US" altLang="zh-CN" sz="24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真值表</a:t>
            </a:r>
            <a:endParaRPr kumimoji="1" lang="zh-CN" altLang="en-US" sz="24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ext Box 5"/>
          <p:cNvSpPr txBox="1">
            <a:spLocks noChangeArrowheads="1"/>
          </p:cNvSpPr>
          <p:nvPr/>
        </p:nvSpPr>
        <p:spPr bwMode="auto">
          <a:xfrm>
            <a:off x="1848495" y="2356098"/>
            <a:ext cx="5328592" cy="1422762"/>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lvl="2" indent="-457200" algn="just">
              <a:lnSpc>
                <a:spcPct val="150000"/>
              </a:lnSpc>
              <a:spcBef>
                <a:spcPts val="0"/>
              </a:spcBef>
              <a:buNone/>
            </a:pP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构造命题公式的真值表</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endParaRPr>
          </a:p>
          <a:p>
            <a:pPr marL="0" lvl="2" indent="-457200" algn="just">
              <a:lnSpc>
                <a:spcPct val="150000"/>
              </a:lnSpc>
              <a:spcBef>
                <a:spcPts val="0"/>
              </a:spcBef>
              <a:buNone/>
            </a:pP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找到成真</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假</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赋值</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转化为极小</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大</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项</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p>
          <a:p>
            <a:pPr marL="0" lvl="2" indent="-457200" algn="just">
              <a:lnSpc>
                <a:spcPct val="150000"/>
              </a:lnSpc>
              <a:spcBef>
                <a:spcPts val="0"/>
              </a:spcBef>
              <a:buNone/>
            </a:pP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把极小</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大</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项联结为主析取</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合取</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范式。 </a:t>
            </a: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主范式的求法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6083"/>
                                        </p:tgtEl>
                                        <p:attrNameLst>
                                          <p:attrName>style.visibility</p:attrName>
                                        </p:attrNameLst>
                                      </p:cBhvr>
                                      <p:to>
                                        <p:strVal val="visible"/>
                                      </p:to>
                                    </p:set>
                                    <p:animEffect transition="in" filter="wipe(left)">
                                      <p:cBhvr>
                                        <p:cTn id="7" dur="500"/>
                                        <p:tgtEl>
                                          <p:spTgt spid="460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9" presetClass="entr" presetSubtype="0" fill="hold" nodeType="afterEffect">
                                  <p:stCondLst>
                                    <p:cond delay="0"/>
                                  </p:stCondLst>
                                  <p:iterate type="lt">
                                    <p:tmPct val="0"/>
                                  </p:iterate>
                                  <p:childTnLst>
                                    <p:set>
                                      <p:cBhvr>
                                        <p:cTn id="15" dur="1" fill="hold">
                                          <p:stCondLst>
                                            <p:cond delay="0"/>
                                          </p:stCondLst>
                                        </p:cTn>
                                        <p:tgtEl>
                                          <p:spTgt spid="8">
                                            <p:txEl>
                                              <p:pRg st="0" end="0"/>
                                            </p:txEl>
                                          </p:spTgt>
                                        </p:tgtEl>
                                        <p:attrNameLst>
                                          <p:attrName>style.visibility</p:attrName>
                                        </p:attrNameLst>
                                      </p:cBhvr>
                                      <p:to>
                                        <p:strVal val="visible"/>
                                      </p:to>
                                    </p:set>
                                    <p:animEffect transition="in" filter="dissolve">
                                      <p:cBhvr>
                                        <p:cTn id="16" dur="500"/>
                                        <p:tgtEl>
                                          <p:spTgt spid="8">
                                            <p:txEl>
                                              <p:pRg st="0" end="0"/>
                                            </p:txEl>
                                          </p:spTgt>
                                        </p:tgtEl>
                                      </p:cBhvr>
                                    </p:animEffect>
                                  </p:childTnLst>
                                </p:cTn>
                              </p:par>
                            </p:childTnLst>
                          </p:cTn>
                        </p:par>
                        <p:par>
                          <p:cTn id="17" fill="hold">
                            <p:stCondLst>
                              <p:cond delay="1000"/>
                            </p:stCondLst>
                            <p:childTnLst>
                              <p:par>
                                <p:cTn id="18" presetID="9" presetClass="entr" presetSubtype="0" fill="hold" nodeType="afterEffect">
                                  <p:stCondLst>
                                    <p:cond delay="0"/>
                                  </p:stCondLst>
                                  <p:iterate type="lt">
                                    <p:tmPct val="0"/>
                                  </p:iterate>
                                  <p:childTnLst>
                                    <p:set>
                                      <p:cBhvr>
                                        <p:cTn id="19" dur="1" fill="hold">
                                          <p:stCondLst>
                                            <p:cond delay="0"/>
                                          </p:stCondLst>
                                        </p:cTn>
                                        <p:tgtEl>
                                          <p:spTgt spid="8">
                                            <p:txEl>
                                              <p:pRg st="1" end="1"/>
                                            </p:txEl>
                                          </p:spTgt>
                                        </p:tgtEl>
                                        <p:attrNameLst>
                                          <p:attrName>style.visibility</p:attrName>
                                        </p:attrNameLst>
                                      </p:cBhvr>
                                      <p:to>
                                        <p:strVal val="visible"/>
                                      </p:to>
                                    </p:set>
                                    <p:animEffect transition="in" filter="dissolve">
                                      <p:cBhvr>
                                        <p:cTn id="20" dur="500"/>
                                        <p:tgtEl>
                                          <p:spTgt spid="8">
                                            <p:txEl>
                                              <p:pRg st="1" end="1"/>
                                            </p:txEl>
                                          </p:spTgt>
                                        </p:tgtEl>
                                      </p:cBhvr>
                                    </p:animEffect>
                                  </p:childTnLst>
                                </p:cTn>
                              </p:par>
                            </p:childTnLst>
                          </p:cTn>
                        </p:par>
                        <p:par>
                          <p:cTn id="21" fill="hold">
                            <p:stCondLst>
                              <p:cond delay="1500"/>
                            </p:stCondLst>
                            <p:childTnLst>
                              <p:par>
                                <p:cTn id="22" presetID="9" presetClass="entr" presetSubtype="0" fill="hold" nodeType="afterEffect">
                                  <p:stCondLst>
                                    <p:cond delay="0"/>
                                  </p:stCondLst>
                                  <p:iterate type="lt">
                                    <p:tmPct val="0"/>
                                  </p:iterate>
                                  <p:childTnLst>
                                    <p:set>
                                      <p:cBhvr>
                                        <p:cTn id="23" dur="1" fill="hold">
                                          <p:stCondLst>
                                            <p:cond delay="0"/>
                                          </p:stCondLst>
                                        </p:cTn>
                                        <p:tgtEl>
                                          <p:spTgt spid="8">
                                            <p:txEl>
                                              <p:pRg st="2" end="2"/>
                                            </p:txEl>
                                          </p:spTgt>
                                        </p:tgtEl>
                                        <p:attrNameLst>
                                          <p:attrName>style.visibility</p:attrName>
                                        </p:attrNameLst>
                                      </p:cBhvr>
                                      <p:to>
                                        <p:strVal val="visible"/>
                                      </p:to>
                                    </p:set>
                                    <p:animEffect transition="in" filter="dissolve">
                                      <p:cBhvr>
                                        <p:cTn id="24" dur="500"/>
                                        <p:tgtEl>
                                          <p:spTgt spid="8">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par>
                          <p:cTn id="30" fill="hold">
                            <p:stCondLst>
                              <p:cond delay="500"/>
                            </p:stCondLst>
                            <p:childTnLst>
                              <p:par>
                                <p:cTn id="31" presetID="9" presetClass="entr" presetSubtype="0" fill="hold" nodeType="afterEffect">
                                  <p:stCondLst>
                                    <p:cond delay="0"/>
                                  </p:stCondLst>
                                  <p:iterate type="lt">
                                    <p:tmPct val="0"/>
                                  </p:iterate>
                                  <p:childTnLst>
                                    <p:set>
                                      <p:cBhvr>
                                        <p:cTn id="32" dur="1" fill="hold">
                                          <p:stCondLst>
                                            <p:cond delay="0"/>
                                          </p:stCondLst>
                                        </p:cTn>
                                        <p:tgtEl>
                                          <p:spTgt spid="124933">
                                            <p:txEl>
                                              <p:pRg st="0" end="0"/>
                                            </p:txEl>
                                          </p:spTgt>
                                        </p:tgtEl>
                                        <p:attrNameLst>
                                          <p:attrName>style.visibility</p:attrName>
                                        </p:attrNameLst>
                                      </p:cBhvr>
                                      <p:to>
                                        <p:strVal val="visible"/>
                                      </p:to>
                                    </p:set>
                                    <p:animEffect transition="in" filter="dissolve">
                                      <p:cBhvr>
                                        <p:cTn id="33" dur="500"/>
                                        <p:tgtEl>
                                          <p:spTgt spid="124933">
                                            <p:txEl>
                                              <p:pRg st="0" end="0"/>
                                            </p:txEl>
                                          </p:spTgt>
                                        </p:tgtEl>
                                      </p:cBhvr>
                                    </p:animEffect>
                                  </p:childTnLst>
                                </p:cTn>
                              </p:par>
                            </p:childTnLst>
                          </p:cTn>
                        </p:par>
                        <p:par>
                          <p:cTn id="34" fill="hold">
                            <p:stCondLst>
                              <p:cond delay="1000"/>
                            </p:stCondLst>
                            <p:childTnLst>
                              <p:par>
                                <p:cTn id="35" presetID="9" presetClass="entr" presetSubtype="0" fill="hold" nodeType="afterEffect">
                                  <p:stCondLst>
                                    <p:cond delay="0"/>
                                  </p:stCondLst>
                                  <p:iterate type="lt">
                                    <p:tmPct val="0"/>
                                  </p:iterate>
                                  <p:childTnLst>
                                    <p:set>
                                      <p:cBhvr>
                                        <p:cTn id="36" dur="1" fill="hold">
                                          <p:stCondLst>
                                            <p:cond delay="0"/>
                                          </p:stCondLst>
                                        </p:cTn>
                                        <p:tgtEl>
                                          <p:spTgt spid="124933">
                                            <p:txEl>
                                              <p:pRg st="1" end="1"/>
                                            </p:txEl>
                                          </p:spTgt>
                                        </p:tgtEl>
                                        <p:attrNameLst>
                                          <p:attrName>style.visibility</p:attrName>
                                        </p:attrNameLst>
                                      </p:cBhvr>
                                      <p:to>
                                        <p:strVal val="visible"/>
                                      </p:to>
                                    </p:set>
                                    <p:animEffect transition="in" filter="dissolve">
                                      <p:cBhvr>
                                        <p:cTn id="37" dur="500"/>
                                        <p:tgtEl>
                                          <p:spTgt spid="124933">
                                            <p:txEl>
                                              <p:pRg st="1" end="1"/>
                                            </p:txEl>
                                          </p:spTgt>
                                        </p:tgtEl>
                                      </p:cBhvr>
                                    </p:animEffect>
                                  </p:childTnLst>
                                </p:cTn>
                              </p:par>
                            </p:childTnLst>
                          </p:cTn>
                        </p:par>
                        <p:par>
                          <p:cTn id="38" fill="hold">
                            <p:stCondLst>
                              <p:cond delay="1500"/>
                            </p:stCondLst>
                            <p:childTnLst>
                              <p:par>
                                <p:cTn id="39" presetID="9" presetClass="entr" presetSubtype="0" fill="hold" nodeType="afterEffect">
                                  <p:stCondLst>
                                    <p:cond delay="0"/>
                                  </p:stCondLst>
                                  <p:iterate type="lt">
                                    <p:tmPct val="0"/>
                                  </p:iterate>
                                  <p:childTnLst>
                                    <p:set>
                                      <p:cBhvr>
                                        <p:cTn id="40" dur="1" fill="hold">
                                          <p:stCondLst>
                                            <p:cond delay="0"/>
                                          </p:stCondLst>
                                        </p:cTn>
                                        <p:tgtEl>
                                          <p:spTgt spid="124933">
                                            <p:txEl>
                                              <p:pRg st="2" end="2"/>
                                            </p:txEl>
                                          </p:spTgt>
                                        </p:tgtEl>
                                        <p:attrNameLst>
                                          <p:attrName>style.visibility</p:attrName>
                                        </p:attrNameLst>
                                      </p:cBhvr>
                                      <p:to>
                                        <p:strVal val="visible"/>
                                      </p:to>
                                    </p:set>
                                    <p:animEffect transition="in" filter="dissolve">
                                      <p:cBhvr>
                                        <p:cTn id="41" dur="500"/>
                                        <p:tgtEl>
                                          <p:spTgt spid="124933">
                                            <p:txEl>
                                              <p:pRg st="2" end="2"/>
                                            </p:txEl>
                                          </p:spTgt>
                                        </p:tgtEl>
                                      </p:cBhvr>
                                    </p:animEffect>
                                  </p:childTnLst>
                                </p:cTn>
                              </p:par>
                            </p:childTnLst>
                          </p:cTn>
                        </p:par>
                        <p:par>
                          <p:cTn id="42" fill="hold">
                            <p:stCondLst>
                              <p:cond delay="2000"/>
                            </p:stCondLst>
                            <p:childTnLst>
                              <p:par>
                                <p:cTn id="43" presetID="9" presetClass="entr" presetSubtype="0" fill="hold" nodeType="afterEffect">
                                  <p:stCondLst>
                                    <p:cond delay="0"/>
                                  </p:stCondLst>
                                  <p:iterate type="lt">
                                    <p:tmPct val="0"/>
                                  </p:iterate>
                                  <p:childTnLst>
                                    <p:set>
                                      <p:cBhvr>
                                        <p:cTn id="44" dur="1" fill="hold">
                                          <p:stCondLst>
                                            <p:cond delay="0"/>
                                          </p:stCondLst>
                                        </p:cTn>
                                        <p:tgtEl>
                                          <p:spTgt spid="124933">
                                            <p:txEl>
                                              <p:pRg st="3" end="3"/>
                                            </p:txEl>
                                          </p:spTgt>
                                        </p:tgtEl>
                                        <p:attrNameLst>
                                          <p:attrName>style.visibility</p:attrName>
                                        </p:attrNameLst>
                                      </p:cBhvr>
                                      <p:to>
                                        <p:strVal val="visible"/>
                                      </p:to>
                                    </p:set>
                                    <p:animEffect transition="in" filter="dissolve">
                                      <p:cBhvr>
                                        <p:cTn id="45" dur="500"/>
                                        <p:tgtEl>
                                          <p:spTgt spid="124933">
                                            <p:txEl>
                                              <p:pRg st="3" end="3"/>
                                            </p:txEl>
                                          </p:spTgt>
                                        </p:tgtEl>
                                      </p:cBhvr>
                                    </p:animEffect>
                                  </p:childTnLst>
                                </p:cTn>
                              </p:par>
                            </p:childTnLst>
                          </p:cTn>
                        </p:par>
                        <p:par>
                          <p:cTn id="46" fill="hold">
                            <p:stCondLst>
                              <p:cond delay="2500"/>
                            </p:stCondLst>
                            <p:childTnLst>
                              <p:par>
                                <p:cTn id="47" presetID="9" presetClass="entr" presetSubtype="0" fill="hold" nodeType="afterEffect">
                                  <p:stCondLst>
                                    <p:cond delay="0"/>
                                  </p:stCondLst>
                                  <p:iterate type="lt">
                                    <p:tmPct val="0"/>
                                  </p:iterate>
                                  <p:childTnLst>
                                    <p:set>
                                      <p:cBhvr>
                                        <p:cTn id="48" dur="1" fill="hold">
                                          <p:stCondLst>
                                            <p:cond delay="0"/>
                                          </p:stCondLst>
                                        </p:cTn>
                                        <p:tgtEl>
                                          <p:spTgt spid="124933">
                                            <p:txEl>
                                              <p:pRg st="4" end="4"/>
                                            </p:txEl>
                                          </p:spTgt>
                                        </p:tgtEl>
                                        <p:attrNameLst>
                                          <p:attrName>style.visibility</p:attrName>
                                        </p:attrNameLst>
                                      </p:cBhvr>
                                      <p:to>
                                        <p:strVal val="visible"/>
                                      </p:to>
                                    </p:set>
                                    <p:animEffect transition="in" filter="dissolve">
                                      <p:cBhvr>
                                        <p:cTn id="49" dur="500"/>
                                        <p:tgtEl>
                                          <p:spTgt spid="1249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Text Box 5"/>
          <p:cNvSpPr txBox="1">
            <a:spLocks noChangeArrowheads="1"/>
          </p:cNvSpPr>
          <p:nvPr/>
        </p:nvSpPr>
        <p:spPr bwMode="auto">
          <a:xfrm>
            <a:off x="4655840" y="2538486"/>
            <a:ext cx="6768752" cy="156966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1)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主析取范式</a:t>
            </a:r>
          </a:p>
          <a:p>
            <a:pPr lvl="1" algn="just" eaLnBrk="1" hangingPunct="1">
              <a:lnSpc>
                <a:spcPct val="12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从真值表可得</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公式的成真赋值为：</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001, 011, 100, 111;</a:t>
            </a:r>
          </a:p>
          <a:p>
            <a:pPr lvl="1" algn="just" eaLnBrk="1" hangingPunct="1">
              <a:lnSpc>
                <a:spcPct val="12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对应的极小项为</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7</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lvl="1"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7</a:t>
            </a:r>
          </a:p>
        </p:txBody>
      </p:sp>
      <p:sp>
        <p:nvSpPr>
          <p:cNvPr id="47107" name="Rectangle 6"/>
          <p:cNvSpPr>
            <a:spLocks noChangeArrowheads="1"/>
          </p:cNvSpPr>
          <p:nvPr/>
        </p:nvSpPr>
        <p:spPr bwMode="auto">
          <a:xfrm>
            <a:off x="407093" y="1700808"/>
            <a:ext cx="7488832" cy="461665"/>
          </a:xfrm>
          <a:prstGeom prst="rect">
            <a:avLst/>
          </a:prstGeom>
          <a:noFill/>
          <a:ln>
            <a:noFill/>
          </a:ln>
          <a:effec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3.3.2 </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求公式 </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的主析</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合</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取范式。</a:t>
            </a:r>
          </a:p>
        </p:txBody>
      </p:sp>
      <p:sp>
        <p:nvSpPr>
          <p:cNvPr id="6" name="文本框 5"/>
          <p:cNvSpPr txBox="1"/>
          <p:nvPr/>
        </p:nvSpPr>
        <p:spPr>
          <a:xfrm>
            <a:off x="403132" y="2206321"/>
            <a:ext cx="2952604" cy="461665"/>
          </a:xfrm>
          <a:prstGeom prst="rect">
            <a:avLst/>
          </a:prstGeom>
          <a:noFill/>
        </p:spPr>
        <p:txBody>
          <a:bodyPr wrap="square">
            <a:spAutoFit/>
          </a:bodyPr>
          <a:lstStyle/>
          <a:p>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2400" b="0" dirty="0">
                <a:solidFill>
                  <a:srgbClr val="FFFF00"/>
                </a:solidFill>
                <a:ea typeface="微软雅黑" panose="020B0503020204020204" pitchFamily="34" charset="-122"/>
                <a:cs typeface="Times New Roman" panose="02020603050405020304" pitchFamily="18" charset="0"/>
              </a:rPr>
              <a:t>法</a:t>
            </a:r>
            <a:r>
              <a:rPr lang="en-US" altLang="zh-CN" sz="2400" b="0" dirty="0">
                <a:solidFill>
                  <a:srgbClr val="FFFF00"/>
                </a:solidFill>
                <a:ea typeface="微软雅黑" panose="020B0503020204020204" pitchFamily="34" charset="-122"/>
                <a:cs typeface="Times New Roman" panose="02020603050405020304" pitchFamily="18" charset="0"/>
              </a:rPr>
              <a:t>1</a:t>
            </a: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真值表法</a:t>
            </a: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2400" dirty="0">
              <a:solidFill>
                <a:srgbClr val="FFFF00"/>
              </a:solidFill>
            </a:endParaRPr>
          </a:p>
        </p:txBody>
      </p:sp>
      <p:graphicFrame>
        <p:nvGraphicFramePr>
          <p:cNvPr id="8" name="Group 2826"/>
          <p:cNvGraphicFramePr/>
          <p:nvPr/>
        </p:nvGraphicFramePr>
        <p:xfrm>
          <a:off x="968362" y="2769319"/>
          <a:ext cx="3248241" cy="3566160"/>
        </p:xfrm>
        <a:graphic>
          <a:graphicData uri="http://schemas.openxmlformats.org/drawingml/2006/table">
            <a:tbl>
              <a:tblPr/>
              <a:tblGrid>
                <a:gridCol w="412521">
                  <a:extLst>
                    <a:ext uri="{9D8B030D-6E8A-4147-A177-3AD203B41FA5}">
                      <a16:colId xmlns:a16="http://schemas.microsoft.com/office/drawing/2014/main" val="20000"/>
                    </a:ext>
                  </a:extLst>
                </a:gridCol>
                <a:gridCol w="412521">
                  <a:extLst>
                    <a:ext uri="{9D8B030D-6E8A-4147-A177-3AD203B41FA5}">
                      <a16:colId xmlns:a16="http://schemas.microsoft.com/office/drawing/2014/main" val="20001"/>
                    </a:ext>
                  </a:extLst>
                </a:gridCol>
                <a:gridCol w="412521">
                  <a:extLst>
                    <a:ext uri="{9D8B030D-6E8A-4147-A177-3AD203B41FA5}">
                      <a16:colId xmlns:a16="http://schemas.microsoft.com/office/drawing/2014/main" val="20002"/>
                    </a:ext>
                  </a:extLst>
                </a:gridCol>
                <a:gridCol w="714534">
                  <a:extLst>
                    <a:ext uri="{9D8B030D-6E8A-4147-A177-3AD203B41FA5}">
                      <a16:colId xmlns:a16="http://schemas.microsoft.com/office/drawing/2014/main" val="20003"/>
                    </a:ext>
                  </a:extLst>
                </a:gridCol>
                <a:gridCol w="1296144">
                  <a:extLst>
                    <a:ext uri="{9D8B030D-6E8A-4147-A177-3AD203B41FA5}">
                      <a16:colId xmlns:a16="http://schemas.microsoft.com/office/drawing/2014/main" val="20004"/>
                    </a:ext>
                  </a:extLst>
                </a:gridCol>
              </a:tblGrid>
              <a:tr h="252592">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p</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CCFF"/>
                      </a:solid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q</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CCFF"/>
                      </a:solid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rPr>
                        <a:t>r</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9050" cap="flat" cmpd="sng" algn="ctr">
                      <a:solidFill>
                        <a:srgbClr val="FFCCFF"/>
                      </a:solid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lang="en-US" altLang="zh-CN" sz="20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endParaRPr kumimoji="0" lang="en-US" altLang="zh-CN" sz="2000" b="0"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9050" cap="flat" cmpd="sng" algn="ctr">
                      <a:solidFill>
                        <a:srgbClr val="FFCCFF"/>
                      </a:solid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en-US" altLang="zh-CN"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r</a:t>
                      </a:r>
                      <a:endParaRPr kumimoji="0" lang="pt-BR" altLang="zh-CN" sz="2000" b="0" i="1" u="none" strike="noStrike" cap="none" normalizeH="0" baseline="0" dirty="0">
                        <a:ln>
                          <a:noFill/>
                        </a:ln>
                        <a:solidFill>
                          <a:srgbClr val="FFFF00"/>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CCFF"/>
                      </a:solid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1709">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CCFF"/>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CCFF"/>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9050" cap="flat" cmpd="sng" algn="ctr">
                      <a:solidFill>
                        <a:srgbClr val="FFCCFF"/>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9050" cap="flat" cmpd="sng" algn="ctr">
                      <a:solidFill>
                        <a:srgbClr val="FFCCFF"/>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CCFF"/>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1709">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1709">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2592">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1709">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1709">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1709">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0</a:t>
                      </a: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2592">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no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hlink"/>
                        </a:buClr>
                        <a:buSzPct val="70000"/>
                        <a:buFont typeface="Wingdings" panose="05000000000000000000" pitchFamily="2" charset="2"/>
                        <a:defRPr sz="28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marL="1143000" indent="-228600">
                        <a:spcBef>
                          <a:spcPct val="20000"/>
                        </a:spcBef>
                        <a:buClr>
                          <a:schemeClr val="tx2"/>
                        </a:buClr>
                        <a:buSzPct val="70000"/>
                        <a:buFont typeface="Wingdings" panose="05000000000000000000" pitchFamily="2" charset="2"/>
                        <a:defRPr sz="2000">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marL="2057400" indent="-228600">
                        <a:spcBef>
                          <a:spcPct val="20000"/>
                        </a:spcBef>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25146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29718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34290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3886200" indent="-228600" fontAlgn="base">
                        <a:spcBef>
                          <a:spcPct val="20000"/>
                        </a:spcBef>
                        <a:spcAft>
                          <a:spcPct val="0"/>
                        </a:spcAft>
                        <a:buClr>
                          <a:schemeClr val="hlink"/>
                        </a:buClr>
                        <a:buSzPct val="70000"/>
                        <a:buFont typeface="Wingdings" panose="05000000000000000000" pitchFamily="2" charset="2"/>
                        <a:defRPr>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9050" cap="flat" cmpd="sng" algn="ctr">
                      <a:solidFill>
                        <a:srgbClr val="FFCCFF"/>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92D050"/>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9050" cap="flat" cmpd="sng" algn="ctr">
                      <a:solidFill>
                        <a:srgbClr val="FFCCFF"/>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CC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9" name="Text Box 5"/>
          <p:cNvSpPr txBox="1">
            <a:spLocks noChangeArrowheads="1"/>
          </p:cNvSpPr>
          <p:nvPr/>
        </p:nvSpPr>
        <p:spPr bwMode="auto">
          <a:xfrm>
            <a:off x="4655840" y="4293096"/>
            <a:ext cx="6768752" cy="156966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2)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主合取范式</a:t>
            </a:r>
          </a:p>
          <a:p>
            <a:pPr lvl="1" algn="just" eaLnBrk="1" hangingPunct="1">
              <a:lnSpc>
                <a:spcPct val="12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从真值表可得</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公式的成假赋值为：</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000, 010, 101,110;</a:t>
            </a:r>
          </a:p>
          <a:p>
            <a:pPr lvl="1" algn="just" eaLnBrk="1" hangingPunct="1">
              <a:lnSpc>
                <a:spcPct val="12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对应的极大项为</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6</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lvl="1"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 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6</a:t>
            </a: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主范式的求法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7107"/>
                                        </p:tgtEl>
                                        <p:attrNameLst>
                                          <p:attrName>style.visibility</p:attrName>
                                        </p:attrNameLst>
                                      </p:cBhvr>
                                      <p:to>
                                        <p:strVal val="visible"/>
                                      </p:to>
                                    </p:set>
                                    <p:animEffect transition="in" filter="wipe(left)">
                                      <p:cBhvr>
                                        <p:cTn id="7" dur="500"/>
                                        <p:tgtEl>
                                          <p:spTgt spid="4710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par>
                          <p:cTn id="12" fill="hold">
                            <p:stCondLst>
                              <p:cond delay="0"/>
                            </p:stCondLst>
                            <p:childTnLst>
                              <p:par>
                                <p:cTn id="13" presetID="53" presetClass="entr" presetSubtype="16"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5957">
                                            <p:txEl>
                                              <p:pRg st="0" end="0"/>
                                            </p:txEl>
                                          </p:spTgt>
                                        </p:tgtEl>
                                        <p:attrNameLst>
                                          <p:attrName>style.visibility</p:attrName>
                                        </p:attrNameLst>
                                      </p:cBhvr>
                                      <p:to>
                                        <p:strVal val="visible"/>
                                      </p:to>
                                    </p:set>
                                    <p:animEffect transition="in" filter="dissolve">
                                      <p:cBhvr>
                                        <p:cTn id="22" dur="500"/>
                                        <p:tgtEl>
                                          <p:spTgt spid="12595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7" presetClass="entr" presetSubtype="0" fill="hold" nodeType="clickEffect">
                                  <p:stCondLst>
                                    <p:cond delay="0"/>
                                  </p:stCondLst>
                                  <p:iterate type="lt">
                                    <p:tmPct val="50000"/>
                                  </p:iterate>
                                  <p:childTnLst>
                                    <p:set>
                                      <p:cBhvr>
                                        <p:cTn id="26" dur="1" fill="hold">
                                          <p:stCondLst>
                                            <p:cond delay="0"/>
                                          </p:stCondLst>
                                        </p:cTn>
                                        <p:tgtEl>
                                          <p:spTgt spid="125957">
                                            <p:txEl>
                                              <p:pRg st="1" end="1"/>
                                            </p:txEl>
                                          </p:spTgt>
                                        </p:tgtEl>
                                        <p:attrNameLst>
                                          <p:attrName>style.visibility</p:attrName>
                                        </p:attrNameLst>
                                      </p:cBhvr>
                                      <p:to>
                                        <p:strVal val="visible"/>
                                      </p:to>
                                    </p:set>
                                    <p:anim calcmode="discrete" valueType="clr">
                                      <p:cBhvr override="childStyle">
                                        <p:cTn id="27" dur="80"/>
                                        <p:tgtEl>
                                          <p:spTgt spid="12595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125957">
                                            <p:txEl>
                                              <p:pRg st="1" end="1"/>
                                            </p:txEl>
                                          </p:spTgt>
                                        </p:tgtEl>
                                        <p:attrNameLst>
                                          <p:attrName>fillcolor</p:attrName>
                                        </p:attrNameLst>
                                      </p:cBhvr>
                                      <p:tavLst>
                                        <p:tav tm="0">
                                          <p:val>
                                            <p:clrVal>
                                              <a:schemeClr val="accent2"/>
                                            </p:clrVal>
                                          </p:val>
                                        </p:tav>
                                        <p:tav tm="50000">
                                          <p:val>
                                            <p:clrVal>
                                              <a:schemeClr val="hlink"/>
                                            </p:clrVal>
                                          </p:val>
                                        </p:tav>
                                      </p:tavLst>
                                    </p:anim>
                                    <p:set>
                                      <p:cBhvr>
                                        <p:cTn id="29" dur="80"/>
                                        <p:tgtEl>
                                          <p:spTgt spid="125957">
                                            <p:txEl>
                                              <p:pRg st="1" end="1"/>
                                            </p:txEl>
                                          </p:spTgt>
                                        </p:tgtEl>
                                        <p:attrNameLst>
                                          <p:attrName>fill.type</p:attrName>
                                        </p:attrNameLst>
                                      </p:cBhvr>
                                      <p:to>
                                        <p:strVal val="solid"/>
                                      </p:to>
                                    </p:set>
                                  </p:childTnLst>
                                </p:cTn>
                              </p:par>
                            </p:childTnLst>
                          </p:cTn>
                        </p:par>
                      </p:childTnLst>
                    </p:cTn>
                  </p:par>
                  <p:par>
                    <p:cTn id="30" fill="hold">
                      <p:stCondLst>
                        <p:cond delay="indefinite"/>
                      </p:stCondLst>
                      <p:childTnLst>
                        <p:par>
                          <p:cTn id="31" fill="hold">
                            <p:stCondLst>
                              <p:cond delay="0"/>
                            </p:stCondLst>
                            <p:childTnLst>
                              <p:par>
                                <p:cTn id="32" presetID="27" presetClass="entr" presetSubtype="0" fill="hold" nodeType="clickEffect">
                                  <p:stCondLst>
                                    <p:cond delay="0"/>
                                  </p:stCondLst>
                                  <p:iterate type="lt">
                                    <p:tmPct val="50000"/>
                                  </p:iterate>
                                  <p:childTnLst>
                                    <p:set>
                                      <p:cBhvr>
                                        <p:cTn id="33" dur="1" fill="hold">
                                          <p:stCondLst>
                                            <p:cond delay="0"/>
                                          </p:stCondLst>
                                        </p:cTn>
                                        <p:tgtEl>
                                          <p:spTgt spid="125957">
                                            <p:txEl>
                                              <p:pRg st="2" end="2"/>
                                            </p:txEl>
                                          </p:spTgt>
                                        </p:tgtEl>
                                        <p:attrNameLst>
                                          <p:attrName>style.visibility</p:attrName>
                                        </p:attrNameLst>
                                      </p:cBhvr>
                                      <p:to>
                                        <p:strVal val="visible"/>
                                      </p:to>
                                    </p:set>
                                    <p:anim calcmode="discrete" valueType="clr">
                                      <p:cBhvr override="childStyle">
                                        <p:cTn id="34" dur="80"/>
                                        <p:tgtEl>
                                          <p:spTgt spid="12595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125957">
                                            <p:txEl>
                                              <p:pRg st="2" end="2"/>
                                            </p:txEl>
                                          </p:spTgt>
                                        </p:tgtEl>
                                        <p:attrNameLst>
                                          <p:attrName>fillcolor</p:attrName>
                                        </p:attrNameLst>
                                      </p:cBhvr>
                                      <p:tavLst>
                                        <p:tav tm="0">
                                          <p:val>
                                            <p:clrVal>
                                              <a:schemeClr val="accent2"/>
                                            </p:clrVal>
                                          </p:val>
                                        </p:tav>
                                        <p:tav tm="50000">
                                          <p:val>
                                            <p:clrVal>
                                              <a:schemeClr val="hlink"/>
                                            </p:clrVal>
                                          </p:val>
                                        </p:tav>
                                      </p:tavLst>
                                    </p:anim>
                                    <p:set>
                                      <p:cBhvr>
                                        <p:cTn id="36" dur="80"/>
                                        <p:tgtEl>
                                          <p:spTgt spid="125957">
                                            <p:txEl>
                                              <p:pRg st="2" end="2"/>
                                            </p:txEl>
                                          </p:spTgt>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27" presetClass="entr" presetSubtype="0" fill="hold" nodeType="clickEffect">
                                  <p:stCondLst>
                                    <p:cond delay="0"/>
                                  </p:stCondLst>
                                  <p:iterate type="lt">
                                    <p:tmPct val="50000"/>
                                  </p:iterate>
                                  <p:childTnLst>
                                    <p:set>
                                      <p:cBhvr>
                                        <p:cTn id="40" dur="1" fill="hold">
                                          <p:stCondLst>
                                            <p:cond delay="0"/>
                                          </p:stCondLst>
                                        </p:cTn>
                                        <p:tgtEl>
                                          <p:spTgt spid="125957">
                                            <p:txEl>
                                              <p:pRg st="3" end="3"/>
                                            </p:txEl>
                                          </p:spTgt>
                                        </p:tgtEl>
                                        <p:attrNameLst>
                                          <p:attrName>style.visibility</p:attrName>
                                        </p:attrNameLst>
                                      </p:cBhvr>
                                      <p:to>
                                        <p:strVal val="visible"/>
                                      </p:to>
                                    </p:set>
                                    <p:anim calcmode="discrete" valueType="clr">
                                      <p:cBhvr override="childStyle">
                                        <p:cTn id="41" dur="80"/>
                                        <p:tgtEl>
                                          <p:spTgt spid="12595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125957">
                                            <p:txEl>
                                              <p:pRg st="3" end="3"/>
                                            </p:txEl>
                                          </p:spTgt>
                                        </p:tgtEl>
                                        <p:attrNameLst>
                                          <p:attrName>fillcolor</p:attrName>
                                        </p:attrNameLst>
                                      </p:cBhvr>
                                      <p:tavLst>
                                        <p:tav tm="0">
                                          <p:val>
                                            <p:clrVal>
                                              <a:schemeClr val="accent2"/>
                                            </p:clrVal>
                                          </p:val>
                                        </p:tav>
                                        <p:tav tm="50000">
                                          <p:val>
                                            <p:clrVal>
                                              <a:schemeClr val="hlink"/>
                                            </p:clrVal>
                                          </p:val>
                                        </p:tav>
                                      </p:tavLst>
                                    </p:anim>
                                    <p:set>
                                      <p:cBhvr>
                                        <p:cTn id="43" dur="80"/>
                                        <p:tgtEl>
                                          <p:spTgt spid="125957">
                                            <p:txEl>
                                              <p:pRg st="3" end="3"/>
                                            </p:txEl>
                                          </p:spTgt>
                                        </p:tgtEl>
                                        <p:attrNameLst>
                                          <p:attrName>fill.type</p:attrName>
                                        </p:attrNameLst>
                                      </p:cBhvr>
                                      <p:to>
                                        <p:strVal val="solid"/>
                                      </p:to>
                                    </p:se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9">
                                            <p:txEl>
                                              <p:pRg st="0" end="0"/>
                                            </p:txEl>
                                          </p:spTgt>
                                        </p:tgtEl>
                                        <p:attrNameLst>
                                          <p:attrName>style.visibility</p:attrName>
                                        </p:attrNameLst>
                                      </p:cBhvr>
                                      <p:to>
                                        <p:strVal val="visible"/>
                                      </p:to>
                                    </p:set>
                                    <p:animEffect transition="in" filter="dissolve">
                                      <p:cBhvr>
                                        <p:cTn id="48" dur="500"/>
                                        <p:tgtEl>
                                          <p:spTgt spid="9">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7" presetClass="entr" presetSubtype="0" fill="hold" nodeType="clickEffect">
                                  <p:stCondLst>
                                    <p:cond delay="0"/>
                                  </p:stCondLst>
                                  <p:iterate type="lt">
                                    <p:tmPct val="50000"/>
                                  </p:iterate>
                                  <p:childTnLst>
                                    <p:set>
                                      <p:cBhvr>
                                        <p:cTn id="52" dur="1" fill="hold">
                                          <p:stCondLst>
                                            <p:cond delay="0"/>
                                          </p:stCondLst>
                                        </p:cTn>
                                        <p:tgtEl>
                                          <p:spTgt spid="9">
                                            <p:txEl>
                                              <p:pRg st="1" end="1"/>
                                            </p:txEl>
                                          </p:spTgt>
                                        </p:tgtEl>
                                        <p:attrNameLst>
                                          <p:attrName>style.visibility</p:attrName>
                                        </p:attrNameLst>
                                      </p:cBhvr>
                                      <p:to>
                                        <p:strVal val="visible"/>
                                      </p:to>
                                    </p:set>
                                    <p:anim calcmode="discrete" valueType="clr">
                                      <p:cBhvr override="childStyle">
                                        <p:cTn id="53" dur="80"/>
                                        <p:tgtEl>
                                          <p:spTgt spid="9">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4" dur="80"/>
                                        <p:tgtEl>
                                          <p:spTgt spid="9">
                                            <p:txEl>
                                              <p:pRg st="1" end="1"/>
                                            </p:txEl>
                                          </p:spTgt>
                                        </p:tgtEl>
                                        <p:attrNameLst>
                                          <p:attrName>fillcolor</p:attrName>
                                        </p:attrNameLst>
                                      </p:cBhvr>
                                      <p:tavLst>
                                        <p:tav tm="0">
                                          <p:val>
                                            <p:clrVal>
                                              <a:schemeClr val="accent2"/>
                                            </p:clrVal>
                                          </p:val>
                                        </p:tav>
                                        <p:tav tm="50000">
                                          <p:val>
                                            <p:clrVal>
                                              <a:schemeClr val="hlink"/>
                                            </p:clrVal>
                                          </p:val>
                                        </p:tav>
                                      </p:tavLst>
                                    </p:anim>
                                    <p:set>
                                      <p:cBhvr>
                                        <p:cTn id="55" dur="80"/>
                                        <p:tgtEl>
                                          <p:spTgt spid="9">
                                            <p:txEl>
                                              <p:pRg st="1" end="1"/>
                                            </p:txEl>
                                          </p:spTgt>
                                        </p:tgtEl>
                                        <p:attrNameLst>
                                          <p:attrName>fill.type</p:attrName>
                                        </p:attrNameLst>
                                      </p:cBhvr>
                                      <p:to>
                                        <p:strVal val="solid"/>
                                      </p:to>
                                    </p:set>
                                  </p:childTnLst>
                                </p:cTn>
                              </p:par>
                            </p:childTnLst>
                          </p:cTn>
                        </p:par>
                      </p:childTnLst>
                    </p:cTn>
                  </p:par>
                  <p:par>
                    <p:cTn id="56" fill="hold">
                      <p:stCondLst>
                        <p:cond delay="indefinite"/>
                      </p:stCondLst>
                      <p:childTnLst>
                        <p:par>
                          <p:cTn id="57" fill="hold">
                            <p:stCondLst>
                              <p:cond delay="0"/>
                            </p:stCondLst>
                            <p:childTnLst>
                              <p:par>
                                <p:cTn id="58" presetID="27" presetClass="entr" presetSubtype="0" fill="hold" nodeType="clickEffect">
                                  <p:stCondLst>
                                    <p:cond delay="0"/>
                                  </p:stCondLst>
                                  <p:iterate type="lt">
                                    <p:tmPct val="50000"/>
                                  </p:iterate>
                                  <p:childTnLst>
                                    <p:set>
                                      <p:cBhvr>
                                        <p:cTn id="59" dur="1" fill="hold">
                                          <p:stCondLst>
                                            <p:cond delay="0"/>
                                          </p:stCondLst>
                                        </p:cTn>
                                        <p:tgtEl>
                                          <p:spTgt spid="9">
                                            <p:txEl>
                                              <p:pRg st="2" end="2"/>
                                            </p:txEl>
                                          </p:spTgt>
                                        </p:tgtEl>
                                        <p:attrNameLst>
                                          <p:attrName>style.visibility</p:attrName>
                                        </p:attrNameLst>
                                      </p:cBhvr>
                                      <p:to>
                                        <p:strVal val="visible"/>
                                      </p:to>
                                    </p:set>
                                    <p:anim calcmode="discrete" valueType="clr">
                                      <p:cBhvr override="childStyle">
                                        <p:cTn id="60" dur="80"/>
                                        <p:tgtEl>
                                          <p:spTgt spid="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1" dur="80"/>
                                        <p:tgtEl>
                                          <p:spTgt spid="9">
                                            <p:txEl>
                                              <p:pRg st="2" end="2"/>
                                            </p:txEl>
                                          </p:spTgt>
                                        </p:tgtEl>
                                        <p:attrNameLst>
                                          <p:attrName>fillcolor</p:attrName>
                                        </p:attrNameLst>
                                      </p:cBhvr>
                                      <p:tavLst>
                                        <p:tav tm="0">
                                          <p:val>
                                            <p:clrVal>
                                              <a:schemeClr val="accent2"/>
                                            </p:clrVal>
                                          </p:val>
                                        </p:tav>
                                        <p:tav tm="50000">
                                          <p:val>
                                            <p:clrVal>
                                              <a:schemeClr val="hlink"/>
                                            </p:clrVal>
                                          </p:val>
                                        </p:tav>
                                      </p:tavLst>
                                    </p:anim>
                                    <p:set>
                                      <p:cBhvr>
                                        <p:cTn id="62" dur="80"/>
                                        <p:tgtEl>
                                          <p:spTgt spid="9">
                                            <p:txEl>
                                              <p:pRg st="2" end="2"/>
                                            </p:txEl>
                                          </p:spTgt>
                                        </p:tgtEl>
                                        <p:attrNameLst>
                                          <p:attrName>fill.type</p:attrName>
                                        </p:attrNameLst>
                                      </p:cBhvr>
                                      <p:to>
                                        <p:strVal val="solid"/>
                                      </p:to>
                                    </p:set>
                                  </p:childTnLst>
                                </p:cTn>
                              </p:par>
                            </p:childTnLst>
                          </p:cTn>
                        </p:par>
                      </p:childTnLst>
                    </p:cTn>
                  </p:par>
                  <p:par>
                    <p:cTn id="63" fill="hold">
                      <p:stCondLst>
                        <p:cond delay="indefinite"/>
                      </p:stCondLst>
                      <p:childTnLst>
                        <p:par>
                          <p:cTn id="64" fill="hold">
                            <p:stCondLst>
                              <p:cond delay="0"/>
                            </p:stCondLst>
                            <p:childTnLst>
                              <p:par>
                                <p:cTn id="65" presetID="27" presetClass="entr" presetSubtype="0" fill="hold" nodeType="clickEffect">
                                  <p:stCondLst>
                                    <p:cond delay="0"/>
                                  </p:stCondLst>
                                  <p:iterate type="lt">
                                    <p:tmPct val="50000"/>
                                  </p:iterate>
                                  <p:childTnLst>
                                    <p:set>
                                      <p:cBhvr>
                                        <p:cTn id="66" dur="1" fill="hold">
                                          <p:stCondLst>
                                            <p:cond delay="0"/>
                                          </p:stCondLst>
                                        </p:cTn>
                                        <p:tgtEl>
                                          <p:spTgt spid="9">
                                            <p:txEl>
                                              <p:pRg st="3" end="3"/>
                                            </p:txEl>
                                          </p:spTgt>
                                        </p:tgtEl>
                                        <p:attrNameLst>
                                          <p:attrName>style.visibility</p:attrName>
                                        </p:attrNameLst>
                                      </p:cBhvr>
                                      <p:to>
                                        <p:strVal val="visible"/>
                                      </p:to>
                                    </p:set>
                                    <p:anim calcmode="discrete" valueType="clr">
                                      <p:cBhvr override="childStyle">
                                        <p:cTn id="67" dur="80"/>
                                        <p:tgtEl>
                                          <p:spTgt spid="9">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8" dur="80"/>
                                        <p:tgtEl>
                                          <p:spTgt spid="9">
                                            <p:txEl>
                                              <p:pRg st="3" end="3"/>
                                            </p:txEl>
                                          </p:spTgt>
                                        </p:tgtEl>
                                        <p:attrNameLst>
                                          <p:attrName>fillcolor</p:attrName>
                                        </p:attrNameLst>
                                      </p:cBhvr>
                                      <p:tavLst>
                                        <p:tav tm="0">
                                          <p:val>
                                            <p:clrVal>
                                              <a:schemeClr val="accent2"/>
                                            </p:clrVal>
                                          </p:val>
                                        </p:tav>
                                        <p:tav tm="50000">
                                          <p:val>
                                            <p:clrVal>
                                              <a:schemeClr val="hlink"/>
                                            </p:clrVal>
                                          </p:val>
                                        </p:tav>
                                      </p:tavLst>
                                    </p:anim>
                                    <p:set>
                                      <p:cBhvr>
                                        <p:cTn id="69" dur="80"/>
                                        <p:tgtEl>
                                          <p:spTgt spid="9">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Text Box 5"/>
          <p:cNvSpPr txBox="1">
            <a:spLocks noChangeArrowheads="1"/>
          </p:cNvSpPr>
          <p:nvPr/>
        </p:nvSpPr>
        <p:spPr bwMode="auto">
          <a:xfrm>
            <a:off x="980948" y="2675831"/>
            <a:ext cx="5401120" cy="3750322"/>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1)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主析取范式</a:t>
            </a:r>
          </a:p>
          <a:p>
            <a:pPr algn="just" eaLnBrk="1" hangingPunct="1">
              <a:lnSpc>
                <a:spcPct val="12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lvl="1"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endPar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4</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7</a:t>
            </a:r>
          </a:p>
        </p:txBody>
      </p:sp>
      <p:sp>
        <p:nvSpPr>
          <p:cNvPr id="47107" name="Rectangle 6"/>
          <p:cNvSpPr>
            <a:spLocks noChangeArrowheads="1"/>
          </p:cNvSpPr>
          <p:nvPr/>
        </p:nvSpPr>
        <p:spPr bwMode="auto">
          <a:xfrm>
            <a:off x="407093" y="1700808"/>
            <a:ext cx="7488832" cy="461665"/>
          </a:xfrm>
          <a:prstGeom prst="rect">
            <a:avLst/>
          </a:prstGeom>
          <a:noFill/>
          <a:ln>
            <a:noFill/>
          </a:ln>
          <a:effec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3.3.2</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求公式 </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的主析</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合</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取范式。</a:t>
            </a:r>
          </a:p>
        </p:txBody>
      </p:sp>
      <p:sp>
        <p:nvSpPr>
          <p:cNvPr id="6" name="文本框 5"/>
          <p:cNvSpPr txBox="1"/>
          <p:nvPr/>
        </p:nvSpPr>
        <p:spPr>
          <a:xfrm>
            <a:off x="407093" y="2214166"/>
            <a:ext cx="3096620" cy="461665"/>
          </a:xfrm>
          <a:prstGeom prst="rect">
            <a:avLst/>
          </a:prstGeom>
          <a:noFill/>
        </p:spPr>
        <p:txBody>
          <a:bodyPr wrap="square">
            <a:spAutoFit/>
          </a:bodyPr>
          <a:lstStyle/>
          <a:p>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解法</a:t>
            </a: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等值演算法</a:t>
            </a:r>
            <a:endParaRPr lang="zh-CN" altLang="en-US" sz="2400" dirty="0">
              <a:solidFill>
                <a:srgbClr val="FFFF00"/>
              </a:solidFill>
            </a:endParaRPr>
          </a:p>
        </p:txBody>
      </p:sp>
      <p:sp>
        <p:nvSpPr>
          <p:cNvPr id="7" name="Text Box 5"/>
          <p:cNvSpPr txBox="1">
            <a:spLocks noChangeArrowheads="1"/>
          </p:cNvSpPr>
          <p:nvPr/>
        </p:nvSpPr>
        <p:spPr bwMode="auto">
          <a:xfrm>
            <a:off x="6382068" y="2624138"/>
            <a:ext cx="5508625" cy="3750322"/>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主合取范式</a:t>
            </a: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lvl="1"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endPar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5</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lvl="1" algn="just" eaLnBrk="1" hangingPunct="1">
              <a:lnSpc>
                <a:spcPct val="12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6</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主范式的求法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5957">
                                            <p:txEl>
                                              <p:pRg st="0" end="0"/>
                                            </p:txEl>
                                          </p:spTgt>
                                        </p:tgtEl>
                                        <p:attrNameLst>
                                          <p:attrName>style.visibility</p:attrName>
                                        </p:attrNameLst>
                                      </p:cBhvr>
                                      <p:to>
                                        <p:strVal val="visible"/>
                                      </p:to>
                                    </p:set>
                                    <p:animEffect transition="in" filter="dissolve">
                                      <p:cBhvr>
                                        <p:cTn id="12" dur="500"/>
                                        <p:tgtEl>
                                          <p:spTgt spid="12595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125957">
                                            <p:txEl>
                                              <p:pRg st="1" end="1"/>
                                            </p:txEl>
                                          </p:spTgt>
                                        </p:tgtEl>
                                        <p:attrNameLst>
                                          <p:attrName>style.visibility</p:attrName>
                                        </p:attrNameLst>
                                      </p:cBhvr>
                                      <p:to>
                                        <p:strVal val="visible"/>
                                      </p:to>
                                    </p:set>
                                    <p:anim calcmode="discrete" valueType="clr">
                                      <p:cBhvr override="childStyle">
                                        <p:cTn id="17" dur="80"/>
                                        <p:tgtEl>
                                          <p:spTgt spid="12595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125957">
                                            <p:txEl>
                                              <p:pRg st="1" end="1"/>
                                            </p:txEl>
                                          </p:spTgt>
                                        </p:tgtEl>
                                        <p:attrNameLst>
                                          <p:attrName>fillcolor</p:attrName>
                                        </p:attrNameLst>
                                      </p:cBhvr>
                                      <p:tavLst>
                                        <p:tav tm="0">
                                          <p:val>
                                            <p:clrVal>
                                              <a:schemeClr val="accent2"/>
                                            </p:clrVal>
                                          </p:val>
                                        </p:tav>
                                        <p:tav tm="50000">
                                          <p:val>
                                            <p:clrVal>
                                              <a:schemeClr val="hlink"/>
                                            </p:clrVal>
                                          </p:val>
                                        </p:tav>
                                      </p:tavLst>
                                    </p:anim>
                                    <p:set>
                                      <p:cBhvr>
                                        <p:cTn id="19" dur="80"/>
                                        <p:tgtEl>
                                          <p:spTgt spid="125957">
                                            <p:txEl>
                                              <p:pRg st="1" end="1"/>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125957">
                                            <p:txEl>
                                              <p:pRg st="2" end="2"/>
                                            </p:txEl>
                                          </p:spTgt>
                                        </p:tgtEl>
                                        <p:attrNameLst>
                                          <p:attrName>style.visibility</p:attrName>
                                        </p:attrNameLst>
                                      </p:cBhvr>
                                      <p:to>
                                        <p:strVal val="visible"/>
                                      </p:to>
                                    </p:set>
                                    <p:anim calcmode="discrete" valueType="clr">
                                      <p:cBhvr override="childStyle">
                                        <p:cTn id="24" dur="80"/>
                                        <p:tgtEl>
                                          <p:spTgt spid="12595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125957">
                                            <p:txEl>
                                              <p:pRg st="2" end="2"/>
                                            </p:txEl>
                                          </p:spTgt>
                                        </p:tgtEl>
                                        <p:attrNameLst>
                                          <p:attrName>fillcolor</p:attrName>
                                        </p:attrNameLst>
                                      </p:cBhvr>
                                      <p:tavLst>
                                        <p:tav tm="0">
                                          <p:val>
                                            <p:clrVal>
                                              <a:schemeClr val="accent2"/>
                                            </p:clrVal>
                                          </p:val>
                                        </p:tav>
                                        <p:tav tm="50000">
                                          <p:val>
                                            <p:clrVal>
                                              <a:schemeClr val="hlink"/>
                                            </p:clrVal>
                                          </p:val>
                                        </p:tav>
                                      </p:tavLst>
                                    </p:anim>
                                    <p:set>
                                      <p:cBhvr>
                                        <p:cTn id="26" dur="80"/>
                                        <p:tgtEl>
                                          <p:spTgt spid="125957">
                                            <p:txEl>
                                              <p:pRg st="2" end="2"/>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125957">
                                            <p:txEl>
                                              <p:pRg st="3" end="3"/>
                                            </p:txEl>
                                          </p:spTgt>
                                        </p:tgtEl>
                                        <p:attrNameLst>
                                          <p:attrName>style.visibility</p:attrName>
                                        </p:attrNameLst>
                                      </p:cBhvr>
                                      <p:to>
                                        <p:strVal val="visible"/>
                                      </p:to>
                                    </p:set>
                                    <p:anim calcmode="discrete" valueType="clr">
                                      <p:cBhvr override="childStyle">
                                        <p:cTn id="31" dur="80"/>
                                        <p:tgtEl>
                                          <p:spTgt spid="12595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125957">
                                            <p:txEl>
                                              <p:pRg st="3" end="3"/>
                                            </p:txEl>
                                          </p:spTgt>
                                        </p:tgtEl>
                                        <p:attrNameLst>
                                          <p:attrName>fillcolor</p:attrName>
                                        </p:attrNameLst>
                                      </p:cBhvr>
                                      <p:tavLst>
                                        <p:tav tm="0">
                                          <p:val>
                                            <p:clrVal>
                                              <a:schemeClr val="accent2"/>
                                            </p:clrVal>
                                          </p:val>
                                        </p:tav>
                                        <p:tav tm="50000">
                                          <p:val>
                                            <p:clrVal>
                                              <a:schemeClr val="hlink"/>
                                            </p:clrVal>
                                          </p:val>
                                        </p:tav>
                                      </p:tavLst>
                                    </p:anim>
                                    <p:set>
                                      <p:cBhvr>
                                        <p:cTn id="33" dur="80"/>
                                        <p:tgtEl>
                                          <p:spTgt spid="125957">
                                            <p:txEl>
                                              <p:pRg st="3" end="3"/>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27" presetClass="entr" presetSubtype="0" fill="hold" nodeType="clickEffect">
                                  <p:stCondLst>
                                    <p:cond delay="0"/>
                                  </p:stCondLst>
                                  <p:iterate type="lt">
                                    <p:tmPct val="50000"/>
                                  </p:iterate>
                                  <p:childTnLst>
                                    <p:set>
                                      <p:cBhvr>
                                        <p:cTn id="37" dur="1" fill="hold">
                                          <p:stCondLst>
                                            <p:cond delay="0"/>
                                          </p:stCondLst>
                                        </p:cTn>
                                        <p:tgtEl>
                                          <p:spTgt spid="125957">
                                            <p:txEl>
                                              <p:pRg st="4" end="4"/>
                                            </p:txEl>
                                          </p:spTgt>
                                        </p:tgtEl>
                                        <p:attrNameLst>
                                          <p:attrName>style.visibility</p:attrName>
                                        </p:attrNameLst>
                                      </p:cBhvr>
                                      <p:to>
                                        <p:strVal val="visible"/>
                                      </p:to>
                                    </p:set>
                                    <p:anim calcmode="discrete" valueType="clr">
                                      <p:cBhvr override="childStyle">
                                        <p:cTn id="38" dur="80"/>
                                        <p:tgtEl>
                                          <p:spTgt spid="12595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125957">
                                            <p:txEl>
                                              <p:pRg st="4" end="4"/>
                                            </p:txEl>
                                          </p:spTgt>
                                        </p:tgtEl>
                                        <p:attrNameLst>
                                          <p:attrName>fillcolor</p:attrName>
                                        </p:attrNameLst>
                                      </p:cBhvr>
                                      <p:tavLst>
                                        <p:tav tm="0">
                                          <p:val>
                                            <p:clrVal>
                                              <a:schemeClr val="accent2"/>
                                            </p:clrVal>
                                          </p:val>
                                        </p:tav>
                                        <p:tav tm="50000">
                                          <p:val>
                                            <p:clrVal>
                                              <a:schemeClr val="hlink"/>
                                            </p:clrVal>
                                          </p:val>
                                        </p:tav>
                                      </p:tavLst>
                                    </p:anim>
                                    <p:set>
                                      <p:cBhvr>
                                        <p:cTn id="40" dur="80"/>
                                        <p:tgtEl>
                                          <p:spTgt spid="125957">
                                            <p:txEl>
                                              <p:pRg st="4" end="4"/>
                                            </p:txEl>
                                          </p:spTgt>
                                        </p:tgtEl>
                                        <p:attrNameLst>
                                          <p:attrName>fill.type</p:attrName>
                                        </p:attrNameLst>
                                      </p:cBhvr>
                                      <p:to>
                                        <p:strVal val="solid"/>
                                      </p:to>
                                    </p:set>
                                  </p:childTnLst>
                                </p:cTn>
                              </p:par>
                            </p:childTnLst>
                          </p:cTn>
                        </p:par>
                      </p:childTnLst>
                    </p:cTn>
                  </p:par>
                  <p:par>
                    <p:cTn id="41" fill="hold">
                      <p:stCondLst>
                        <p:cond delay="indefinite"/>
                      </p:stCondLst>
                      <p:childTnLst>
                        <p:par>
                          <p:cTn id="42" fill="hold">
                            <p:stCondLst>
                              <p:cond delay="0"/>
                            </p:stCondLst>
                            <p:childTnLst>
                              <p:par>
                                <p:cTn id="43" presetID="27" presetClass="entr" presetSubtype="0" fill="hold" nodeType="clickEffect">
                                  <p:stCondLst>
                                    <p:cond delay="0"/>
                                  </p:stCondLst>
                                  <p:iterate type="lt">
                                    <p:tmPct val="50000"/>
                                  </p:iterate>
                                  <p:childTnLst>
                                    <p:set>
                                      <p:cBhvr>
                                        <p:cTn id="44" dur="1" fill="hold">
                                          <p:stCondLst>
                                            <p:cond delay="0"/>
                                          </p:stCondLst>
                                        </p:cTn>
                                        <p:tgtEl>
                                          <p:spTgt spid="125957">
                                            <p:txEl>
                                              <p:pRg st="5" end="5"/>
                                            </p:txEl>
                                          </p:spTgt>
                                        </p:tgtEl>
                                        <p:attrNameLst>
                                          <p:attrName>style.visibility</p:attrName>
                                        </p:attrNameLst>
                                      </p:cBhvr>
                                      <p:to>
                                        <p:strVal val="visible"/>
                                      </p:to>
                                    </p:set>
                                    <p:anim calcmode="discrete" valueType="clr">
                                      <p:cBhvr override="childStyle">
                                        <p:cTn id="45" dur="80"/>
                                        <p:tgtEl>
                                          <p:spTgt spid="12595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6" dur="80"/>
                                        <p:tgtEl>
                                          <p:spTgt spid="125957">
                                            <p:txEl>
                                              <p:pRg st="5" end="5"/>
                                            </p:txEl>
                                          </p:spTgt>
                                        </p:tgtEl>
                                        <p:attrNameLst>
                                          <p:attrName>fillcolor</p:attrName>
                                        </p:attrNameLst>
                                      </p:cBhvr>
                                      <p:tavLst>
                                        <p:tav tm="0">
                                          <p:val>
                                            <p:clrVal>
                                              <a:schemeClr val="accent2"/>
                                            </p:clrVal>
                                          </p:val>
                                        </p:tav>
                                        <p:tav tm="50000">
                                          <p:val>
                                            <p:clrVal>
                                              <a:schemeClr val="hlink"/>
                                            </p:clrVal>
                                          </p:val>
                                        </p:tav>
                                      </p:tavLst>
                                    </p:anim>
                                    <p:set>
                                      <p:cBhvr>
                                        <p:cTn id="47" dur="80"/>
                                        <p:tgtEl>
                                          <p:spTgt spid="125957">
                                            <p:txEl>
                                              <p:pRg st="5" end="5"/>
                                            </p:txEl>
                                          </p:spTgt>
                                        </p:tgtEl>
                                        <p:attrNameLst>
                                          <p:attrName>fill.type</p:attrName>
                                        </p:attrNameLst>
                                      </p:cBhvr>
                                      <p:to>
                                        <p:strVal val="solid"/>
                                      </p:to>
                                    </p:set>
                                  </p:childTnLst>
                                </p:cTn>
                              </p:par>
                            </p:childTnLst>
                          </p:cTn>
                        </p:par>
                      </p:childTnLst>
                    </p:cTn>
                  </p:par>
                  <p:par>
                    <p:cTn id="48" fill="hold">
                      <p:stCondLst>
                        <p:cond delay="indefinite"/>
                      </p:stCondLst>
                      <p:childTnLst>
                        <p:par>
                          <p:cTn id="49" fill="hold">
                            <p:stCondLst>
                              <p:cond delay="0"/>
                            </p:stCondLst>
                            <p:childTnLst>
                              <p:par>
                                <p:cTn id="50" presetID="27" presetClass="entr" presetSubtype="0" fill="hold" nodeType="clickEffect">
                                  <p:stCondLst>
                                    <p:cond delay="0"/>
                                  </p:stCondLst>
                                  <p:iterate type="lt">
                                    <p:tmPct val="50000"/>
                                  </p:iterate>
                                  <p:childTnLst>
                                    <p:set>
                                      <p:cBhvr>
                                        <p:cTn id="51" dur="1" fill="hold">
                                          <p:stCondLst>
                                            <p:cond delay="0"/>
                                          </p:stCondLst>
                                        </p:cTn>
                                        <p:tgtEl>
                                          <p:spTgt spid="125957">
                                            <p:txEl>
                                              <p:pRg st="6" end="6"/>
                                            </p:txEl>
                                          </p:spTgt>
                                        </p:tgtEl>
                                        <p:attrNameLst>
                                          <p:attrName>style.visibility</p:attrName>
                                        </p:attrNameLst>
                                      </p:cBhvr>
                                      <p:to>
                                        <p:strVal val="visible"/>
                                      </p:to>
                                    </p:set>
                                    <p:anim calcmode="discrete" valueType="clr">
                                      <p:cBhvr override="childStyle">
                                        <p:cTn id="52" dur="80"/>
                                        <p:tgtEl>
                                          <p:spTgt spid="125957">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3" dur="80"/>
                                        <p:tgtEl>
                                          <p:spTgt spid="125957">
                                            <p:txEl>
                                              <p:pRg st="6" end="6"/>
                                            </p:txEl>
                                          </p:spTgt>
                                        </p:tgtEl>
                                        <p:attrNameLst>
                                          <p:attrName>fillcolor</p:attrName>
                                        </p:attrNameLst>
                                      </p:cBhvr>
                                      <p:tavLst>
                                        <p:tav tm="0">
                                          <p:val>
                                            <p:clrVal>
                                              <a:schemeClr val="accent2"/>
                                            </p:clrVal>
                                          </p:val>
                                        </p:tav>
                                        <p:tav tm="50000">
                                          <p:val>
                                            <p:clrVal>
                                              <a:schemeClr val="hlink"/>
                                            </p:clrVal>
                                          </p:val>
                                        </p:tav>
                                      </p:tavLst>
                                    </p:anim>
                                    <p:set>
                                      <p:cBhvr>
                                        <p:cTn id="54" dur="80"/>
                                        <p:tgtEl>
                                          <p:spTgt spid="125957">
                                            <p:txEl>
                                              <p:pRg st="6" end="6"/>
                                            </p:txEl>
                                          </p:spTgt>
                                        </p:tgtEl>
                                        <p:attrNameLst>
                                          <p:attrName>fill.type</p:attrName>
                                        </p:attrNameLst>
                                      </p:cBhvr>
                                      <p:to>
                                        <p:strVal val="solid"/>
                                      </p:to>
                                    </p:set>
                                  </p:childTnLst>
                                </p:cTn>
                              </p:par>
                            </p:childTnLst>
                          </p:cTn>
                        </p:par>
                      </p:childTnLst>
                    </p:cTn>
                  </p:par>
                  <p:par>
                    <p:cTn id="55" fill="hold">
                      <p:stCondLst>
                        <p:cond delay="indefinite"/>
                      </p:stCondLst>
                      <p:childTnLst>
                        <p:par>
                          <p:cTn id="56" fill="hold">
                            <p:stCondLst>
                              <p:cond delay="0"/>
                            </p:stCondLst>
                            <p:childTnLst>
                              <p:par>
                                <p:cTn id="57" presetID="27" presetClass="entr" presetSubtype="0" fill="hold" nodeType="clickEffect">
                                  <p:stCondLst>
                                    <p:cond delay="0"/>
                                  </p:stCondLst>
                                  <p:iterate type="lt">
                                    <p:tmPct val="50000"/>
                                  </p:iterate>
                                  <p:childTnLst>
                                    <p:set>
                                      <p:cBhvr>
                                        <p:cTn id="58" dur="1" fill="hold">
                                          <p:stCondLst>
                                            <p:cond delay="0"/>
                                          </p:stCondLst>
                                        </p:cTn>
                                        <p:tgtEl>
                                          <p:spTgt spid="125957">
                                            <p:txEl>
                                              <p:pRg st="7" end="7"/>
                                            </p:txEl>
                                          </p:spTgt>
                                        </p:tgtEl>
                                        <p:attrNameLst>
                                          <p:attrName>style.visibility</p:attrName>
                                        </p:attrNameLst>
                                      </p:cBhvr>
                                      <p:to>
                                        <p:strVal val="visible"/>
                                      </p:to>
                                    </p:set>
                                    <p:anim calcmode="discrete" valueType="clr">
                                      <p:cBhvr override="childStyle">
                                        <p:cTn id="59" dur="80"/>
                                        <p:tgtEl>
                                          <p:spTgt spid="125957">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0" dur="80"/>
                                        <p:tgtEl>
                                          <p:spTgt spid="125957">
                                            <p:txEl>
                                              <p:pRg st="7" end="7"/>
                                            </p:txEl>
                                          </p:spTgt>
                                        </p:tgtEl>
                                        <p:attrNameLst>
                                          <p:attrName>fillcolor</p:attrName>
                                        </p:attrNameLst>
                                      </p:cBhvr>
                                      <p:tavLst>
                                        <p:tav tm="0">
                                          <p:val>
                                            <p:clrVal>
                                              <a:schemeClr val="accent2"/>
                                            </p:clrVal>
                                          </p:val>
                                        </p:tav>
                                        <p:tav tm="50000">
                                          <p:val>
                                            <p:clrVal>
                                              <a:schemeClr val="hlink"/>
                                            </p:clrVal>
                                          </p:val>
                                        </p:tav>
                                      </p:tavLst>
                                    </p:anim>
                                    <p:set>
                                      <p:cBhvr>
                                        <p:cTn id="61" dur="80"/>
                                        <p:tgtEl>
                                          <p:spTgt spid="125957">
                                            <p:txEl>
                                              <p:pRg st="7" end="7"/>
                                            </p:txEl>
                                          </p:spTgt>
                                        </p:tgtEl>
                                        <p:attrNameLst>
                                          <p:attrName>fill.type</p:attrName>
                                        </p:attrNameLst>
                                      </p:cBhvr>
                                      <p:to>
                                        <p:strVal val="solid"/>
                                      </p:to>
                                    </p:set>
                                  </p:childTnLst>
                                </p:cTn>
                              </p:par>
                            </p:childTnLst>
                          </p:cTn>
                        </p:par>
                      </p:childTnLst>
                    </p:cTn>
                  </p:par>
                  <p:par>
                    <p:cTn id="62" fill="hold">
                      <p:stCondLst>
                        <p:cond delay="indefinite"/>
                      </p:stCondLst>
                      <p:childTnLst>
                        <p:par>
                          <p:cTn id="63" fill="hold">
                            <p:stCondLst>
                              <p:cond delay="0"/>
                            </p:stCondLst>
                            <p:childTnLst>
                              <p:par>
                                <p:cTn id="64" presetID="27" presetClass="entr" presetSubtype="0" fill="hold" nodeType="clickEffect">
                                  <p:stCondLst>
                                    <p:cond delay="0"/>
                                  </p:stCondLst>
                                  <p:iterate type="lt">
                                    <p:tmPct val="50000"/>
                                  </p:iterate>
                                  <p:childTnLst>
                                    <p:set>
                                      <p:cBhvr>
                                        <p:cTn id="65" dur="1" fill="hold">
                                          <p:stCondLst>
                                            <p:cond delay="0"/>
                                          </p:stCondLst>
                                        </p:cTn>
                                        <p:tgtEl>
                                          <p:spTgt spid="125957">
                                            <p:txEl>
                                              <p:pRg st="8" end="8"/>
                                            </p:txEl>
                                          </p:spTgt>
                                        </p:tgtEl>
                                        <p:attrNameLst>
                                          <p:attrName>style.visibility</p:attrName>
                                        </p:attrNameLst>
                                      </p:cBhvr>
                                      <p:to>
                                        <p:strVal val="visible"/>
                                      </p:to>
                                    </p:set>
                                    <p:anim calcmode="discrete" valueType="clr">
                                      <p:cBhvr override="childStyle">
                                        <p:cTn id="66" dur="80"/>
                                        <p:tgtEl>
                                          <p:spTgt spid="125957">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7" dur="80"/>
                                        <p:tgtEl>
                                          <p:spTgt spid="125957">
                                            <p:txEl>
                                              <p:pRg st="8" end="8"/>
                                            </p:txEl>
                                          </p:spTgt>
                                        </p:tgtEl>
                                        <p:attrNameLst>
                                          <p:attrName>fillcolor</p:attrName>
                                        </p:attrNameLst>
                                      </p:cBhvr>
                                      <p:tavLst>
                                        <p:tav tm="0">
                                          <p:val>
                                            <p:clrVal>
                                              <a:schemeClr val="accent2"/>
                                            </p:clrVal>
                                          </p:val>
                                        </p:tav>
                                        <p:tav tm="50000">
                                          <p:val>
                                            <p:clrVal>
                                              <a:schemeClr val="hlink"/>
                                            </p:clrVal>
                                          </p:val>
                                        </p:tav>
                                      </p:tavLst>
                                    </p:anim>
                                    <p:set>
                                      <p:cBhvr>
                                        <p:cTn id="68" dur="80"/>
                                        <p:tgtEl>
                                          <p:spTgt spid="125957">
                                            <p:txEl>
                                              <p:pRg st="8" end="8"/>
                                            </p:txEl>
                                          </p:spTgt>
                                        </p:tgtEl>
                                        <p:attrNameLst>
                                          <p:attrName>fill.type</p:attrName>
                                        </p:attrNameLst>
                                      </p:cBhvr>
                                      <p:to>
                                        <p:strVal val="solid"/>
                                      </p:to>
                                    </p:set>
                                  </p:childTnLst>
                                </p:cTn>
                              </p:par>
                            </p:childTnLst>
                          </p:cTn>
                        </p:par>
                      </p:childTnLst>
                    </p:cTn>
                  </p:par>
                  <p:par>
                    <p:cTn id="69" fill="hold">
                      <p:stCondLst>
                        <p:cond delay="indefinite"/>
                      </p:stCondLst>
                      <p:childTnLst>
                        <p:par>
                          <p:cTn id="70" fill="hold">
                            <p:stCondLst>
                              <p:cond delay="0"/>
                            </p:stCondLst>
                            <p:childTnLst>
                              <p:par>
                                <p:cTn id="71" presetID="27" presetClass="entr" presetSubtype="0" fill="hold" nodeType="clickEffect">
                                  <p:stCondLst>
                                    <p:cond delay="0"/>
                                  </p:stCondLst>
                                  <p:iterate type="lt">
                                    <p:tmPct val="50000"/>
                                  </p:iterate>
                                  <p:childTnLst>
                                    <p:set>
                                      <p:cBhvr>
                                        <p:cTn id="72" dur="1" fill="hold">
                                          <p:stCondLst>
                                            <p:cond delay="0"/>
                                          </p:stCondLst>
                                        </p:cTn>
                                        <p:tgtEl>
                                          <p:spTgt spid="125957">
                                            <p:txEl>
                                              <p:pRg st="9" end="9"/>
                                            </p:txEl>
                                          </p:spTgt>
                                        </p:tgtEl>
                                        <p:attrNameLst>
                                          <p:attrName>style.visibility</p:attrName>
                                        </p:attrNameLst>
                                      </p:cBhvr>
                                      <p:to>
                                        <p:strVal val="visible"/>
                                      </p:to>
                                    </p:set>
                                    <p:anim calcmode="discrete" valueType="clr">
                                      <p:cBhvr override="childStyle">
                                        <p:cTn id="73" dur="80"/>
                                        <p:tgtEl>
                                          <p:spTgt spid="125957">
                                            <p:txEl>
                                              <p:p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4" dur="80"/>
                                        <p:tgtEl>
                                          <p:spTgt spid="125957">
                                            <p:txEl>
                                              <p:pRg st="9" end="9"/>
                                            </p:txEl>
                                          </p:spTgt>
                                        </p:tgtEl>
                                        <p:attrNameLst>
                                          <p:attrName>fillcolor</p:attrName>
                                        </p:attrNameLst>
                                      </p:cBhvr>
                                      <p:tavLst>
                                        <p:tav tm="0">
                                          <p:val>
                                            <p:clrVal>
                                              <a:schemeClr val="accent2"/>
                                            </p:clrVal>
                                          </p:val>
                                        </p:tav>
                                        <p:tav tm="50000">
                                          <p:val>
                                            <p:clrVal>
                                              <a:schemeClr val="hlink"/>
                                            </p:clrVal>
                                          </p:val>
                                        </p:tav>
                                      </p:tavLst>
                                    </p:anim>
                                    <p:set>
                                      <p:cBhvr>
                                        <p:cTn id="75" dur="80"/>
                                        <p:tgtEl>
                                          <p:spTgt spid="125957">
                                            <p:txEl>
                                              <p:pRg st="9" end="9"/>
                                            </p:txEl>
                                          </p:spTgt>
                                        </p:tgtEl>
                                        <p:attrNameLst>
                                          <p:attrName>fill.type</p:attrName>
                                        </p:attrNameLst>
                                      </p:cBhvr>
                                      <p:to>
                                        <p:strVal val="solid"/>
                                      </p:to>
                                    </p:se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nodeType="clickEffect">
                                  <p:stCondLst>
                                    <p:cond delay="0"/>
                                  </p:stCondLst>
                                  <p:childTnLst>
                                    <p:set>
                                      <p:cBhvr>
                                        <p:cTn id="79" dur="1" fill="hold">
                                          <p:stCondLst>
                                            <p:cond delay="0"/>
                                          </p:stCondLst>
                                        </p:cTn>
                                        <p:tgtEl>
                                          <p:spTgt spid="7">
                                            <p:txEl>
                                              <p:pRg st="0" end="0"/>
                                            </p:txEl>
                                          </p:spTgt>
                                        </p:tgtEl>
                                        <p:attrNameLst>
                                          <p:attrName>style.visibility</p:attrName>
                                        </p:attrNameLst>
                                      </p:cBhvr>
                                      <p:to>
                                        <p:strVal val="visible"/>
                                      </p:to>
                                    </p:set>
                                    <p:animEffect transition="in" filter="dissolve">
                                      <p:cBhvr>
                                        <p:cTn id="80" dur="500"/>
                                        <p:tgtEl>
                                          <p:spTgt spid="7">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7">
                                            <p:txEl>
                                              <p:pRg st="1" end="1"/>
                                            </p:txEl>
                                          </p:spTgt>
                                        </p:tgtEl>
                                        <p:attrNameLst>
                                          <p:attrName>style.visibility</p:attrName>
                                        </p:attrNameLst>
                                      </p:cBhvr>
                                      <p:to>
                                        <p:strVal val="visible"/>
                                      </p:to>
                                    </p:set>
                                    <p:animEffect transition="in" filter="dissolve">
                                      <p:cBhvr>
                                        <p:cTn id="85" dur="500"/>
                                        <p:tgtEl>
                                          <p:spTgt spid="7">
                                            <p:txEl>
                                              <p:pRg st="1" end="1"/>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7" presetClass="entr" presetSubtype="0" fill="hold" nodeType="clickEffect">
                                  <p:stCondLst>
                                    <p:cond delay="0"/>
                                  </p:stCondLst>
                                  <p:iterate type="lt">
                                    <p:tmPct val="50000"/>
                                  </p:iterate>
                                  <p:childTnLst>
                                    <p:set>
                                      <p:cBhvr>
                                        <p:cTn id="89" dur="1" fill="hold">
                                          <p:stCondLst>
                                            <p:cond delay="0"/>
                                          </p:stCondLst>
                                        </p:cTn>
                                        <p:tgtEl>
                                          <p:spTgt spid="7">
                                            <p:txEl>
                                              <p:pRg st="2" end="2"/>
                                            </p:txEl>
                                          </p:spTgt>
                                        </p:tgtEl>
                                        <p:attrNameLst>
                                          <p:attrName>style.visibility</p:attrName>
                                        </p:attrNameLst>
                                      </p:cBhvr>
                                      <p:to>
                                        <p:strVal val="visible"/>
                                      </p:to>
                                    </p:set>
                                    <p:anim calcmode="discrete" valueType="clr">
                                      <p:cBhvr override="childStyle">
                                        <p:cTn id="90" dur="80"/>
                                        <p:tgtEl>
                                          <p:spTgt spid="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1" dur="80"/>
                                        <p:tgtEl>
                                          <p:spTgt spid="7">
                                            <p:txEl>
                                              <p:pRg st="2" end="2"/>
                                            </p:txEl>
                                          </p:spTgt>
                                        </p:tgtEl>
                                        <p:attrNameLst>
                                          <p:attrName>fillcolor</p:attrName>
                                        </p:attrNameLst>
                                      </p:cBhvr>
                                      <p:tavLst>
                                        <p:tav tm="0">
                                          <p:val>
                                            <p:clrVal>
                                              <a:schemeClr val="accent2"/>
                                            </p:clrVal>
                                          </p:val>
                                        </p:tav>
                                        <p:tav tm="50000">
                                          <p:val>
                                            <p:clrVal>
                                              <a:schemeClr val="hlink"/>
                                            </p:clrVal>
                                          </p:val>
                                        </p:tav>
                                      </p:tavLst>
                                    </p:anim>
                                    <p:set>
                                      <p:cBhvr>
                                        <p:cTn id="92" dur="80"/>
                                        <p:tgtEl>
                                          <p:spTgt spid="7">
                                            <p:txEl>
                                              <p:pRg st="2" end="2"/>
                                            </p:txEl>
                                          </p:spTgt>
                                        </p:tgtEl>
                                        <p:attrNameLst>
                                          <p:attrName>fill.type</p:attrName>
                                        </p:attrNameLst>
                                      </p:cBhvr>
                                      <p:to>
                                        <p:strVal val="solid"/>
                                      </p:to>
                                    </p:set>
                                  </p:childTnLst>
                                </p:cTn>
                              </p:par>
                            </p:childTnLst>
                          </p:cTn>
                        </p:par>
                      </p:childTnLst>
                    </p:cTn>
                  </p:par>
                  <p:par>
                    <p:cTn id="93" fill="hold">
                      <p:stCondLst>
                        <p:cond delay="indefinite"/>
                      </p:stCondLst>
                      <p:childTnLst>
                        <p:par>
                          <p:cTn id="94" fill="hold">
                            <p:stCondLst>
                              <p:cond delay="0"/>
                            </p:stCondLst>
                            <p:childTnLst>
                              <p:par>
                                <p:cTn id="95" presetID="27" presetClass="entr" presetSubtype="0" fill="hold" nodeType="clickEffect">
                                  <p:stCondLst>
                                    <p:cond delay="0"/>
                                  </p:stCondLst>
                                  <p:iterate type="lt">
                                    <p:tmPct val="50000"/>
                                  </p:iterate>
                                  <p:childTnLst>
                                    <p:set>
                                      <p:cBhvr>
                                        <p:cTn id="96" dur="1" fill="hold">
                                          <p:stCondLst>
                                            <p:cond delay="0"/>
                                          </p:stCondLst>
                                        </p:cTn>
                                        <p:tgtEl>
                                          <p:spTgt spid="7">
                                            <p:txEl>
                                              <p:pRg st="3" end="3"/>
                                            </p:txEl>
                                          </p:spTgt>
                                        </p:tgtEl>
                                        <p:attrNameLst>
                                          <p:attrName>style.visibility</p:attrName>
                                        </p:attrNameLst>
                                      </p:cBhvr>
                                      <p:to>
                                        <p:strVal val="visible"/>
                                      </p:to>
                                    </p:set>
                                    <p:anim calcmode="discrete" valueType="clr">
                                      <p:cBhvr override="childStyle">
                                        <p:cTn id="97" dur="80"/>
                                        <p:tgtEl>
                                          <p:spTgt spid="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8" dur="80"/>
                                        <p:tgtEl>
                                          <p:spTgt spid="7">
                                            <p:txEl>
                                              <p:pRg st="3" end="3"/>
                                            </p:txEl>
                                          </p:spTgt>
                                        </p:tgtEl>
                                        <p:attrNameLst>
                                          <p:attrName>fillcolor</p:attrName>
                                        </p:attrNameLst>
                                      </p:cBhvr>
                                      <p:tavLst>
                                        <p:tav tm="0">
                                          <p:val>
                                            <p:clrVal>
                                              <a:schemeClr val="accent2"/>
                                            </p:clrVal>
                                          </p:val>
                                        </p:tav>
                                        <p:tav tm="50000">
                                          <p:val>
                                            <p:clrVal>
                                              <a:schemeClr val="hlink"/>
                                            </p:clrVal>
                                          </p:val>
                                        </p:tav>
                                      </p:tavLst>
                                    </p:anim>
                                    <p:set>
                                      <p:cBhvr>
                                        <p:cTn id="99" dur="80"/>
                                        <p:tgtEl>
                                          <p:spTgt spid="7">
                                            <p:txEl>
                                              <p:pRg st="3" end="3"/>
                                            </p:txEl>
                                          </p:spTgt>
                                        </p:tgtEl>
                                        <p:attrNameLst>
                                          <p:attrName>fill.type</p:attrName>
                                        </p:attrNameLst>
                                      </p:cBhvr>
                                      <p:to>
                                        <p:strVal val="solid"/>
                                      </p:to>
                                    </p:set>
                                  </p:childTnLst>
                                </p:cTn>
                              </p:par>
                            </p:childTnLst>
                          </p:cTn>
                        </p:par>
                      </p:childTnLst>
                    </p:cTn>
                  </p:par>
                  <p:par>
                    <p:cTn id="100" fill="hold">
                      <p:stCondLst>
                        <p:cond delay="indefinite"/>
                      </p:stCondLst>
                      <p:childTnLst>
                        <p:par>
                          <p:cTn id="101" fill="hold">
                            <p:stCondLst>
                              <p:cond delay="0"/>
                            </p:stCondLst>
                            <p:childTnLst>
                              <p:par>
                                <p:cTn id="102" presetID="27" presetClass="entr" presetSubtype="0" fill="hold" nodeType="clickEffect">
                                  <p:stCondLst>
                                    <p:cond delay="0"/>
                                  </p:stCondLst>
                                  <p:iterate type="lt">
                                    <p:tmPct val="50000"/>
                                  </p:iterate>
                                  <p:childTnLst>
                                    <p:set>
                                      <p:cBhvr>
                                        <p:cTn id="103" dur="1" fill="hold">
                                          <p:stCondLst>
                                            <p:cond delay="0"/>
                                          </p:stCondLst>
                                        </p:cTn>
                                        <p:tgtEl>
                                          <p:spTgt spid="7">
                                            <p:txEl>
                                              <p:pRg st="4" end="4"/>
                                            </p:txEl>
                                          </p:spTgt>
                                        </p:tgtEl>
                                        <p:attrNameLst>
                                          <p:attrName>style.visibility</p:attrName>
                                        </p:attrNameLst>
                                      </p:cBhvr>
                                      <p:to>
                                        <p:strVal val="visible"/>
                                      </p:to>
                                    </p:set>
                                    <p:anim calcmode="discrete" valueType="clr">
                                      <p:cBhvr override="childStyle">
                                        <p:cTn id="104" dur="80"/>
                                        <p:tgtEl>
                                          <p:spTgt spid="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05" dur="80"/>
                                        <p:tgtEl>
                                          <p:spTgt spid="7">
                                            <p:txEl>
                                              <p:pRg st="4" end="4"/>
                                            </p:txEl>
                                          </p:spTgt>
                                        </p:tgtEl>
                                        <p:attrNameLst>
                                          <p:attrName>fillcolor</p:attrName>
                                        </p:attrNameLst>
                                      </p:cBhvr>
                                      <p:tavLst>
                                        <p:tav tm="0">
                                          <p:val>
                                            <p:clrVal>
                                              <a:schemeClr val="accent2"/>
                                            </p:clrVal>
                                          </p:val>
                                        </p:tav>
                                        <p:tav tm="50000">
                                          <p:val>
                                            <p:clrVal>
                                              <a:schemeClr val="hlink"/>
                                            </p:clrVal>
                                          </p:val>
                                        </p:tav>
                                      </p:tavLst>
                                    </p:anim>
                                    <p:set>
                                      <p:cBhvr>
                                        <p:cTn id="106" dur="80"/>
                                        <p:tgtEl>
                                          <p:spTgt spid="7">
                                            <p:txEl>
                                              <p:pRg st="4" end="4"/>
                                            </p:txEl>
                                          </p:spTgt>
                                        </p:tgtEl>
                                        <p:attrNameLst>
                                          <p:attrName>fill.type</p:attrName>
                                        </p:attrNameLst>
                                      </p:cBhvr>
                                      <p:to>
                                        <p:strVal val="solid"/>
                                      </p:to>
                                    </p:set>
                                  </p:childTnLst>
                                </p:cTn>
                              </p:par>
                            </p:childTnLst>
                          </p:cTn>
                        </p:par>
                      </p:childTnLst>
                    </p:cTn>
                  </p:par>
                  <p:par>
                    <p:cTn id="107" fill="hold">
                      <p:stCondLst>
                        <p:cond delay="indefinite"/>
                      </p:stCondLst>
                      <p:childTnLst>
                        <p:par>
                          <p:cTn id="108" fill="hold">
                            <p:stCondLst>
                              <p:cond delay="0"/>
                            </p:stCondLst>
                            <p:childTnLst>
                              <p:par>
                                <p:cTn id="109" presetID="27" presetClass="entr" presetSubtype="0" fill="hold" nodeType="clickEffect">
                                  <p:stCondLst>
                                    <p:cond delay="0"/>
                                  </p:stCondLst>
                                  <p:iterate type="lt">
                                    <p:tmPct val="50000"/>
                                  </p:iterate>
                                  <p:childTnLst>
                                    <p:set>
                                      <p:cBhvr>
                                        <p:cTn id="110" dur="1" fill="hold">
                                          <p:stCondLst>
                                            <p:cond delay="0"/>
                                          </p:stCondLst>
                                        </p:cTn>
                                        <p:tgtEl>
                                          <p:spTgt spid="7">
                                            <p:txEl>
                                              <p:pRg st="5" end="5"/>
                                            </p:txEl>
                                          </p:spTgt>
                                        </p:tgtEl>
                                        <p:attrNameLst>
                                          <p:attrName>style.visibility</p:attrName>
                                        </p:attrNameLst>
                                      </p:cBhvr>
                                      <p:to>
                                        <p:strVal val="visible"/>
                                      </p:to>
                                    </p:set>
                                    <p:anim calcmode="discrete" valueType="clr">
                                      <p:cBhvr override="childStyle">
                                        <p:cTn id="111" dur="80"/>
                                        <p:tgtEl>
                                          <p:spTgt spid="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2" dur="80"/>
                                        <p:tgtEl>
                                          <p:spTgt spid="7">
                                            <p:txEl>
                                              <p:pRg st="5" end="5"/>
                                            </p:txEl>
                                          </p:spTgt>
                                        </p:tgtEl>
                                        <p:attrNameLst>
                                          <p:attrName>fillcolor</p:attrName>
                                        </p:attrNameLst>
                                      </p:cBhvr>
                                      <p:tavLst>
                                        <p:tav tm="0">
                                          <p:val>
                                            <p:clrVal>
                                              <a:schemeClr val="accent2"/>
                                            </p:clrVal>
                                          </p:val>
                                        </p:tav>
                                        <p:tav tm="50000">
                                          <p:val>
                                            <p:clrVal>
                                              <a:schemeClr val="hlink"/>
                                            </p:clrVal>
                                          </p:val>
                                        </p:tav>
                                      </p:tavLst>
                                    </p:anim>
                                    <p:set>
                                      <p:cBhvr>
                                        <p:cTn id="113" dur="80"/>
                                        <p:tgtEl>
                                          <p:spTgt spid="7">
                                            <p:txEl>
                                              <p:pRg st="5" end="5"/>
                                            </p:txEl>
                                          </p:spTgt>
                                        </p:tgtEl>
                                        <p:attrNameLst>
                                          <p:attrName>fill.type</p:attrName>
                                        </p:attrNameLst>
                                      </p:cBhvr>
                                      <p:to>
                                        <p:strVal val="solid"/>
                                      </p:to>
                                    </p:set>
                                  </p:childTnLst>
                                </p:cTn>
                              </p:par>
                            </p:childTnLst>
                          </p:cTn>
                        </p:par>
                      </p:childTnLst>
                    </p:cTn>
                  </p:par>
                  <p:par>
                    <p:cTn id="114" fill="hold">
                      <p:stCondLst>
                        <p:cond delay="indefinite"/>
                      </p:stCondLst>
                      <p:childTnLst>
                        <p:par>
                          <p:cTn id="115" fill="hold">
                            <p:stCondLst>
                              <p:cond delay="0"/>
                            </p:stCondLst>
                            <p:childTnLst>
                              <p:par>
                                <p:cTn id="116" presetID="27" presetClass="entr" presetSubtype="0" fill="hold" nodeType="clickEffect">
                                  <p:stCondLst>
                                    <p:cond delay="0"/>
                                  </p:stCondLst>
                                  <p:iterate type="lt">
                                    <p:tmPct val="50000"/>
                                  </p:iterate>
                                  <p:childTnLst>
                                    <p:set>
                                      <p:cBhvr>
                                        <p:cTn id="117" dur="1" fill="hold">
                                          <p:stCondLst>
                                            <p:cond delay="0"/>
                                          </p:stCondLst>
                                        </p:cTn>
                                        <p:tgtEl>
                                          <p:spTgt spid="7">
                                            <p:txEl>
                                              <p:pRg st="6" end="6"/>
                                            </p:txEl>
                                          </p:spTgt>
                                        </p:tgtEl>
                                        <p:attrNameLst>
                                          <p:attrName>style.visibility</p:attrName>
                                        </p:attrNameLst>
                                      </p:cBhvr>
                                      <p:to>
                                        <p:strVal val="visible"/>
                                      </p:to>
                                    </p:set>
                                    <p:anim calcmode="discrete" valueType="clr">
                                      <p:cBhvr override="childStyle">
                                        <p:cTn id="118" dur="80"/>
                                        <p:tgtEl>
                                          <p:spTgt spid="7">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9" dur="80"/>
                                        <p:tgtEl>
                                          <p:spTgt spid="7">
                                            <p:txEl>
                                              <p:pRg st="6" end="6"/>
                                            </p:txEl>
                                          </p:spTgt>
                                        </p:tgtEl>
                                        <p:attrNameLst>
                                          <p:attrName>fillcolor</p:attrName>
                                        </p:attrNameLst>
                                      </p:cBhvr>
                                      <p:tavLst>
                                        <p:tav tm="0">
                                          <p:val>
                                            <p:clrVal>
                                              <a:schemeClr val="accent2"/>
                                            </p:clrVal>
                                          </p:val>
                                        </p:tav>
                                        <p:tav tm="50000">
                                          <p:val>
                                            <p:clrVal>
                                              <a:schemeClr val="hlink"/>
                                            </p:clrVal>
                                          </p:val>
                                        </p:tav>
                                      </p:tavLst>
                                    </p:anim>
                                    <p:set>
                                      <p:cBhvr>
                                        <p:cTn id="120" dur="80"/>
                                        <p:tgtEl>
                                          <p:spTgt spid="7">
                                            <p:txEl>
                                              <p:pRg st="6" end="6"/>
                                            </p:txEl>
                                          </p:spTgt>
                                        </p:tgtEl>
                                        <p:attrNameLst>
                                          <p:attrName>fill.type</p:attrName>
                                        </p:attrNameLst>
                                      </p:cBhvr>
                                      <p:to>
                                        <p:strVal val="solid"/>
                                      </p:to>
                                    </p:set>
                                  </p:childTnLst>
                                </p:cTn>
                              </p:par>
                            </p:childTnLst>
                          </p:cTn>
                        </p:par>
                      </p:childTnLst>
                    </p:cTn>
                  </p:par>
                  <p:par>
                    <p:cTn id="121" fill="hold">
                      <p:stCondLst>
                        <p:cond delay="indefinite"/>
                      </p:stCondLst>
                      <p:childTnLst>
                        <p:par>
                          <p:cTn id="122" fill="hold">
                            <p:stCondLst>
                              <p:cond delay="0"/>
                            </p:stCondLst>
                            <p:childTnLst>
                              <p:par>
                                <p:cTn id="123" presetID="27" presetClass="entr" presetSubtype="0" fill="hold" nodeType="clickEffect">
                                  <p:stCondLst>
                                    <p:cond delay="0"/>
                                  </p:stCondLst>
                                  <p:iterate type="lt">
                                    <p:tmPct val="50000"/>
                                  </p:iterate>
                                  <p:childTnLst>
                                    <p:set>
                                      <p:cBhvr>
                                        <p:cTn id="124" dur="1" fill="hold">
                                          <p:stCondLst>
                                            <p:cond delay="0"/>
                                          </p:stCondLst>
                                        </p:cTn>
                                        <p:tgtEl>
                                          <p:spTgt spid="7">
                                            <p:txEl>
                                              <p:pRg st="7" end="7"/>
                                            </p:txEl>
                                          </p:spTgt>
                                        </p:tgtEl>
                                        <p:attrNameLst>
                                          <p:attrName>style.visibility</p:attrName>
                                        </p:attrNameLst>
                                      </p:cBhvr>
                                      <p:to>
                                        <p:strVal val="visible"/>
                                      </p:to>
                                    </p:set>
                                    <p:anim calcmode="discrete" valueType="clr">
                                      <p:cBhvr override="childStyle">
                                        <p:cTn id="125" dur="80"/>
                                        <p:tgtEl>
                                          <p:spTgt spid="7">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26" dur="80"/>
                                        <p:tgtEl>
                                          <p:spTgt spid="7">
                                            <p:txEl>
                                              <p:pRg st="7" end="7"/>
                                            </p:txEl>
                                          </p:spTgt>
                                        </p:tgtEl>
                                        <p:attrNameLst>
                                          <p:attrName>fillcolor</p:attrName>
                                        </p:attrNameLst>
                                      </p:cBhvr>
                                      <p:tavLst>
                                        <p:tav tm="0">
                                          <p:val>
                                            <p:clrVal>
                                              <a:schemeClr val="accent2"/>
                                            </p:clrVal>
                                          </p:val>
                                        </p:tav>
                                        <p:tav tm="50000">
                                          <p:val>
                                            <p:clrVal>
                                              <a:schemeClr val="hlink"/>
                                            </p:clrVal>
                                          </p:val>
                                        </p:tav>
                                      </p:tavLst>
                                    </p:anim>
                                    <p:set>
                                      <p:cBhvr>
                                        <p:cTn id="127" dur="80"/>
                                        <p:tgtEl>
                                          <p:spTgt spid="7">
                                            <p:txEl>
                                              <p:pRg st="7" end="7"/>
                                            </p:txEl>
                                          </p:spTgt>
                                        </p:tgtEl>
                                        <p:attrNameLst>
                                          <p:attrName>fill.type</p:attrName>
                                        </p:attrNameLst>
                                      </p:cBhvr>
                                      <p:to>
                                        <p:strVal val="solid"/>
                                      </p:to>
                                    </p:set>
                                  </p:childTnLst>
                                </p:cTn>
                              </p:par>
                            </p:childTnLst>
                          </p:cTn>
                        </p:par>
                      </p:childTnLst>
                    </p:cTn>
                  </p:par>
                  <p:par>
                    <p:cTn id="128" fill="hold">
                      <p:stCondLst>
                        <p:cond delay="indefinite"/>
                      </p:stCondLst>
                      <p:childTnLst>
                        <p:par>
                          <p:cTn id="129" fill="hold">
                            <p:stCondLst>
                              <p:cond delay="0"/>
                            </p:stCondLst>
                            <p:childTnLst>
                              <p:par>
                                <p:cTn id="130" presetID="27" presetClass="entr" presetSubtype="0" fill="hold" nodeType="clickEffect">
                                  <p:stCondLst>
                                    <p:cond delay="0"/>
                                  </p:stCondLst>
                                  <p:iterate type="lt">
                                    <p:tmPct val="50000"/>
                                  </p:iterate>
                                  <p:childTnLst>
                                    <p:set>
                                      <p:cBhvr>
                                        <p:cTn id="131" dur="1" fill="hold">
                                          <p:stCondLst>
                                            <p:cond delay="0"/>
                                          </p:stCondLst>
                                        </p:cTn>
                                        <p:tgtEl>
                                          <p:spTgt spid="7">
                                            <p:txEl>
                                              <p:pRg st="8" end="8"/>
                                            </p:txEl>
                                          </p:spTgt>
                                        </p:tgtEl>
                                        <p:attrNameLst>
                                          <p:attrName>style.visibility</p:attrName>
                                        </p:attrNameLst>
                                      </p:cBhvr>
                                      <p:to>
                                        <p:strVal val="visible"/>
                                      </p:to>
                                    </p:set>
                                    <p:anim calcmode="discrete" valueType="clr">
                                      <p:cBhvr override="childStyle">
                                        <p:cTn id="132" dur="80"/>
                                        <p:tgtEl>
                                          <p:spTgt spid="7">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3" dur="80"/>
                                        <p:tgtEl>
                                          <p:spTgt spid="7">
                                            <p:txEl>
                                              <p:pRg st="8" end="8"/>
                                            </p:txEl>
                                          </p:spTgt>
                                        </p:tgtEl>
                                        <p:attrNameLst>
                                          <p:attrName>fillcolor</p:attrName>
                                        </p:attrNameLst>
                                      </p:cBhvr>
                                      <p:tavLst>
                                        <p:tav tm="0">
                                          <p:val>
                                            <p:clrVal>
                                              <a:schemeClr val="accent2"/>
                                            </p:clrVal>
                                          </p:val>
                                        </p:tav>
                                        <p:tav tm="50000">
                                          <p:val>
                                            <p:clrVal>
                                              <a:schemeClr val="hlink"/>
                                            </p:clrVal>
                                          </p:val>
                                        </p:tav>
                                      </p:tavLst>
                                    </p:anim>
                                    <p:set>
                                      <p:cBhvr>
                                        <p:cTn id="134" dur="80"/>
                                        <p:tgtEl>
                                          <p:spTgt spid="7">
                                            <p:txEl>
                                              <p:pRg st="8" end="8"/>
                                            </p:txEl>
                                          </p:spTgt>
                                        </p:tgtEl>
                                        <p:attrNameLst>
                                          <p:attrName>fill.type</p:attrName>
                                        </p:attrNameLst>
                                      </p:cBhvr>
                                      <p:to>
                                        <p:strVal val="solid"/>
                                      </p:to>
                                    </p:set>
                                  </p:childTnLst>
                                </p:cTn>
                              </p:par>
                            </p:childTnLst>
                          </p:cTn>
                        </p:par>
                      </p:childTnLst>
                    </p:cTn>
                  </p:par>
                  <p:par>
                    <p:cTn id="135" fill="hold">
                      <p:stCondLst>
                        <p:cond delay="indefinite"/>
                      </p:stCondLst>
                      <p:childTnLst>
                        <p:par>
                          <p:cTn id="136" fill="hold">
                            <p:stCondLst>
                              <p:cond delay="0"/>
                            </p:stCondLst>
                            <p:childTnLst>
                              <p:par>
                                <p:cTn id="137" presetID="27" presetClass="entr" presetSubtype="0" fill="hold" nodeType="clickEffect">
                                  <p:stCondLst>
                                    <p:cond delay="0"/>
                                  </p:stCondLst>
                                  <p:iterate type="lt">
                                    <p:tmPct val="50000"/>
                                  </p:iterate>
                                  <p:childTnLst>
                                    <p:set>
                                      <p:cBhvr>
                                        <p:cTn id="138" dur="1" fill="hold">
                                          <p:stCondLst>
                                            <p:cond delay="0"/>
                                          </p:stCondLst>
                                        </p:cTn>
                                        <p:tgtEl>
                                          <p:spTgt spid="7">
                                            <p:txEl>
                                              <p:pRg st="9" end="9"/>
                                            </p:txEl>
                                          </p:spTgt>
                                        </p:tgtEl>
                                        <p:attrNameLst>
                                          <p:attrName>style.visibility</p:attrName>
                                        </p:attrNameLst>
                                      </p:cBhvr>
                                      <p:to>
                                        <p:strVal val="visible"/>
                                      </p:to>
                                    </p:set>
                                    <p:anim calcmode="discrete" valueType="clr">
                                      <p:cBhvr override="childStyle">
                                        <p:cTn id="139" dur="80"/>
                                        <p:tgtEl>
                                          <p:spTgt spid="7">
                                            <p:txEl>
                                              <p:p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0" dur="80"/>
                                        <p:tgtEl>
                                          <p:spTgt spid="7">
                                            <p:txEl>
                                              <p:pRg st="9" end="9"/>
                                            </p:txEl>
                                          </p:spTgt>
                                        </p:tgtEl>
                                        <p:attrNameLst>
                                          <p:attrName>fillcolor</p:attrName>
                                        </p:attrNameLst>
                                      </p:cBhvr>
                                      <p:tavLst>
                                        <p:tav tm="0">
                                          <p:val>
                                            <p:clrVal>
                                              <a:schemeClr val="accent2"/>
                                            </p:clrVal>
                                          </p:val>
                                        </p:tav>
                                        <p:tav tm="50000">
                                          <p:val>
                                            <p:clrVal>
                                              <a:schemeClr val="hlink"/>
                                            </p:clrVal>
                                          </p:val>
                                        </p:tav>
                                      </p:tavLst>
                                    </p:anim>
                                    <p:set>
                                      <p:cBhvr>
                                        <p:cTn id="141" dur="80"/>
                                        <p:tgtEl>
                                          <p:spTgt spid="7">
                                            <p:txEl>
                                              <p:p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9" name="Text Box 5"/>
          <p:cNvSpPr txBox="1">
            <a:spLocks noChangeArrowheads="1"/>
          </p:cNvSpPr>
          <p:nvPr/>
        </p:nvSpPr>
        <p:spPr bwMode="auto">
          <a:xfrm>
            <a:off x="1415480" y="2523216"/>
            <a:ext cx="4680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just" eaLnBrk="1" hangingPunct="1">
              <a:spcBef>
                <a:spcPct val="50000"/>
              </a:spcBef>
              <a:buNone/>
              <a:defRPr sz="2000">
                <a:solidFill>
                  <a:srgbClr val="FFFF00"/>
                </a:solidFill>
              </a:defRPr>
            </a:lvl1pPr>
            <a:lvl2pPr>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pPr algn="l"/>
            <a:r>
              <a:rPr lang="en-US" altLang="zh-CN" sz="2400" b="0" dirty="0">
                <a:solidFill>
                  <a:schemeClr val="bg1"/>
                </a:solidFill>
                <a:ea typeface="微软雅黑" panose="020B0503020204020204" pitchFamily="34" charset="-122"/>
                <a:cs typeface="Times New Roman" panose="02020603050405020304" pitchFamily="18" charset="0"/>
              </a:rPr>
              <a:t>1. </a:t>
            </a:r>
            <a:r>
              <a:rPr lang="zh-CN" altLang="en-US" sz="2400" b="0" dirty="0">
                <a:solidFill>
                  <a:schemeClr val="bg1"/>
                </a:solidFill>
                <a:ea typeface="微软雅黑" panose="020B0503020204020204" pitchFamily="34" charset="-122"/>
                <a:cs typeface="Times New Roman" panose="02020603050405020304" pitchFamily="18" charset="0"/>
              </a:rPr>
              <a:t>求公式的成真与成假赋值</a:t>
            </a:r>
          </a:p>
        </p:txBody>
      </p:sp>
      <p:sp>
        <p:nvSpPr>
          <p:cNvPr id="50179" name="Rectangle 6"/>
          <p:cNvSpPr>
            <a:spLocks noGrp="1" noChangeArrowheads="1"/>
          </p:cNvSpPr>
          <p:nvPr>
            <p:ph type="title" idx="4294967295"/>
          </p:nvPr>
        </p:nvSpPr>
        <p:spPr>
          <a:xfrm>
            <a:off x="623392" y="1674826"/>
            <a:ext cx="6912768"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主析取范式和主合取范式的用途</a:t>
            </a:r>
            <a:endPar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415480" y="3276789"/>
            <a:ext cx="43204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zh-CN" sz="2400" b="0" dirty="0">
                <a:solidFill>
                  <a:schemeClr val="bg1"/>
                </a:solidFill>
                <a:ea typeface="微软雅黑" panose="020B0503020204020204" pitchFamily="34" charset="-122"/>
                <a:cs typeface="Times New Roman" panose="02020603050405020304" pitchFamily="18" charset="0"/>
              </a:rPr>
              <a:t>2. </a:t>
            </a:r>
            <a:r>
              <a:rPr lang="zh-CN" altLang="en-US" sz="2400" b="0" dirty="0">
                <a:solidFill>
                  <a:schemeClr val="bg1"/>
                </a:solidFill>
                <a:ea typeface="微软雅黑" panose="020B0503020204020204" pitchFamily="34" charset="-122"/>
                <a:cs typeface="Times New Roman" panose="02020603050405020304" pitchFamily="18" charset="0"/>
              </a:rPr>
              <a:t>判断公式的类型</a:t>
            </a:r>
          </a:p>
        </p:txBody>
      </p:sp>
      <p:sp>
        <p:nvSpPr>
          <p:cNvPr id="3" name="矩形 2"/>
          <p:cNvSpPr/>
          <p:nvPr/>
        </p:nvSpPr>
        <p:spPr>
          <a:xfrm>
            <a:off x="1415480" y="4030362"/>
            <a:ext cx="46805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zh-CN" sz="2400" b="0" dirty="0">
                <a:solidFill>
                  <a:schemeClr val="bg1"/>
                </a:solidFill>
                <a:ea typeface="微软雅黑" panose="020B0503020204020204" pitchFamily="34" charset="-122"/>
                <a:cs typeface="Times New Roman" panose="02020603050405020304" pitchFamily="18" charset="0"/>
              </a:rPr>
              <a:t>3.  </a:t>
            </a:r>
            <a:r>
              <a:rPr lang="zh-CN" altLang="en-US" sz="2400" b="0" dirty="0">
                <a:solidFill>
                  <a:schemeClr val="bg1"/>
                </a:solidFill>
                <a:ea typeface="微软雅黑" panose="020B0503020204020204" pitchFamily="34" charset="-122"/>
                <a:cs typeface="Times New Roman" panose="02020603050405020304" pitchFamily="18" charset="0"/>
              </a:rPr>
              <a:t>判断两公式是否等值</a:t>
            </a:r>
          </a:p>
        </p:txBody>
      </p:sp>
      <p:sp>
        <p:nvSpPr>
          <p:cNvPr id="7" name="Rectangle 6"/>
          <p:cNvSpPr>
            <a:spLocks noChangeArrowheads="1"/>
          </p:cNvSpPr>
          <p:nvPr/>
        </p:nvSpPr>
        <p:spPr bwMode="auto">
          <a:xfrm>
            <a:off x="1415480" y="4783935"/>
            <a:ext cx="65527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zh-CN" sz="2400" b="0" dirty="0">
                <a:solidFill>
                  <a:schemeClr val="bg1"/>
                </a:solidFill>
                <a:ea typeface="微软雅黑" panose="020B0503020204020204" pitchFamily="34" charset="-122"/>
                <a:cs typeface="Times New Roman" panose="02020603050405020304" pitchFamily="18" charset="0"/>
              </a:rPr>
              <a:t>4. </a:t>
            </a:r>
            <a:r>
              <a:rPr lang="zh-CN" altLang="en-US" sz="2400" b="0" dirty="0">
                <a:solidFill>
                  <a:schemeClr val="bg1"/>
                </a:solidFill>
                <a:ea typeface="微软雅黑" panose="020B0503020204020204" pitchFamily="34" charset="-122"/>
                <a:cs typeface="Times New Roman" panose="02020603050405020304" pitchFamily="18" charset="0"/>
              </a:rPr>
              <a:t>利用主析取范式和主合取式解决应用问题</a:t>
            </a:r>
          </a:p>
        </p:txBody>
      </p:sp>
      <p:sp>
        <p:nvSpPr>
          <p:cNvPr id="6"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主范式的用途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wipe(left)">
                                      <p:cBhvr>
                                        <p:cTn id="7" dur="500"/>
                                        <p:tgtEl>
                                          <p:spTgt spid="5017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9029"/>
                                        </p:tgtEl>
                                        <p:attrNameLst>
                                          <p:attrName>style.visibility</p:attrName>
                                        </p:attrNameLst>
                                      </p:cBhvr>
                                      <p:to>
                                        <p:strVal val="visible"/>
                                      </p:to>
                                    </p:set>
                                    <p:animEffect transition="in" filter="barn(inVertical)">
                                      <p:cBhvr>
                                        <p:cTn id="12" dur="500"/>
                                        <p:tgtEl>
                                          <p:spTgt spid="12902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9" grpId="0"/>
      <p:bldP spid="50179" grpId="0"/>
      <p:bldP spid="2" grpId="0"/>
      <p:bldP spid="3"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9" name="Text Box 5"/>
          <p:cNvSpPr txBox="1">
            <a:spLocks noChangeArrowheads="1"/>
          </p:cNvSpPr>
          <p:nvPr/>
        </p:nvSpPr>
        <p:spPr bwMode="auto">
          <a:xfrm>
            <a:off x="911424" y="2492896"/>
            <a:ext cx="10729192" cy="2796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a:lnSpc>
                <a:spcPct val="135000"/>
              </a:lnSpc>
              <a:spcBef>
                <a:spcPct val="60000"/>
              </a:spcBef>
              <a:buFontTx/>
              <a:buNone/>
            </a:pPr>
            <a:r>
              <a:rPr lang="zh-CN" altLang="en-US" sz="26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对含有</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个变量的命题公式</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若其主析取范式含</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(0≤</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b="0" i="1" baseline="30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个极小项</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则</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有</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个成真赋值</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它们是极小项下标的二进制表示</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其余</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b="0" i="1" baseline="30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0" baseline="30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个赋值都是成假赋值。</a:t>
            </a:r>
          </a:p>
          <a:p>
            <a:pPr algn="just">
              <a:lnSpc>
                <a:spcPct val="135000"/>
              </a:lnSpc>
              <a:spcBef>
                <a:spcPct val="6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4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4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400" b="0"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400" b="0" baseline="-30000" dirty="0">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中</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因各极小项含三个文字</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故各极小项下标的长为</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的二进制数 </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001, 011, 100, 111</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为该公式的成真赋值</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而其余赋值</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000, 010, 101, 110</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为成假赋值。  </a:t>
            </a:r>
          </a:p>
        </p:txBody>
      </p:sp>
      <p:sp>
        <p:nvSpPr>
          <p:cNvPr id="6" name="文本框 5"/>
          <p:cNvSpPr txBox="1"/>
          <p:nvPr/>
        </p:nvSpPr>
        <p:spPr>
          <a:xfrm>
            <a:off x="349162" y="1772816"/>
            <a:ext cx="8483141" cy="523220"/>
          </a:xfrm>
          <a:prstGeom prst="rect">
            <a:avLst/>
          </a:prstGeom>
          <a:noFill/>
        </p:spPr>
        <p:txBody>
          <a:bodyPr wrap="square">
            <a:spAutoFit/>
          </a:bodyPr>
          <a:lstStyle/>
          <a:p>
            <a:pPr>
              <a:spcBef>
                <a:spcPct val="50000"/>
              </a:spcBef>
              <a:buClr>
                <a:srgbClr val="FFC000"/>
              </a:buClr>
              <a:buSzPct val="80000"/>
            </a:pPr>
            <a:r>
              <a:rPr lang="en-US" altLang="zh-CN"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1. </a:t>
            </a:r>
            <a:r>
              <a:rPr lang="zh-CN" altLang="en-US"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求公式的成真与成假赋值 </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r>
              <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以主析取范式为例</a:t>
            </a:r>
            <a:r>
              <a:rPr lang="en-US" altLang="zh-CN"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a:t>
            </a:r>
            <a:endParaRPr lang="zh-CN" altLang="en-US" sz="2400" b="0" dirty="0">
              <a:solidFill>
                <a:schemeClr val="bg1"/>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主范式的用途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9029">
                                            <p:txEl>
                                              <p:pRg st="0" end="0"/>
                                            </p:txEl>
                                          </p:spTgt>
                                        </p:tgtEl>
                                        <p:attrNameLst>
                                          <p:attrName>style.visibility</p:attrName>
                                        </p:attrNameLst>
                                      </p:cBhvr>
                                      <p:to>
                                        <p:strVal val="visible"/>
                                      </p:to>
                                    </p:set>
                                    <p:animEffect transition="in" filter="dissolve">
                                      <p:cBhvr>
                                        <p:cTn id="12" dur="500"/>
                                        <p:tgtEl>
                                          <p:spTgt spid="12902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9029">
                                            <p:txEl>
                                              <p:pRg st="1" end="1"/>
                                            </p:txEl>
                                          </p:spTgt>
                                        </p:tgtEl>
                                        <p:attrNameLst>
                                          <p:attrName>style.visibility</p:attrName>
                                        </p:attrNameLst>
                                      </p:cBhvr>
                                      <p:to>
                                        <p:strVal val="visible"/>
                                      </p:to>
                                    </p:set>
                                    <p:animEffect transition="in" filter="dissolve">
                                      <p:cBhvr>
                                        <p:cTn id="17" dur="500"/>
                                        <p:tgtEl>
                                          <p:spTgt spid="1290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3" name="Text Box 5"/>
          <p:cNvSpPr txBox="1">
            <a:spLocks noChangeArrowheads="1"/>
          </p:cNvSpPr>
          <p:nvPr/>
        </p:nvSpPr>
        <p:spPr bwMode="auto">
          <a:xfrm>
            <a:off x="839416" y="2397179"/>
            <a:ext cx="10920536"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lvl="1" algn="just" eaLnBrk="1" hangingPunct="1">
              <a:lnSpc>
                <a:spcPct val="150000"/>
              </a:lnSpc>
              <a:spcBef>
                <a:spcPts val="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设公式</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中含</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个变量</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则</a:t>
            </a:r>
          </a:p>
          <a:p>
            <a:pPr marL="0" lvl="1" algn="just" eaLnBrk="1" hangingPunct="1">
              <a:lnSpc>
                <a:spcPct val="15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为重言式当且仅当</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的主析取范式含全部</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i="1" baseline="30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个极小项</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endParaRPr>
          </a:p>
          <a:p>
            <a:pPr marL="0" lvl="1" algn="just" eaLnBrk="1" hangingPunct="1">
              <a:lnSpc>
                <a:spcPct val="15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为矛盾式当且仅当</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的主析取范式不含任取极小项。</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此时</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记</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的主析取范式为</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a:t>
            </a:r>
          </a:p>
          <a:p>
            <a:pPr marL="0" lvl="1" algn="just" eaLnBrk="1" hangingPunct="1">
              <a:lnSpc>
                <a:spcPct val="15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(3)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为可满足式当且仅当</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的主析取范式中至少含一个极小项。</a:t>
            </a:r>
          </a:p>
        </p:txBody>
      </p:sp>
      <p:sp>
        <p:nvSpPr>
          <p:cNvPr id="6" name="文本框 5"/>
          <p:cNvSpPr txBox="1"/>
          <p:nvPr/>
        </p:nvSpPr>
        <p:spPr>
          <a:xfrm>
            <a:off x="335360" y="1645237"/>
            <a:ext cx="6094520" cy="390363"/>
          </a:xfrm>
          <a:prstGeom prst="rect">
            <a:avLst/>
          </a:prstGeom>
          <a:noFill/>
        </p:spPr>
        <p:txBody>
          <a:bodyPr wrap="square">
            <a:spAutoFit/>
          </a:bodyPr>
          <a:lstStyle>
            <a:defPPr>
              <a:defRPr lang="zh-CN"/>
            </a:defPPr>
            <a:lvl1pPr>
              <a:spcBef>
                <a:spcPct val="50000"/>
              </a:spcBef>
              <a:buClr>
                <a:srgbClr val="FFC000"/>
              </a:buClr>
              <a:buSzPct val="80000"/>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stStyle>
          <a:p>
            <a:r>
              <a:rPr lang="en-US" altLang="zh-CN" dirty="0"/>
              <a:t>   2. </a:t>
            </a:r>
            <a:r>
              <a:rPr lang="zh-CN" altLang="en-US" dirty="0"/>
              <a:t>判断公式的类型</a:t>
            </a: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主范式的用途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30053">
                                            <p:txEl>
                                              <p:pRg st="0" end="0"/>
                                            </p:txEl>
                                          </p:spTgt>
                                        </p:tgtEl>
                                        <p:attrNameLst>
                                          <p:attrName>style.visibility</p:attrName>
                                        </p:attrNameLst>
                                      </p:cBhvr>
                                      <p:to>
                                        <p:strVal val="visible"/>
                                      </p:to>
                                    </p:set>
                                    <p:anim to="" calcmode="lin" valueType="num">
                                      <p:cBhvr>
                                        <p:cTn id="12" dur="1" fill="hold"/>
                                        <p:tgtEl>
                                          <p:spTgt spid="130053">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0053">
                                            <p:txEl>
                                              <p:pRg st="1" end="1"/>
                                            </p:txEl>
                                          </p:spTgt>
                                        </p:tgtEl>
                                        <p:attrNameLst>
                                          <p:attrName>style.visibility</p:attrName>
                                        </p:attrNameLst>
                                      </p:cBhvr>
                                      <p:to>
                                        <p:strVal val="visible"/>
                                      </p:to>
                                    </p:set>
                                    <p:animEffect transition="in" filter="dissolve">
                                      <p:cBhvr>
                                        <p:cTn id="17" dur="500"/>
                                        <p:tgtEl>
                                          <p:spTgt spid="13005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0053">
                                            <p:txEl>
                                              <p:pRg st="2" end="2"/>
                                            </p:txEl>
                                          </p:spTgt>
                                        </p:tgtEl>
                                        <p:attrNameLst>
                                          <p:attrName>style.visibility</p:attrName>
                                        </p:attrNameLst>
                                      </p:cBhvr>
                                      <p:to>
                                        <p:strVal val="visible"/>
                                      </p:to>
                                    </p:set>
                                    <p:animEffect transition="in" filter="dissolve">
                                      <p:cBhvr>
                                        <p:cTn id="22" dur="500"/>
                                        <p:tgtEl>
                                          <p:spTgt spid="13005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30053">
                                            <p:txEl>
                                              <p:pRg st="3" end="3"/>
                                            </p:txEl>
                                          </p:spTgt>
                                        </p:tgtEl>
                                        <p:attrNameLst>
                                          <p:attrName>style.visibility</p:attrName>
                                        </p:attrNameLst>
                                      </p:cBhvr>
                                      <p:to>
                                        <p:strVal val="visible"/>
                                      </p:to>
                                    </p:set>
                                    <p:animEffect transition="in" filter="dissolve">
                                      <p:cBhvr>
                                        <p:cTn id="27" dur="500"/>
                                        <p:tgtEl>
                                          <p:spTgt spid="13005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7" name="Text Box 5"/>
          <p:cNvSpPr txBox="1">
            <a:spLocks noChangeArrowheads="1"/>
          </p:cNvSpPr>
          <p:nvPr/>
        </p:nvSpPr>
        <p:spPr bwMode="auto">
          <a:xfrm>
            <a:off x="630536" y="3081539"/>
            <a:ext cx="3816424" cy="1985159"/>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解：</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q</a:t>
            </a:r>
          </a:p>
          <a:p>
            <a:pPr algn="just" eaLnBrk="1" hangingPunct="1">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p>
          <a:p>
            <a:pPr algn="just" eaLnBrk="1" hangingPunct="1">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endPar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 0 </a:t>
            </a:r>
          </a:p>
        </p:txBody>
      </p:sp>
      <p:sp>
        <p:nvSpPr>
          <p:cNvPr id="131081" name="Rectangle 9"/>
          <p:cNvSpPr>
            <a:spLocks noChangeArrowheads="1"/>
          </p:cNvSpPr>
          <p:nvPr/>
        </p:nvSpPr>
        <p:spPr bwMode="auto">
          <a:xfrm>
            <a:off x="1314514" y="5148911"/>
            <a:ext cx="33954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故 ┐</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是矛盾式。</a:t>
            </a:r>
          </a:p>
        </p:txBody>
      </p:sp>
      <p:sp>
        <p:nvSpPr>
          <p:cNvPr id="52230" name="Rectangle 10"/>
          <p:cNvSpPr>
            <a:spLocks noGrp="1" noChangeArrowheads="1"/>
          </p:cNvSpPr>
          <p:nvPr>
            <p:ph type="title" idx="4294967295"/>
          </p:nvPr>
        </p:nvSpPr>
        <p:spPr>
          <a:xfrm>
            <a:off x="479376" y="1640882"/>
            <a:ext cx="8461238" cy="1143000"/>
          </a:xfrm>
        </p:spPr>
        <p:txBody>
          <a:bodyPr/>
          <a:lstStyle/>
          <a:p>
            <a:pPr algn="l">
              <a:lnSpc>
                <a:spcPct val="150000"/>
              </a:lnSpc>
            </a:pPr>
            <a:r>
              <a:rPr lang="zh-CN" altLang="en-US" sz="24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3.3.4 </a:t>
            </a:r>
            <a:r>
              <a:rPr lang="zh-CN" altLang="en-US" sz="24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利用公式的主析取范式判断公式的类型</a:t>
            </a:r>
            <a:br>
              <a:rPr lang="en-US" altLang="zh-CN" sz="24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sz="24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40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(3) (</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r</a:t>
            </a:r>
          </a:p>
        </p:txBody>
      </p:sp>
      <p:sp>
        <p:nvSpPr>
          <p:cNvPr id="13" name="Text Box 5"/>
          <p:cNvSpPr txBox="1">
            <a:spLocks noChangeArrowheads="1"/>
          </p:cNvSpPr>
          <p:nvPr/>
        </p:nvSpPr>
        <p:spPr bwMode="auto">
          <a:xfrm>
            <a:off x="4943872" y="3065025"/>
            <a:ext cx="6912768" cy="297773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lvl="1" algn="just" eaLnBrk="1" hangingPunct="1">
              <a:lnSpc>
                <a:spcPct val="12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r </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r</a:t>
            </a:r>
          </a:p>
          <a:p>
            <a:pPr algn="just" eaLnBrk="1" hangingPunct="1">
              <a:lnSpc>
                <a:spcPct val="12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r</a:t>
            </a:r>
          </a:p>
          <a:p>
            <a:pPr algn="just" eaLnBrk="1" hangingPunct="1">
              <a:lnSpc>
                <a:spcPct val="12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err="1">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2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0 </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3 </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7 </a:t>
            </a:r>
            <a:endPar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50000"/>
              </a:lnSpc>
              <a:spcBef>
                <a:spcPts val="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故该公式是可满足式</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但不是重言式。  </a:t>
            </a:r>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主范式的用途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2230"/>
                                        </p:tgtEl>
                                        <p:attrNameLst>
                                          <p:attrName>style.visibility</p:attrName>
                                        </p:attrNameLst>
                                      </p:cBhvr>
                                      <p:to>
                                        <p:strVal val="visible"/>
                                      </p:to>
                                    </p:set>
                                    <p:animEffect transition="in" filter="wipe(left)">
                                      <p:cBhvr>
                                        <p:cTn id="7" dur="500"/>
                                        <p:tgtEl>
                                          <p:spTgt spid="522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1077">
                                            <p:txEl>
                                              <p:pRg st="0" end="0"/>
                                            </p:txEl>
                                          </p:spTgt>
                                        </p:tgtEl>
                                        <p:attrNameLst>
                                          <p:attrName>style.visibility</p:attrName>
                                        </p:attrNameLst>
                                      </p:cBhvr>
                                      <p:to>
                                        <p:strVal val="visible"/>
                                      </p:to>
                                    </p:set>
                                    <p:animEffect transition="in" filter="dissolve">
                                      <p:cBhvr>
                                        <p:cTn id="12" dur="500"/>
                                        <p:tgtEl>
                                          <p:spTgt spid="13107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131077">
                                            <p:txEl>
                                              <p:pRg st="1" end="1"/>
                                            </p:txEl>
                                          </p:spTgt>
                                        </p:tgtEl>
                                        <p:attrNameLst>
                                          <p:attrName>style.visibility</p:attrName>
                                        </p:attrNameLst>
                                      </p:cBhvr>
                                      <p:to>
                                        <p:strVal val="visible"/>
                                      </p:to>
                                    </p:set>
                                    <p:anim calcmode="discrete" valueType="clr">
                                      <p:cBhvr override="childStyle">
                                        <p:cTn id="17" dur="80"/>
                                        <p:tgtEl>
                                          <p:spTgt spid="13107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131077">
                                            <p:txEl>
                                              <p:pRg st="1" end="1"/>
                                            </p:txEl>
                                          </p:spTgt>
                                        </p:tgtEl>
                                        <p:attrNameLst>
                                          <p:attrName>fillcolor</p:attrName>
                                        </p:attrNameLst>
                                      </p:cBhvr>
                                      <p:tavLst>
                                        <p:tav tm="0">
                                          <p:val>
                                            <p:clrVal>
                                              <a:schemeClr val="accent2"/>
                                            </p:clrVal>
                                          </p:val>
                                        </p:tav>
                                        <p:tav tm="50000">
                                          <p:val>
                                            <p:clrVal>
                                              <a:schemeClr val="hlink"/>
                                            </p:clrVal>
                                          </p:val>
                                        </p:tav>
                                      </p:tavLst>
                                    </p:anim>
                                    <p:set>
                                      <p:cBhvr>
                                        <p:cTn id="19" dur="80"/>
                                        <p:tgtEl>
                                          <p:spTgt spid="131077">
                                            <p:txEl>
                                              <p:pRg st="1" end="1"/>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131077">
                                            <p:txEl>
                                              <p:pRg st="2" end="2"/>
                                            </p:txEl>
                                          </p:spTgt>
                                        </p:tgtEl>
                                        <p:attrNameLst>
                                          <p:attrName>style.visibility</p:attrName>
                                        </p:attrNameLst>
                                      </p:cBhvr>
                                      <p:to>
                                        <p:strVal val="visible"/>
                                      </p:to>
                                    </p:set>
                                    <p:anim calcmode="discrete" valueType="clr">
                                      <p:cBhvr override="childStyle">
                                        <p:cTn id="24" dur="80"/>
                                        <p:tgtEl>
                                          <p:spTgt spid="13107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131077">
                                            <p:txEl>
                                              <p:pRg st="2" end="2"/>
                                            </p:txEl>
                                          </p:spTgt>
                                        </p:tgtEl>
                                        <p:attrNameLst>
                                          <p:attrName>fillcolor</p:attrName>
                                        </p:attrNameLst>
                                      </p:cBhvr>
                                      <p:tavLst>
                                        <p:tav tm="0">
                                          <p:val>
                                            <p:clrVal>
                                              <a:schemeClr val="accent2"/>
                                            </p:clrVal>
                                          </p:val>
                                        </p:tav>
                                        <p:tav tm="50000">
                                          <p:val>
                                            <p:clrVal>
                                              <a:schemeClr val="hlink"/>
                                            </p:clrVal>
                                          </p:val>
                                        </p:tav>
                                      </p:tavLst>
                                    </p:anim>
                                    <p:set>
                                      <p:cBhvr>
                                        <p:cTn id="26" dur="80"/>
                                        <p:tgtEl>
                                          <p:spTgt spid="131077">
                                            <p:txEl>
                                              <p:pRg st="2" end="2"/>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131077">
                                            <p:txEl>
                                              <p:pRg st="3" end="3"/>
                                            </p:txEl>
                                          </p:spTgt>
                                        </p:tgtEl>
                                        <p:attrNameLst>
                                          <p:attrName>style.visibility</p:attrName>
                                        </p:attrNameLst>
                                      </p:cBhvr>
                                      <p:to>
                                        <p:strVal val="visible"/>
                                      </p:to>
                                    </p:set>
                                    <p:anim calcmode="discrete" valueType="clr">
                                      <p:cBhvr override="childStyle">
                                        <p:cTn id="31" dur="80"/>
                                        <p:tgtEl>
                                          <p:spTgt spid="13107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131077">
                                            <p:txEl>
                                              <p:pRg st="3" end="3"/>
                                            </p:txEl>
                                          </p:spTgt>
                                        </p:tgtEl>
                                        <p:attrNameLst>
                                          <p:attrName>fillcolor</p:attrName>
                                        </p:attrNameLst>
                                      </p:cBhvr>
                                      <p:tavLst>
                                        <p:tav tm="0">
                                          <p:val>
                                            <p:clrVal>
                                              <a:schemeClr val="accent2"/>
                                            </p:clrVal>
                                          </p:val>
                                        </p:tav>
                                        <p:tav tm="50000">
                                          <p:val>
                                            <p:clrVal>
                                              <a:schemeClr val="hlink"/>
                                            </p:clrVal>
                                          </p:val>
                                        </p:tav>
                                      </p:tavLst>
                                    </p:anim>
                                    <p:set>
                                      <p:cBhvr>
                                        <p:cTn id="33" dur="80"/>
                                        <p:tgtEl>
                                          <p:spTgt spid="131077">
                                            <p:txEl>
                                              <p:pRg st="3" end="3"/>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31081"/>
                                        </p:tgtEl>
                                        <p:attrNameLst>
                                          <p:attrName>style.visibility</p:attrName>
                                        </p:attrNameLst>
                                      </p:cBhvr>
                                      <p:to>
                                        <p:strVal val="visible"/>
                                      </p:to>
                                    </p:set>
                                    <p:animEffect transition="in" filter="dissolve">
                                      <p:cBhvr>
                                        <p:cTn id="38" dur="500"/>
                                        <p:tgtEl>
                                          <p:spTgt spid="131081"/>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iterate type="lt">
                                    <p:tmPct val="0"/>
                                  </p:iterate>
                                  <p:childTnLst>
                                    <p:set>
                                      <p:cBhvr>
                                        <p:cTn id="42" dur="1" fill="hold">
                                          <p:stCondLst>
                                            <p:cond delay="0"/>
                                          </p:stCondLst>
                                        </p:cTn>
                                        <p:tgtEl>
                                          <p:spTgt spid="13">
                                            <p:txEl>
                                              <p:pRg st="0" end="0"/>
                                            </p:txEl>
                                          </p:spTgt>
                                        </p:tgtEl>
                                        <p:attrNameLst>
                                          <p:attrName>style.visibility</p:attrName>
                                        </p:attrNameLst>
                                      </p:cBhvr>
                                      <p:to>
                                        <p:strVal val="visible"/>
                                      </p:to>
                                    </p:set>
                                    <p:animEffect transition="in" filter="dissolve">
                                      <p:cBhvr>
                                        <p:cTn id="43" dur="500"/>
                                        <p:tgtEl>
                                          <p:spTgt spid="13">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7" presetClass="entr" presetSubtype="0" fill="hold" nodeType="clickEffect">
                                  <p:stCondLst>
                                    <p:cond delay="0"/>
                                  </p:stCondLst>
                                  <p:iterate type="lt">
                                    <p:tmPct val="50000"/>
                                  </p:iterate>
                                  <p:childTnLst>
                                    <p:set>
                                      <p:cBhvr>
                                        <p:cTn id="47" dur="1" fill="hold">
                                          <p:stCondLst>
                                            <p:cond delay="0"/>
                                          </p:stCondLst>
                                        </p:cTn>
                                        <p:tgtEl>
                                          <p:spTgt spid="13">
                                            <p:txEl>
                                              <p:pRg st="1" end="1"/>
                                            </p:txEl>
                                          </p:spTgt>
                                        </p:tgtEl>
                                        <p:attrNameLst>
                                          <p:attrName>style.visibility</p:attrName>
                                        </p:attrNameLst>
                                      </p:cBhvr>
                                      <p:to>
                                        <p:strVal val="visible"/>
                                      </p:to>
                                    </p:set>
                                    <p:anim calcmode="discrete" valueType="clr">
                                      <p:cBhvr override="childStyle">
                                        <p:cTn id="48" dur="80"/>
                                        <p:tgtEl>
                                          <p:spTgt spid="13">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9" dur="80"/>
                                        <p:tgtEl>
                                          <p:spTgt spid="13">
                                            <p:txEl>
                                              <p:pRg st="1" end="1"/>
                                            </p:txEl>
                                          </p:spTgt>
                                        </p:tgtEl>
                                        <p:attrNameLst>
                                          <p:attrName>fillcolor</p:attrName>
                                        </p:attrNameLst>
                                      </p:cBhvr>
                                      <p:tavLst>
                                        <p:tav tm="0">
                                          <p:val>
                                            <p:clrVal>
                                              <a:schemeClr val="accent2"/>
                                            </p:clrVal>
                                          </p:val>
                                        </p:tav>
                                        <p:tav tm="50000">
                                          <p:val>
                                            <p:clrVal>
                                              <a:schemeClr val="hlink"/>
                                            </p:clrVal>
                                          </p:val>
                                        </p:tav>
                                      </p:tavLst>
                                    </p:anim>
                                    <p:set>
                                      <p:cBhvr>
                                        <p:cTn id="50" dur="80"/>
                                        <p:tgtEl>
                                          <p:spTgt spid="13">
                                            <p:txEl>
                                              <p:pRg st="1" end="1"/>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27" presetClass="entr" presetSubtype="0" fill="hold" nodeType="clickEffect">
                                  <p:stCondLst>
                                    <p:cond delay="0"/>
                                  </p:stCondLst>
                                  <p:iterate type="lt">
                                    <p:tmPct val="50000"/>
                                  </p:iterate>
                                  <p:childTnLst>
                                    <p:set>
                                      <p:cBhvr>
                                        <p:cTn id="54" dur="1" fill="hold">
                                          <p:stCondLst>
                                            <p:cond delay="0"/>
                                          </p:stCondLst>
                                        </p:cTn>
                                        <p:tgtEl>
                                          <p:spTgt spid="13">
                                            <p:txEl>
                                              <p:pRg st="2" end="2"/>
                                            </p:txEl>
                                          </p:spTgt>
                                        </p:tgtEl>
                                        <p:attrNameLst>
                                          <p:attrName>style.visibility</p:attrName>
                                        </p:attrNameLst>
                                      </p:cBhvr>
                                      <p:to>
                                        <p:strVal val="visible"/>
                                      </p:to>
                                    </p:set>
                                    <p:anim calcmode="discrete" valueType="clr">
                                      <p:cBhvr override="childStyle">
                                        <p:cTn id="55" dur="80"/>
                                        <p:tgtEl>
                                          <p:spTgt spid="13">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6" dur="80"/>
                                        <p:tgtEl>
                                          <p:spTgt spid="13">
                                            <p:txEl>
                                              <p:pRg st="2" end="2"/>
                                            </p:txEl>
                                          </p:spTgt>
                                        </p:tgtEl>
                                        <p:attrNameLst>
                                          <p:attrName>fillcolor</p:attrName>
                                        </p:attrNameLst>
                                      </p:cBhvr>
                                      <p:tavLst>
                                        <p:tav tm="0">
                                          <p:val>
                                            <p:clrVal>
                                              <a:schemeClr val="accent2"/>
                                            </p:clrVal>
                                          </p:val>
                                        </p:tav>
                                        <p:tav tm="50000">
                                          <p:val>
                                            <p:clrVal>
                                              <a:schemeClr val="hlink"/>
                                            </p:clrVal>
                                          </p:val>
                                        </p:tav>
                                      </p:tavLst>
                                    </p:anim>
                                    <p:set>
                                      <p:cBhvr>
                                        <p:cTn id="57" dur="80"/>
                                        <p:tgtEl>
                                          <p:spTgt spid="13">
                                            <p:txEl>
                                              <p:pRg st="2" end="2"/>
                                            </p:txEl>
                                          </p:spTgt>
                                        </p:tgtEl>
                                        <p:attrNameLst>
                                          <p:attrName>fill.type</p:attrName>
                                        </p:attrNameLst>
                                      </p:cBhvr>
                                      <p:to>
                                        <p:strVal val="solid"/>
                                      </p:to>
                                    </p:set>
                                  </p:childTnLst>
                                </p:cTn>
                              </p:par>
                            </p:childTnLst>
                          </p:cTn>
                        </p:par>
                      </p:childTnLst>
                    </p:cTn>
                  </p:par>
                  <p:par>
                    <p:cTn id="58" fill="hold">
                      <p:stCondLst>
                        <p:cond delay="indefinite"/>
                      </p:stCondLst>
                      <p:childTnLst>
                        <p:par>
                          <p:cTn id="59" fill="hold">
                            <p:stCondLst>
                              <p:cond delay="0"/>
                            </p:stCondLst>
                            <p:childTnLst>
                              <p:par>
                                <p:cTn id="60" presetID="27" presetClass="entr" presetSubtype="0" fill="hold" nodeType="clickEffect">
                                  <p:stCondLst>
                                    <p:cond delay="0"/>
                                  </p:stCondLst>
                                  <p:iterate type="lt">
                                    <p:tmPct val="50000"/>
                                  </p:iterate>
                                  <p:childTnLst>
                                    <p:set>
                                      <p:cBhvr>
                                        <p:cTn id="61" dur="1" fill="hold">
                                          <p:stCondLst>
                                            <p:cond delay="0"/>
                                          </p:stCondLst>
                                        </p:cTn>
                                        <p:tgtEl>
                                          <p:spTgt spid="13">
                                            <p:txEl>
                                              <p:pRg st="3" end="3"/>
                                            </p:txEl>
                                          </p:spTgt>
                                        </p:tgtEl>
                                        <p:attrNameLst>
                                          <p:attrName>style.visibility</p:attrName>
                                        </p:attrNameLst>
                                      </p:cBhvr>
                                      <p:to>
                                        <p:strVal val="visible"/>
                                      </p:to>
                                    </p:set>
                                    <p:anim calcmode="discrete" valueType="clr">
                                      <p:cBhvr override="childStyle">
                                        <p:cTn id="62" dur="80"/>
                                        <p:tgtEl>
                                          <p:spTgt spid="13">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3" dur="80"/>
                                        <p:tgtEl>
                                          <p:spTgt spid="13">
                                            <p:txEl>
                                              <p:pRg st="3" end="3"/>
                                            </p:txEl>
                                          </p:spTgt>
                                        </p:tgtEl>
                                        <p:attrNameLst>
                                          <p:attrName>fillcolor</p:attrName>
                                        </p:attrNameLst>
                                      </p:cBhvr>
                                      <p:tavLst>
                                        <p:tav tm="0">
                                          <p:val>
                                            <p:clrVal>
                                              <a:schemeClr val="accent2"/>
                                            </p:clrVal>
                                          </p:val>
                                        </p:tav>
                                        <p:tav tm="50000">
                                          <p:val>
                                            <p:clrVal>
                                              <a:schemeClr val="hlink"/>
                                            </p:clrVal>
                                          </p:val>
                                        </p:tav>
                                      </p:tavLst>
                                    </p:anim>
                                    <p:set>
                                      <p:cBhvr>
                                        <p:cTn id="64" dur="80"/>
                                        <p:tgtEl>
                                          <p:spTgt spid="13">
                                            <p:txEl>
                                              <p:pRg st="3" end="3"/>
                                            </p:txEl>
                                          </p:spTgt>
                                        </p:tgtEl>
                                        <p:attrNameLst>
                                          <p:attrName>fill.type</p:attrName>
                                        </p:attrNameLst>
                                      </p:cBhvr>
                                      <p:to>
                                        <p:strVal val="solid"/>
                                      </p:to>
                                    </p:set>
                                  </p:childTnLst>
                                </p:cTn>
                              </p:par>
                              <p:par>
                                <p:cTn id="65" presetID="27" presetClass="entr" presetSubtype="0" fill="hold" nodeType="withEffect">
                                  <p:stCondLst>
                                    <p:cond delay="0"/>
                                  </p:stCondLst>
                                  <p:iterate type="lt">
                                    <p:tmPct val="50000"/>
                                  </p:iterate>
                                  <p:childTnLst>
                                    <p:set>
                                      <p:cBhvr>
                                        <p:cTn id="66" dur="1" fill="hold">
                                          <p:stCondLst>
                                            <p:cond delay="0"/>
                                          </p:stCondLst>
                                        </p:cTn>
                                        <p:tgtEl>
                                          <p:spTgt spid="13">
                                            <p:txEl>
                                              <p:pRg st="4" end="4"/>
                                            </p:txEl>
                                          </p:spTgt>
                                        </p:tgtEl>
                                        <p:attrNameLst>
                                          <p:attrName>style.visibility</p:attrName>
                                        </p:attrNameLst>
                                      </p:cBhvr>
                                      <p:to>
                                        <p:strVal val="visible"/>
                                      </p:to>
                                    </p:set>
                                    <p:anim calcmode="discrete" valueType="clr">
                                      <p:cBhvr override="childStyle">
                                        <p:cTn id="67" dur="80"/>
                                        <p:tgtEl>
                                          <p:spTgt spid="13">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68" dur="80"/>
                                        <p:tgtEl>
                                          <p:spTgt spid="13">
                                            <p:txEl>
                                              <p:pRg st="4" end="4"/>
                                            </p:txEl>
                                          </p:spTgt>
                                        </p:tgtEl>
                                        <p:attrNameLst>
                                          <p:attrName>fillcolor</p:attrName>
                                        </p:attrNameLst>
                                      </p:cBhvr>
                                      <p:tavLst>
                                        <p:tav tm="0">
                                          <p:val>
                                            <p:clrVal>
                                              <a:schemeClr val="accent2"/>
                                            </p:clrVal>
                                          </p:val>
                                        </p:tav>
                                        <p:tav tm="50000">
                                          <p:val>
                                            <p:clrVal>
                                              <a:schemeClr val="hlink"/>
                                            </p:clrVal>
                                          </p:val>
                                        </p:tav>
                                      </p:tavLst>
                                    </p:anim>
                                    <p:set>
                                      <p:cBhvr>
                                        <p:cTn id="69" dur="80"/>
                                        <p:tgtEl>
                                          <p:spTgt spid="13">
                                            <p:txEl>
                                              <p:pRg st="4" end="4"/>
                                            </p:txEl>
                                          </p:spTgt>
                                        </p:tgtEl>
                                        <p:attrNameLst>
                                          <p:attrName>fill.type</p:attrName>
                                        </p:attrNameLst>
                                      </p:cBhvr>
                                      <p:to>
                                        <p:strVal val="solid"/>
                                      </p:to>
                                    </p:set>
                                  </p:childTnLst>
                                </p:cTn>
                              </p:par>
                            </p:childTnLst>
                          </p:cTn>
                        </p:par>
                      </p:childTnLst>
                    </p:cTn>
                  </p:par>
                  <p:par>
                    <p:cTn id="70" fill="hold">
                      <p:stCondLst>
                        <p:cond delay="indefinite"/>
                      </p:stCondLst>
                      <p:childTnLst>
                        <p:par>
                          <p:cTn id="71" fill="hold">
                            <p:stCondLst>
                              <p:cond delay="0"/>
                            </p:stCondLst>
                            <p:childTnLst>
                              <p:par>
                                <p:cTn id="72" presetID="27" presetClass="entr" presetSubtype="0" fill="hold" nodeType="clickEffect">
                                  <p:stCondLst>
                                    <p:cond delay="0"/>
                                  </p:stCondLst>
                                  <p:iterate type="lt">
                                    <p:tmPct val="50000"/>
                                  </p:iterate>
                                  <p:childTnLst>
                                    <p:set>
                                      <p:cBhvr>
                                        <p:cTn id="73" dur="1" fill="hold">
                                          <p:stCondLst>
                                            <p:cond delay="0"/>
                                          </p:stCondLst>
                                        </p:cTn>
                                        <p:tgtEl>
                                          <p:spTgt spid="13">
                                            <p:txEl>
                                              <p:pRg st="5" end="5"/>
                                            </p:txEl>
                                          </p:spTgt>
                                        </p:tgtEl>
                                        <p:attrNameLst>
                                          <p:attrName>style.visibility</p:attrName>
                                        </p:attrNameLst>
                                      </p:cBhvr>
                                      <p:to>
                                        <p:strVal val="visible"/>
                                      </p:to>
                                    </p:set>
                                    <p:anim calcmode="discrete" valueType="clr">
                                      <p:cBhvr override="childStyle">
                                        <p:cTn id="74" dur="80"/>
                                        <p:tgtEl>
                                          <p:spTgt spid="13">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5" dur="80"/>
                                        <p:tgtEl>
                                          <p:spTgt spid="13">
                                            <p:txEl>
                                              <p:pRg st="5" end="5"/>
                                            </p:txEl>
                                          </p:spTgt>
                                        </p:tgtEl>
                                        <p:attrNameLst>
                                          <p:attrName>fillcolor</p:attrName>
                                        </p:attrNameLst>
                                      </p:cBhvr>
                                      <p:tavLst>
                                        <p:tav tm="0">
                                          <p:val>
                                            <p:clrVal>
                                              <a:schemeClr val="accent2"/>
                                            </p:clrVal>
                                          </p:val>
                                        </p:tav>
                                        <p:tav tm="50000">
                                          <p:val>
                                            <p:clrVal>
                                              <a:schemeClr val="hlink"/>
                                            </p:clrVal>
                                          </p:val>
                                        </p:tav>
                                      </p:tavLst>
                                    </p:anim>
                                    <p:set>
                                      <p:cBhvr>
                                        <p:cTn id="76" dur="80"/>
                                        <p:tgtEl>
                                          <p:spTgt spid="13">
                                            <p:txEl>
                                              <p:pRg st="5" end="5"/>
                                            </p:txEl>
                                          </p:spTgt>
                                        </p:tgtEl>
                                        <p:attrNameLst>
                                          <p:attrName>fill.type</p:attrName>
                                        </p:attrNameLst>
                                      </p:cBhvr>
                                      <p:to>
                                        <p:strVal val="solid"/>
                                      </p:to>
                                    </p:set>
                                  </p:childTnLst>
                                </p:cTn>
                              </p:par>
                            </p:childTnLst>
                          </p:cTn>
                        </p:par>
                      </p:childTnLst>
                    </p:cTn>
                  </p:par>
                  <p:par>
                    <p:cTn id="77" fill="hold">
                      <p:stCondLst>
                        <p:cond delay="indefinite"/>
                      </p:stCondLst>
                      <p:childTnLst>
                        <p:par>
                          <p:cTn id="78" fill="hold">
                            <p:stCondLst>
                              <p:cond delay="0"/>
                            </p:stCondLst>
                            <p:childTnLst>
                              <p:par>
                                <p:cTn id="79" presetID="24" presetClass="entr" presetSubtype="0" fill="hold" nodeType="clickEffect">
                                  <p:stCondLst>
                                    <p:cond delay="0"/>
                                  </p:stCondLst>
                                  <p:iterate type="lt">
                                    <p:tmAbs val="0"/>
                                  </p:iterate>
                                  <p:childTnLst>
                                    <p:set>
                                      <p:cBhvr>
                                        <p:cTn id="80" dur="1" fill="hold">
                                          <p:stCondLst>
                                            <p:cond delay="0"/>
                                          </p:stCondLst>
                                        </p:cTn>
                                        <p:tgtEl>
                                          <p:spTgt spid="13">
                                            <p:txEl>
                                              <p:pRg st="6" end="6"/>
                                            </p:txEl>
                                          </p:spTgt>
                                        </p:tgtEl>
                                        <p:attrNameLst>
                                          <p:attrName>style.visibility</p:attrName>
                                        </p:attrNameLst>
                                      </p:cBhvr>
                                      <p:to>
                                        <p:strVal val="visible"/>
                                      </p:to>
                                    </p:set>
                                    <p:anim to="" calcmode="lin" valueType="num">
                                      <p:cBhvr>
                                        <p:cTn id="81" dur="1" fill="hold"/>
                                        <p:tgtEl>
                                          <p:spTgt spid="13">
                                            <p:txEl>
                                              <p:pRg st="6" end="6"/>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81" grpId="0"/>
      <p:bldP spid="5223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7"/>
          <p:cNvSpPr>
            <a:spLocks noChangeArrowheads="1"/>
          </p:cNvSpPr>
          <p:nvPr/>
        </p:nvSpPr>
        <p:spPr bwMode="auto">
          <a:xfrm>
            <a:off x="1622355" y="5455399"/>
            <a:ext cx="85693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bg1"/>
                </a:solidFill>
                <a:latin typeface="Arial" panose="020B0604020202020204" pitchFamily="34" charset="0"/>
                <a:ea typeface="宋体" panose="02010600030101010101" pitchFamily="2" charset="-122"/>
              </a:defRPr>
            </a:lvl1pPr>
            <a:lvl2pPr marL="179705">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lvl="1" eaLnBrk="1" hangingPunct="1">
              <a:spcBef>
                <a:spcPct val="50000"/>
              </a:spcBef>
              <a:buFontTx/>
              <a:buNone/>
            </a:pPr>
            <a:r>
              <a:rPr lang="zh-CN" altLang="en-US" sz="20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另一种推演：</a:t>
            </a:r>
            <a:r>
              <a:rPr lang="en-US" altLang="zh-CN" sz="20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=1∨</a:t>
            </a:r>
            <a:r>
              <a:rPr lang="en-US" altLang="zh-CN" sz="20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 1 = </a:t>
            </a:r>
            <a:r>
              <a:rPr lang="en-US" altLang="zh-CN" sz="20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0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1" name="Rectangle 8"/>
          <p:cNvSpPr>
            <a:spLocks noChangeArrowheads="1"/>
          </p:cNvSpPr>
          <p:nvPr/>
        </p:nvSpPr>
        <p:spPr bwMode="auto">
          <a:xfrm>
            <a:off x="2242075" y="4883101"/>
            <a:ext cx="842493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该主析取范式含全部</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baseline="3000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个极小项</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故</a:t>
            </a:r>
            <a:r>
              <a:rPr lang="en-US" altLang="zh-CN" sz="22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是重言式。</a:t>
            </a:r>
          </a:p>
        </p:txBody>
      </p:sp>
      <p:sp>
        <p:nvSpPr>
          <p:cNvPr id="12" name="Text Box 5"/>
          <p:cNvSpPr txBox="1">
            <a:spLocks noChangeArrowheads="1"/>
          </p:cNvSpPr>
          <p:nvPr/>
        </p:nvSpPr>
        <p:spPr bwMode="auto">
          <a:xfrm>
            <a:off x="1766371" y="2420888"/>
            <a:ext cx="7992888" cy="246221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p∨p</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endPar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spcBef>
                <a:spcPct val="50000"/>
              </a:spcBef>
              <a:buFontTx/>
              <a:buNone/>
            </a:pP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spcBef>
                <a:spcPct val="50000"/>
              </a:spcBef>
              <a:buFontTx/>
              <a:buNone/>
            </a:pP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spcBef>
                <a:spcPct val="50000"/>
              </a:spcBef>
              <a:buFontTx/>
              <a:buNone/>
            </a:pP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22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主范式的用途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dissolv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12">
                                            <p:txEl>
                                              <p:pRg st="1" end="1"/>
                                            </p:txEl>
                                          </p:spTgt>
                                        </p:tgtEl>
                                        <p:attrNameLst>
                                          <p:attrName>style.visibility</p:attrName>
                                        </p:attrNameLst>
                                      </p:cBhvr>
                                      <p:to>
                                        <p:strVal val="visible"/>
                                      </p:to>
                                    </p:set>
                                    <p:anim calcmode="discrete" valueType="clr">
                                      <p:cBhvr override="childStyle">
                                        <p:cTn id="12" dur="80"/>
                                        <p:tgtEl>
                                          <p:spTgt spid="1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12">
                                            <p:txEl>
                                              <p:pRg st="1" end="1"/>
                                            </p:txEl>
                                          </p:spTgt>
                                        </p:tgtEl>
                                        <p:attrNameLst>
                                          <p:attrName>fillcolor</p:attrName>
                                        </p:attrNameLst>
                                      </p:cBhvr>
                                      <p:tavLst>
                                        <p:tav tm="0">
                                          <p:val>
                                            <p:clrVal>
                                              <a:schemeClr val="accent2"/>
                                            </p:clrVal>
                                          </p:val>
                                        </p:tav>
                                        <p:tav tm="50000">
                                          <p:val>
                                            <p:clrVal>
                                              <a:schemeClr val="hlink"/>
                                            </p:clrVal>
                                          </p:val>
                                        </p:tav>
                                      </p:tavLst>
                                    </p:anim>
                                    <p:set>
                                      <p:cBhvr>
                                        <p:cTn id="14" dur="80"/>
                                        <p:tgtEl>
                                          <p:spTgt spid="12">
                                            <p:txEl>
                                              <p:pRg st="1" end="1"/>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12">
                                            <p:txEl>
                                              <p:pRg st="2" end="2"/>
                                            </p:txEl>
                                          </p:spTgt>
                                        </p:tgtEl>
                                        <p:attrNameLst>
                                          <p:attrName>style.visibility</p:attrName>
                                        </p:attrNameLst>
                                      </p:cBhvr>
                                      <p:to>
                                        <p:strVal val="visible"/>
                                      </p:to>
                                    </p:set>
                                    <p:anim calcmode="discrete" valueType="clr">
                                      <p:cBhvr override="childStyle">
                                        <p:cTn id="19" dur="80"/>
                                        <p:tgtEl>
                                          <p:spTgt spid="1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12">
                                            <p:txEl>
                                              <p:pRg st="2" end="2"/>
                                            </p:txEl>
                                          </p:spTgt>
                                        </p:tgtEl>
                                        <p:attrNameLst>
                                          <p:attrName>fillcolor</p:attrName>
                                        </p:attrNameLst>
                                      </p:cBhvr>
                                      <p:tavLst>
                                        <p:tav tm="0">
                                          <p:val>
                                            <p:clrVal>
                                              <a:schemeClr val="accent2"/>
                                            </p:clrVal>
                                          </p:val>
                                        </p:tav>
                                        <p:tav tm="50000">
                                          <p:val>
                                            <p:clrVal>
                                              <a:schemeClr val="hlink"/>
                                            </p:clrVal>
                                          </p:val>
                                        </p:tav>
                                      </p:tavLst>
                                    </p:anim>
                                    <p:set>
                                      <p:cBhvr>
                                        <p:cTn id="21" dur="80"/>
                                        <p:tgtEl>
                                          <p:spTgt spid="12">
                                            <p:txEl>
                                              <p:pRg st="2" end="2"/>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27" presetClass="entr" presetSubtype="0" fill="hold" nodeType="clickEffect">
                                  <p:stCondLst>
                                    <p:cond delay="0"/>
                                  </p:stCondLst>
                                  <p:iterate type="lt">
                                    <p:tmPct val="50000"/>
                                  </p:iterate>
                                  <p:childTnLst>
                                    <p:set>
                                      <p:cBhvr>
                                        <p:cTn id="25" dur="1" fill="hold">
                                          <p:stCondLst>
                                            <p:cond delay="0"/>
                                          </p:stCondLst>
                                        </p:cTn>
                                        <p:tgtEl>
                                          <p:spTgt spid="12">
                                            <p:txEl>
                                              <p:pRg st="3" end="3"/>
                                            </p:txEl>
                                          </p:spTgt>
                                        </p:tgtEl>
                                        <p:attrNameLst>
                                          <p:attrName>style.visibility</p:attrName>
                                        </p:attrNameLst>
                                      </p:cBhvr>
                                      <p:to>
                                        <p:strVal val="visible"/>
                                      </p:to>
                                    </p:set>
                                    <p:anim calcmode="discrete" valueType="clr">
                                      <p:cBhvr override="childStyle">
                                        <p:cTn id="26" dur="80"/>
                                        <p:tgtEl>
                                          <p:spTgt spid="1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12">
                                            <p:txEl>
                                              <p:pRg st="3" end="3"/>
                                            </p:txEl>
                                          </p:spTgt>
                                        </p:tgtEl>
                                        <p:attrNameLst>
                                          <p:attrName>fillcolor</p:attrName>
                                        </p:attrNameLst>
                                      </p:cBhvr>
                                      <p:tavLst>
                                        <p:tav tm="0">
                                          <p:val>
                                            <p:clrVal>
                                              <a:schemeClr val="accent2"/>
                                            </p:clrVal>
                                          </p:val>
                                        </p:tav>
                                        <p:tav tm="50000">
                                          <p:val>
                                            <p:clrVal>
                                              <a:schemeClr val="hlink"/>
                                            </p:clrVal>
                                          </p:val>
                                        </p:tav>
                                      </p:tavLst>
                                    </p:anim>
                                    <p:set>
                                      <p:cBhvr>
                                        <p:cTn id="28" dur="80"/>
                                        <p:tgtEl>
                                          <p:spTgt spid="12">
                                            <p:txEl>
                                              <p:pRg st="3" end="3"/>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7" presetClass="entr" presetSubtype="0" fill="hold" nodeType="clickEffect">
                                  <p:stCondLst>
                                    <p:cond delay="0"/>
                                  </p:stCondLst>
                                  <p:iterate type="lt">
                                    <p:tmPct val="50000"/>
                                  </p:iterate>
                                  <p:childTnLst>
                                    <p:set>
                                      <p:cBhvr>
                                        <p:cTn id="32" dur="1" fill="hold">
                                          <p:stCondLst>
                                            <p:cond delay="0"/>
                                          </p:stCondLst>
                                        </p:cTn>
                                        <p:tgtEl>
                                          <p:spTgt spid="12">
                                            <p:txEl>
                                              <p:pRg st="4" end="4"/>
                                            </p:txEl>
                                          </p:spTgt>
                                        </p:tgtEl>
                                        <p:attrNameLst>
                                          <p:attrName>style.visibility</p:attrName>
                                        </p:attrNameLst>
                                      </p:cBhvr>
                                      <p:to>
                                        <p:strVal val="visible"/>
                                      </p:to>
                                    </p:set>
                                    <p:anim calcmode="discrete" valueType="clr">
                                      <p:cBhvr override="childStyle">
                                        <p:cTn id="33" dur="80"/>
                                        <p:tgtEl>
                                          <p:spTgt spid="1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4" dur="80"/>
                                        <p:tgtEl>
                                          <p:spTgt spid="12">
                                            <p:txEl>
                                              <p:pRg st="4" end="4"/>
                                            </p:txEl>
                                          </p:spTgt>
                                        </p:tgtEl>
                                        <p:attrNameLst>
                                          <p:attrName>fillcolor</p:attrName>
                                        </p:attrNameLst>
                                      </p:cBhvr>
                                      <p:tavLst>
                                        <p:tav tm="0">
                                          <p:val>
                                            <p:clrVal>
                                              <a:schemeClr val="accent2"/>
                                            </p:clrVal>
                                          </p:val>
                                        </p:tav>
                                        <p:tav tm="50000">
                                          <p:val>
                                            <p:clrVal>
                                              <a:schemeClr val="hlink"/>
                                            </p:clrVal>
                                          </p:val>
                                        </p:tav>
                                      </p:tavLst>
                                    </p:anim>
                                    <p:set>
                                      <p:cBhvr>
                                        <p:cTn id="35" dur="80"/>
                                        <p:tgtEl>
                                          <p:spTgt spid="12">
                                            <p:txEl>
                                              <p:pRg st="4" end="4"/>
                                            </p:txEl>
                                          </p:spTgt>
                                        </p:tgtEl>
                                        <p:attrNameLst>
                                          <p:attrName>fill.type</p:attrName>
                                        </p:attrNameLst>
                                      </p:cBhvr>
                                      <p:to>
                                        <p:strVal val="solid"/>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dissolve">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7" presetClass="entr" presetSubtype="0" fill="hold" grpId="0" nodeType="clickEffect">
                                  <p:stCondLst>
                                    <p:cond delay="0"/>
                                  </p:stCondLst>
                                  <p:iterate type="lt">
                                    <p:tmPct val="50000"/>
                                  </p:iterate>
                                  <p:childTnLst>
                                    <p:set>
                                      <p:cBhvr>
                                        <p:cTn id="44" dur="1" fill="hold">
                                          <p:stCondLst>
                                            <p:cond delay="0"/>
                                          </p:stCondLst>
                                        </p:cTn>
                                        <p:tgtEl>
                                          <p:spTgt spid="10"/>
                                        </p:tgtEl>
                                        <p:attrNameLst>
                                          <p:attrName>style.visibility</p:attrName>
                                        </p:attrNameLst>
                                      </p:cBhvr>
                                      <p:to>
                                        <p:strVal val="visible"/>
                                      </p:to>
                                    </p:set>
                                    <p:anim calcmode="discrete" valueType="clr">
                                      <p:cBhvr override="childStyle">
                                        <p:cTn id="45" dur="80"/>
                                        <p:tgtEl>
                                          <p:spTgt spid="10"/>
                                        </p:tgtEl>
                                        <p:attrNameLst>
                                          <p:attrName>style.color</p:attrName>
                                        </p:attrNameLst>
                                      </p:cBhvr>
                                      <p:tavLst>
                                        <p:tav tm="0">
                                          <p:val>
                                            <p:clrVal>
                                              <a:schemeClr val="accent2"/>
                                            </p:clrVal>
                                          </p:val>
                                        </p:tav>
                                        <p:tav tm="50000">
                                          <p:val>
                                            <p:clrVal>
                                              <a:schemeClr val="hlink"/>
                                            </p:clrVal>
                                          </p:val>
                                        </p:tav>
                                      </p:tavLst>
                                    </p:anim>
                                    <p:anim calcmode="discrete" valueType="clr">
                                      <p:cBhvr>
                                        <p:cTn id="46" dur="80"/>
                                        <p:tgtEl>
                                          <p:spTgt spid="10"/>
                                        </p:tgtEl>
                                        <p:attrNameLst>
                                          <p:attrName>fillcolor</p:attrName>
                                        </p:attrNameLst>
                                      </p:cBhvr>
                                      <p:tavLst>
                                        <p:tav tm="0">
                                          <p:val>
                                            <p:clrVal>
                                              <a:schemeClr val="accent2"/>
                                            </p:clrVal>
                                          </p:val>
                                        </p:tav>
                                        <p:tav tm="50000">
                                          <p:val>
                                            <p:clrVal>
                                              <a:schemeClr val="hlink"/>
                                            </p:clrVal>
                                          </p:val>
                                        </p:tav>
                                      </p:tavLst>
                                    </p:anim>
                                    <p:set>
                                      <p:cBhvr>
                                        <p:cTn id="47" dur="80"/>
                                        <p:tgtEl>
                                          <p:spTgt spid="1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7" name="Text Box 7"/>
          <p:cNvSpPr txBox="1">
            <a:spLocks noChangeArrowheads="1"/>
          </p:cNvSpPr>
          <p:nvPr/>
        </p:nvSpPr>
        <p:spPr bwMode="auto">
          <a:xfrm>
            <a:off x="551384" y="1844824"/>
            <a:ext cx="11161240" cy="523220"/>
          </a:xfrm>
          <a:prstGeom prst="rect">
            <a:avLst/>
          </a:prstGeom>
          <a:noFill/>
        </p:spPr>
        <p:txBody>
          <a:bodyPr wrap="square">
            <a:spAutoFit/>
          </a:bodyPr>
          <a:lstStyle>
            <a:defPPr>
              <a:defRPr lang="zh-CN"/>
            </a:defPPr>
            <a:lvl1pPr>
              <a:spcBef>
                <a:spcPct val="50000"/>
              </a:spcBef>
              <a:buClr>
                <a:srgbClr val="FFC000"/>
              </a:buClr>
              <a:buSzPct val="80000"/>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stStyle>
          <a:p>
            <a:r>
              <a:rPr lang="en-US" altLang="zh-CN" dirty="0"/>
              <a:t>3.  </a:t>
            </a:r>
            <a:r>
              <a:rPr lang="zh-CN" altLang="en-US" dirty="0"/>
              <a:t>判断两公式是否等值</a:t>
            </a:r>
          </a:p>
        </p:txBody>
      </p:sp>
      <p:sp>
        <p:nvSpPr>
          <p:cNvPr id="6" name="Text Box 7"/>
          <p:cNvSpPr txBox="1">
            <a:spLocks noChangeArrowheads="1"/>
          </p:cNvSpPr>
          <p:nvPr/>
        </p:nvSpPr>
        <p:spPr bwMode="auto">
          <a:xfrm>
            <a:off x="1055440" y="2708920"/>
            <a:ext cx="8424936" cy="1208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spcBef>
                <a:spcPct val="20000"/>
              </a:spcBef>
              <a:buChar char="•"/>
              <a:defRPr sz="3200">
                <a:solidFill>
                  <a:schemeClr val="bg1"/>
                </a:solidFill>
                <a:latin typeface="Arial" panose="020B0604020202020204" pitchFamily="34" charset="0"/>
              </a:defRPr>
            </a:lvl1pPr>
            <a:lvl2pPr marL="0" lvl="1" algn="just" eaLnBrk="1" hangingPunct="1">
              <a:lnSpc>
                <a:spcPct val="150000"/>
              </a:lnSpc>
              <a:spcBef>
                <a:spcPts val="0"/>
              </a:spcBef>
              <a:buFontTx/>
              <a:buNone/>
              <a:defRPr sz="2200" b="0">
                <a:solidFill>
                  <a:schemeClr val="bg1"/>
                </a:solidFill>
                <a:ea typeface="微软雅黑" panose="020B0503020204020204" pitchFamily="34" charset="-122"/>
                <a:cs typeface="Times New Roman" panose="02020603050405020304" pitchFamily="18"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pPr>
              <a:lnSpc>
                <a:spcPct val="150000"/>
              </a:lnSpc>
              <a:buNone/>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设公式</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共有</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个变量。按</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个变量求出</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的主析取范式。</a:t>
            </a:r>
            <a:endPar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None/>
            </a:pP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有相同的主析取范式</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则</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否则 </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主范式的用途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33127">
                                            <p:txEl>
                                              <p:pRg st="0" end="0"/>
                                            </p:txEl>
                                          </p:spTgt>
                                        </p:tgtEl>
                                        <p:attrNameLst>
                                          <p:attrName>style.visibility</p:attrName>
                                        </p:attrNameLst>
                                      </p:cBhvr>
                                      <p:to>
                                        <p:strVal val="visible"/>
                                      </p:to>
                                    </p:set>
                                    <p:animEffect transition="in" filter="dissolve">
                                      <p:cBhvr>
                                        <p:cTn id="7" dur="500"/>
                                        <p:tgtEl>
                                          <p:spTgt spid="1331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dissolv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dissolve">
                                      <p:cBhvr>
                                        <p:cTn id="1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7" name="Text Box 7"/>
          <p:cNvSpPr txBox="1">
            <a:spLocks noChangeArrowheads="1"/>
          </p:cNvSpPr>
          <p:nvPr/>
        </p:nvSpPr>
        <p:spPr bwMode="auto">
          <a:xfrm>
            <a:off x="522300" y="1705504"/>
            <a:ext cx="8351838"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80000"/>
              </a:spcBef>
              <a:buFontTx/>
              <a:buNone/>
            </a:pP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3.3.5 </a:t>
            </a:r>
            <a:r>
              <a:rPr lang="zh-CN" altLang="en-US" sz="24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判断下面两组公式是否等值。</a:t>
            </a:r>
          </a:p>
          <a:p>
            <a:pPr algn="just" eaLnBrk="1" hangingPunct="1">
              <a:spcBef>
                <a:spcPct val="5000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(2) (</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p>
        </p:txBody>
      </p:sp>
      <p:sp>
        <p:nvSpPr>
          <p:cNvPr id="5" name="Text Box 7"/>
          <p:cNvSpPr txBox="1">
            <a:spLocks noChangeArrowheads="1"/>
          </p:cNvSpPr>
          <p:nvPr/>
        </p:nvSpPr>
        <p:spPr bwMode="auto">
          <a:xfrm>
            <a:off x="623392" y="3068960"/>
            <a:ext cx="655272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解</a:t>
            </a: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而 </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故  </a:t>
            </a:r>
            <a:r>
              <a:rPr lang="en-US" altLang="zh-CN" sz="22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ext Box 7"/>
          <p:cNvSpPr txBox="1">
            <a:spLocks noChangeArrowheads="1"/>
          </p:cNvSpPr>
          <p:nvPr/>
        </p:nvSpPr>
        <p:spPr bwMode="auto">
          <a:xfrm>
            <a:off x="695400" y="4891246"/>
            <a:ext cx="6552728" cy="149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因</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7</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p>
          <a:p>
            <a:pPr algn="just" eaLnBrk="1" hangingPunct="1">
              <a:spcBef>
                <a:spcPct val="50000"/>
              </a:spcBef>
              <a:buFontTx/>
              <a:buNone/>
            </a:pP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latin typeface="Times New Roman" panose="02020603050405020304" pitchFamily="18" charset="0"/>
                <a:ea typeface="微软雅黑" panose="020B0503020204020204" pitchFamily="34" charset="-122"/>
                <a:cs typeface="Times New Roman" panose="02020603050405020304" pitchFamily="18" charset="0"/>
              </a:rPr>
              <a:t>而</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200" b="0" baseline="-30000" dirty="0">
                <a:latin typeface="Times New Roman" panose="02020603050405020304" pitchFamily="18" charset="0"/>
                <a:ea typeface="微软雅黑" panose="020B0503020204020204" pitchFamily="34" charset="-122"/>
                <a:cs typeface="Times New Roman" panose="02020603050405020304" pitchFamily="18" charset="0"/>
              </a:rPr>
              <a:t>7</a:t>
            </a:r>
            <a:endParaRPr lang="en-US" altLang="zh-CN" sz="22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故 </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200" b="0"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err="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2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i="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r</a:t>
            </a:r>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主范式的用途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33127"/>
                                        </p:tgtEl>
                                        <p:attrNameLst>
                                          <p:attrName>style.visibility</p:attrName>
                                        </p:attrNameLst>
                                      </p:cBhvr>
                                      <p:to>
                                        <p:strVal val="visible"/>
                                      </p:to>
                                    </p:set>
                                    <p:animEffect transition="in" filter="wipe(left)">
                                      <p:cBhvr>
                                        <p:cTn id="7" dur="500"/>
                                        <p:tgtEl>
                                          <p:spTgt spid="133127"/>
                                        </p:tgtEl>
                                      </p:cBhvr>
                                    </p:animEffect>
                                  </p:childTnLst>
                                </p:cTn>
                              </p:par>
                            </p:childTnLst>
                          </p:cTn>
                        </p:par>
                      </p:childTnLst>
                    </p:cTn>
                  </p:par>
                  <p:par>
                    <p:cTn id="8" fill="hold">
                      <p:stCondLst>
                        <p:cond delay="indefinite"/>
                      </p:stCondLst>
                      <p:childTnLst>
                        <p:par>
                          <p:cTn id="9" fill="hold">
                            <p:stCondLst>
                              <p:cond delay="0"/>
                            </p:stCondLst>
                            <p:childTnLst>
                              <p:par>
                                <p:cTn id="10" presetID="27" presetClass="entr" presetSubtype="0" fill="hold" nodeType="clickEffect">
                                  <p:stCondLst>
                                    <p:cond delay="0"/>
                                  </p:stCondLst>
                                  <p:iterate type="lt">
                                    <p:tmPct val="50000"/>
                                  </p:iterate>
                                  <p:childTnLst>
                                    <p:set>
                                      <p:cBhvr>
                                        <p:cTn id="11" dur="1" fill="hold">
                                          <p:stCondLst>
                                            <p:cond delay="0"/>
                                          </p:stCondLst>
                                        </p:cTn>
                                        <p:tgtEl>
                                          <p:spTgt spid="5">
                                            <p:txEl>
                                              <p:pRg st="0" end="0"/>
                                            </p:txEl>
                                          </p:spTgt>
                                        </p:tgtEl>
                                        <p:attrNameLst>
                                          <p:attrName>style.visibility</p:attrName>
                                        </p:attrNameLst>
                                      </p:cBhvr>
                                      <p:to>
                                        <p:strVal val="visible"/>
                                      </p:to>
                                    </p:set>
                                    <p:anim calcmode="discrete" valueType="clr">
                                      <p:cBhvr override="childStyle">
                                        <p:cTn id="12" dur="80"/>
                                        <p:tgtEl>
                                          <p:spTgt spid="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5">
                                            <p:txEl>
                                              <p:pRg st="0" end="0"/>
                                            </p:txEl>
                                          </p:spTgt>
                                        </p:tgtEl>
                                        <p:attrNameLst>
                                          <p:attrName>fillcolor</p:attrName>
                                        </p:attrNameLst>
                                      </p:cBhvr>
                                      <p:tavLst>
                                        <p:tav tm="0">
                                          <p:val>
                                            <p:clrVal>
                                              <a:schemeClr val="accent2"/>
                                            </p:clrVal>
                                          </p:val>
                                        </p:tav>
                                        <p:tav tm="50000">
                                          <p:val>
                                            <p:clrVal>
                                              <a:schemeClr val="hlink"/>
                                            </p:clrVal>
                                          </p:val>
                                        </p:tav>
                                      </p:tavLst>
                                    </p:anim>
                                    <p:set>
                                      <p:cBhvr>
                                        <p:cTn id="14" dur="80"/>
                                        <p:tgtEl>
                                          <p:spTgt spid="5">
                                            <p:txEl>
                                              <p:pRg st="0" end="0"/>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nodeType="clickEffect">
                                  <p:stCondLst>
                                    <p:cond delay="0"/>
                                  </p:stCondLst>
                                  <p:iterate type="lt">
                                    <p:tmPct val="50000"/>
                                  </p:iterate>
                                  <p:childTnLst>
                                    <p:set>
                                      <p:cBhvr>
                                        <p:cTn id="18" dur="1" fill="hold">
                                          <p:stCondLst>
                                            <p:cond delay="0"/>
                                          </p:stCondLst>
                                        </p:cTn>
                                        <p:tgtEl>
                                          <p:spTgt spid="5">
                                            <p:txEl>
                                              <p:pRg st="1" end="1"/>
                                            </p:txEl>
                                          </p:spTgt>
                                        </p:tgtEl>
                                        <p:attrNameLst>
                                          <p:attrName>style.visibility</p:attrName>
                                        </p:attrNameLst>
                                      </p:cBhvr>
                                      <p:to>
                                        <p:strVal val="visible"/>
                                      </p:to>
                                    </p:set>
                                    <p:anim calcmode="discrete" valueType="clr">
                                      <p:cBhvr override="childStyle">
                                        <p:cTn id="19" dur="80"/>
                                        <p:tgtEl>
                                          <p:spTgt spid="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5">
                                            <p:txEl>
                                              <p:pRg st="1" end="1"/>
                                            </p:txEl>
                                          </p:spTgt>
                                        </p:tgtEl>
                                        <p:attrNameLst>
                                          <p:attrName>fillcolor</p:attrName>
                                        </p:attrNameLst>
                                      </p:cBhvr>
                                      <p:tavLst>
                                        <p:tav tm="0">
                                          <p:val>
                                            <p:clrVal>
                                              <a:schemeClr val="accent2"/>
                                            </p:clrVal>
                                          </p:val>
                                        </p:tav>
                                        <p:tav tm="50000">
                                          <p:val>
                                            <p:clrVal>
                                              <a:schemeClr val="hlink"/>
                                            </p:clrVal>
                                          </p:val>
                                        </p:tav>
                                      </p:tavLst>
                                    </p:anim>
                                    <p:set>
                                      <p:cBhvr>
                                        <p:cTn id="21" dur="80"/>
                                        <p:tgtEl>
                                          <p:spTgt spid="5">
                                            <p:txEl>
                                              <p:pRg st="1" end="1"/>
                                            </p:txEl>
                                          </p:spTgt>
                                        </p:tgtEl>
                                        <p:attrNameLst>
                                          <p:attrName>fill.type</p:attrName>
                                        </p:attrNameLst>
                                      </p:cBhvr>
                                      <p:to>
                                        <p:strVal val="solid"/>
                                      </p:to>
                                    </p:se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5">
                                            <p:txEl>
                                              <p:pRg st="2" end="2"/>
                                            </p:txEl>
                                          </p:spTgt>
                                        </p:tgtEl>
                                        <p:attrNameLst>
                                          <p:attrName>style.visibility</p:attrName>
                                        </p:attrNameLst>
                                      </p:cBhvr>
                                      <p:to>
                                        <p:strVal val="visible"/>
                                      </p:to>
                                    </p:set>
                                    <p:animEffect transition="in" filter="dissolve">
                                      <p:cBhvr>
                                        <p:cTn id="26" dur="500"/>
                                        <p:tgtEl>
                                          <p:spTgt spid="5">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8">
                                            <p:txEl>
                                              <p:pRg st="0" end="0"/>
                                            </p:txEl>
                                          </p:spTgt>
                                        </p:tgtEl>
                                        <p:attrNameLst>
                                          <p:attrName>style.visibility</p:attrName>
                                        </p:attrNameLst>
                                      </p:cBhvr>
                                      <p:to>
                                        <p:strVal val="visible"/>
                                      </p:to>
                                    </p:set>
                                    <p:anim calcmode="discrete" valueType="clr">
                                      <p:cBhvr override="childStyle">
                                        <p:cTn id="31" dur="80"/>
                                        <p:tgtEl>
                                          <p:spTgt spid="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8">
                                            <p:txEl>
                                              <p:pRg st="0" end="0"/>
                                            </p:txEl>
                                          </p:spTgt>
                                        </p:tgtEl>
                                        <p:attrNameLst>
                                          <p:attrName>fillcolor</p:attrName>
                                        </p:attrNameLst>
                                      </p:cBhvr>
                                      <p:tavLst>
                                        <p:tav tm="0">
                                          <p:val>
                                            <p:clrVal>
                                              <a:schemeClr val="accent2"/>
                                            </p:clrVal>
                                          </p:val>
                                        </p:tav>
                                        <p:tav tm="50000">
                                          <p:val>
                                            <p:clrVal>
                                              <a:schemeClr val="hlink"/>
                                            </p:clrVal>
                                          </p:val>
                                        </p:tav>
                                      </p:tavLst>
                                    </p:anim>
                                    <p:set>
                                      <p:cBhvr>
                                        <p:cTn id="33" dur="80"/>
                                        <p:tgtEl>
                                          <p:spTgt spid="8">
                                            <p:txEl>
                                              <p:pRg st="0" end="0"/>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27" presetClass="entr" presetSubtype="0" fill="hold" nodeType="clickEffect">
                                  <p:stCondLst>
                                    <p:cond delay="0"/>
                                  </p:stCondLst>
                                  <p:iterate type="lt">
                                    <p:tmPct val="50000"/>
                                  </p:iterate>
                                  <p:childTnLst>
                                    <p:set>
                                      <p:cBhvr>
                                        <p:cTn id="37" dur="1" fill="hold">
                                          <p:stCondLst>
                                            <p:cond delay="0"/>
                                          </p:stCondLst>
                                        </p:cTn>
                                        <p:tgtEl>
                                          <p:spTgt spid="8">
                                            <p:txEl>
                                              <p:pRg st="1" end="1"/>
                                            </p:txEl>
                                          </p:spTgt>
                                        </p:tgtEl>
                                        <p:attrNameLst>
                                          <p:attrName>style.visibility</p:attrName>
                                        </p:attrNameLst>
                                      </p:cBhvr>
                                      <p:to>
                                        <p:strVal val="visible"/>
                                      </p:to>
                                    </p:set>
                                    <p:anim calcmode="discrete" valueType="clr">
                                      <p:cBhvr override="childStyle">
                                        <p:cTn id="38" dur="80"/>
                                        <p:tgtEl>
                                          <p:spTgt spid="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8">
                                            <p:txEl>
                                              <p:pRg st="1" end="1"/>
                                            </p:txEl>
                                          </p:spTgt>
                                        </p:tgtEl>
                                        <p:attrNameLst>
                                          <p:attrName>fillcolor</p:attrName>
                                        </p:attrNameLst>
                                      </p:cBhvr>
                                      <p:tavLst>
                                        <p:tav tm="0">
                                          <p:val>
                                            <p:clrVal>
                                              <a:schemeClr val="accent2"/>
                                            </p:clrVal>
                                          </p:val>
                                        </p:tav>
                                        <p:tav tm="50000">
                                          <p:val>
                                            <p:clrVal>
                                              <a:schemeClr val="hlink"/>
                                            </p:clrVal>
                                          </p:val>
                                        </p:tav>
                                      </p:tavLst>
                                    </p:anim>
                                    <p:set>
                                      <p:cBhvr>
                                        <p:cTn id="40" dur="80"/>
                                        <p:tgtEl>
                                          <p:spTgt spid="8">
                                            <p:txEl>
                                              <p:pRg st="1" end="1"/>
                                            </p:txEl>
                                          </p:spTgt>
                                        </p:tgtEl>
                                        <p:attrNameLst>
                                          <p:attrName>fill.type</p:attrName>
                                        </p:attrNameLst>
                                      </p:cBhvr>
                                      <p:to>
                                        <p:strVal val="solid"/>
                                      </p:to>
                                    </p:set>
                                  </p:childTnLst>
                                </p:cTn>
                              </p:par>
                            </p:childTnLst>
                          </p:cTn>
                        </p:par>
                      </p:childTnLst>
                    </p:cTn>
                  </p:par>
                  <p:par>
                    <p:cTn id="41" fill="hold">
                      <p:stCondLst>
                        <p:cond delay="indefinite"/>
                      </p:stCondLst>
                      <p:childTnLst>
                        <p:par>
                          <p:cTn id="42" fill="hold">
                            <p:stCondLst>
                              <p:cond delay="0"/>
                            </p:stCondLst>
                            <p:childTnLst>
                              <p:par>
                                <p:cTn id="43" presetID="24" presetClass="entr" presetSubtype="0" fill="hold" nodeType="clickEffect">
                                  <p:stCondLst>
                                    <p:cond delay="0"/>
                                  </p:stCondLst>
                                  <p:childTnLst>
                                    <p:set>
                                      <p:cBhvr>
                                        <p:cTn id="44" dur="1" fill="hold">
                                          <p:stCondLst>
                                            <p:cond delay="0"/>
                                          </p:stCondLst>
                                        </p:cTn>
                                        <p:tgtEl>
                                          <p:spTgt spid="8">
                                            <p:txEl>
                                              <p:pRg st="2" end="2"/>
                                            </p:txEl>
                                          </p:spTgt>
                                        </p:tgtEl>
                                        <p:attrNameLst>
                                          <p:attrName>style.visibility</p:attrName>
                                        </p:attrNameLst>
                                      </p:cBhvr>
                                      <p:to>
                                        <p:strVal val="visible"/>
                                      </p:to>
                                    </p:set>
                                    <p:anim to="" calcmode="lin" valueType="num">
                                      <p:cBhvr>
                                        <p:cTn id="45" dur="1" fill="hold"/>
                                        <p:tgtEl>
                                          <p:spTgt spid="8">
                                            <p:txEl>
                                              <p:pRg st="2" end="2"/>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Text Box 5"/>
          <p:cNvSpPr txBox="1">
            <a:spLocks noChangeArrowheads="1"/>
          </p:cNvSpPr>
          <p:nvPr/>
        </p:nvSpPr>
        <p:spPr bwMode="auto">
          <a:xfrm>
            <a:off x="587388" y="2206612"/>
            <a:ext cx="1126958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1078230" indent="-457200">
              <a:spcBef>
                <a:spcPct val="20000"/>
              </a:spcBef>
              <a:buChar char="–"/>
              <a:defRPr sz="2800">
                <a:solidFill>
                  <a:schemeClr val="bg1"/>
                </a:solidFill>
                <a:latin typeface="Arial" panose="020B0604020202020204" pitchFamily="34" charset="0"/>
                <a:ea typeface="宋体" panose="02010600030101010101" pitchFamily="2" charset="-122"/>
              </a:defRPr>
            </a:lvl2pPr>
            <a:lvl3pPr marL="1714500" indent="-457200">
              <a:spcBef>
                <a:spcPct val="20000"/>
              </a:spcBef>
              <a:buChar char="•"/>
              <a:defRPr sz="2400">
                <a:solidFill>
                  <a:schemeClr val="bg1"/>
                </a:solidFill>
                <a:latin typeface="Arial" panose="020B0604020202020204" pitchFamily="34" charset="0"/>
                <a:ea typeface="宋体" panose="02010600030101010101" pitchFamily="2" charset="-122"/>
              </a:defRPr>
            </a:lvl3pPr>
            <a:lvl4pPr marL="2351405" indent="-457200">
              <a:spcBef>
                <a:spcPct val="20000"/>
              </a:spcBef>
              <a:buChar char="–"/>
              <a:defRPr sz="2000">
                <a:solidFill>
                  <a:schemeClr val="bg1"/>
                </a:solidFill>
                <a:latin typeface="Arial" panose="020B0604020202020204" pitchFamily="34" charset="0"/>
                <a:ea typeface="宋体" panose="02010600030101010101" pitchFamily="2" charset="-122"/>
              </a:defRPr>
            </a:lvl4pPr>
            <a:lvl5pPr marL="2987675" indent="-457200">
              <a:spcBef>
                <a:spcPct val="20000"/>
              </a:spcBef>
              <a:buChar char="»"/>
              <a:defRPr sz="2000">
                <a:solidFill>
                  <a:schemeClr val="bg1"/>
                </a:solidFill>
                <a:latin typeface="Arial" panose="020B0604020202020204" pitchFamily="34" charset="0"/>
                <a:ea typeface="宋体" panose="02010600030101010101" pitchFamily="2" charset="-122"/>
              </a:defRPr>
            </a:lvl5pPr>
            <a:lvl6pPr marL="3444875"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3902075"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4359275"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4816475"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a:lnSpc>
                <a:spcPct val="150000"/>
              </a:lnSpc>
              <a:spcBef>
                <a:spcPct val="80000"/>
              </a:spcBef>
              <a:buNone/>
            </a:pP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3.3.6 </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某单位欲从三人</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中挑选</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人出国进修。由于工作需要选派时要满足以下条件</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(1)</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去</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则</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同去</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(2)</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去</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则</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不能去</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(3)</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不去</a:t>
            </a:r>
            <a:r>
              <a:rPr lang="en-US" altLang="zh-CN"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则</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2200" b="0" i="1"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2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可以去。问应如何选派？</a:t>
            </a:r>
          </a:p>
        </p:txBody>
      </p:sp>
      <p:sp>
        <p:nvSpPr>
          <p:cNvPr id="56323" name="Rectangle 6"/>
          <p:cNvSpPr>
            <a:spLocks noChangeArrowheads="1"/>
          </p:cNvSpPr>
          <p:nvPr/>
        </p:nvSpPr>
        <p:spPr bwMode="auto">
          <a:xfrm>
            <a:off x="335031" y="1683392"/>
            <a:ext cx="7096815" cy="523220"/>
          </a:xfrm>
          <a:prstGeom prst="rect">
            <a:avLst/>
          </a:prstGeom>
          <a:noFill/>
        </p:spPr>
        <p:txBody>
          <a:bodyPr wrap="square">
            <a:spAutoFit/>
          </a:bodyPr>
          <a:lstStyle/>
          <a:p>
            <a:pPr>
              <a:spcBef>
                <a:spcPct val="50000"/>
              </a:spcBef>
              <a:buClr>
                <a:srgbClr val="FFC000"/>
              </a:buClr>
              <a:buSzPct val="80000"/>
            </a:pPr>
            <a:r>
              <a:rPr lang="en-US" altLang="zh-CN"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4.  </a:t>
            </a:r>
            <a:r>
              <a:rPr lang="zh-CN" altLang="en-US" sz="28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利用主析取范式和主合取式解决应用问题</a:t>
            </a:r>
          </a:p>
        </p:txBody>
      </p:sp>
      <p:sp>
        <p:nvSpPr>
          <p:cNvPr id="7" name="Text Box 5"/>
          <p:cNvSpPr txBox="1">
            <a:spLocks noChangeArrowheads="1"/>
          </p:cNvSpPr>
          <p:nvPr/>
        </p:nvSpPr>
        <p:spPr bwMode="auto">
          <a:xfrm>
            <a:off x="623392" y="3476927"/>
            <a:ext cx="10981219"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1078230" indent="-457200">
              <a:spcBef>
                <a:spcPct val="20000"/>
              </a:spcBef>
              <a:buChar char="–"/>
              <a:defRPr sz="2800">
                <a:solidFill>
                  <a:schemeClr val="bg1"/>
                </a:solidFill>
                <a:latin typeface="Arial" panose="020B0604020202020204" pitchFamily="34" charset="0"/>
                <a:ea typeface="宋体" panose="02010600030101010101" pitchFamily="2" charset="-122"/>
              </a:defRPr>
            </a:lvl2pPr>
            <a:lvl3pPr marL="1714500" indent="-457200">
              <a:spcBef>
                <a:spcPct val="20000"/>
              </a:spcBef>
              <a:buChar char="•"/>
              <a:defRPr sz="2400">
                <a:solidFill>
                  <a:schemeClr val="bg1"/>
                </a:solidFill>
                <a:latin typeface="Arial" panose="020B0604020202020204" pitchFamily="34" charset="0"/>
                <a:ea typeface="宋体" panose="02010600030101010101" pitchFamily="2" charset="-122"/>
              </a:defRPr>
            </a:lvl3pPr>
            <a:lvl4pPr marL="2351405" indent="-457200">
              <a:spcBef>
                <a:spcPct val="20000"/>
              </a:spcBef>
              <a:buChar char="–"/>
              <a:defRPr sz="2000">
                <a:solidFill>
                  <a:schemeClr val="bg1"/>
                </a:solidFill>
                <a:latin typeface="Arial" panose="020B0604020202020204" pitchFamily="34" charset="0"/>
                <a:ea typeface="宋体" panose="02010600030101010101" pitchFamily="2" charset="-122"/>
              </a:defRPr>
            </a:lvl4pPr>
            <a:lvl5pPr marL="2987675" indent="-457200">
              <a:spcBef>
                <a:spcPct val="20000"/>
              </a:spcBef>
              <a:buChar char="»"/>
              <a:defRPr sz="2000">
                <a:solidFill>
                  <a:schemeClr val="bg1"/>
                </a:solidFill>
                <a:latin typeface="Arial" panose="020B0604020202020204" pitchFamily="34" charset="0"/>
                <a:ea typeface="宋体" panose="02010600030101010101" pitchFamily="2" charset="-122"/>
              </a:defRPr>
            </a:lvl5pPr>
            <a:lvl6pPr marL="3444875"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3902075"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4359275"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4816475"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ts val="0"/>
              </a:spcBef>
              <a:buFontTx/>
              <a:buNone/>
            </a:pP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解：</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派</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去</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：派</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去</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派</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去。由条件得：</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5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经演算得其主析取范式为：</a:t>
            </a:r>
            <a:r>
              <a:rPr lang="en-US" altLang="zh-CN" sz="20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000" b="0"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0"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r</a:t>
            </a:r>
            <a:endParaRPr lang="en-US" altLang="zh-CN" sz="2000" b="0" i="1"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5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由此可知</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有</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种选派方案：</a:t>
            </a:r>
          </a:p>
          <a:p>
            <a:pPr algn="just" eaLnBrk="1" hangingPunct="1">
              <a:lnSpc>
                <a:spcPct val="15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去</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都不去</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5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(2)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去</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都不去</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5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(3)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同去</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不去。</a:t>
            </a:r>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主范式的用途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6323"/>
                                        </p:tgtEl>
                                        <p:attrNameLst>
                                          <p:attrName>style.visibility</p:attrName>
                                        </p:attrNameLst>
                                      </p:cBhvr>
                                      <p:to>
                                        <p:strVal val="visible"/>
                                      </p:to>
                                    </p:set>
                                    <p:animEffect transition="in" filter="wipe(left)">
                                      <p:cBhvr>
                                        <p:cTn id="7" dur="500"/>
                                        <p:tgtEl>
                                          <p:spTgt spid="563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4149">
                                            <p:txEl>
                                              <p:pRg st="0" end="0"/>
                                            </p:txEl>
                                          </p:spTgt>
                                        </p:tgtEl>
                                        <p:attrNameLst>
                                          <p:attrName>style.visibility</p:attrName>
                                        </p:attrNameLst>
                                      </p:cBhvr>
                                      <p:to>
                                        <p:strVal val="visible"/>
                                      </p:to>
                                    </p:set>
                                    <p:animEffect transition="in" filter="dissolve">
                                      <p:cBhvr>
                                        <p:cTn id="12" dur="500"/>
                                        <p:tgtEl>
                                          <p:spTgt spid="13414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dissolve">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dissolve">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dissolve">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7" presetClass="entr" presetSubtype="0" fill="hold" nodeType="clickEffect">
                                  <p:stCondLst>
                                    <p:cond delay="0"/>
                                  </p:stCondLst>
                                  <p:iterate type="lt">
                                    <p:tmPct val="50000"/>
                                  </p:iterate>
                                  <p:childTnLst>
                                    <p:set>
                                      <p:cBhvr>
                                        <p:cTn id="31" dur="1" fill="hold">
                                          <p:stCondLst>
                                            <p:cond delay="0"/>
                                          </p:stCondLst>
                                        </p:cTn>
                                        <p:tgtEl>
                                          <p:spTgt spid="7">
                                            <p:txEl>
                                              <p:pRg st="3" end="3"/>
                                            </p:txEl>
                                          </p:spTgt>
                                        </p:tgtEl>
                                        <p:attrNameLst>
                                          <p:attrName>style.visibility</p:attrName>
                                        </p:attrNameLst>
                                      </p:cBhvr>
                                      <p:to>
                                        <p:strVal val="visible"/>
                                      </p:to>
                                    </p:set>
                                    <p:anim calcmode="discrete" valueType="clr">
                                      <p:cBhvr override="childStyle">
                                        <p:cTn id="32" dur="80"/>
                                        <p:tgtEl>
                                          <p:spTgt spid="7">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3" dur="80"/>
                                        <p:tgtEl>
                                          <p:spTgt spid="7">
                                            <p:txEl>
                                              <p:pRg st="3" end="3"/>
                                            </p:txEl>
                                          </p:spTgt>
                                        </p:tgtEl>
                                        <p:attrNameLst>
                                          <p:attrName>fillcolor</p:attrName>
                                        </p:attrNameLst>
                                      </p:cBhvr>
                                      <p:tavLst>
                                        <p:tav tm="0">
                                          <p:val>
                                            <p:clrVal>
                                              <a:schemeClr val="accent2"/>
                                            </p:clrVal>
                                          </p:val>
                                        </p:tav>
                                        <p:tav tm="50000">
                                          <p:val>
                                            <p:clrVal>
                                              <a:schemeClr val="hlink"/>
                                            </p:clrVal>
                                          </p:val>
                                        </p:tav>
                                      </p:tavLst>
                                    </p:anim>
                                    <p:set>
                                      <p:cBhvr>
                                        <p:cTn id="34" dur="80"/>
                                        <p:tgtEl>
                                          <p:spTgt spid="7">
                                            <p:txEl>
                                              <p:pRg st="3" end="3"/>
                                            </p:txEl>
                                          </p:spTgt>
                                        </p:tgtEl>
                                        <p:attrNameLst>
                                          <p:attrName>fill.type</p:attrName>
                                        </p:attrNameLst>
                                      </p:cBhvr>
                                      <p:to>
                                        <p:strVal val="solid"/>
                                      </p:to>
                                    </p:set>
                                  </p:childTnLst>
                                </p:cTn>
                              </p:par>
                            </p:childTnLst>
                          </p:cTn>
                        </p:par>
                      </p:childTnLst>
                    </p:cTn>
                  </p:par>
                  <p:par>
                    <p:cTn id="35" fill="hold">
                      <p:stCondLst>
                        <p:cond delay="indefinite"/>
                      </p:stCondLst>
                      <p:childTnLst>
                        <p:par>
                          <p:cTn id="36" fill="hold">
                            <p:stCondLst>
                              <p:cond delay="0"/>
                            </p:stCondLst>
                            <p:childTnLst>
                              <p:par>
                                <p:cTn id="37" presetID="27" presetClass="entr" presetSubtype="0" fill="hold" nodeType="clickEffect">
                                  <p:stCondLst>
                                    <p:cond delay="0"/>
                                  </p:stCondLst>
                                  <p:iterate type="lt">
                                    <p:tmPct val="50000"/>
                                  </p:iterate>
                                  <p:childTnLst>
                                    <p:set>
                                      <p:cBhvr>
                                        <p:cTn id="38" dur="1" fill="hold">
                                          <p:stCondLst>
                                            <p:cond delay="0"/>
                                          </p:stCondLst>
                                        </p:cTn>
                                        <p:tgtEl>
                                          <p:spTgt spid="7">
                                            <p:txEl>
                                              <p:pRg st="4" end="4"/>
                                            </p:txEl>
                                          </p:spTgt>
                                        </p:tgtEl>
                                        <p:attrNameLst>
                                          <p:attrName>style.visibility</p:attrName>
                                        </p:attrNameLst>
                                      </p:cBhvr>
                                      <p:to>
                                        <p:strVal val="visible"/>
                                      </p:to>
                                    </p:set>
                                    <p:anim calcmode="discrete" valueType="clr">
                                      <p:cBhvr override="childStyle">
                                        <p:cTn id="39" dur="80"/>
                                        <p:tgtEl>
                                          <p:spTgt spid="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7">
                                            <p:txEl>
                                              <p:pRg st="4" end="4"/>
                                            </p:txEl>
                                          </p:spTgt>
                                        </p:tgtEl>
                                        <p:attrNameLst>
                                          <p:attrName>fillcolor</p:attrName>
                                        </p:attrNameLst>
                                      </p:cBhvr>
                                      <p:tavLst>
                                        <p:tav tm="0">
                                          <p:val>
                                            <p:clrVal>
                                              <a:schemeClr val="accent2"/>
                                            </p:clrVal>
                                          </p:val>
                                        </p:tav>
                                        <p:tav tm="50000">
                                          <p:val>
                                            <p:clrVal>
                                              <a:schemeClr val="hlink"/>
                                            </p:clrVal>
                                          </p:val>
                                        </p:tav>
                                      </p:tavLst>
                                    </p:anim>
                                    <p:set>
                                      <p:cBhvr>
                                        <p:cTn id="41" dur="80"/>
                                        <p:tgtEl>
                                          <p:spTgt spid="7">
                                            <p:txEl>
                                              <p:pRg st="4" end="4"/>
                                            </p:txEl>
                                          </p:spTgt>
                                        </p:tgtEl>
                                        <p:attrNameLst>
                                          <p:attrName>fill.type</p:attrName>
                                        </p:attrNameLst>
                                      </p:cBhvr>
                                      <p:to>
                                        <p:strVal val="solid"/>
                                      </p:to>
                                    </p:set>
                                  </p:childTnLst>
                                </p:cTn>
                              </p:par>
                            </p:childTnLst>
                          </p:cTn>
                        </p:par>
                      </p:childTnLst>
                    </p:cTn>
                  </p:par>
                  <p:par>
                    <p:cTn id="42" fill="hold">
                      <p:stCondLst>
                        <p:cond delay="indefinite"/>
                      </p:stCondLst>
                      <p:childTnLst>
                        <p:par>
                          <p:cTn id="43" fill="hold">
                            <p:stCondLst>
                              <p:cond delay="0"/>
                            </p:stCondLst>
                            <p:childTnLst>
                              <p:par>
                                <p:cTn id="44" presetID="27" presetClass="entr" presetSubtype="0" fill="hold" nodeType="clickEffect">
                                  <p:stCondLst>
                                    <p:cond delay="0"/>
                                  </p:stCondLst>
                                  <p:iterate type="lt">
                                    <p:tmPct val="50000"/>
                                  </p:iterate>
                                  <p:childTnLst>
                                    <p:set>
                                      <p:cBhvr>
                                        <p:cTn id="45" dur="1" fill="hold">
                                          <p:stCondLst>
                                            <p:cond delay="0"/>
                                          </p:stCondLst>
                                        </p:cTn>
                                        <p:tgtEl>
                                          <p:spTgt spid="7">
                                            <p:txEl>
                                              <p:pRg st="5" end="5"/>
                                            </p:txEl>
                                          </p:spTgt>
                                        </p:tgtEl>
                                        <p:attrNameLst>
                                          <p:attrName>style.visibility</p:attrName>
                                        </p:attrNameLst>
                                      </p:cBhvr>
                                      <p:to>
                                        <p:strVal val="visible"/>
                                      </p:to>
                                    </p:set>
                                    <p:anim calcmode="discrete" valueType="clr">
                                      <p:cBhvr override="childStyle">
                                        <p:cTn id="46" dur="80"/>
                                        <p:tgtEl>
                                          <p:spTgt spid="7">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7">
                                            <p:txEl>
                                              <p:pRg st="5" end="5"/>
                                            </p:txEl>
                                          </p:spTgt>
                                        </p:tgtEl>
                                        <p:attrNameLst>
                                          <p:attrName>fillcolor</p:attrName>
                                        </p:attrNameLst>
                                      </p:cBhvr>
                                      <p:tavLst>
                                        <p:tav tm="0">
                                          <p:val>
                                            <p:clrVal>
                                              <a:schemeClr val="accent2"/>
                                            </p:clrVal>
                                          </p:val>
                                        </p:tav>
                                        <p:tav tm="50000">
                                          <p:val>
                                            <p:clrVal>
                                              <a:schemeClr val="hlink"/>
                                            </p:clrVal>
                                          </p:val>
                                        </p:tav>
                                      </p:tavLst>
                                    </p:anim>
                                    <p:set>
                                      <p:cBhvr>
                                        <p:cTn id="48" dur="80"/>
                                        <p:tgtEl>
                                          <p:spTgt spid="7">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7"/>
          <p:cNvSpPr>
            <a:spLocks noGrp="1" noChangeArrowheads="1"/>
          </p:cNvSpPr>
          <p:nvPr>
            <p:ph type="title" idx="4294967295"/>
          </p:nvPr>
        </p:nvSpPr>
        <p:spPr>
          <a:xfrm>
            <a:off x="574052" y="1749524"/>
            <a:ext cx="3802645" cy="541338"/>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一个观察</a:t>
            </a:r>
          </a:p>
        </p:txBody>
      </p:sp>
      <p:sp>
        <p:nvSpPr>
          <p:cNvPr id="4" name="Rectangle 7"/>
          <p:cNvSpPr txBox="1">
            <a:spLocks noChangeArrowheads="1"/>
          </p:cNvSpPr>
          <p:nvPr/>
        </p:nvSpPr>
        <p:spPr bwMode="auto">
          <a:xfrm>
            <a:off x="5159377" y="44450"/>
            <a:ext cx="136867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zh-CN" altLang="en-US" sz="3600" b="0" kern="0"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思考</a:t>
            </a:r>
          </a:p>
        </p:txBody>
      </p:sp>
      <p:sp>
        <p:nvSpPr>
          <p:cNvPr id="5" name="Rectangle 7"/>
          <p:cNvSpPr txBox="1">
            <a:spLocks noChangeArrowheads="1"/>
          </p:cNvSpPr>
          <p:nvPr/>
        </p:nvSpPr>
        <p:spPr bwMode="auto">
          <a:xfrm>
            <a:off x="589332" y="3654083"/>
            <a:ext cx="50026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marL="457200" indent="-457200" algn="l" eaLnBrk="1" hangingPunct="1">
              <a:spcBef>
                <a:spcPct val="50000"/>
              </a:spcBef>
              <a:buClr>
                <a:srgbClr val="FFC000"/>
              </a:buClr>
              <a:buSzPct val="80000"/>
              <a:buFont typeface="Wingdings" panose="05000000000000000000" pitchFamily="2" charset="2"/>
              <a:buChar char="n"/>
            </a:pPr>
            <a:r>
              <a:rPr kumimoji="1" lang="en-US" altLang="zh-CN"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5</a:t>
            </a:r>
            <a:r>
              <a:rPr kumimoji="1" lang="zh-CN" altLang="en-US"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个联结词哪些是必须的？</a:t>
            </a:r>
          </a:p>
        </p:txBody>
      </p:sp>
      <p:sp>
        <p:nvSpPr>
          <p:cNvPr id="7" name="文本框 6"/>
          <p:cNvSpPr txBox="1"/>
          <p:nvPr/>
        </p:nvSpPr>
        <p:spPr>
          <a:xfrm>
            <a:off x="1127448" y="4341996"/>
            <a:ext cx="609361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a:lnSpc>
                <a:spcPct val="150000"/>
              </a:lnSpc>
              <a:spcBef>
                <a:spcPct val="20000"/>
              </a:spcBef>
              <a:buChar char="•"/>
              <a:defRPr sz="2400" b="0">
                <a:solidFill>
                  <a:schemeClr val="bg1"/>
                </a:solidFill>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t>哪些足以描述所有的逻辑关系？</a:t>
            </a:r>
          </a:p>
          <a:p>
            <a:r>
              <a:rPr lang="zh-CN" altLang="en-US" dirty="0"/>
              <a:t>必须的联结词的含义？</a:t>
            </a:r>
          </a:p>
          <a:p>
            <a:r>
              <a:rPr lang="zh-CN" altLang="en-US" dirty="0"/>
              <a:t>什么是所有的逻辑关系？</a:t>
            </a:r>
          </a:p>
        </p:txBody>
      </p:sp>
      <p:sp>
        <p:nvSpPr>
          <p:cNvPr id="9" name="文本框 8"/>
          <p:cNvSpPr txBox="1"/>
          <p:nvPr/>
        </p:nvSpPr>
        <p:spPr>
          <a:xfrm>
            <a:off x="1127448" y="2306553"/>
            <a:ext cx="6093618" cy="120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342900" indent="-342900">
              <a:lnSpc>
                <a:spcPct val="150000"/>
              </a:lnSpc>
              <a:spcBef>
                <a:spcPct val="20000"/>
              </a:spcBef>
              <a:buChar char="•"/>
              <a:defRPr sz="2400" b="0">
                <a:solidFill>
                  <a:schemeClr val="bg1"/>
                </a:solidFill>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sym typeface="Symbol" panose="05050102010706020507" pitchFamily="18" charset="2"/>
              </a:rPr>
              <a:t>范式中没有</a:t>
            </a:r>
            <a:r>
              <a:rPr lang="zh-CN" altLang="en-US" dirty="0"/>
              <a:t>联结词</a:t>
            </a:r>
            <a:r>
              <a:rPr lang="zh-CN" altLang="en-US" dirty="0">
                <a:sym typeface="Symbol" panose="05050102010706020507" pitchFamily="18" charset="2"/>
              </a:rPr>
              <a:t>和</a:t>
            </a:r>
          </a:p>
          <a:p>
            <a:r>
              <a:rPr lang="zh-CN" altLang="en-US" dirty="0">
                <a:sym typeface="Symbol" panose="05050102010706020507" pitchFamily="18" charset="2"/>
              </a:rPr>
              <a:t>和并非必须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0419"/>
                                        </p:tgtEl>
                                        <p:attrNameLst>
                                          <p:attrName>style.visibility</p:attrName>
                                        </p:attrNameLst>
                                      </p:cBhvr>
                                      <p:to>
                                        <p:strVal val="visible"/>
                                      </p:to>
                                    </p:set>
                                    <p:animEffect transition="in" filter="wipe(left)">
                                      <p:cBhvr>
                                        <p:cTn id="15" dur="500"/>
                                        <p:tgtEl>
                                          <p:spTgt spid="60419"/>
                                        </p:tgtEl>
                                      </p:cBhvr>
                                    </p:animEffect>
                                  </p:childTnLst>
                                </p:cTn>
                              </p:par>
                            </p:childTnLst>
                          </p:cTn>
                        </p:par>
                        <p:par>
                          <p:cTn id="16" fill="hold">
                            <p:stCondLst>
                              <p:cond delay="500"/>
                            </p:stCondLst>
                            <p:childTnLst>
                              <p:par>
                                <p:cTn id="17" presetID="42" presetClass="entr" presetSubtype="0" fill="hold" nodeType="after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fade">
                                      <p:cBhvr>
                                        <p:cTn id="19" dur="1000"/>
                                        <p:tgtEl>
                                          <p:spTgt spid="9">
                                            <p:txEl>
                                              <p:pRg st="0" end="0"/>
                                            </p:txEl>
                                          </p:spTgt>
                                        </p:tgtEl>
                                      </p:cBhvr>
                                    </p:animEffect>
                                    <p:anim calcmode="lin" valueType="num">
                                      <p:cBhvr>
                                        <p:cTn id="20"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animEffect transition="in" filter="fade">
                                      <p:cBhvr>
                                        <p:cTn id="25" dur="1000"/>
                                        <p:tgtEl>
                                          <p:spTgt spid="9">
                                            <p:txEl>
                                              <p:pRg st="1" end="1"/>
                                            </p:txEl>
                                          </p:spTgt>
                                        </p:tgtEl>
                                      </p:cBhvr>
                                    </p:animEffect>
                                    <p:anim calcmode="lin" valueType="num">
                                      <p:cBhvr>
                                        <p:cTn id="26"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par>
                          <p:cTn id="33" fill="hold">
                            <p:stCondLst>
                              <p:cond delay="500"/>
                            </p:stCondLst>
                            <p:childTnLst>
                              <p:par>
                                <p:cTn id="34" presetID="42" presetClass="entr" presetSubtype="0" fill="hold" nodeType="after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animEffect transition="in" filter="fade">
                                      <p:cBhvr>
                                        <p:cTn id="36" dur="1000"/>
                                        <p:tgtEl>
                                          <p:spTgt spid="7">
                                            <p:txEl>
                                              <p:pRg st="0" end="0"/>
                                            </p:txEl>
                                          </p:spTgt>
                                        </p:tgtEl>
                                      </p:cBhvr>
                                    </p:animEffect>
                                    <p:anim calcmode="lin" valueType="num">
                                      <p:cBhvr>
                                        <p:cTn id="3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1500"/>
                            </p:stCondLst>
                            <p:childTnLst>
                              <p:par>
                                <p:cTn id="40" presetID="42" presetClass="entr" presetSubtype="0" fill="hold" nodeType="after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fade">
                                      <p:cBhvr>
                                        <p:cTn id="42" dur="1000"/>
                                        <p:tgtEl>
                                          <p:spTgt spid="7">
                                            <p:txEl>
                                              <p:pRg st="1" end="1"/>
                                            </p:txEl>
                                          </p:spTgt>
                                        </p:tgtEl>
                                      </p:cBhvr>
                                    </p:animEffect>
                                    <p:anim calcmode="lin" valueType="num">
                                      <p:cBhvr>
                                        <p:cTn id="4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2500"/>
                            </p:stCondLst>
                            <p:childTnLst>
                              <p:par>
                                <p:cTn id="46" presetID="42" presetClass="entr" presetSubtype="0" fill="hold" nodeType="afterEffect">
                                  <p:stCondLst>
                                    <p:cond delay="0"/>
                                  </p:stCondLst>
                                  <p:childTnLst>
                                    <p:set>
                                      <p:cBhvr>
                                        <p:cTn id="47" dur="1" fill="hold">
                                          <p:stCondLst>
                                            <p:cond delay="0"/>
                                          </p:stCondLst>
                                        </p:cTn>
                                        <p:tgtEl>
                                          <p:spTgt spid="7">
                                            <p:txEl>
                                              <p:pRg st="2" end="2"/>
                                            </p:txEl>
                                          </p:spTgt>
                                        </p:tgtEl>
                                        <p:attrNameLst>
                                          <p:attrName>style.visibility</p:attrName>
                                        </p:attrNameLst>
                                      </p:cBhvr>
                                      <p:to>
                                        <p:strVal val="visible"/>
                                      </p:to>
                                    </p:set>
                                    <p:animEffect transition="in" filter="fade">
                                      <p:cBhvr>
                                        <p:cTn id="48" dur="1000"/>
                                        <p:tgtEl>
                                          <p:spTgt spid="7">
                                            <p:txEl>
                                              <p:pRg st="2" end="2"/>
                                            </p:txEl>
                                          </p:spTgt>
                                        </p:tgtEl>
                                      </p:cBhvr>
                                    </p:animEffect>
                                    <p:anim calcmode="lin" valueType="num">
                                      <p:cBhvr>
                                        <p:cTn id="4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39"/>
          <p:cNvSpPr txBox="1">
            <a:spLocks noChangeArrowheads="1"/>
          </p:cNvSpPr>
          <p:nvPr/>
        </p:nvSpPr>
        <p:spPr bwMode="auto">
          <a:xfrm>
            <a:off x="407368" y="1645096"/>
            <a:ext cx="59046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marL="457200" indent="-457200" algn="l">
              <a:spcBef>
                <a:spcPct val="50000"/>
              </a:spcBef>
              <a:buClr>
                <a:srgbClr val="FFC000"/>
              </a:buClr>
              <a:buSzPct val="80000"/>
              <a:buFont typeface="Wingdings" panose="05000000000000000000" pitchFamily="2" charset="2"/>
              <a:buChar char="n"/>
            </a:pP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lang="en-US" altLang="zh-CN"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3.3.3——</a:t>
            </a:r>
            <a:r>
              <a:rPr kumimoji="1" lang="en-US" altLang="zh-CN" sz="2800" b="0" i="1"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元真值函数</a:t>
            </a:r>
          </a:p>
        </p:txBody>
      </p:sp>
      <p:sp>
        <p:nvSpPr>
          <p:cNvPr id="3" name="Text Box 5"/>
          <p:cNvSpPr txBox="1">
            <a:spLocks noChangeArrowheads="1"/>
          </p:cNvSpPr>
          <p:nvPr/>
        </p:nvSpPr>
        <p:spPr bwMode="auto">
          <a:xfrm>
            <a:off x="2495600" y="2189554"/>
            <a:ext cx="5112568" cy="57624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indent="-457200" algn="just">
              <a:lnSpc>
                <a:spcPct val="150000"/>
              </a:lnSpc>
              <a:spcBef>
                <a:spcPct val="50000"/>
              </a:spcBef>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{0,1}</a:t>
            </a:r>
            <a:r>
              <a:rPr lang="en-US" altLang="zh-CN" sz="2400" b="0" i="1" baseline="3000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到</a:t>
            </a:r>
            <a:r>
              <a:rPr lang="en-US" altLang="zh-CN" sz="2400" b="0" dirty="0">
                <a:solidFill>
                  <a:srgbClr val="92D050"/>
                </a:solidFill>
                <a:latin typeface="Times New Roman" panose="02020603050405020304" pitchFamily="18" charset="0"/>
                <a:ea typeface="微软雅黑" panose="020B0503020204020204" pitchFamily="34" charset="-122"/>
                <a:cs typeface="Times New Roman" panose="02020603050405020304" pitchFamily="18" charset="0"/>
              </a:rPr>
              <a:t>{0,1}</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元函数。</a:t>
            </a:r>
          </a:p>
        </p:txBody>
      </p:sp>
      <p:sp>
        <p:nvSpPr>
          <p:cNvPr id="4" name="Text Box 5"/>
          <p:cNvSpPr txBox="1">
            <a:spLocks noChangeArrowheads="1"/>
          </p:cNvSpPr>
          <p:nvPr/>
        </p:nvSpPr>
        <p:spPr bwMode="auto">
          <a:xfrm>
            <a:off x="1360191" y="4581058"/>
            <a:ext cx="9903368" cy="58086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indent="-457200" algn="just">
              <a:lnSpc>
                <a:spcPct val="150000"/>
              </a:lnSpc>
              <a:spcBef>
                <a:spcPct val="50000"/>
              </a:spcBef>
              <a:buNone/>
              <a:defRPr sz="2400" b="0">
                <a:solidFill>
                  <a:schemeClr val="bg1"/>
                </a:solidFill>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pPr>
              <a:buFont typeface="Arial" panose="020B0604020202020204" pitchFamily="34" charset="0"/>
              <a:buChar char="•"/>
            </a:pPr>
            <a:r>
              <a:rPr lang="zh-CN" altLang="en-US" dirty="0">
                <a:solidFill>
                  <a:srgbClr val="FFC000"/>
                </a:solidFill>
              </a:rPr>
              <a:t>每个真值函数都有一个与之对应的命题公式</a:t>
            </a:r>
          </a:p>
        </p:txBody>
      </p:sp>
      <p:sp>
        <p:nvSpPr>
          <p:cNvPr id="5" name="矩形 4"/>
          <p:cNvSpPr/>
          <p:nvPr/>
        </p:nvSpPr>
        <p:spPr>
          <a:xfrm>
            <a:off x="530423" y="2985899"/>
            <a:ext cx="906017" cy="523220"/>
          </a:xfrm>
          <a:prstGeom prst="rect">
            <a:avLst/>
          </a:prstGeom>
        </p:spPr>
        <p:txBody>
          <a:bodyPr wrap="none">
            <a:spAutoFit/>
          </a:bodyPr>
          <a:lstStyle/>
          <a:p>
            <a:r>
              <a:rPr lang="zh-CN" altLang="en-US" sz="2800" b="0" dirty="0">
                <a:solidFill>
                  <a:srgbClr val="FFCCFF"/>
                </a:solidFill>
                <a:ea typeface="微软雅黑" panose="020B0503020204020204" pitchFamily="34" charset="-122"/>
                <a:cs typeface="Times New Roman" panose="02020603050405020304" pitchFamily="18" charset="0"/>
              </a:rPr>
              <a:t>注：</a:t>
            </a:r>
            <a:endParaRPr lang="zh-CN" altLang="en-US" sz="2800" b="0" dirty="0">
              <a:ea typeface="微软雅黑" panose="020B0503020204020204" pitchFamily="34" charset="-122"/>
              <a:cs typeface="Times New Roman" panose="02020603050405020304" pitchFamily="18" charset="0"/>
            </a:endParaRPr>
          </a:p>
        </p:txBody>
      </p:sp>
      <p:sp>
        <p:nvSpPr>
          <p:cNvPr id="6" name="Text Box 5"/>
          <p:cNvSpPr txBox="1">
            <a:spLocks noChangeArrowheads="1"/>
          </p:cNvSpPr>
          <p:nvPr/>
        </p:nvSpPr>
        <p:spPr bwMode="auto">
          <a:xfrm>
            <a:off x="1360340" y="2915479"/>
            <a:ext cx="9903368" cy="58086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indent="-457200" algn="just">
              <a:lnSpc>
                <a:spcPct val="150000"/>
              </a:lnSpc>
              <a:spcBef>
                <a:spcPct val="50000"/>
              </a:spcBef>
              <a:buNone/>
              <a:defRPr sz="2400" b="0">
                <a:solidFill>
                  <a:schemeClr val="bg1"/>
                </a:solidFill>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pPr>
              <a:buFont typeface="Arial" panose="020B0604020202020204" pitchFamily="34" charset="0"/>
              <a:buChar char="•"/>
            </a:pPr>
            <a:r>
              <a:rPr lang="zh-CN" altLang="en-US" dirty="0">
                <a:solidFill>
                  <a:srgbClr val="92D050"/>
                </a:solidFill>
              </a:rPr>
              <a:t>每个命题公式都对应于一个真值函数</a:t>
            </a:r>
          </a:p>
        </p:txBody>
      </p:sp>
      <p:sp>
        <p:nvSpPr>
          <p:cNvPr id="8" name="文本框 7"/>
          <p:cNvSpPr txBox="1"/>
          <p:nvPr/>
        </p:nvSpPr>
        <p:spPr>
          <a:xfrm>
            <a:off x="1456829" y="3542906"/>
            <a:ext cx="10208417" cy="1006429"/>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indent="-457200" algn="just">
              <a:lnSpc>
                <a:spcPct val="150000"/>
              </a:lnSpc>
              <a:spcBef>
                <a:spcPts val="0"/>
              </a:spcBef>
              <a:buNone/>
              <a:defRPr sz="2400" b="0">
                <a:solidFill>
                  <a:schemeClr val="bg1"/>
                </a:solidFill>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sz="2200" dirty="0"/>
              <a:t>命题公式</a:t>
            </a:r>
            <a:r>
              <a:rPr lang="en-US" altLang="zh-CN" sz="2200" i="1" dirty="0"/>
              <a:t>A</a:t>
            </a:r>
            <a:r>
              <a:rPr lang="en-US" altLang="zh-CN" sz="2200" dirty="0"/>
              <a:t>(</a:t>
            </a:r>
            <a:r>
              <a:rPr lang="en-US" altLang="zh-CN" sz="2200" i="1" dirty="0"/>
              <a:t>x</a:t>
            </a:r>
            <a:r>
              <a:rPr lang="en-US" altLang="zh-CN" sz="2200" baseline="-25000" dirty="0"/>
              <a:t>1</a:t>
            </a:r>
            <a:r>
              <a:rPr lang="en-US" altLang="zh-CN" sz="2200" dirty="0"/>
              <a:t>, </a:t>
            </a:r>
            <a:r>
              <a:rPr lang="en-US" altLang="zh-CN" sz="2200" i="1" dirty="0"/>
              <a:t>x</a:t>
            </a:r>
            <a:r>
              <a:rPr lang="en-US" altLang="zh-CN" sz="2200" baseline="-25000" dirty="0"/>
              <a:t>2</a:t>
            </a:r>
            <a:r>
              <a:rPr lang="en-US" altLang="zh-CN" sz="2200" dirty="0"/>
              <a:t>, … , </a:t>
            </a:r>
            <a:r>
              <a:rPr lang="en-US" altLang="zh-CN" sz="2200" i="1" dirty="0" err="1"/>
              <a:t>x</a:t>
            </a:r>
            <a:r>
              <a:rPr lang="en-US" altLang="zh-CN" sz="2200" i="1" baseline="-25000" dirty="0" err="1"/>
              <a:t>n</a:t>
            </a:r>
            <a:r>
              <a:rPr lang="en-US" altLang="zh-CN" sz="2200" dirty="0"/>
              <a:t>)</a:t>
            </a:r>
            <a:r>
              <a:rPr lang="zh-CN" altLang="en-US" sz="2200" dirty="0"/>
              <a:t>对应</a:t>
            </a:r>
            <a:r>
              <a:rPr lang="en-US" altLang="zh-CN" sz="2200" i="1" dirty="0"/>
              <a:t>n</a:t>
            </a:r>
            <a:r>
              <a:rPr lang="zh-CN" altLang="en-US" sz="2200" dirty="0"/>
              <a:t>元真值函数</a:t>
            </a:r>
            <a:r>
              <a:rPr lang="en-US" altLang="zh-CN" sz="2200" i="1" dirty="0"/>
              <a:t>F</a:t>
            </a:r>
            <a:r>
              <a:rPr lang="en-US" altLang="zh-CN" sz="2200" dirty="0"/>
              <a:t>(</a:t>
            </a:r>
            <a:r>
              <a:rPr lang="en-US" altLang="zh-CN" sz="2200" i="1" dirty="0"/>
              <a:t>x</a:t>
            </a:r>
            <a:r>
              <a:rPr lang="en-US" altLang="zh-CN" sz="2200" baseline="-25000" dirty="0"/>
              <a:t>1</a:t>
            </a:r>
            <a:r>
              <a:rPr lang="en-US" altLang="zh-CN" sz="2200" dirty="0"/>
              <a:t>, </a:t>
            </a:r>
            <a:r>
              <a:rPr lang="en-US" altLang="zh-CN" sz="2200" i="1" dirty="0"/>
              <a:t>x</a:t>
            </a:r>
            <a:r>
              <a:rPr lang="en-US" altLang="zh-CN" sz="2200" baseline="-25000" dirty="0"/>
              <a:t>2</a:t>
            </a:r>
            <a:r>
              <a:rPr lang="en-US" altLang="zh-CN" sz="2200" dirty="0"/>
              <a:t>, … , </a:t>
            </a:r>
            <a:r>
              <a:rPr lang="en-US" altLang="zh-CN" sz="2200" i="1" dirty="0" err="1"/>
              <a:t>x</a:t>
            </a:r>
            <a:r>
              <a:rPr lang="en-US" altLang="zh-CN" sz="2200" i="1" baseline="-25000" dirty="0" err="1"/>
              <a:t>n</a:t>
            </a:r>
            <a:r>
              <a:rPr lang="en-US" altLang="zh-CN" sz="2200" dirty="0"/>
              <a:t>) </a:t>
            </a:r>
          </a:p>
          <a:p>
            <a:pPr>
              <a:lnSpc>
                <a:spcPct val="120000"/>
              </a:lnSpc>
            </a:pPr>
            <a:r>
              <a:rPr lang="en-US" altLang="zh-CN" sz="2200" dirty="0"/>
              <a:t>      </a:t>
            </a:r>
            <a:r>
              <a:rPr lang="en-US" altLang="zh-CN" sz="2200" i="1" dirty="0"/>
              <a:t>F</a:t>
            </a:r>
            <a:r>
              <a:rPr lang="en-US" altLang="zh-CN" sz="2200" dirty="0"/>
              <a:t>(</a:t>
            </a:r>
            <a:r>
              <a:rPr lang="en-US" altLang="zh-CN" sz="2200" i="1" dirty="0"/>
              <a:t>a</a:t>
            </a:r>
            <a:r>
              <a:rPr lang="en-US" altLang="zh-CN" sz="2200" baseline="-25000" dirty="0"/>
              <a:t>1</a:t>
            </a:r>
            <a:r>
              <a:rPr lang="en-US" altLang="zh-CN" sz="2200" dirty="0"/>
              <a:t>, </a:t>
            </a:r>
            <a:r>
              <a:rPr lang="en-US" altLang="zh-CN" sz="2200" i="1" dirty="0"/>
              <a:t>a</a:t>
            </a:r>
            <a:r>
              <a:rPr lang="en-US" altLang="zh-CN" sz="2200" baseline="-25000" dirty="0"/>
              <a:t>2</a:t>
            </a:r>
            <a:r>
              <a:rPr lang="en-US" altLang="zh-CN" sz="2200" dirty="0"/>
              <a:t>, … , </a:t>
            </a:r>
            <a:r>
              <a:rPr lang="en-US" altLang="zh-CN" sz="2200" i="1" dirty="0"/>
              <a:t>a</a:t>
            </a:r>
            <a:r>
              <a:rPr lang="en-US" altLang="zh-CN" sz="2200" i="1" baseline="-25000" dirty="0"/>
              <a:t>n</a:t>
            </a:r>
            <a:r>
              <a:rPr lang="en-US" altLang="zh-CN" sz="2200" dirty="0"/>
              <a:t>)=1 </a:t>
            </a:r>
            <a:r>
              <a:rPr lang="en-US" altLang="zh-CN" sz="2200" dirty="0">
                <a:sym typeface="Symbol" panose="05050102010706020507" pitchFamily="18" charset="2"/>
              </a:rPr>
              <a:t> </a:t>
            </a:r>
            <a:r>
              <a:rPr lang="en-US" altLang="zh-CN" sz="2200" i="1" dirty="0">
                <a:sym typeface="Symbol" panose="05050102010706020507" pitchFamily="18" charset="2"/>
              </a:rPr>
              <a:t>A</a:t>
            </a:r>
            <a:r>
              <a:rPr lang="en-US" altLang="zh-CN" sz="2200" dirty="0"/>
              <a:t>(</a:t>
            </a:r>
            <a:r>
              <a:rPr lang="en-US" altLang="zh-CN" sz="2200" i="1" dirty="0"/>
              <a:t>a</a:t>
            </a:r>
            <a:r>
              <a:rPr lang="en-US" altLang="zh-CN" sz="2200" baseline="-25000" dirty="0"/>
              <a:t>1</a:t>
            </a:r>
            <a:r>
              <a:rPr lang="en-US" altLang="zh-CN" sz="2200" dirty="0"/>
              <a:t>, </a:t>
            </a:r>
            <a:r>
              <a:rPr lang="en-US" altLang="zh-CN" sz="2200" i="1" dirty="0"/>
              <a:t>a</a:t>
            </a:r>
            <a:r>
              <a:rPr lang="en-US" altLang="zh-CN" sz="2200" baseline="-25000" dirty="0"/>
              <a:t>2</a:t>
            </a:r>
            <a:r>
              <a:rPr lang="en-US" altLang="zh-CN" sz="2200" dirty="0"/>
              <a:t>, … , </a:t>
            </a:r>
            <a:r>
              <a:rPr lang="en-US" altLang="zh-CN" sz="2200" i="1" dirty="0"/>
              <a:t>a</a:t>
            </a:r>
            <a:r>
              <a:rPr lang="en-US" altLang="zh-CN" sz="2200" i="1" baseline="-25000" dirty="0"/>
              <a:t>n</a:t>
            </a:r>
            <a:r>
              <a:rPr lang="en-US" altLang="zh-CN" sz="2200" dirty="0"/>
              <a:t>)</a:t>
            </a:r>
            <a:r>
              <a:rPr lang="zh-CN" altLang="en-US" sz="2200" dirty="0"/>
              <a:t>的真值为</a:t>
            </a:r>
            <a:r>
              <a:rPr lang="en-US" altLang="zh-CN" sz="2200" dirty="0"/>
              <a:t>1, (</a:t>
            </a:r>
            <a:r>
              <a:rPr lang="en-US" altLang="zh-CN" sz="2200" i="1" dirty="0"/>
              <a:t>a</a:t>
            </a:r>
            <a:r>
              <a:rPr lang="en-US" altLang="zh-CN" sz="2200" baseline="-25000" dirty="0"/>
              <a:t>1</a:t>
            </a:r>
            <a:r>
              <a:rPr lang="en-US" altLang="zh-CN" sz="2200" dirty="0"/>
              <a:t>, </a:t>
            </a:r>
            <a:r>
              <a:rPr lang="en-US" altLang="zh-CN" sz="2200" i="1" dirty="0"/>
              <a:t>a</a:t>
            </a:r>
            <a:r>
              <a:rPr lang="en-US" altLang="zh-CN" sz="2200" baseline="-25000" dirty="0"/>
              <a:t>2</a:t>
            </a:r>
            <a:r>
              <a:rPr lang="en-US" altLang="zh-CN" sz="2200" dirty="0"/>
              <a:t>, … , </a:t>
            </a:r>
            <a:r>
              <a:rPr lang="en-US" altLang="zh-CN" sz="2200" i="1" dirty="0"/>
              <a:t>a</a:t>
            </a:r>
            <a:r>
              <a:rPr lang="en-US" altLang="zh-CN" sz="2200" i="1" baseline="-25000" dirty="0"/>
              <a:t>n</a:t>
            </a:r>
            <a:r>
              <a:rPr lang="en-US" altLang="zh-CN" sz="2200" dirty="0"/>
              <a:t>)</a:t>
            </a:r>
            <a:r>
              <a:rPr lang="zh-CN" altLang="en-US" sz="2200" dirty="0"/>
              <a:t>是 </a:t>
            </a:r>
            <a:r>
              <a:rPr lang="en-US" altLang="zh-CN" sz="2200" i="1" dirty="0"/>
              <a:t>A</a:t>
            </a:r>
            <a:r>
              <a:rPr lang="zh-CN" altLang="en-US" sz="2200" dirty="0"/>
              <a:t>的任意赋值</a:t>
            </a:r>
          </a:p>
        </p:txBody>
      </p:sp>
      <p:sp>
        <p:nvSpPr>
          <p:cNvPr id="10" name="文本框 9"/>
          <p:cNvSpPr txBox="1"/>
          <p:nvPr/>
        </p:nvSpPr>
        <p:spPr>
          <a:xfrm>
            <a:off x="1456829" y="5373216"/>
            <a:ext cx="10009112" cy="87023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indent="-457200" algn="just">
              <a:lnSpc>
                <a:spcPct val="150000"/>
              </a:lnSpc>
              <a:spcBef>
                <a:spcPts val="0"/>
              </a:spcBef>
              <a:buNone/>
              <a:defRPr sz="2400" b="0">
                <a:solidFill>
                  <a:schemeClr val="bg1"/>
                </a:solidFill>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bg1"/>
                </a:solidFill>
                <a:latin typeface="Arial" panose="020B0604020202020204" pitchFamily="34"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pPr indent="0">
              <a:lnSpc>
                <a:spcPct val="120000"/>
              </a:lnSpc>
            </a:pPr>
            <a:r>
              <a:rPr lang="zh-CN" altLang="en-US" sz="2200" dirty="0"/>
              <a:t>给定</a:t>
            </a:r>
            <a:r>
              <a:rPr lang="en-US" altLang="zh-CN" sz="2200" i="1" dirty="0"/>
              <a:t>n</a:t>
            </a:r>
            <a:r>
              <a:rPr lang="zh-CN" altLang="en-US" sz="2200" dirty="0"/>
              <a:t>元真值函数</a:t>
            </a:r>
            <a:r>
              <a:rPr lang="en-US" altLang="zh-CN" sz="2200" i="1" dirty="0"/>
              <a:t>F</a:t>
            </a:r>
            <a:r>
              <a:rPr lang="en-US" altLang="zh-CN" sz="2200" dirty="0"/>
              <a:t>(</a:t>
            </a:r>
            <a:r>
              <a:rPr lang="en-US" altLang="zh-CN" sz="2200" i="1" dirty="0"/>
              <a:t>x</a:t>
            </a:r>
            <a:r>
              <a:rPr lang="en-US" altLang="zh-CN" sz="2200" baseline="-25000" dirty="0"/>
              <a:t>1</a:t>
            </a:r>
            <a:r>
              <a:rPr lang="en-US" altLang="zh-CN" sz="2200" dirty="0"/>
              <a:t>, </a:t>
            </a:r>
            <a:r>
              <a:rPr lang="en-US" altLang="zh-CN" sz="2200" i="1" dirty="0"/>
              <a:t>x</a:t>
            </a:r>
            <a:r>
              <a:rPr lang="en-US" altLang="zh-CN" sz="2200" baseline="-25000" dirty="0"/>
              <a:t>2</a:t>
            </a:r>
            <a:r>
              <a:rPr lang="en-US" altLang="zh-CN" sz="2200" dirty="0"/>
              <a:t>, … , </a:t>
            </a:r>
            <a:r>
              <a:rPr lang="en-US" altLang="zh-CN" sz="2200" i="1" dirty="0" err="1"/>
              <a:t>x</a:t>
            </a:r>
            <a:r>
              <a:rPr lang="en-US" altLang="zh-CN" sz="2200" i="1" baseline="-25000" dirty="0" err="1"/>
              <a:t>n</a:t>
            </a:r>
            <a:r>
              <a:rPr lang="en-US" altLang="zh-CN" sz="2200" dirty="0"/>
              <a:t>), </a:t>
            </a:r>
            <a:r>
              <a:rPr lang="zh-CN" altLang="en-US" sz="2200" dirty="0"/>
              <a:t>存在命题公式</a:t>
            </a:r>
            <a:r>
              <a:rPr lang="en-US" altLang="zh-CN" sz="2200" i="1" dirty="0"/>
              <a:t>A</a:t>
            </a:r>
            <a:r>
              <a:rPr lang="en-US" altLang="zh-CN" sz="2200" dirty="0"/>
              <a:t>(</a:t>
            </a:r>
            <a:r>
              <a:rPr lang="en-US" altLang="zh-CN" sz="2200" i="1" dirty="0"/>
              <a:t>x</a:t>
            </a:r>
            <a:r>
              <a:rPr lang="en-US" altLang="zh-CN" sz="2200" baseline="-25000" dirty="0"/>
              <a:t>1</a:t>
            </a:r>
            <a:r>
              <a:rPr lang="en-US" altLang="zh-CN" sz="2200" dirty="0"/>
              <a:t>, </a:t>
            </a:r>
            <a:r>
              <a:rPr lang="en-US" altLang="zh-CN" sz="2200" i="1" dirty="0"/>
              <a:t>x</a:t>
            </a:r>
            <a:r>
              <a:rPr lang="en-US" altLang="zh-CN" sz="2200" baseline="-25000" dirty="0"/>
              <a:t>2</a:t>
            </a:r>
            <a:r>
              <a:rPr lang="en-US" altLang="zh-CN" sz="2200" dirty="0"/>
              <a:t>, … , </a:t>
            </a:r>
            <a:r>
              <a:rPr lang="en-US" altLang="zh-CN" sz="2200" i="1" dirty="0" err="1"/>
              <a:t>x</a:t>
            </a:r>
            <a:r>
              <a:rPr lang="en-US" altLang="zh-CN" sz="2200" i="1" baseline="-25000" dirty="0" err="1"/>
              <a:t>n</a:t>
            </a:r>
            <a:r>
              <a:rPr lang="en-US" altLang="zh-CN" sz="2200" dirty="0"/>
              <a:t>)</a:t>
            </a:r>
          </a:p>
          <a:p>
            <a:pPr indent="0">
              <a:lnSpc>
                <a:spcPct val="120000"/>
              </a:lnSpc>
            </a:pPr>
            <a:r>
              <a:rPr lang="zh-CN" altLang="en-US" sz="2200" dirty="0"/>
              <a:t>与</a:t>
            </a:r>
            <a:r>
              <a:rPr lang="en-US" altLang="zh-CN" sz="2200" i="1" dirty="0"/>
              <a:t>A</a:t>
            </a:r>
            <a:r>
              <a:rPr lang="en-US" altLang="zh-CN" sz="2200" dirty="0"/>
              <a:t>(</a:t>
            </a:r>
            <a:r>
              <a:rPr lang="en-US" altLang="zh-CN" sz="2200" i="1" dirty="0"/>
              <a:t>x</a:t>
            </a:r>
            <a:r>
              <a:rPr lang="en-US" altLang="zh-CN" sz="2200" baseline="-25000" dirty="0"/>
              <a:t>1</a:t>
            </a:r>
            <a:r>
              <a:rPr lang="en-US" altLang="zh-CN" sz="2200" dirty="0"/>
              <a:t>, </a:t>
            </a:r>
            <a:r>
              <a:rPr lang="en-US" altLang="zh-CN" sz="2200" i="1" dirty="0"/>
              <a:t>x</a:t>
            </a:r>
            <a:r>
              <a:rPr lang="en-US" altLang="zh-CN" sz="2200" baseline="-25000" dirty="0"/>
              <a:t>2</a:t>
            </a:r>
            <a:r>
              <a:rPr lang="en-US" altLang="zh-CN" sz="2200" dirty="0"/>
              <a:t>, … , </a:t>
            </a:r>
            <a:r>
              <a:rPr lang="en-US" altLang="zh-CN" sz="2200" i="1" dirty="0" err="1"/>
              <a:t>x</a:t>
            </a:r>
            <a:r>
              <a:rPr lang="en-US" altLang="zh-CN" sz="2200" i="1" baseline="-25000" dirty="0" err="1"/>
              <a:t>n</a:t>
            </a:r>
            <a:r>
              <a:rPr lang="en-US" altLang="zh-CN" sz="2200" dirty="0"/>
              <a:t>)</a:t>
            </a:r>
            <a:r>
              <a:rPr lang="zh-CN" altLang="en-US" sz="2200" dirty="0"/>
              <a:t>对应的真值函数恰为</a:t>
            </a:r>
            <a:r>
              <a:rPr lang="en-US" altLang="zh-CN" sz="2200" i="1" dirty="0"/>
              <a:t>F</a:t>
            </a:r>
            <a:r>
              <a:rPr lang="en-US" altLang="zh-CN" sz="2200" dirty="0"/>
              <a:t>(</a:t>
            </a:r>
            <a:r>
              <a:rPr lang="en-US" altLang="zh-CN" sz="2200" i="1" dirty="0"/>
              <a:t>x</a:t>
            </a:r>
            <a:r>
              <a:rPr lang="en-US" altLang="zh-CN" sz="2200" baseline="-25000" dirty="0"/>
              <a:t>1</a:t>
            </a:r>
            <a:r>
              <a:rPr lang="en-US" altLang="zh-CN" sz="2200" dirty="0"/>
              <a:t>, </a:t>
            </a:r>
            <a:r>
              <a:rPr lang="en-US" altLang="zh-CN" sz="2200" i="1" dirty="0"/>
              <a:t>x</a:t>
            </a:r>
            <a:r>
              <a:rPr lang="en-US" altLang="zh-CN" sz="2200" baseline="-25000" dirty="0"/>
              <a:t>2</a:t>
            </a:r>
            <a:r>
              <a:rPr lang="en-US" altLang="zh-CN" sz="2200" dirty="0"/>
              <a:t>, … , </a:t>
            </a:r>
            <a:r>
              <a:rPr lang="en-US" altLang="zh-CN" sz="2200" i="1" dirty="0" err="1"/>
              <a:t>x</a:t>
            </a:r>
            <a:r>
              <a:rPr lang="en-US" altLang="zh-CN" sz="2200" i="1" baseline="-25000" dirty="0" err="1"/>
              <a:t>n</a:t>
            </a:r>
            <a:r>
              <a:rPr lang="en-US" altLang="zh-CN" sz="2200" dirty="0"/>
              <a:t>)</a:t>
            </a:r>
            <a:r>
              <a:rPr lang="zh-CN" altLang="en-US" sz="2200" dirty="0"/>
              <a:t> </a:t>
            </a:r>
          </a:p>
        </p:txBody>
      </p:sp>
      <p:sp>
        <p:nvSpPr>
          <p:cNvPr id="1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3.3.3 </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联结词的完备集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dissolve">
                                      <p:cBhvr>
                                        <p:cTn id="21" dur="500"/>
                                        <p:tgtEl>
                                          <p:spTgt spid="6">
                                            <p:txEl>
                                              <p:pRg st="0" end="0"/>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iterate type="wd">
                                    <p:tmPct val="10000"/>
                                  </p:iterate>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4">
                                            <p:txEl>
                                              <p:pRg st="0" end="0"/>
                                            </p:txEl>
                                          </p:spTgt>
                                        </p:tgtEl>
                                        <p:attrNameLst>
                                          <p:attrName>style.visibility</p:attrName>
                                        </p:attrNameLst>
                                      </p:cBhvr>
                                      <p:to>
                                        <p:strVal val="visible"/>
                                      </p:to>
                                    </p:set>
                                    <p:animEffect transition="in" filter="dissolve">
                                      <p:cBhvr>
                                        <p:cTn id="30" dur="500"/>
                                        <p:tgtEl>
                                          <p:spTgt spid="4">
                                            <p:txEl>
                                              <p:pRg st="0" end="0"/>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iterate type="wd">
                                    <p:tmPct val="10000"/>
                                  </p:iterate>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8"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9402" name="Group 138"/>
          <p:cNvGraphicFramePr>
            <a:graphicFrameLocks noGrp="1"/>
          </p:cNvGraphicFramePr>
          <p:nvPr>
            <p:extLst>
              <p:ext uri="{D42A27DB-BD31-4B8C-83A1-F6EECF244321}">
                <p14:modId xmlns:p14="http://schemas.microsoft.com/office/powerpoint/2010/main" val="993664082"/>
              </p:ext>
            </p:extLst>
          </p:nvPr>
        </p:nvGraphicFramePr>
        <p:xfrm>
          <a:off x="551383" y="2320280"/>
          <a:ext cx="11170295" cy="1828800"/>
        </p:xfrm>
        <a:graphic>
          <a:graphicData uri="http://schemas.openxmlformats.org/drawingml/2006/table">
            <a:tbl>
              <a:tblPr/>
              <a:tblGrid>
                <a:gridCol w="545184">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627412">
                  <a:extLst>
                    <a:ext uri="{9D8B030D-6E8A-4147-A177-3AD203B41FA5}">
                      <a16:colId xmlns:a16="http://schemas.microsoft.com/office/drawing/2014/main" val="20002"/>
                    </a:ext>
                  </a:extLst>
                </a:gridCol>
                <a:gridCol w="627412">
                  <a:extLst>
                    <a:ext uri="{9D8B030D-6E8A-4147-A177-3AD203B41FA5}">
                      <a16:colId xmlns:a16="http://schemas.microsoft.com/office/drawing/2014/main" val="20003"/>
                    </a:ext>
                  </a:extLst>
                </a:gridCol>
                <a:gridCol w="627412">
                  <a:extLst>
                    <a:ext uri="{9D8B030D-6E8A-4147-A177-3AD203B41FA5}">
                      <a16:colId xmlns:a16="http://schemas.microsoft.com/office/drawing/2014/main" val="20004"/>
                    </a:ext>
                  </a:extLst>
                </a:gridCol>
                <a:gridCol w="627412">
                  <a:extLst>
                    <a:ext uri="{9D8B030D-6E8A-4147-A177-3AD203B41FA5}">
                      <a16:colId xmlns:a16="http://schemas.microsoft.com/office/drawing/2014/main" val="20005"/>
                    </a:ext>
                  </a:extLst>
                </a:gridCol>
                <a:gridCol w="627412">
                  <a:extLst>
                    <a:ext uri="{9D8B030D-6E8A-4147-A177-3AD203B41FA5}">
                      <a16:colId xmlns:a16="http://schemas.microsoft.com/office/drawing/2014/main" val="20006"/>
                    </a:ext>
                  </a:extLst>
                </a:gridCol>
                <a:gridCol w="627412">
                  <a:extLst>
                    <a:ext uri="{9D8B030D-6E8A-4147-A177-3AD203B41FA5}">
                      <a16:colId xmlns:a16="http://schemas.microsoft.com/office/drawing/2014/main" val="20007"/>
                    </a:ext>
                  </a:extLst>
                </a:gridCol>
                <a:gridCol w="627412">
                  <a:extLst>
                    <a:ext uri="{9D8B030D-6E8A-4147-A177-3AD203B41FA5}">
                      <a16:colId xmlns:a16="http://schemas.microsoft.com/office/drawing/2014/main" val="20008"/>
                    </a:ext>
                  </a:extLst>
                </a:gridCol>
                <a:gridCol w="627412">
                  <a:extLst>
                    <a:ext uri="{9D8B030D-6E8A-4147-A177-3AD203B41FA5}">
                      <a16:colId xmlns:a16="http://schemas.microsoft.com/office/drawing/2014/main" val="20009"/>
                    </a:ext>
                  </a:extLst>
                </a:gridCol>
                <a:gridCol w="627372">
                  <a:extLst>
                    <a:ext uri="{9D8B030D-6E8A-4147-A177-3AD203B41FA5}">
                      <a16:colId xmlns:a16="http://schemas.microsoft.com/office/drawing/2014/main" val="20010"/>
                    </a:ext>
                  </a:extLst>
                </a:gridCol>
                <a:gridCol w="627372">
                  <a:extLst>
                    <a:ext uri="{9D8B030D-6E8A-4147-A177-3AD203B41FA5}">
                      <a16:colId xmlns:a16="http://schemas.microsoft.com/office/drawing/2014/main" val="20011"/>
                    </a:ext>
                  </a:extLst>
                </a:gridCol>
                <a:gridCol w="703572">
                  <a:extLst>
                    <a:ext uri="{9D8B030D-6E8A-4147-A177-3AD203B41FA5}">
                      <a16:colId xmlns:a16="http://schemas.microsoft.com/office/drawing/2014/main" val="20012"/>
                    </a:ext>
                  </a:extLst>
                </a:gridCol>
                <a:gridCol w="695190">
                  <a:extLst>
                    <a:ext uri="{9D8B030D-6E8A-4147-A177-3AD203B41FA5}">
                      <a16:colId xmlns:a16="http://schemas.microsoft.com/office/drawing/2014/main" val="20013"/>
                    </a:ext>
                  </a:extLst>
                </a:gridCol>
                <a:gridCol w="703572">
                  <a:extLst>
                    <a:ext uri="{9D8B030D-6E8A-4147-A177-3AD203B41FA5}">
                      <a16:colId xmlns:a16="http://schemas.microsoft.com/office/drawing/2014/main" val="20014"/>
                    </a:ext>
                  </a:extLst>
                </a:gridCol>
                <a:gridCol w="703572">
                  <a:extLst>
                    <a:ext uri="{9D8B030D-6E8A-4147-A177-3AD203B41FA5}">
                      <a16:colId xmlns:a16="http://schemas.microsoft.com/office/drawing/2014/main" val="20015"/>
                    </a:ext>
                  </a:extLst>
                </a:gridCol>
                <a:gridCol w="703572">
                  <a:extLst>
                    <a:ext uri="{9D8B030D-6E8A-4147-A177-3AD203B41FA5}">
                      <a16:colId xmlns:a16="http://schemas.microsoft.com/office/drawing/2014/main" val="20016"/>
                    </a:ext>
                  </a:extLst>
                </a:gridCol>
                <a:gridCol w="625569">
                  <a:extLst>
                    <a:ext uri="{9D8B030D-6E8A-4147-A177-3AD203B41FA5}">
                      <a16:colId xmlns:a16="http://schemas.microsoft.com/office/drawing/2014/main" val="20017"/>
                    </a:ext>
                  </a:extLst>
                </a:gridCol>
              </a:tblGrid>
              <a:tr h="345257">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p q</a:t>
                      </a:r>
                    </a:p>
                  </a:txBody>
                  <a:tcPr marL="91456" marR="91456"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0</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3</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4</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5</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6</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7</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56" marR="9145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8</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9</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10</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11</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12</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13</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14</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kern="1200" cap="none" normalizeH="0" baseline="0" dirty="0">
                          <a:ln>
                            <a:noFill/>
                          </a:ln>
                          <a:solidFill>
                            <a:srgbClr val="FFC000"/>
                          </a:solidFill>
                          <a:effectLst/>
                          <a:latin typeface="Times New Roman" panose="02020603050405020304" pitchFamily="18" charset="0"/>
                          <a:ea typeface="宋体" panose="02010600030101010101" pitchFamily="2" charset="-122"/>
                          <a:cs typeface="+mn-cs"/>
                        </a:rPr>
                        <a:t>F</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15</a:t>
                      </a:r>
                      <a:r>
                        <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rPr>
                        <a:t>(2)</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0  0</a:t>
                      </a:r>
                    </a:p>
                  </a:txBody>
                  <a:tcPr marL="91456" marR="91456"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w="12700" cap="flat" cmpd="sng" algn="ctr">
                      <a:solidFill>
                        <a:srgbClr val="FF7C8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96193">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0  1</a:t>
                      </a:r>
                    </a:p>
                  </a:txBody>
                  <a:tcPr marL="91456" marR="91456"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44198">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1  0</a:t>
                      </a:r>
                    </a:p>
                  </a:txBody>
                  <a:tcPr marL="91456" marR="91456"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96193">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1  1</a:t>
                      </a:r>
                    </a:p>
                  </a:txBody>
                  <a:tcPr marL="91456" marR="91456" horzOverflow="overflow">
                    <a:lnL cap="flat">
                      <a:noFill/>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36" marR="9143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36" marR="91436" horzOverflow="overflow">
                    <a:lnL>
                      <a:noFill/>
                    </a:lnL>
                    <a:lnR cap="flat">
                      <a:noFill/>
                    </a:lnR>
                    <a:lnT>
                      <a:noFill/>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2576" name="Rectangle 139"/>
          <p:cNvSpPr>
            <a:spLocks noGrp="1" noChangeArrowheads="1"/>
          </p:cNvSpPr>
          <p:nvPr>
            <p:ph type="title" idx="4294967295"/>
          </p:nvPr>
        </p:nvSpPr>
        <p:spPr>
          <a:xfrm>
            <a:off x="407368" y="1645096"/>
            <a:ext cx="3888432"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a:spcBef>
                <a:spcPct val="50000"/>
              </a:spcBef>
              <a:buClr>
                <a:srgbClr val="FFC000"/>
              </a:buClr>
              <a:buSzPct val="80000"/>
              <a:buFont typeface="Wingdings" panose="05000000000000000000" pitchFamily="2" charset="2"/>
              <a:buChar char="n"/>
            </a:pP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元真值函数</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(16</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个</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3.3.3 </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联结词的完备集</a:t>
            </a:r>
          </a:p>
        </p:txBody>
      </p:sp>
      <p:sp>
        <p:nvSpPr>
          <p:cNvPr id="11" name="Text Box 5"/>
          <p:cNvSpPr txBox="1">
            <a:spLocks noChangeArrowheads="1"/>
          </p:cNvSpPr>
          <p:nvPr/>
        </p:nvSpPr>
        <p:spPr bwMode="auto">
          <a:xfrm>
            <a:off x="911424" y="4149080"/>
            <a:ext cx="10441160" cy="224285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indent="-457200" algn="just">
              <a:lnSpc>
                <a:spcPct val="150000"/>
              </a:lnSpc>
              <a:spcBef>
                <a:spcPts val="0"/>
              </a:spcBef>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每个真值函数与唯一的主析取范式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主合取范式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等值</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而每个主析取范式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主合取范式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对应无穷多个与之等值的命题公式。</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spcBef>
                <a:spcPts val="0"/>
              </a:spcBef>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因此</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每个真值函数对应无穷多个与之等值的命题公式。</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algn="just">
              <a:lnSpc>
                <a:spcPct val="150000"/>
              </a:lnSpc>
              <a:spcBef>
                <a:spcPts val="0"/>
              </a:spcBef>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另一方面</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每个命题公式都有唯一一个真值函数与之等值。</a:t>
            </a:r>
          </a:p>
        </p:txBody>
      </p:sp>
      <p:sp>
        <p:nvSpPr>
          <p:cNvPr id="13" name="文本框 12"/>
          <p:cNvSpPr txBox="1"/>
          <p:nvPr/>
        </p:nvSpPr>
        <p:spPr>
          <a:xfrm rot="20607387">
            <a:off x="6486061" y="4920656"/>
            <a:ext cx="5432705" cy="701731"/>
          </a:xfrm>
          <a:prstGeom prst="rect">
            <a:avLst/>
          </a:prstGeom>
          <a:solidFill>
            <a:schemeClr val="accent6">
              <a:lumMod val="20000"/>
              <a:lumOff val="80000"/>
            </a:schemeClr>
          </a:solidFill>
        </p:spPr>
        <p:txBody>
          <a:bodyPr wrap="square">
            <a:spAutoFit/>
          </a:bodyPr>
          <a:lstStyle/>
          <a:p>
            <a:pPr marL="0" indent="0" eaLnBrk="1" hangingPunct="1">
              <a:lnSpc>
                <a:spcPct val="90000"/>
              </a:lnSpc>
              <a:defRPr/>
            </a:pPr>
            <a:r>
              <a:rPr lang="zh-CN" altLang="en-US" sz="2200" b="0" dirty="0">
                <a:solidFill>
                  <a:srgbClr val="C000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sym typeface="Symbol" panose="05050102010706020507" pitchFamily="18" charset="2"/>
              </a:rPr>
              <a:t>联结词、、足以</a:t>
            </a:r>
            <a:r>
              <a:rPr lang="zh-CN" altLang="en-US" sz="2200" b="0" dirty="0">
                <a:solidFill>
                  <a:srgbClr val="C000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描述所有的逻辑关系</a:t>
            </a:r>
          </a:p>
          <a:p>
            <a:pPr marL="0" indent="0" eaLnBrk="1" hangingPunct="1">
              <a:lnSpc>
                <a:spcPct val="90000"/>
              </a:lnSpc>
              <a:buFont typeface="Wingdings" panose="05000000000000000000" pitchFamily="2" charset="2"/>
              <a:buNone/>
              <a:defRPr/>
            </a:pPr>
            <a:r>
              <a:rPr lang="zh-CN" altLang="en-US" sz="2200" b="0" dirty="0">
                <a:solidFill>
                  <a:srgbClr val="C000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   </a:t>
            </a:r>
            <a:r>
              <a:rPr lang="zh-CN" altLang="en-US" sz="2200" b="0" dirty="0">
                <a:solidFill>
                  <a:srgbClr val="C000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sym typeface="Symbol" panose="05050102010706020507" pitchFamily="18" charset="2"/>
              </a:rPr>
              <a:t>和并非必须</a:t>
            </a:r>
            <a:endParaRPr lang="zh-CN" altLang="en-US" sz="2200" b="0" dirty="0">
              <a:solidFill>
                <a:srgbClr val="C000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2576"/>
                                        </p:tgtEl>
                                        <p:attrNameLst>
                                          <p:attrName>style.visibility</p:attrName>
                                        </p:attrNameLst>
                                      </p:cBhvr>
                                      <p:to>
                                        <p:strVal val="visible"/>
                                      </p:to>
                                    </p:set>
                                    <p:animEffect transition="in" filter="wipe(left)">
                                      <p:cBhvr>
                                        <p:cTn id="7" dur="500"/>
                                        <p:tgtEl>
                                          <p:spTgt spid="6257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39402"/>
                                        </p:tgtEl>
                                        <p:attrNameLst>
                                          <p:attrName>style.visibility</p:attrName>
                                        </p:attrNameLst>
                                      </p:cBhvr>
                                      <p:to>
                                        <p:strVal val="visible"/>
                                      </p:to>
                                    </p:set>
                                    <p:anim calcmode="lin" valueType="num">
                                      <p:cBhvr>
                                        <p:cTn id="12" dur="500" fill="hold"/>
                                        <p:tgtEl>
                                          <p:spTgt spid="139402"/>
                                        </p:tgtEl>
                                        <p:attrNameLst>
                                          <p:attrName>ppt_w</p:attrName>
                                        </p:attrNameLst>
                                      </p:cBhvr>
                                      <p:tavLst>
                                        <p:tav tm="0">
                                          <p:val>
                                            <p:fltVal val="0"/>
                                          </p:val>
                                        </p:tav>
                                        <p:tav tm="100000">
                                          <p:val>
                                            <p:strVal val="#ppt_w"/>
                                          </p:val>
                                        </p:tav>
                                      </p:tavLst>
                                    </p:anim>
                                    <p:anim calcmode="lin" valueType="num">
                                      <p:cBhvr>
                                        <p:cTn id="13" dur="500" fill="hold"/>
                                        <p:tgtEl>
                                          <p:spTgt spid="139402"/>
                                        </p:tgtEl>
                                        <p:attrNameLst>
                                          <p:attrName>ppt_h</p:attrName>
                                        </p:attrNameLst>
                                      </p:cBhvr>
                                      <p:tavLst>
                                        <p:tav tm="0">
                                          <p:val>
                                            <p:fltVal val="0"/>
                                          </p:val>
                                        </p:tav>
                                        <p:tav tm="100000">
                                          <p:val>
                                            <p:strVal val="#ppt_h"/>
                                          </p:val>
                                        </p:tav>
                                      </p:tavLst>
                                    </p:anim>
                                    <p:animEffect transition="in" filter="fade">
                                      <p:cBhvr>
                                        <p:cTn id="14" dur="500"/>
                                        <p:tgtEl>
                                          <p:spTgt spid="139402"/>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animEffect transition="in" filter="dissolve">
                                      <p:cBhvr>
                                        <p:cTn id="19" dur="500"/>
                                        <p:tgtEl>
                                          <p:spTgt spid="11">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11">
                                            <p:txEl>
                                              <p:pRg st="1" end="1"/>
                                            </p:txEl>
                                          </p:spTgt>
                                        </p:tgtEl>
                                        <p:attrNameLst>
                                          <p:attrName>style.visibility</p:attrName>
                                        </p:attrNameLst>
                                      </p:cBhvr>
                                      <p:to>
                                        <p:strVal val="visible"/>
                                      </p:to>
                                    </p:set>
                                    <p:animEffect transition="in" filter="dissolve">
                                      <p:cBhvr>
                                        <p:cTn id="24" dur="500"/>
                                        <p:tgtEl>
                                          <p:spTgt spid="11">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animEffect transition="in" filter="dissolve">
                                      <p:cBhvr>
                                        <p:cTn id="29" dur="500"/>
                                        <p:tgtEl>
                                          <p:spTgt spid="11">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1000" fill="hold"/>
                                        <p:tgtEl>
                                          <p:spTgt spid="13"/>
                                        </p:tgtEl>
                                        <p:attrNameLst>
                                          <p:attrName>ppt_w</p:attrName>
                                        </p:attrNameLst>
                                      </p:cBhvr>
                                      <p:tavLst>
                                        <p:tav tm="0">
                                          <p:val>
                                            <p:fltVal val="0"/>
                                          </p:val>
                                        </p:tav>
                                        <p:tav tm="100000">
                                          <p:val>
                                            <p:strVal val="#ppt_w"/>
                                          </p:val>
                                        </p:tav>
                                      </p:tavLst>
                                    </p:anim>
                                    <p:anim calcmode="lin" valueType="num">
                                      <p:cBhvr>
                                        <p:cTn id="35" dur="1000" fill="hold"/>
                                        <p:tgtEl>
                                          <p:spTgt spid="13"/>
                                        </p:tgtEl>
                                        <p:attrNameLst>
                                          <p:attrName>ppt_h</p:attrName>
                                        </p:attrNameLst>
                                      </p:cBhvr>
                                      <p:tavLst>
                                        <p:tav tm="0">
                                          <p:val>
                                            <p:fltVal val="0"/>
                                          </p:val>
                                        </p:tav>
                                        <p:tav tm="100000">
                                          <p:val>
                                            <p:strVal val="#ppt_h"/>
                                          </p:val>
                                        </p:tav>
                                      </p:tavLst>
                                    </p:anim>
                                    <p:anim calcmode="lin" valueType="num">
                                      <p:cBhvr>
                                        <p:cTn id="36" dur="1000" fill="hold"/>
                                        <p:tgtEl>
                                          <p:spTgt spid="13"/>
                                        </p:tgtEl>
                                        <p:attrNameLst>
                                          <p:attrName>style.rotation</p:attrName>
                                        </p:attrNameLst>
                                      </p:cBhvr>
                                      <p:tavLst>
                                        <p:tav tm="0">
                                          <p:val>
                                            <p:fltVal val="90"/>
                                          </p:val>
                                        </p:tav>
                                        <p:tav tm="100000">
                                          <p:val>
                                            <p:fltVal val="0"/>
                                          </p:val>
                                        </p:tav>
                                      </p:tavLst>
                                    </p:anim>
                                    <p:animEffect transition="in" filter="fade">
                                      <p:cBhvr>
                                        <p:cTn id="3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76" grpId="0"/>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3" name="Text Box 5"/>
          <p:cNvSpPr txBox="1">
            <a:spLocks noChangeArrowheads="1"/>
          </p:cNvSpPr>
          <p:nvPr/>
        </p:nvSpPr>
        <p:spPr bwMode="auto">
          <a:xfrm>
            <a:off x="911424" y="2200326"/>
            <a:ext cx="10549172" cy="1200329"/>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10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是一个联结词集合。如果任何</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元</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真值函数</a:t>
            </a:r>
            <a:r>
              <a:rPr lang="en-US" altLang="zh-CN" sz="2400" b="0" i="1" dirty="0">
                <a:latin typeface="Times New Roman" panose="02020603050405020304" pitchFamily="18" charset="0"/>
              </a:rPr>
              <a:t>F</a:t>
            </a:r>
            <a:r>
              <a:rPr lang="en-US" altLang="zh-CN" sz="2400" b="0" dirty="0">
                <a:latin typeface="Times New Roman" panose="02020603050405020304" pitchFamily="18" charset="0"/>
              </a:rPr>
              <a:t>(</a:t>
            </a:r>
            <a:r>
              <a:rPr lang="en-US" altLang="zh-CN" sz="2400" b="0" i="1" dirty="0">
                <a:latin typeface="Times New Roman" panose="02020603050405020304" pitchFamily="18" charset="0"/>
              </a:rPr>
              <a:t>x</a:t>
            </a:r>
            <a:r>
              <a:rPr lang="en-US" altLang="zh-CN" sz="2400" b="0" baseline="-25000" dirty="0">
                <a:latin typeface="Times New Roman" panose="02020603050405020304" pitchFamily="18" charset="0"/>
              </a:rPr>
              <a:t>1</a:t>
            </a:r>
            <a:r>
              <a:rPr lang="en-US" altLang="zh-CN" sz="2400" b="0" dirty="0">
                <a:latin typeface="Times New Roman" panose="02020603050405020304" pitchFamily="18" charset="0"/>
              </a:rPr>
              <a:t>,</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rPr>
              <a:t>x</a:t>
            </a:r>
            <a:r>
              <a:rPr lang="en-US" altLang="zh-CN" sz="2400" b="0" baseline="-25000" dirty="0">
                <a:latin typeface="Times New Roman" panose="02020603050405020304" pitchFamily="18" charset="0"/>
              </a:rPr>
              <a:t>2</a:t>
            </a:r>
            <a:r>
              <a:rPr lang="en-US" altLang="zh-CN" sz="2400" b="0" dirty="0">
                <a:latin typeface="Times New Roman" panose="02020603050405020304" pitchFamily="18" charset="0"/>
              </a:rPr>
              <a:t>, … , </a:t>
            </a:r>
            <a:r>
              <a:rPr lang="en-US" altLang="zh-CN" sz="2400" b="0" i="1" dirty="0" err="1">
                <a:latin typeface="Times New Roman" panose="02020603050405020304" pitchFamily="18" charset="0"/>
              </a:rPr>
              <a:t>x</a:t>
            </a:r>
            <a:r>
              <a:rPr lang="en-US" altLang="zh-CN" sz="2400" b="0" i="1" baseline="-25000" dirty="0" err="1">
                <a:latin typeface="Times New Roman" panose="02020603050405020304" pitchFamily="18" charset="0"/>
              </a:rPr>
              <a:t>n</a:t>
            </a:r>
            <a:r>
              <a:rPr lang="en-US" altLang="zh-CN" sz="2400" b="0" dirty="0">
                <a:latin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都恰与由仅含</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中的联结词构成的公式对应</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则称</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是</a:t>
            </a:r>
            <a:r>
              <a:rPr lang="zh-CN" altLang="en-US" sz="2400" b="0"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联结词的功能完备集</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Rectangle 139"/>
          <p:cNvSpPr txBox="1">
            <a:spLocks noChangeArrowheads="1"/>
          </p:cNvSpPr>
          <p:nvPr/>
        </p:nvSpPr>
        <p:spPr bwMode="auto">
          <a:xfrm>
            <a:off x="407368" y="1645096"/>
            <a:ext cx="59046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marL="457200" indent="-457200" algn="l">
              <a:spcBef>
                <a:spcPct val="50000"/>
              </a:spcBef>
              <a:buClr>
                <a:srgbClr val="FFC000"/>
              </a:buClr>
              <a:buSzPct val="80000"/>
              <a:buFont typeface="Wingdings" panose="05000000000000000000" pitchFamily="2" charset="2"/>
              <a:buChar char="n"/>
            </a:pPr>
            <a:r>
              <a:rPr lang="zh-CN" altLang="en-US"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lang="en-US" altLang="zh-CN" sz="28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3.3.4(</a:t>
            </a:r>
            <a:r>
              <a:rPr lang="zh-CN" altLang="en-US"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联结词的功能完备集</a:t>
            </a:r>
            <a:r>
              <a:rPr lang="en-US" altLang="zh-CN" sz="28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2800" b="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335360" y="3803706"/>
            <a:ext cx="8512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defPPr>
              <a:defRPr lang="zh-CN"/>
            </a:defPPr>
            <a:lvl1pPr marL="457200" indent="-457200" eaLnBrk="0" hangingPunct="0">
              <a:spcBef>
                <a:spcPct val="50000"/>
              </a:spcBef>
              <a:buClr>
                <a:srgbClr val="FFC000"/>
              </a:buClr>
              <a:buSzPct val="80000"/>
              <a:buFont typeface="Wingdings" panose="05000000000000000000" pitchFamily="2" charset="2"/>
              <a:buChar char="n"/>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vl2pPr algn="ctr" eaLnBrk="0" hangingPunct="0">
              <a:defRPr sz="4400">
                <a:solidFill>
                  <a:schemeClr val="bg1"/>
                </a:solidFill>
                <a:latin typeface="Arial" panose="020B0604020202020204" pitchFamily="34" charset="0"/>
              </a:defRPr>
            </a:lvl2pPr>
            <a:lvl3pPr algn="ctr" eaLnBrk="0" hangingPunct="0">
              <a:defRPr sz="4400">
                <a:solidFill>
                  <a:schemeClr val="bg1"/>
                </a:solidFill>
                <a:latin typeface="Arial" panose="020B0604020202020204" pitchFamily="34" charset="0"/>
              </a:defRPr>
            </a:lvl3pPr>
            <a:lvl4pPr algn="ctr" eaLnBrk="0" hangingPunct="0">
              <a:defRPr sz="4400">
                <a:solidFill>
                  <a:schemeClr val="bg1"/>
                </a:solidFill>
                <a:latin typeface="Arial" panose="020B0604020202020204" pitchFamily="34" charset="0"/>
              </a:defRPr>
            </a:lvl4pPr>
            <a:lvl5pPr algn="ctr" eaLnBrk="0" hangingPunct="0">
              <a:defRPr sz="4400">
                <a:solidFill>
                  <a:schemeClr val="bg1"/>
                </a:solidFill>
                <a:latin typeface="Arial" panose="020B0604020202020204" pitchFamily="34" charset="0"/>
              </a:defRPr>
            </a:lvl5pPr>
            <a:lvl6pPr marL="457200" algn="ctr" fontAlgn="base">
              <a:spcBef>
                <a:spcPct val="0"/>
              </a:spcBef>
              <a:spcAft>
                <a:spcPct val="0"/>
              </a:spcAft>
              <a:defRPr sz="4400">
                <a:solidFill>
                  <a:schemeClr val="bg1"/>
                </a:solidFill>
                <a:latin typeface="Arial" panose="020B0604020202020204" pitchFamily="34" charset="0"/>
              </a:defRPr>
            </a:lvl6pPr>
            <a:lvl7pPr marL="914400" algn="ctr" fontAlgn="base">
              <a:spcBef>
                <a:spcPct val="0"/>
              </a:spcBef>
              <a:spcAft>
                <a:spcPct val="0"/>
              </a:spcAft>
              <a:defRPr sz="4400">
                <a:solidFill>
                  <a:schemeClr val="bg1"/>
                </a:solidFill>
                <a:latin typeface="Arial" panose="020B0604020202020204" pitchFamily="34" charset="0"/>
              </a:defRPr>
            </a:lvl7pPr>
            <a:lvl8pPr marL="1371600" algn="ctr" fontAlgn="base">
              <a:spcBef>
                <a:spcPct val="0"/>
              </a:spcBef>
              <a:spcAft>
                <a:spcPct val="0"/>
              </a:spcAft>
              <a:defRPr sz="4400">
                <a:solidFill>
                  <a:schemeClr val="bg1"/>
                </a:solidFill>
                <a:latin typeface="Arial" panose="020B0604020202020204" pitchFamily="34" charset="0"/>
              </a:defRPr>
            </a:lvl8pPr>
            <a:lvl9pPr marL="1828800" algn="ctr" fontAlgn="base">
              <a:spcBef>
                <a:spcPct val="0"/>
              </a:spcBef>
              <a:spcAft>
                <a:spcPct val="0"/>
              </a:spcAft>
              <a:defRPr sz="4400">
                <a:solidFill>
                  <a:schemeClr val="bg1"/>
                </a:solidFill>
                <a:latin typeface="Arial" panose="020B0604020202020204" pitchFamily="34" charset="0"/>
              </a:defRPr>
            </a:lvl9pPr>
          </a:lstStyle>
          <a:p>
            <a:r>
              <a:rPr lang="zh-CN" altLang="en-US" dirty="0"/>
              <a:t>几个术语</a:t>
            </a:r>
            <a:endParaRPr lang="zh-CN" altLang="en-US" sz="2400" dirty="0">
              <a:solidFill>
                <a:schemeClr val="bg1"/>
              </a:solidFill>
            </a:endParaRPr>
          </a:p>
        </p:txBody>
      </p:sp>
      <p:sp>
        <p:nvSpPr>
          <p:cNvPr id="11" name="文本框 10"/>
          <p:cNvSpPr txBox="1"/>
          <p:nvPr/>
        </p:nvSpPr>
        <p:spPr>
          <a:xfrm>
            <a:off x="839416" y="4342094"/>
            <a:ext cx="9001000" cy="1754326"/>
          </a:xfrm>
          <a:prstGeom prst="rect">
            <a:avLst/>
          </a:prstGeom>
          <a:noFill/>
        </p:spPr>
        <p:txBody>
          <a:bodyPr wrap="square">
            <a:spAutoFit/>
          </a:bodyPr>
          <a:lstStyle/>
          <a:p>
            <a:pPr marL="342900" indent="-342900" eaLnBrk="1" hangingPunct="1">
              <a:lnSpc>
                <a:spcPct val="150000"/>
              </a:lnSpc>
              <a:buClr>
                <a:srgbClr val="FFC000"/>
              </a:buClr>
              <a:buSzPct val="80000"/>
              <a:buFont typeface="Wingdings" panose="05000000000000000000" pitchFamily="2" charset="2"/>
              <a:buChar char="l"/>
              <a:defRPr/>
            </a:pPr>
            <a:r>
              <a:rPr lang="zh-CN" altLang="en-US" sz="2400" b="0" dirty="0">
                <a:solidFill>
                  <a:schemeClr val="bg1"/>
                </a:solidFill>
                <a:ea typeface="微软雅黑" panose="020B0503020204020204" pitchFamily="34" charset="-122"/>
                <a:cs typeface="Times New Roman" panose="02020603050405020304" pitchFamily="18" charset="0"/>
              </a:rPr>
              <a:t> 冗余联结词：联结词</a:t>
            </a:r>
            <a:r>
              <a:rPr lang="en-US" altLang="zh-CN" sz="2400" b="0" dirty="0">
                <a:solidFill>
                  <a:schemeClr val="bg1"/>
                </a:solidFill>
                <a:ea typeface="微软雅黑" panose="020B0503020204020204" pitchFamily="34" charset="-122"/>
                <a:cs typeface="Times New Roman" panose="02020603050405020304" pitchFamily="18" charset="0"/>
              </a:rPr>
              <a:t>, </a:t>
            </a:r>
            <a:r>
              <a:rPr lang="zh-CN" altLang="en-US" sz="2400" b="0" dirty="0">
                <a:solidFill>
                  <a:schemeClr val="bg1"/>
                </a:solidFill>
                <a:ea typeface="微软雅黑" panose="020B0503020204020204" pitchFamily="34" charset="-122"/>
                <a:cs typeface="Times New Roman" panose="02020603050405020304" pitchFamily="18" charset="0"/>
              </a:rPr>
              <a:t>删除它后的联结词集仍功能完备</a:t>
            </a:r>
          </a:p>
          <a:p>
            <a:pPr marL="342900" indent="-342900" eaLnBrk="1" hangingPunct="1">
              <a:lnSpc>
                <a:spcPct val="150000"/>
              </a:lnSpc>
              <a:buClr>
                <a:srgbClr val="FFC000"/>
              </a:buClr>
              <a:buSzPct val="80000"/>
              <a:buFont typeface="Wingdings" panose="05000000000000000000" pitchFamily="2" charset="2"/>
              <a:buChar char="l"/>
              <a:defRPr/>
            </a:pPr>
            <a:r>
              <a:rPr lang="zh-CN" altLang="en-US" sz="2400" b="0" dirty="0">
                <a:solidFill>
                  <a:schemeClr val="bg1"/>
                </a:solidFill>
                <a:ea typeface="微软雅黑" panose="020B0503020204020204" pitchFamily="34" charset="-122"/>
                <a:cs typeface="Times New Roman" panose="02020603050405020304" pitchFamily="18" charset="0"/>
              </a:rPr>
              <a:t>  独立联结词：非冗余联结词</a:t>
            </a:r>
          </a:p>
          <a:p>
            <a:pPr marL="342900" indent="-342900" eaLnBrk="1" hangingPunct="1">
              <a:lnSpc>
                <a:spcPct val="150000"/>
              </a:lnSpc>
              <a:buClr>
                <a:srgbClr val="FFC000"/>
              </a:buClr>
              <a:buSzPct val="80000"/>
              <a:buFont typeface="Wingdings" panose="05000000000000000000" pitchFamily="2" charset="2"/>
              <a:buChar char="l"/>
              <a:defRPr/>
            </a:pPr>
            <a:r>
              <a:rPr lang="zh-CN" altLang="en-US" sz="2400" b="0" dirty="0">
                <a:solidFill>
                  <a:schemeClr val="bg1"/>
                </a:solidFill>
                <a:ea typeface="微软雅黑" panose="020B0503020204020204" pitchFamily="34" charset="-122"/>
                <a:cs typeface="Times New Roman" panose="02020603050405020304" pitchFamily="18" charset="0"/>
              </a:rPr>
              <a:t>  极小完备集：不含冗余联结词</a:t>
            </a:r>
          </a:p>
        </p:txBody>
      </p:sp>
      <p:sp>
        <p:nvSpPr>
          <p:cNvPr id="10"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3.3.3 </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联结词的完备集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40293">
                                            <p:txEl>
                                              <p:pRg st="0" end="0"/>
                                            </p:txEl>
                                          </p:spTgt>
                                        </p:tgtEl>
                                        <p:attrNameLst>
                                          <p:attrName>style.visibility</p:attrName>
                                        </p:attrNameLst>
                                      </p:cBhvr>
                                      <p:to>
                                        <p:strVal val="visible"/>
                                      </p:to>
                                    </p:set>
                                    <p:animEffect transition="in" filter="dissolve">
                                      <p:cBhvr>
                                        <p:cTn id="11" dur="500"/>
                                        <p:tgtEl>
                                          <p:spTgt spid="14029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1000"/>
                                        <p:tgtEl>
                                          <p:spTgt spid="11">
                                            <p:txEl>
                                              <p:pRg st="0" end="0"/>
                                            </p:txEl>
                                          </p:spTgt>
                                        </p:tgtEl>
                                      </p:cBhvr>
                                    </p:animEffect>
                                    <p:anim calcmode="lin" valueType="num">
                                      <p:cBhvr>
                                        <p:cTn id="21"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42" presetClass="entr" presetSubtype="0" fill="hold" nodeType="afterEffect">
                                  <p:stCondLst>
                                    <p:cond delay="0"/>
                                  </p:stCondLst>
                                  <p:childTnLst>
                                    <p:set>
                                      <p:cBhvr>
                                        <p:cTn id="25" dur="1" fill="hold">
                                          <p:stCondLst>
                                            <p:cond delay="0"/>
                                          </p:stCondLst>
                                        </p:cTn>
                                        <p:tgtEl>
                                          <p:spTgt spid="11">
                                            <p:txEl>
                                              <p:pRg st="1" end="1"/>
                                            </p:txEl>
                                          </p:spTgt>
                                        </p:tgtEl>
                                        <p:attrNameLst>
                                          <p:attrName>style.visibility</p:attrName>
                                        </p:attrNameLst>
                                      </p:cBhvr>
                                      <p:to>
                                        <p:strVal val="visible"/>
                                      </p:to>
                                    </p:set>
                                    <p:animEffect transition="in" filter="fade">
                                      <p:cBhvr>
                                        <p:cTn id="26" dur="1000"/>
                                        <p:tgtEl>
                                          <p:spTgt spid="11">
                                            <p:txEl>
                                              <p:pRg st="1" end="1"/>
                                            </p:txEl>
                                          </p:spTgt>
                                        </p:tgtEl>
                                      </p:cBhvr>
                                    </p:animEffect>
                                    <p:anim calcmode="lin" valueType="num">
                                      <p:cBhvr>
                                        <p:cTn id="27"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par>
                          <p:cTn id="29" fill="hold">
                            <p:stCondLst>
                              <p:cond delay="2500"/>
                            </p:stCondLst>
                            <p:childTnLst>
                              <p:par>
                                <p:cTn id="30" presetID="42" presetClass="entr" presetSubtype="0" fill="hold" nodeType="afterEffect">
                                  <p:stCondLst>
                                    <p:cond delay="0"/>
                                  </p:stCondLst>
                                  <p:childTnLst>
                                    <p:set>
                                      <p:cBhvr>
                                        <p:cTn id="31" dur="1" fill="hold">
                                          <p:stCondLst>
                                            <p:cond delay="0"/>
                                          </p:stCondLst>
                                        </p:cTn>
                                        <p:tgtEl>
                                          <p:spTgt spid="11">
                                            <p:txEl>
                                              <p:pRg st="2" end="2"/>
                                            </p:txEl>
                                          </p:spTgt>
                                        </p:tgtEl>
                                        <p:attrNameLst>
                                          <p:attrName>style.visibility</p:attrName>
                                        </p:attrNameLst>
                                      </p:cBhvr>
                                      <p:to>
                                        <p:strVal val="visible"/>
                                      </p:to>
                                    </p:set>
                                    <p:animEffect transition="in" filter="fade">
                                      <p:cBhvr>
                                        <p:cTn id="32" dur="1000"/>
                                        <p:tgtEl>
                                          <p:spTgt spid="11">
                                            <p:txEl>
                                              <p:pRg st="2" end="2"/>
                                            </p:txEl>
                                          </p:spTgt>
                                        </p:tgtEl>
                                      </p:cBhvr>
                                    </p:animEffect>
                                    <p:anim calcmode="lin" valueType="num">
                                      <p:cBhvr>
                                        <p:cTn id="33"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p:cNvSpPr txBox="1">
            <a:spLocks noChangeArrowheads="1"/>
          </p:cNvSpPr>
          <p:nvPr/>
        </p:nvSpPr>
        <p:spPr bwMode="auto">
          <a:xfrm>
            <a:off x="1428982" y="2277705"/>
            <a:ext cx="10055464" cy="101566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ts val="0"/>
              </a:spcBef>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因任何</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元真值函数都与唯一一个主析取范式等值。</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50000"/>
              </a:lnSpc>
              <a:spcBef>
                <a:spcPts val="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而主析取范式中仅含联结词┐</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故结论成立。</a:t>
            </a:r>
          </a:p>
        </p:txBody>
      </p:sp>
      <p:sp>
        <p:nvSpPr>
          <p:cNvPr id="7" name="文本框 6"/>
          <p:cNvSpPr txBox="1"/>
          <p:nvPr/>
        </p:nvSpPr>
        <p:spPr>
          <a:xfrm>
            <a:off x="407368" y="1705659"/>
            <a:ext cx="110892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defPPr>
              <a:defRPr lang="zh-CN"/>
            </a:defPPr>
            <a:lvl1pPr marL="457200" indent="-457200" eaLnBrk="0" hangingPunct="0">
              <a:spcBef>
                <a:spcPct val="50000"/>
              </a:spcBef>
              <a:buClr>
                <a:srgbClr val="FFC000"/>
              </a:buClr>
              <a:buSzPct val="80000"/>
              <a:buFont typeface="Wingdings" panose="05000000000000000000" pitchFamily="2" charset="2"/>
              <a:buChar char="n"/>
              <a:defRPr sz="2800" b="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defRPr>
            </a:lvl1pPr>
            <a:lvl2pPr algn="ctr" eaLnBrk="0" hangingPunct="0">
              <a:defRPr sz="4400">
                <a:solidFill>
                  <a:schemeClr val="bg1"/>
                </a:solidFill>
                <a:latin typeface="Arial" panose="020B0604020202020204" pitchFamily="34" charset="0"/>
              </a:defRPr>
            </a:lvl2pPr>
            <a:lvl3pPr algn="ctr" eaLnBrk="0" hangingPunct="0">
              <a:defRPr sz="4400">
                <a:solidFill>
                  <a:schemeClr val="bg1"/>
                </a:solidFill>
                <a:latin typeface="Arial" panose="020B0604020202020204" pitchFamily="34" charset="0"/>
              </a:defRPr>
            </a:lvl3pPr>
            <a:lvl4pPr algn="ctr" eaLnBrk="0" hangingPunct="0">
              <a:defRPr sz="4400">
                <a:solidFill>
                  <a:schemeClr val="bg1"/>
                </a:solidFill>
                <a:latin typeface="Arial" panose="020B0604020202020204" pitchFamily="34" charset="0"/>
              </a:defRPr>
            </a:lvl4pPr>
            <a:lvl5pPr algn="ctr" eaLnBrk="0" hangingPunct="0">
              <a:defRPr sz="4400">
                <a:solidFill>
                  <a:schemeClr val="bg1"/>
                </a:solidFill>
                <a:latin typeface="Arial" panose="020B0604020202020204" pitchFamily="34" charset="0"/>
              </a:defRPr>
            </a:lvl5pPr>
            <a:lvl6pPr marL="457200" algn="ctr" fontAlgn="base">
              <a:spcBef>
                <a:spcPct val="0"/>
              </a:spcBef>
              <a:spcAft>
                <a:spcPct val="0"/>
              </a:spcAft>
              <a:defRPr sz="4400">
                <a:solidFill>
                  <a:schemeClr val="bg1"/>
                </a:solidFill>
                <a:latin typeface="Arial" panose="020B0604020202020204" pitchFamily="34" charset="0"/>
              </a:defRPr>
            </a:lvl6pPr>
            <a:lvl7pPr marL="914400" algn="ctr" fontAlgn="base">
              <a:spcBef>
                <a:spcPct val="0"/>
              </a:spcBef>
              <a:spcAft>
                <a:spcPct val="0"/>
              </a:spcAft>
              <a:defRPr sz="4400">
                <a:solidFill>
                  <a:schemeClr val="bg1"/>
                </a:solidFill>
                <a:latin typeface="Arial" panose="020B0604020202020204" pitchFamily="34" charset="0"/>
              </a:defRPr>
            </a:lvl7pPr>
            <a:lvl8pPr marL="1371600" algn="ctr" fontAlgn="base">
              <a:spcBef>
                <a:spcPct val="0"/>
              </a:spcBef>
              <a:spcAft>
                <a:spcPct val="0"/>
              </a:spcAft>
              <a:defRPr sz="4400">
                <a:solidFill>
                  <a:schemeClr val="bg1"/>
                </a:solidFill>
                <a:latin typeface="Arial" panose="020B0604020202020204" pitchFamily="34" charset="0"/>
              </a:defRPr>
            </a:lvl8pPr>
            <a:lvl9pPr marL="1828800" algn="ctr" fontAlgn="base">
              <a:spcBef>
                <a:spcPct val="0"/>
              </a:spcBef>
              <a:spcAft>
                <a:spcPct val="0"/>
              </a:spcAft>
              <a:defRPr sz="4400">
                <a:solidFill>
                  <a:schemeClr val="bg1"/>
                </a:solidFill>
                <a:latin typeface="Arial" panose="020B0604020202020204" pitchFamily="34" charset="0"/>
              </a:defRPr>
            </a:lvl9pPr>
          </a:lstStyle>
          <a:p>
            <a:r>
              <a:rPr lang="zh-CN" altLang="en-US" dirty="0"/>
              <a:t>定理</a:t>
            </a:r>
            <a:r>
              <a:rPr lang="en-US" altLang="zh-CN" dirty="0"/>
              <a:t>3.3.3  </a:t>
            </a:r>
            <a:r>
              <a:rPr lang="en-US" altLang="zh-CN" sz="2400" i="1" dirty="0">
                <a:solidFill>
                  <a:schemeClr val="bg1"/>
                </a:solidFill>
              </a:rPr>
              <a:t>S</a:t>
            </a:r>
            <a:r>
              <a:rPr lang="en-US" altLang="zh-CN" sz="2400" dirty="0">
                <a:solidFill>
                  <a:schemeClr val="bg1"/>
                </a:solidFill>
              </a:rPr>
              <a:t> =  {┐, </a:t>
            </a:r>
            <a:r>
              <a:rPr lang="zh-CN" altLang="en-US" sz="2400" dirty="0">
                <a:solidFill>
                  <a:schemeClr val="bg1"/>
                </a:solidFill>
              </a:rPr>
              <a:t>∧</a:t>
            </a:r>
            <a:r>
              <a:rPr lang="en-US" altLang="zh-CN" sz="2400" dirty="0">
                <a:solidFill>
                  <a:schemeClr val="bg1"/>
                </a:solidFill>
              </a:rPr>
              <a:t>, </a:t>
            </a:r>
            <a:r>
              <a:rPr lang="zh-CN" altLang="en-US" sz="2400" dirty="0">
                <a:solidFill>
                  <a:schemeClr val="bg1"/>
                </a:solidFill>
              </a:rPr>
              <a:t>∨</a:t>
            </a:r>
            <a:r>
              <a:rPr lang="en-US" altLang="zh-CN" sz="2400" dirty="0">
                <a:solidFill>
                  <a:schemeClr val="bg1"/>
                </a:solidFill>
              </a:rPr>
              <a:t>}</a:t>
            </a:r>
            <a:r>
              <a:rPr lang="zh-CN" altLang="en-US" sz="2400" dirty="0">
                <a:solidFill>
                  <a:schemeClr val="bg1"/>
                </a:solidFill>
              </a:rPr>
              <a:t>是联结词完备集。</a:t>
            </a:r>
            <a:r>
              <a:rPr lang="en-US" altLang="zh-CN" sz="2400" dirty="0">
                <a:solidFill>
                  <a:schemeClr val="bg1"/>
                </a:solidFill>
                <a:latin typeface="Times New Roman" panose="02020603050405020304" pitchFamily="18" charset="0"/>
              </a:rPr>
              <a:t> {</a:t>
            </a:r>
            <a:r>
              <a:rPr lang="en-US" altLang="zh-CN" sz="2400" dirty="0">
                <a:solidFill>
                  <a:schemeClr val="bg1"/>
                </a:solidFill>
              </a:rPr>
              <a:t>┐, </a:t>
            </a:r>
            <a:r>
              <a:rPr lang="zh-CN" altLang="en-US" sz="2400" dirty="0">
                <a:solidFill>
                  <a:schemeClr val="bg1"/>
                </a:solidFill>
              </a:rPr>
              <a:t>∨</a:t>
            </a:r>
            <a:r>
              <a:rPr lang="en-US" altLang="zh-CN" sz="2400" dirty="0">
                <a:solidFill>
                  <a:schemeClr val="bg1"/>
                </a:solidFill>
                <a:latin typeface="Times New Roman" panose="02020603050405020304" pitchFamily="18" charset="0"/>
              </a:rPr>
              <a:t>}</a:t>
            </a:r>
            <a:r>
              <a:rPr lang="zh-CN" altLang="en-US" sz="2400" dirty="0">
                <a:solidFill>
                  <a:schemeClr val="bg1"/>
                </a:solidFill>
                <a:latin typeface="Times New Roman" panose="02020603050405020304" pitchFamily="18" charset="0"/>
              </a:rPr>
              <a:t>和</a:t>
            </a:r>
            <a:r>
              <a:rPr lang="en-US" altLang="zh-CN" sz="2400" dirty="0">
                <a:solidFill>
                  <a:schemeClr val="bg1"/>
                </a:solidFill>
                <a:latin typeface="Times New Roman" panose="02020603050405020304" pitchFamily="18" charset="0"/>
              </a:rPr>
              <a:t>{</a:t>
            </a:r>
            <a:r>
              <a:rPr lang="en-US" altLang="zh-CN" sz="2400" dirty="0">
                <a:solidFill>
                  <a:schemeClr val="bg1"/>
                </a:solidFill>
              </a:rPr>
              <a:t>┐, </a:t>
            </a:r>
            <a:r>
              <a:rPr lang="zh-CN" altLang="en-US" sz="2400" dirty="0">
                <a:solidFill>
                  <a:schemeClr val="bg1"/>
                </a:solidFill>
              </a:rPr>
              <a:t>∧</a:t>
            </a:r>
            <a:r>
              <a:rPr lang="en-US" altLang="zh-CN" sz="2400" dirty="0">
                <a:solidFill>
                  <a:schemeClr val="bg1"/>
                </a:solidFill>
                <a:latin typeface="Times New Roman" panose="02020603050405020304" pitchFamily="18" charset="0"/>
              </a:rPr>
              <a:t>}</a:t>
            </a:r>
            <a:r>
              <a:rPr lang="zh-CN" altLang="en-US" sz="2400" dirty="0">
                <a:solidFill>
                  <a:schemeClr val="bg1"/>
                </a:solidFill>
                <a:latin typeface="Times New Roman" panose="02020603050405020304" pitchFamily="18" charset="0"/>
              </a:rPr>
              <a:t>是极小完备集</a:t>
            </a:r>
            <a:endParaRPr lang="zh-CN" altLang="en-US" sz="2400" dirty="0">
              <a:solidFill>
                <a:schemeClr val="bg1"/>
              </a:solidFill>
            </a:endParaRPr>
          </a:p>
        </p:txBody>
      </p:sp>
      <p:sp>
        <p:nvSpPr>
          <p:cNvPr id="9" name="文本框 8"/>
          <p:cNvSpPr txBox="1"/>
          <p:nvPr/>
        </p:nvSpPr>
        <p:spPr>
          <a:xfrm>
            <a:off x="469177" y="2330702"/>
            <a:ext cx="874969" cy="461665"/>
          </a:xfrm>
          <a:prstGeom prst="rect">
            <a:avLst/>
          </a:prstGeom>
          <a:noFill/>
        </p:spPr>
        <p:txBody>
          <a:bodyPr wrap="square">
            <a:spAutoFit/>
          </a:bodyPr>
          <a:lstStyle/>
          <a:p>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证</a:t>
            </a:r>
            <a:r>
              <a:rPr lang="zh-CN" altLang="en-US" sz="2400" b="0" dirty="0">
                <a:solidFill>
                  <a:srgbClr val="FFFF00"/>
                </a:solidFill>
                <a:ea typeface="微软雅黑" panose="020B0503020204020204" pitchFamily="34" charset="-122"/>
                <a:cs typeface="Times New Roman" panose="02020603050405020304" pitchFamily="18" charset="0"/>
              </a:rPr>
              <a:t>明</a:t>
            </a: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solidFill>
                <a:srgbClr val="FFFF00"/>
              </a:solidFill>
            </a:endParaRPr>
          </a:p>
        </p:txBody>
      </p:sp>
      <p:sp>
        <p:nvSpPr>
          <p:cNvPr id="8" name="Text Box 5"/>
          <p:cNvSpPr txBox="1">
            <a:spLocks noChangeArrowheads="1"/>
          </p:cNvSpPr>
          <p:nvPr/>
        </p:nvSpPr>
        <p:spPr bwMode="auto">
          <a:xfrm>
            <a:off x="1427788" y="3284486"/>
            <a:ext cx="7463176" cy="1508105"/>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buNone/>
              <a:defRPr/>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证明</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是完备的</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从而</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不是极小的</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buNone/>
              <a:defRPr/>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在范式中</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可以替换为┐</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对应的真值不变</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buNone/>
              <a:defRPr/>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类似地，</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可以替换为┐</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对应的真值不变</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buNone/>
              <a:defRPr/>
            </a:pPr>
            <a:endPar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ext Box 5"/>
          <p:cNvSpPr txBox="1">
            <a:spLocks noChangeArrowheads="1"/>
          </p:cNvSpPr>
          <p:nvPr/>
        </p:nvSpPr>
        <p:spPr bwMode="auto">
          <a:xfrm>
            <a:off x="1427788" y="4595425"/>
            <a:ext cx="10500860" cy="175432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marL="0" indent="0" eaLnBrk="1" hangingPunct="1">
              <a:buFont typeface="Wingdings" panose="05000000000000000000" pitchFamily="2" charset="2"/>
              <a:buNone/>
              <a:defRPr/>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证明</a:t>
            </a:r>
            <a:r>
              <a:rPr lang="en-US" altLang="zh-CN" sz="2000" dirty="0">
                <a:latin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是极小的</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即证明</a:t>
            </a:r>
            <a:r>
              <a:rPr lang="en-US" altLang="zh-CN" sz="2000" dirty="0">
                <a:latin typeface="Times New Roman" panose="02020603050405020304" pitchFamily="18" charset="0"/>
              </a:rPr>
              <a:t>{</a:t>
            </a:r>
            <a:r>
              <a:rPr lang="en-US" altLang="zh-CN" sz="2000" dirty="0"/>
              <a:t>┐</a:t>
            </a:r>
            <a:r>
              <a:rPr lang="en-US" altLang="zh-CN" sz="2000" dirty="0">
                <a:latin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rPr>
              <a:t>{</a:t>
            </a:r>
            <a:r>
              <a:rPr lang="zh-CN" altLang="en-US" sz="2000" dirty="0"/>
              <a:t>∨</a:t>
            </a:r>
            <a:r>
              <a:rPr lang="en-US" altLang="zh-CN" sz="2000" dirty="0">
                <a:latin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均非完备的</a:t>
            </a:r>
          </a:p>
          <a:p>
            <a:pPr marL="0" indent="0" eaLnBrk="1" hangingPunct="1">
              <a:buFont typeface="Wingdings" panose="05000000000000000000" pitchFamily="2" charset="2"/>
              <a:buNone/>
              <a:defRPr/>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仅含一元联结词，无法表达任何二元或以上的逻辑关系。</a:t>
            </a:r>
            <a:endPar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buFont typeface="Wingdings" panose="05000000000000000000" pitchFamily="2" charset="2"/>
              <a:buNone/>
              <a:defRPr/>
            </a:pP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考虑否定运算</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假设存在仅含</a:t>
            </a:r>
            <a:r>
              <a:rPr lang="zh-CN" altLang="en-US" sz="2000" dirty="0"/>
              <a:t>∨</a:t>
            </a:r>
            <a:r>
              <a:rPr lang="zh-CN" altLang="en-US" sz="2000" dirty="0">
                <a:latin typeface="Times New Roman" panose="02020603050405020304" pitchFamily="18" charset="0"/>
                <a:cs typeface="Times New Roman" panose="02020603050405020304" pitchFamily="18" charset="0"/>
              </a:rPr>
              <a:t>的公式等价于</a:t>
            </a:r>
            <a:r>
              <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 </a:t>
            </a:r>
            <a:r>
              <a:rPr lang="zh-CN" altLang="en-US" sz="2000" dirty="0">
                <a:latin typeface="Times New Roman" panose="02020603050405020304" pitchFamily="18" charset="0"/>
                <a:cs typeface="Times New Roman" panose="02020603050405020304" pitchFamily="18" charset="0"/>
              </a:rPr>
              <a:t>；对所有命题变元赋值为真时，则任何仅由</a:t>
            </a:r>
            <a:r>
              <a:rPr lang="zh-CN" altLang="en-US" sz="2000" dirty="0"/>
              <a:t>∨构成的公式必为真，而</a:t>
            </a:r>
            <a:r>
              <a:rPr lang="en-US" altLang="zh-CN" sz="2000" dirty="0"/>
              <a:t>p</a:t>
            </a:r>
            <a:r>
              <a:rPr lang="zh-CN" altLang="en-US" sz="2000" dirty="0"/>
              <a:t>为真时，</a:t>
            </a:r>
            <a:r>
              <a:rPr lang="en-US" altLang="zh-CN" sz="2000" dirty="0"/>
              <a:t> ┐p</a:t>
            </a:r>
            <a:r>
              <a:rPr lang="zh-CN" altLang="en-US" sz="2000" dirty="0"/>
              <a:t>必为假，矛盾。故无法用∨表达否定，而否定式完备性的必要组成部分。</a:t>
            </a:r>
            <a:endParaRPr lang="en-US" altLang="zh-CN" sz="20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3.3.3 </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联结词的完备集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dissolve">
                                      <p:cBhvr>
                                        <p:cTn id="16" dur="500"/>
                                        <p:tgtEl>
                                          <p:spTgt spid="5">
                                            <p:txEl>
                                              <p:pRg st="0" end="0"/>
                                            </p:txEl>
                                          </p:spTgt>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dissolve">
                                      <p:cBhvr>
                                        <p:cTn id="20" dur="50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dissolve">
                                      <p:cBhvr>
                                        <p:cTn id="25" dur="500"/>
                                        <p:tgtEl>
                                          <p:spTgt spid="8">
                                            <p:txEl>
                                              <p:pRg st="0" end="0"/>
                                            </p:txEl>
                                          </p:spTgt>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animEffect transition="in" filter="dissolve">
                                      <p:cBhvr>
                                        <p:cTn id="29" dur="500"/>
                                        <p:tgtEl>
                                          <p:spTgt spid="8">
                                            <p:txEl>
                                              <p:pRg st="1" end="1"/>
                                            </p:txEl>
                                          </p:spTgt>
                                        </p:tgtEl>
                                      </p:cBhvr>
                                    </p:animEffect>
                                  </p:childTnLst>
                                </p:cTn>
                              </p:par>
                            </p:childTnLst>
                          </p:cTn>
                        </p:par>
                        <p:par>
                          <p:cTn id="30" fill="hold">
                            <p:stCondLst>
                              <p:cond delay="1000"/>
                            </p:stCondLst>
                            <p:childTnLst>
                              <p:par>
                                <p:cTn id="31" presetID="9" presetClass="entr" presetSubtype="0" fill="hold" nodeType="after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Effect transition="in" filter="dissolve">
                                      <p:cBhvr>
                                        <p:cTn id="33" dur="500"/>
                                        <p:tgtEl>
                                          <p:spTgt spid="8">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10">
                                            <p:txEl>
                                              <p:pRg st="0" end="0"/>
                                            </p:txEl>
                                          </p:spTgt>
                                        </p:tgtEl>
                                        <p:attrNameLst>
                                          <p:attrName>style.visibility</p:attrName>
                                        </p:attrNameLst>
                                      </p:cBhvr>
                                      <p:to>
                                        <p:strVal val="visible"/>
                                      </p:to>
                                    </p:set>
                                    <p:animEffect transition="in" filter="dissolve">
                                      <p:cBhvr>
                                        <p:cTn id="38" dur="500"/>
                                        <p:tgtEl>
                                          <p:spTgt spid="10">
                                            <p:txEl>
                                              <p:pRg st="0" end="0"/>
                                            </p:txEl>
                                          </p:spTgt>
                                        </p:tgtEl>
                                      </p:cBhvr>
                                    </p:animEffect>
                                  </p:childTnLst>
                                </p:cTn>
                              </p:par>
                            </p:childTnLst>
                          </p:cTn>
                        </p:par>
                        <p:par>
                          <p:cTn id="39" fill="hold">
                            <p:stCondLst>
                              <p:cond delay="500"/>
                            </p:stCondLst>
                            <p:childTnLst>
                              <p:par>
                                <p:cTn id="40" presetID="9" presetClass="entr" presetSubtype="0" fill="hold" nodeType="afterEffect">
                                  <p:stCondLst>
                                    <p:cond delay="0"/>
                                  </p:stCondLst>
                                  <p:childTnLst>
                                    <p:set>
                                      <p:cBhvr>
                                        <p:cTn id="41" dur="1" fill="hold">
                                          <p:stCondLst>
                                            <p:cond delay="0"/>
                                          </p:stCondLst>
                                        </p:cTn>
                                        <p:tgtEl>
                                          <p:spTgt spid="10">
                                            <p:txEl>
                                              <p:pRg st="1" end="1"/>
                                            </p:txEl>
                                          </p:spTgt>
                                        </p:tgtEl>
                                        <p:attrNameLst>
                                          <p:attrName>style.visibility</p:attrName>
                                        </p:attrNameLst>
                                      </p:cBhvr>
                                      <p:to>
                                        <p:strVal val="visible"/>
                                      </p:to>
                                    </p:set>
                                    <p:animEffect transition="in" filter="dissolve">
                                      <p:cBhvr>
                                        <p:cTn id="42" dur="500"/>
                                        <p:tgtEl>
                                          <p:spTgt spid="10">
                                            <p:txEl>
                                              <p:pRg st="1" end="1"/>
                                            </p:txEl>
                                          </p:spTgt>
                                        </p:tgtEl>
                                      </p:cBhvr>
                                    </p:animEffect>
                                  </p:childTnLst>
                                </p:cTn>
                              </p:par>
                            </p:childTnLst>
                          </p:cTn>
                        </p:par>
                        <p:par>
                          <p:cTn id="43" fill="hold">
                            <p:stCondLst>
                              <p:cond delay="1000"/>
                            </p:stCondLst>
                            <p:childTnLst>
                              <p:par>
                                <p:cTn id="44" presetID="9" presetClass="entr" presetSubtype="0" fill="hold" nodeType="afterEffect">
                                  <p:stCondLst>
                                    <p:cond delay="0"/>
                                  </p:stCondLst>
                                  <p:childTnLst>
                                    <p:set>
                                      <p:cBhvr>
                                        <p:cTn id="45" dur="1" fill="hold">
                                          <p:stCondLst>
                                            <p:cond delay="0"/>
                                          </p:stCondLst>
                                        </p:cTn>
                                        <p:tgtEl>
                                          <p:spTgt spid="10">
                                            <p:txEl>
                                              <p:pRg st="2" end="2"/>
                                            </p:txEl>
                                          </p:spTgt>
                                        </p:tgtEl>
                                        <p:attrNameLst>
                                          <p:attrName>style.visibility</p:attrName>
                                        </p:attrNameLst>
                                      </p:cBhvr>
                                      <p:to>
                                        <p:strVal val="visible"/>
                                      </p:to>
                                    </p:set>
                                    <p:animEffect transition="in" filter="dissolve">
                                      <p:cBhvr>
                                        <p:cTn id="46"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7" name="Text Box 5"/>
          <p:cNvSpPr txBox="1">
            <a:spLocks noChangeArrowheads="1"/>
          </p:cNvSpPr>
          <p:nvPr/>
        </p:nvSpPr>
        <p:spPr bwMode="auto">
          <a:xfrm>
            <a:off x="407368" y="3654551"/>
            <a:ext cx="10945216" cy="2616101"/>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spcBef>
                <a:spcPct val="20000"/>
              </a:spcBef>
              <a:buChar char="•"/>
              <a:defRPr sz="3200">
                <a:solidFill>
                  <a:schemeClr val="bg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bg1"/>
                </a:solidFill>
                <a:latin typeface="Arial" panose="020B0604020202020204" pitchFamily="34" charset="0"/>
                <a:ea typeface="宋体" panose="02010600030101010101" pitchFamily="2" charset="-122"/>
              </a:defRPr>
            </a:lvl2pPr>
            <a:lvl3pPr marL="1371600" indent="-457200">
              <a:spcBef>
                <a:spcPct val="20000"/>
              </a:spcBef>
              <a:buChar char="•"/>
              <a:defRPr sz="2400">
                <a:solidFill>
                  <a:schemeClr val="bg1"/>
                </a:solidFill>
                <a:latin typeface="Arial" panose="020B0604020202020204" pitchFamily="34" charset="0"/>
                <a:ea typeface="宋体" panose="02010600030101010101" pitchFamily="2" charset="-122"/>
              </a:defRPr>
            </a:lvl3pPr>
            <a:lvl4pPr marL="1828800" indent="-457200">
              <a:spcBef>
                <a:spcPct val="20000"/>
              </a:spcBef>
              <a:buChar char="–"/>
              <a:defRPr sz="2000">
                <a:solidFill>
                  <a:schemeClr val="bg1"/>
                </a:solidFill>
                <a:latin typeface="Arial" panose="020B0604020202020204" pitchFamily="34" charset="0"/>
                <a:ea typeface="宋体" panose="02010600030101010101" pitchFamily="2" charset="-122"/>
              </a:defRPr>
            </a:lvl4pPr>
            <a:lvl5pPr marL="2286000" indent="-457200">
              <a:spcBef>
                <a:spcPct val="20000"/>
              </a:spcBef>
              <a:buChar char="»"/>
              <a:defRPr sz="2000">
                <a:solidFill>
                  <a:schemeClr val="bg1"/>
                </a:solidFill>
                <a:latin typeface="Arial" panose="020B0604020202020204" pitchFamily="34" charset="0"/>
                <a:ea typeface="宋体" panose="02010600030101010101" pitchFamily="2" charset="-122"/>
              </a:defRPr>
            </a:lvl5pPr>
            <a:lvl6pPr marL="27432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32004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6576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4114800" indent="-4572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buFontTx/>
              <a:buNone/>
            </a:pP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证</a:t>
            </a: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(1)</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(2)</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显然</a:t>
            </a:r>
          </a:p>
          <a:p>
            <a:pPr eaLnBrk="1" hangingPunct="1">
              <a:lnSpc>
                <a:spcPct val="150000"/>
              </a:lnSpc>
              <a:buFontTx/>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(3)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因任何真值函数都可由只用完备集</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中的联结词表示</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而对任意公式</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。故任意真值函数都可用</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中的联结词的公式表示。因此</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是联结词完备集。</a:t>
            </a:r>
          </a:p>
          <a:p>
            <a:pPr algn="just" eaLnBrk="1" hangingPunct="1">
              <a:lnSpc>
                <a:spcPct val="150000"/>
              </a:lnSpc>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(5)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的证明留作练习。</a:t>
            </a:r>
          </a:p>
        </p:txBody>
      </p:sp>
      <p:sp>
        <p:nvSpPr>
          <p:cNvPr id="64515" name="Rectangle 6"/>
          <p:cNvSpPr>
            <a:spLocks noChangeArrowheads="1"/>
          </p:cNvSpPr>
          <p:nvPr/>
        </p:nvSpPr>
        <p:spPr bwMode="auto">
          <a:xfrm>
            <a:off x="407368" y="1700808"/>
            <a:ext cx="9865096" cy="1809726"/>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nSpc>
                <a:spcPct val="90000"/>
              </a:lnSpc>
              <a:spcBef>
                <a:spcPts val="2400"/>
              </a:spcBef>
              <a:buNone/>
            </a:pPr>
            <a:r>
              <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推论：以下联结词集都是完备集：</a:t>
            </a:r>
            <a:endParaRPr lang="en-US" altLang="zh-CN"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a:p>
            <a:pPr lvl="1" algn="just" eaLnBrk="1" hangingPunct="1">
              <a:lnSpc>
                <a:spcPct val="130000"/>
              </a:lnSpc>
              <a:buFontTx/>
              <a:buAutoNum type="arabicParenBoth"/>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 →};     (2)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 ∨, →, ↔};  </a:t>
            </a:r>
          </a:p>
          <a:p>
            <a:pPr lvl="1" algn="just" eaLnBrk="1" hangingPunct="1">
              <a:lnSpc>
                <a:spcPct val="130000"/>
              </a:lnSpc>
              <a:buFontTx/>
              <a:buAutoNum type="arabicParenBoth" startAt="3"/>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                 (4)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     </a:t>
            </a:r>
          </a:p>
          <a:p>
            <a:pPr marL="457200" lvl="1" indent="0" algn="just">
              <a:lnSpc>
                <a:spcPct val="130000"/>
              </a:lnSpc>
              <a:buNone/>
            </a:pP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(5)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2000" b="0" baseline="-30000" dirty="0">
                <a:latin typeface="Times New Roman" panose="02020603050405020304" pitchFamily="18" charset="0"/>
                <a:ea typeface="微软雅黑" panose="020B0503020204020204" pitchFamily="34" charset="-122"/>
                <a:cs typeface="Times New Roman" panose="02020603050405020304" pitchFamily="18" charset="0"/>
              </a:rPr>
              <a:t>5</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endPar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3.3.3 </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联结词的完备集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iterate type="wd">
                                    <p:tmPct val="10000"/>
                                  </p:iterate>
                                  <p:childTnLst>
                                    <p:set>
                                      <p:cBhvr>
                                        <p:cTn id="6" dur="1" fill="hold">
                                          <p:stCondLst>
                                            <p:cond delay="0"/>
                                          </p:stCondLst>
                                        </p:cTn>
                                        <p:tgtEl>
                                          <p:spTgt spid="64515"/>
                                        </p:tgtEl>
                                        <p:attrNameLst>
                                          <p:attrName>style.visibility</p:attrName>
                                        </p:attrNameLst>
                                      </p:cBhvr>
                                      <p:to>
                                        <p:strVal val="visible"/>
                                      </p:to>
                                    </p:set>
                                    <p:animEffect transition="in" filter="wipe(up)">
                                      <p:cBhvr>
                                        <p:cTn id="7" dur="500"/>
                                        <p:tgtEl>
                                          <p:spTgt spid="645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1317">
                                            <p:txEl>
                                              <p:pRg st="0" end="0"/>
                                            </p:txEl>
                                          </p:spTgt>
                                        </p:tgtEl>
                                        <p:attrNameLst>
                                          <p:attrName>style.visibility</p:attrName>
                                        </p:attrNameLst>
                                      </p:cBhvr>
                                      <p:to>
                                        <p:strVal val="visible"/>
                                      </p:to>
                                    </p:set>
                                    <p:animEffect transition="in" filter="dissolve">
                                      <p:cBhvr>
                                        <p:cTn id="12" dur="500"/>
                                        <p:tgtEl>
                                          <p:spTgt spid="1413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1317">
                                            <p:txEl>
                                              <p:pRg st="1" end="1"/>
                                            </p:txEl>
                                          </p:spTgt>
                                        </p:tgtEl>
                                        <p:attrNameLst>
                                          <p:attrName>style.visibility</p:attrName>
                                        </p:attrNameLst>
                                      </p:cBhvr>
                                      <p:to>
                                        <p:strVal val="visible"/>
                                      </p:to>
                                    </p:set>
                                    <p:animEffect transition="in" filter="dissolve">
                                      <p:cBhvr>
                                        <p:cTn id="17" dur="500"/>
                                        <p:tgtEl>
                                          <p:spTgt spid="14131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1317">
                                            <p:txEl>
                                              <p:pRg st="2" end="2"/>
                                            </p:txEl>
                                          </p:spTgt>
                                        </p:tgtEl>
                                        <p:attrNameLst>
                                          <p:attrName>style.visibility</p:attrName>
                                        </p:attrNameLst>
                                      </p:cBhvr>
                                      <p:to>
                                        <p:strVal val="visible"/>
                                      </p:to>
                                    </p:set>
                                    <p:animEffect transition="in" filter="dissolve">
                                      <p:cBhvr>
                                        <p:cTn id="22" dur="500"/>
                                        <p:tgtEl>
                                          <p:spTgt spid="1413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5" name="Text Box 5"/>
          <p:cNvSpPr txBox="1">
            <a:spLocks noChangeArrowheads="1"/>
          </p:cNvSpPr>
          <p:nvPr/>
        </p:nvSpPr>
        <p:spPr bwMode="auto">
          <a:xfrm>
            <a:off x="530655" y="2259200"/>
            <a:ext cx="10729192" cy="168886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FontTx/>
              <a:buNone/>
            </a:pP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为两个命题。复合命题 </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的否定式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的否定式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称为</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与非式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或非式</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记作</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。符号↑称作</a:t>
            </a: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与非联结词</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称作</a:t>
            </a:r>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或非联结词</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为真当且仅当</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不同时为真</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为真当且仅当</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同时为假</a:t>
            </a:r>
            <a:r>
              <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6563" name="Rectangle 6"/>
          <p:cNvSpPr>
            <a:spLocks noGrp="1" noChangeArrowheads="1"/>
          </p:cNvSpPr>
          <p:nvPr>
            <p:ph type="title" idx="4294967295"/>
          </p:nvPr>
        </p:nvSpPr>
        <p:spPr>
          <a:xfrm>
            <a:off x="523750" y="1598454"/>
            <a:ext cx="4564138" cy="52322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l" eaLnBrk="1" hangingPunct="1">
              <a:spcBef>
                <a:spcPct val="50000"/>
              </a:spcBef>
              <a:buClr>
                <a:srgbClr val="FFC000"/>
              </a:buClr>
              <a:buSzPct val="80000"/>
              <a:buFont typeface="Wingdings" panose="05000000000000000000" pitchFamily="2" charset="2"/>
              <a:buChar char="n"/>
            </a:pP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定义</a:t>
            </a:r>
            <a:r>
              <a:rPr kumimoji="1" lang="en-US" altLang="zh-CN"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800" kern="120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与非式、或非式</a:t>
            </a:r>
          </a:p>
        </p:txBody>
      </p:sp>
      <p:sp>
        <p:nvSpPr>
          <p:cNvPr id="2"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3.3.3 </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联结词的完备集</a:t>
            </a:r>
          </a:p>
        </p:txBody>
      </p:sp>
      <p:sp>
        <p:nvSpPr>
          <p:cNvPr id="6" name="文本框 5"/>
          <p:cNvSpPr txBox="1"/>
          <p:nvPr/>
        </p:nvSpPr>
        <p:spPr>
          <a:xfrm>
            <a:off x="3296394" y="4368404"/>
            <a:ext cx="2592288" cy="461665"/>
          </a:xfrm>
          <a:prstGeom prst="rect">
            <a:avLst/>
          </a:prstGeom>
          <a:noFill/>
        </p:spPr>
        <p:txBody>
          <a:bodyPr wrap="square">
            <a:spAutoFit/>
          </a:bodyPr>
          <a:lstStyle/>
          <a:p>
            <a:r>
              <a:rPr lang="en-US" altLang="zh-CN" sz="24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solidFill>
                <a:schemeClr val="bg1"/>
              </a:solidFill>
            </a:endParaRPr>
          </a:p>
        </p:txBody>
      </p:sp>
      <p:sp>
        <p:nvSpPr>
          <p:cNvPr id="8" name="文本框 7"/>
          <p:cNvSpPr txBox="1"/>
          <p:nvPr/>
        </p:nvSpPr>
        <p:spPr>
          <a:xfrm>
            <a:off x="1120879" y="4420211"/>
            <a:ext cx="2448272" cy="461665"/>
          </a:xfrm>
          <a:prstGeom prst="rect">
            <a:avLst/>
          </a:prstGeom>
          <a:noFill/>
        </p:spPr>
        <p:txBody>
          <a:bodyPr wrap="square">
            <a:spAutoFit/>
          </a:bodyPr>
          <a:lstStyle/>
          <a:p>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的否定</a:t>
            </a:r>
            <a:r>
              <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式： </a:t>
            </a:r>
            <a:endParaRPr lang="zh-CN" altLang="en-US" sz="2400" b="0" dirty="0">
              <a:solidFill>
                <a:srgbClr val="FFFF00"/>
              </a:solidFill>
              <a:effectLst>
                <a:outerShdw blurRad="38100" dist="38100" dir="2700000" algn="tl">
                  <a:srgbClr val="000000">
                    <a:alpha val="43137"/>
                  </a:srgbClr>
                </a:outerShdw>
              </a:effectLst>
            </a:endParaRPr>
          </a:p>
        </p:txBody>
      </p:sp>
      <p:sp>
        <p:nvSpPr>
          <p:cNvPr id="9" name="文本框 8"/>
          <p:cNvSpPr txBox="1"/>
          <p:nvPr/>
        </p:nvSpPr>
        <p:spPr>
          <a:xfrm>
            <a:off x="3287688" y="5028713"/>
            <a:ext cx="2592288" cy="461665"/>
          </a:xfrm>
          <a:prstGeom prst="rect">
            <a:avLst/>
          </a:prstGeom>
          <a:noFill/>
        </p:spPr>
        <p:txBody>
          <a:bodyPr wrap="square">
            <a:spAutoFit/>
          </a:bodyPr>
          <a:lstStyle/>
          <a:p>
            <a:pPr algn="just" eaLnBrk="1" hangingPunct="1">
              <a:spcBef>
                <a:spcPct val="50000"/>
              </a:spcBef>
              <a:buFontTx/>
              <a:buNone/>
            </a:pPr>
            <a:r>
              <a:rPr lang="en-US" altLang="zh-CN" sz="24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b="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4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 name="文本框 9"/>
          <p:cNvSpPr txBox="1"/>
          <p:nvPr/>
        </p:nvSpPr>
        <p:spPr>
          <a:xfrm>
            <a:off x="1112173" y="5080520"/>
            <a:ext cx="2448272" cy="461665"/>
          </a:xfrm>
          <a:prstGeom prst="rect">
            <a:avLst/>
          </a:prstGeom>
          <a:noFill/>
        </p:spPr>
        <p:txBody>
          <a:bodyPr wrap="square">
            <a:spAutoFit/>
          </a:bodyPr>
          <a:lstStyle/>
          <a:p>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或</a:t>
            </a:r>
            <a:r>
              <a:rPr lang="en-US" altLang="zh-CN" sz="2400" b="0" i="1"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4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的否定</a:t>
            </a:r>
            <a:r>
              <a:rPr lang="zh-CN" altLang="en-US" sz="2400" b="0" dirty="0">
                <a:solidFill>
                  <a:srgbClr val="FFFF00"/>
                </a:solidFill>
                <a:effectLst>
                  <a:outerShdw blurRad="38100" dist="38100" dir="2700000" algn="tl">
                    <a:srgbClr val="000000">
                      <a:alpha val="43137"/>
                    </a:srgbClr>
                  </a:outerShdw>
                </a:effectLst>
                <a:ea typeface="微软雅黑" panose="020B0503020204020204" pitchFamily="34" charset="-122"/>
                <a:cs typeface="Times New Roman" panose="02020603050405020304" pitchFamily="18" charset="0"/>
              </a:rPr>
              <a:t>式： </a:t>
            </a:r>
            <a:endParaRPr lang="zh-CN" altLang="en-US" sz="2400" b="0" dirty="0">
              <a:solidFill>
                <a:srgbClr val="FFFF00"/>
              </a:solidFill>
              <a:effectLst>
                <a:outerShdw blurRad="38100" dist="38100" dir="2700000" algn="tl">
                  <a:srgbClr val="000000">
                    <a:alpha val="43137"/>
                  </a:srgbClr>
                </a:outerShdw>
              </a:effectLst>
            </a:endParaRPr>
          </a:p>
        </p:txBody>
      </p:sp>
      <p:graphicFrame>
        <p:nvGraphicFramePr>
          <p:cNvPr id="5" name="Group 138"/>
          <p:cNvGraphicFramePr>
            <a:graphicFrameLocks noGrp="1"/>
          </p:cNvGraphicFramePr>
          <p:nvPr/>
        </p:nvGraphicFramePr>
        <p:xfrm>
          <a:off x="8194769" y="4166120"/>
          <a:ext cx="2009682" cy="1828800"/>
        </p:xfrm>
        <a:graphic>
          <a:graphicData uri="http://schemas.openxmlformats.org/drawingml/2006/table">
            <a:tbl>
              <a:tblPr/>
              <a:tblGrid>
                <a:gridCol w="545184">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621062">
                  <a:extLst>
                    <a:ext uri="{9D8B030D-6E8A-4147-A177-3AD203B41FA5}">
                      <a16:colId xmlns:a16="http://schemas.microsoft.com/office/drawing/2014/main" val="20002"/>
                    </a:ext>
                  </a:extLst>
                </a:gridCol>
                <a:gridCol w="627412">
                  <a:extLst>
                    <a:ext uri="{9D8B030D-6E8A-4147-A177-3AD203B41FA5}">
                      <a16:colId xmlns:a16="http://schemas.microsoft.com/office/drawing/2014/main" val="20003"/>
                    </a:ext>
                  </a:extLst>
                </a:gridCol>
              </a:tblGrid>
              <a:tr h="345257">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1"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p q</a:t>
                      </a:r>
                    </a:p>
                  </a:txBody>
                  <a:tcPr marL="91456" marR="91456"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lang="en-US" altLang="zh-CN" sz="18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1800" b="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8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endParaRP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lang="en-US" altLang="zh-CN" sz="18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1800" b="0"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0" i="1" dirty="0" err="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800" b="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1" lang="en-US" altLang="zh-CN" sz="1800" b="1" i="0" u="none" strike="noStrike" cap="none" normalizeH="0" baseline="30000" dirty="0">
                        <a:ln>
                          <a:noFill/>
                        </a:ln>
                        <a:solidFill>
                          <a:srgbClr val="FFC000"/>
                        </a:solidFill>
                        <a:effectLst/>
                        <a:latin typeface="Times New Roman" panose="02020603050405020304" pitchFamily="18" charset="0"/>
                        <a:ea typeface="宋体" panose="02010600030101010101" pitchFamily="2" charset="-122"/>
                      </a:endParaRPr>
                    </a:p>
                  </a:txBody>
                  <a:tcPr marL="91456" marR="91456" horzOverflow="overflow">
                    <a:lnL>
                      <a:noFill/>
                    </a:lnL>
                    <a:lnR>
                      <a:noFill/>
                    </a:lnR>
                    <a:lnT w="12700" cap="flat" cmpd="sng" algn="ctr">
                      <a:solidFill>
                        <a:srgbClr val="FF7C80"/>
                      </a:solidFill>
                      <a:prstDash val="solid"/>
                      <a:round/>
                      <a:headEnd type="none" w="med" len="med"/>
                      <a:tailEnd type="none" w="med" len="med"/>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0  0</a:t>
                      </a:r>
                    </a:p>
                  </a:txBody>
                  <a:tcPr marL="91456" marR="91456" horzOverflow="overflow">
                    <a:lnL cap="flat">
                      <a:noFill/>
                    </a:lnL>
                    <a:lnR w="12700" cap="flat" cmpd="sng" algn="ctr">
                      <a:solidFill>
                        <a:srgbClr val="FF7C80"/>
                      </a:solidFill>
                      <a:prstDash val="solid"/>
                      <a:round/>
                      <a:headEnd type="none" w="med" len="med"/>
                      <a:tailEnd type="none" w="med" len="med"/>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w="12700" cap="flat" cmpd="sng" algn="ctr">
                      <a:solidFill>
                        <a:srgbClr val="FF7C8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96193">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0  1</a:t>
                      </a:r>
                    </a:p>
                  </a:txBody>
                  <a:tcPr marL="91456" marR="91456"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44198">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1  0</a:t>
                      </a:r>
                    </a:p>
                  </a:txBody>
                  <a:tcPr marL="91456" marR="91456" horzOverflow="overflow">
                    <a:lnL cap="flat">
                      <a:noFill/>
                    </a:lnL>
                    <a:lnR w="12700" cap="flat" cmpd="sng" algn="ctr">
                      <a:solidFill>
                        <a:srgbClr val="FF7C80"/>
                      </a:solidFill>
                      <a:prstDash val="solid"/>
                      <a:round/>
                      <a:headEnd type="none" w="med" len="med"/>
                      <a:tailEnd type="none" w="med" len="med"/>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1</a:t>
                      </a:r>
                    </a:p>
                  </a:txBody>
                  <a:tcPr marL="91456" marR="91456" horzOverflow="overflow">
                    <a:lnL>
                      <a:noFill/>
                    </a:lnL>
                    <a:lnR>
                      <a:noFill/>
                    </a:lnR>
                    <a:lnT>
                      <a:noFill/>
                    </a:lnT>
                    <a:lnB>
                      <a:noFill/>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296193">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1  1</a:t>
                      </a:r>
                    </a:p>
                  </a:txBody>
                  <a:tcPr marL="91456" marR="91456" horzOverflow="overflow">
                    <a:lnL cap="flat">
                      <a:noFill/>
                    </a:lnL>
                    <a:lnR w="12700" cap="flat" cmpd="sng" algn="ctr">
                      <a:solidFill>
                        <a:srgbClr val="FF7C80"/>
                      </a:solidFill>
                      <a:prstDash val="solid"/>
                      <a:round/>
                      <a:headEnd type="none" w="med" len="med"/>
                      <a:tailEnd type="none" w="med" len="med"/>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endParaRPr kumimoji="1" lang="zh-CN" altLang="zh-CN" sz="1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marL="91456" marR="91456" horzOverflow="overflow">
                    <a:lnL w="12700" cap="flat" cmpd="sng" algn="ctr">
                      <a:solidFill>
                        <a:srgbClr val="FF7C80"/>
                      </a:solidFill>
                      <a:prstDash val="solid"/>
                      <a:round/>
                      <a:headEnd type="none" w="med" len="med"/>
                      <a:tailEnd type="none" w="med" len="med"/>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000" b="1">
                          <a:solidFill>
                            <a:schemeClr val="tx1"/>
                          </a:solidFill>
                          <a:latin typeface="Times New Roman" panose="02020603050405020304" pitchFamily="18" charset="0"/>
                          <a:ea typeface="宋体" panose="02010600030101010101" pitchFamily="2" charset="-122"/>
                        </a:defRPr>
                      </a:lvl1pPr>
                      <a:lvl2pPr>
                        <a:spcBef>
                          <a:spcPct val="20000"/>
                        </a:spcBef>
                        <a:buClr>
                          <a:schemeClr val="hlink"/>
                        </a:buClr>
                        <a:buSzPct val="55000"/>
                        <a:buFont typeface="Wingdings" panose="05000000000000000000" pitchFamily="2" charset="2"/>
                        <a:defRPr kumimoji="1" sz="2400">
                          <a:solidFill>
                            <a:schemeClr val="tx1"/>
                          </a:solidFill>
                          <a:latin typeface="Tahoma" panose="020B0604030504040204" pitchFamily="34" charset="0"/>
                          <a:ea typeface="宋体" panose="02010600030101010101" pitchFamily="2" charset="-122"/>
                        </a:defRPr>
                      </a:lvl2pPr>
                      <a:lvl3pPr>
                        <a:spcBef>
                          <a:spcPct val="20000"/>
                        </a:spcBef>
                        <a:buClr>
                          <a:schemeClr val="folHlink"/>
                        </a:buClr>
                        <a:buSzPct val="50000"/>
                        <a:buFont typeface="Wingdings" panose="05000000000000000000" pitchFamily="2" charset="2"/>
                        <a:defRPr kumimoji="1" sz="2000">
                          <a:solidFill>
                            <a:schemeClr val="tx1"/>
                          </a:solidFill>
                          <a:latin typeface="Tahoma" panose="020B0604030504040204" pitchFamily="34" charset="0"/>
                          <a:ea typeface="宋体" panose="02010600030101010101" pitchFamily="2" charset="-122"/>
                        </a:defRPr>
                      </a:lvl3pPr>
                      <a:lvl4pPr>
                        <a:spcBef>
                          <a:spcPct val="20000"/>
                        </a:spcBef>
                        <a:buClr>
                          <a:schemeClr val="accent2"/>
                        </a:buClr>
                        <a:buSzPct val="55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4pPr>
                      <a:lvl5pPr>
                        <a:spcBef>
                          <a:spcPct val="20000"/>
                        </a:spcBef>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5pPr>
                      <a:lvl6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6pPr>
                      <a:lvl7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7pPr>
                      <a:lvl8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8pPr>
                      <a:lvl9pPr fontAlgn="base">
                        <a:spcBef>
                          <a:spcPct val="20000"/>
                        </a:spcBef>
                        <a:spcAft>
                          <a:spcPct val="0"/>
                        </a:spcAft>
                        <a:buClr>
                          <a:schemeClr val="accent1"/>
                        </a:buClr>
                        <a:buSzPct val="50000"/>
                        <a:buFont typeface="Wingdings" panose="05000000000000000000" pitchFamily="2" charset="2"/>
                        <a:defRPr kumimoji="1">
                          <a:solidFill>
                            <a:schemeClr val="tx1"/>
                          </a:solidFill>
                          <a:latin typeface="Tahoma" panose="020B060403050404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zh-CN" sz="1800" b="1" i="0" u="none" strike="noStrike" cap="none" normalizeH="0" baseline="0" dirty="0">
                          <a:ln>
                            <a:noFill/>
                          </a:ln>
                          <a:solidFill>
                            <a:srgbClr val="FFC000"/>
                          </a:solidFill>
                          <a:effectLst/>
                          <a:latin typeface="Times New Roman" panose="02020603050405020304" pitchFamily="18" charset="0"/>
                          <a:ea typeface="宋体" panose="02010600030101010101" pitchFamily="2" charset="-122"/>
                        </a:rPr>
                        <a:t>0</a:t>
                      </a:r>
                    </a:p>
                  </a:txBody>
                  <a:tcPr marL="91456" marR="91456" horzOverflow="overflow">
                    <a:lnL>
                      <a:noFill/>
                    </a:lnL>
                    <a:lnR>
                      <a:noFill/>
                    </a:lnR>
                    <a:lnT>
                      <a:noFill/>
                    </a:lnT>
                    <a:lnB w="12700" cap="flat" cmpd="sng" algn="ctr">
                      <a:solidFill>
                        <a:srgbClr val="FF7C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wipe(left)">
                                      <p:cBhvr>
                                        <p:cTn id="7" dur="500"/>
                                        <p:tgtEl>
                                          <p:spTgt spid="665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365">
                                            <p:txEl>
                                              <p:pRg st="0" end="0"/>
                                            </p:txEl>
                                          </p:spTgt>
                                        </p:tgtEl>
                                        <p:attrNameLst>
                                          <p:attrName>style.visibility</p:attrName>
                                        </p:attrNameLst>
                                      </p:cBhvr>
                                      <p:to>
                                        <p:strVal val="visible"/>
                                      </p:to>
                                    </p:set>
                                    <p:animEffect transition="in" filter="dissolve">
                                      <p:cBhvr>
                                        <p:cTn id="12" dur="500"/>
                                        <p:tgtEl>
                                          <p:spTgt spid="14336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fill="hold"/>
                                        <p:tgtEl>
                                          <p:spTgt spid="5"/>
                                        </p:tgtEl>
                                        <p:attrNameLst>
                                          <p:attrName>ppt_w</p:attrName>
                                        </p:attrNameLst>
                                      </p:cBhvr>
                                      <p:tavLst>
                                        <p:tav tm="0">
                                          <p:val>
                                            <p:fltVal val="0"/>
                                          </p:val>
                                        </p:tav>
                                        <p:tav tm="100000">
                                          <p:val>
                                            <p:strVal val="#ppt_w"/>
                                          </p:val>
                                        </p:tav>
                                      </p:tavLst>
                                    </p:anim>
                                    <p:anim calcmode="lin" valueType="num">
                                      <p:cBhvr>
                                        <p:cTn id="36" dur="500" fill="hold"/>
                                        <p:tgtEl>
                                          <p:spTgt spid="5"/>
                                        </p:tgtEl>
                                        <p:attrNameLst>
                                          <p:attrName>ppt_h</p:attrName>
                                        </p:attrNameLst>
                                      </p:cBhvr>
                                      <p:tavLst>
                                        <p:tav tm="0">
                                          <p:val>
                                            <p:fltVal val="0"/>
                                          </p:val>
                                        </p:tav>
                                        <p:tav tm="100000">
                                          <p:val>
                                            <p:strVal val="#ppt_h"/>
                                          </p:val>
                                        </p:tav>
                                      </p:tavLst>
                                    </p:anim>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p:bldP spid="6" grpId="0"/>
      <p:bldP spid="8" grpId="0"/>
      <p:bldP spid="9"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p:cNvSpPr txBox="1">
            <a:spLocks noChangeArrowheads="1"/>
          </p:cNvSpPr>
          <p:nvPr/>
        </p:nvSpPr>
        <p:spPr bwMode="auto">
          <a:xfrm>
            <a:off x="335360" y="1628800"/>
            <a:ext cx="10729192" cy="52322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8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8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3.3.4(P53)  {↑}</a:t>
            </a:r>
            <a:r>
              <a:rPr lang="zh-CN" altLang="en-US" sz="28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8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b="0" dirty="0">
                <a:solidFill>
                  <a:srgbClr val="FFCCFF"/>
                </a:solidFill>
                <a:latin typeface="Times New Roman" panose="02020603050405020304" pitchFamily="18" charset="0"/>
                <a:ea typeface="微软雅黑" panose="020B0503020204020204" pitchFamily="34" charset="-122"/>
                <a:cs typeface="Times New Roman" panose="02020603050405020304" pitchFamily="18" charset="0"/>
              </a:rPr>
              <a:t>都是联结词完备集。</a:t>
            </a:r>
          </a:p>
        </p:txBody>
      </p:sp>
      <p:sp>
        <p:nvSpPr>
          <p:cNvPr id="6" name="Text Box 5"/>
          <p:cNvSpPr txBox="1">
            <a:spLocks noChangeArrowheads="1"/>
          </p:cNvSpPr>
          <p:nvPr/>
        </p:nvSpPr>
        <p:spPr bwMode="auto">
          <a:xfrm>
            <a:off x="1415480" y="2564904"/>
            <a:ext cx="10729192" cy="2246769"/>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bg1"/>
                </a:solidFill>
                <a:latin typeface="Arial" panose="020B0604020202020204" pitchFamily="34" charset="0"/>
                <a:ea typeface="宋体" panose="02010600030101010101" pitchFamily="2" charset="-122"/>
              </a:defRPr>
            </a:lvl1pPr>
            <a:lvl2pPr>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just" eaLnBrk="1" hangingPunct="1">
              <a:spcBef>
                <a:spcPct val="5000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由定义</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spcBef>
                <a:spcPct val="5000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由于</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是联结词完备集</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故只需证明其中每个联结词都可以由↑表示即可。</a:t>
            </a:r>
            <a:endPar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spcBef>
                <a:spcPct val="50000"/>
              </a:spcBef>
              <a:buFontTx/>
              <a:buNone/>
            </a:pP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事实上</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 </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lvl="1" algn="just" eaLnBrk="1" hangingPunct="1">
              <a:spcBef>
                <a:spcPct val="50000"/>
              </a:spcBef>
              <a:buFontTx/>
              <a:buNone/>
            </a:pP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0" dirty="0">
                <a:latin typeface="Times New Roman" panose="02020603050405020304" pitchFamily="18" charset="0"/>
                <a:ea typeface="微软雅黑" panose="020B0503020204020204" pitchFamily="34" charset="-122"/>
                <a:cs typeface="Times New Roman" panose="02020603050405020304" pitchFamily="18" charset="0"/>
              </a:rPr>
              <a:t>利用前一式</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p>
          <a:p>
            <a:pPr lvl="1" algn="just" eaLnBrk="1" hangingPunct="1">
              <a:spcBef>
                <a:spcPct val="50000"/>
              </a:spcBef>
              <a:buFontTx/>
              <a:buNone/>
            </a:pP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0" i="1" dirty="0" err="1">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b="0"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8" name="文本框 7"/>
          <p:cNvSpPr txBox="1"/>
          <p:nvPr/>
        </p:nvSpPr>
        <p:spPr>
          <a:xfrm>
            <a:off x="407368" y="2564904"/>
            <a:ext cx="888500" cy="461665"/>
          </a:xfrm>
          <a:prstGeom prst="rect">
            <a:avLst/>
          </a:prstGeom>
          <a:noFill/>
        </p:spPr>
        <p:txBody>
          <a:bodyPr wrap="square">
            <a:spAutoFit/>
          </a:bodyPr>
          <a:lstStyle/>
          <a:p>
            <a:r>
              <a:rPr lang="zh-CN" altLang="en-US" sz="2400" b="0"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证明：</a:t>
            </a:r>
            <a:endParaRPr lang="zh-CN" altLang="en-US" sz="2400" dirty="0"/>
          </a:p>
        </p:txBody>
      </p:sp>
      <p:sp>
        <p:nvSpPr>
          <p:cNvPr id="3" name="Rectangle 32"/>
          <p:cNvSpPr txBox="1">
            <a:spLocks noChangeArrowheads="1"/>
          </p:cNvSpPr>
          <p:nvPr/>
        </p:nvSpPr>
        <p:spPr bwMode="auto">
          <a:xfrm>
            <a:off x="5159376" y="115888"/>
            <a:ext cx="50514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bg1"/>
                </a:solidFill>
                <a:latin typeface="Arial" panose="020B0604020202020204" pitchFamily="34" charset="0"/>
                <a:ea typeface="宋体" panose="02010600030101010101" pitchFamily="2" charset="-122"/>
              </a:defRPr>
            </a:lvl9pPr>
          </a:lstStyle>
          <a:p>
            <a:pPr algn="l"/>
            <a:r>
              <a:rPr kumimoji="0" lang="en-US" altLang="zh-CN"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3.3.3 </a:t>
            </a:r>
            <a:r>
              <a:rPr kumimoji="0" lang="zh-CN" altLang="en-US" sz="3600" b="0" kern="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联结词的完备集</a:t>
            </a:r>
          </a:p>
        </p:txBody>
      </p:sp>
      <p:sp>
        <p:nvSpPr>
          <p:cNvPr id="7" name="Text Box 5"/>
          <p:cNvSpPr txBox="1">
            <a:spLocks noChangeArrowheads="1"/>
          </p:cNvSpPr>
          <p:nvPr/>
        </p:nvSpPr>
        <p:spPr bwMode="auto">
          <a:xfrm>
            <a:off x="1523492" y="5373216"/>
            <a:ext cx="4572508" cy="40011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just" eaLnBrk="1" hangingPunct="1">
              <a:spcBef>
                <a:spcPct val="50000"/>
              </a:spcBef>
              <a:buFontTx/>
              <a:buNone/>
              <a:defRPr sz="2000" b="0">
                <a:solidFill>
                  <a:schemeClr val="bg1"/>
                </a:solidFill>
                <a:ea typeface="微软雅黑" panose="020B0503020204020204" pitchFamily="34" charset="-122"/>
                <a:cs typeface="Times New Roman" panose="02020603050405020304" pitchFamily="18" charset="0"/>
              </a:defRPr>
            </a:lvl1pPr>
            <a:lvl2pPr lvl="1" algn="just" eaLnBrk="1" hangingPunct="1">
              <a:spcBef>
                <a:spcPct val="50000"/>
              </a:spcBef>
              <a:buFontTx/>
              <a:buNone/>
              <a:defRPr sz="2000" b="0" i="1">
                <a:solidFill>
                  <a:schemeClr val="bg1"/>
                </a:solidFill>
                <a:ea typeface="微软雅黑" panose="020B0503020204020204" pitchFamily="34" charset="-122"/>
                <a:cs typeface="Times New Roman" panose="02020603050405020304" pitchFamily="18"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t>同理</a:t>
            </a:r>
            <a:r>
              <a:rPr lang="en-US" altLang="zh-CN" dirty="0"/>
              <a:t>, {</a:t>
            </a:r>
            <a:r>
              <a:rPr lang="en-US" altLang="zh-CN" dirty="0">
                <a:solidFill>
                  <a:srgbClr val="FFCCFF"/>
                </a:solidFill>
              </a:rPr>
              <a:t>↓</a:t>
            </a:r>
            <a:r>
              <a:rPr lang="en-US" altLang="zh-CN" dirty="0"/>
              <a:t>}</a:t>
            </a:r>
            <a:r>
              <a:rPr lang="zh-CN" altLang="en-US" dirty="0"/>
              <a:t> 是联结词完备集。</a:t>
            </a:r>
          </a:p>
        </p:txBody>
      </p:sp>
      <p:sp>
        <p:nvSpPr>
          <p:cNvPr id="9" name="Text Box 5"/>
          <p:cNvSpPr txBox="1">
            <a:spLocks noChangeArrowheads="1"/>
          </p:cNvSpPr>
          <p:nvPr/>
        </p:nvSpPr>
        <p:spPr bwMode="auto">
          <a:xfrm>
            <a:off x="1523492" y="4892389"/>
            <a:ext cx="4572508" cy="40011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just" eaLnBrk="1" hangingPunct="1">
              <a:spcBef>
                <a:spcPct val="50000"/>
              </a:spcBef>
              <a:buFontTx/>
              <a:buNone/>
              <a:defRPr sz="2000" b="0">
                <a:solidFill>
                  <a:schemeClr val="bg1"/>
                </a:solidFill>
                <a:ea typeface="微软雅黑" panose="020B0503020204020204" pitchFamily="34" charset="-122"/>
                <a:cs typeface="Times New Roman" panose="02020603050405020304" pitchFamily="18" charset="0"/>
              </a:defRPr>
            </a:lvl1pPr>
            <a:lvl2pPr lvl="1" algn="just" eaLnBrk="1" hangingPunct="1">
              <a:spcBef>
                <a:spcPct val="50000"/>
              </a:spcBef>
              <a:buFontTx/>
              <a:buNone/>
              <a:defRPr sz="2000" b="0" i="1">
                <a:solidFill>
                  <a:schemeClr val="bg1"/>
                </a:solidFill>
                <a:ea typeface="微软雅黑" panose="020B0503020204020204" pitchFamily="34" charset="-122"/>
                <a:cs typeface="Times New Roman" panose="02020603050405020304" pitchFamily="18" charset="0"/>
              </a:defRPr>
            </a:lvl2pPr>
            <a:lvl3pPr marL="1143000" indent="-228600">
              <a:spcBef>
                <a:spcPct val="20000"/>
              </a:spcBef>
              <a:buChar char="•"/>
              <a:defRPr sz="2400">
                <a:solidFill>
                  <a:schemeClr val="bg1"/>
                </a:solidFill>
                <a:latin typeface="Arial" panose="020B0604020202020204" pitchFamily="34" charset="0"/>
              </a:defRPr>
            </a:lvl3pPr>
            <a:lvl4pPr marL="1600200" indent="-228600">
              <a:spcBef>
                <a:spcPct val="20000"/>
              </a:spcBef>
              <a:buChar char="–"/>
              <a:defRPr sz="2000">
                <a:solidFill>
                  <a:schemeClr val="bg1"/>
                </a:solidFill>
                <a:latin typeface="Arial" panose="020B0604020202020204" pitchFamily="34" charset="0"/>
              </a:defRPr>
            </a:lvl4pPr>
            <a:lvl5pPr marL="2057400" indent="-228600">
              <a:spcBef>
                <a:spcPct val="20000"/>
              </a:spcBef>
              <a:buChar char="»"/>
              <a:defRPr sz="2000">
                <a:solidFill>
                  <a:schemeClr val="bg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defRPr>
            </a:lvl9pPr>
          </a:lstStyle>
          <a:p>
            <a:r>
              <a:rPr lang="zh-CN" altLang="en-US" dirty="0"/>
              <a:t>所以</a:t>
            </a:r>
            <a:r>
              <a:rPr lang="en-US" altLang="zh-CN" dirty="0"/>
              <a:t>{↑}</a:t>
            </a:r>
            <a:r>
              <a:rPr lang="zh-CN" altLang="en-US" dirty="0"/>
              <a:t> 是联结词完备集。</a:t>
            </a:r>
          </a:p>
        </p:txBody>
      </p:sp>
      <p:sp>
        <p:nvSpPr>
          <p:cNvPr id="2" name="矩形: 圆角 1"/>
          <p:cNvSpPr/>
          <p:nvPr/>
        </p:nvSpPr>
        <p:spPr bwMode="auto">
          <a:xfrm>
            <a:off x="4943872" y="5453933"/>
            <a:ext cx="4248472" cy="400110"/>
          </a:xfrm>
          <a:prstGeom prst="roundRect">
            <a:avLst/>
          </a:prstGeom>
          <a:solidFill>
            <a:srgbClr val="FFCC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gn="ctr">
              <a:spcBef>
                <a:spcPct val="50000"/>
              </a:spcBef>
            </a:pP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rgbClr val="C00000"/>
                </a:solidFill>
                <a:ea typeface="微软雅黑" panose="020B0503020204020204" pitchFamily="34" charset="-122"/>
                <a:cs typeface="Times New Roman" panose="02020603050405020304" pitchFamily="18" charset="0"/>
              </a:rPr>
              <a:t>和</a:t>
            </a: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C00000"/>
                </a:solidFill>
                <a:ea typeface="微软雅黑" panose="020B0503020204020204" pitchFamily="34" charset="-122"/>
                <a:cs typeface="Times New Roman" panose="02020603050405020304" pitchFamily="18" charset="0"/>
              </a:rPr>
              <a:t>}</a:t>
            </a:r>
            <a:r>
              <a:rPr lang="zh-CN" altLang="en-US" b="0" dirty="0">
                <a:solidFill>
                  <a:srgbClr val="C00000"/>
                </a:solidFill>
                <a:ea typeface="微软雅黑" panose="020B0503020204020204" pitchFamily="34" charset="-122"/>
                <a:cs typeface="Times New Roman" panose="02020603050405020304" pitchFamily="18" charset="0"/>
              </a:rPr>
              <a:t>都不是完备集</a:t>
            </a:r>
            <a:endParaRPr kumimoji="1" lang="zh-CN" altLang="en-US" sz="16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endParaRPr>
          </a:p>
        </p:txBody>
      </p:sp>
      <p:sp>
        <p:nvSpPr>
          <p:cNvPr id="10" name="矩形: 圆角 9"/>
          <p:cNvSpPr/>
          <p:nvPr/>
        </p:nvSpPr>
        <p:spPr bwMode="auto">
          <a:xfrm>
            <a:off x="4918226" y="4892389"/>
            <a:ext cx="4248472" cy="400110"/>
          </a:xfrm>
          <a:prstGeom prst="roundRect">
            <a:avLst/>
          </a:prstGeom>
          <a:solidFill>
            <a:srgbClr val="FFCC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gn="ctr">
              <a:spcBef>
                <a:spcPct val="50000"/>
              </a:spcBef>
            </a:pP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C00000"/>
                </a:solidFill>
              </a:rPr>
              <a:t>↑</a:t>
            </a: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0" dirty="0">
                <a:solidFill>
                  <a:srgbClr val="C00000"/>
                </a:solidFill>
                <a:ea typeface="微软雅黑" panose="020B0503020204020204" pitchFamily="34" charset="-122"/>
                <a:cs typeface="Times New Roman" panose="02020603050405020304" pitchFamily="18" charset="0"/>
              </a:rPr>
              <a:t>和</a:t>
            </a: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C00000"/>
                </a:solidFill>
                <a:ea typeface="微软雅黑" panose="020B0503020204020204" pitchFamily="34" charset="-122"/>
                <a:cs typeface="Times New Roman" panose="02020603050405020304" pitchFamily="18" charset="0"/>
              </a:rPr>
              <a:t>∧}</a:t>
            </a:r>
            <a:r>
              <a:rPr lang="zh-CN" altLang="en-US" b="0" dirty="0">
                <a:solidFill>
                  <a:srgbClr val="C00000"/>
                </a:solidFill>
                <a:ea typeface="微软雅黑" panose="020B0503020204020204" pitchFamily="34" charset="-122"/>
                <a:cs typeface="Times New Roman" panose="02020603050405020304" pitchFamily="18" charset="0"/>
              </a:rPr>
              <a:t>都不是完备集</a:t>
            </a:r>
            <a:endParaRPr kumimoji="1" lang="zh-CN" altLang="en-US" sz="16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endParaRPr>
          </a:p>
        </p:txBody>
      </p:sp>
      <p:sp>
        <p:nvSpPr>
          <p:cNvPr id="4" name="矩形: 圆角 3"/>
          <p:cNvSpPr/>
          <p:nvPr/>
        </p:nvSpPr>
        <p:spPr bwMode="auto">
          <a:xfrm rot="1071703">
            <a:off x="7080868" y="2305555"/>
            <a:ext cx="4896544" cy="451505"/>
          </a:xfrm>
          <a:prstGeom prst="roundRect">
            <a:avLst/>
          </a:prstGeom>
          <a:solidFill>
            <a:srgbClr val="FFCC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algn="ctr">
              <a:spcBef>
                <a:spcPct val="50000"/>
              </a:spcBef>
            </a:pP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C00000"/>
                </a:solidFill>
              </a:rPr>
              <a:t>↑</a:t>
            </a: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C00000"/>
                </a:solidFill>
                <a:ea typeface="微软雅黑" panose="020B0503020204020204" pitchFamily="34" charset="-122"/>
                <a:cs typeface="Times New Roman" panose="02020603050405020304" pitchFamily="18" charset="0"/>
              </a:rPr>
              <a:t>,</a:t>
            </a: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0" dirty="0">
                <a:solidFill>
                  <a:srgbClr val="C00000"/>
                </a:solidFill>
                <a:ea typeface="微软雅黑" panose="020B0503020204020204" pitchFamily="34" charset="-122"/>
                <a:cs typeface="Times New Roman" panose="02020603050405020304" pitchFamily="18" charset="0"/>
              </a:rPr>
              <a:t>∧</a:t>
            </a: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0" dirty="0">
                <a:solidFill>
                  <a:srgbClr val="C00000"/>
                </a:solidFill>
                <a:ea typeface="微软雅黑" panose="020B0503020204020204" pitchFamily="34" charset="-122"/>
                <a:cs typeface="Times New Roman" panose="02020603050405020304" pitchFamily="18" charset="0"/>
              </a:rPr>
              <a:t>和</a:t>
            </a: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C00000"/>
                </a:solidFill>
                <a:ea typeface="微软雅黑" panose="020B0503020204020204" pitchFamily="34" charset="-122"/>
                <a:cs typeface="Times New Roman" panose="02020603050405020304" pitchFamily="18" charset="0"/>
              </a:rPr>
              <a:t>, </a:t>
            </a:r>
            <a:r>
              <a:rPr lang="en-US" altLang="zh-CN" sz="1600" b="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0" dirty="0">
                <a:solidFill>
                  <a:srgbClr val="C00000"/>
                </a:solidFill>
                <a:ea typeface="微软雅黑" panose="020B0503020204020204" pitchFamily="34" charset="-122"/>
                <a:cs typeface="Times New Roman" panose="02020603050405020304" pitchFamily="18" charset="0"/>
              </a:rPr>
              <a:t>}</a:t>
            </a:r>
            <a:r>
              <a:rPr lang="zh-CN" altLang="en-US" b="0" dirty="0">
                <a:solidFill>
                  <a:srgbClr val="C00000"/>
                </a:solidFill>
                <a:ea typeface="微软雅黑" panose="020B0503020204020204" pitchFamily="34" charset="-122"/>
                <a:cs typeface="Times New Roman" panose="02020603050405020304" pitchFamily="18" charset="0"/>
              </a:rPr>
              <a:t>都是极小联结词完备集</a:t>
            </a:r>
            <a:endParaRPr kumimoji="1" lang="zh-CN" altLang="en-US" sz="16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dissolve">
                                      <p:cBhvr>
                                        <p:cTn id="16" dur="500"/>
                                        <p:tgtEl>
                                          <p:spTgt spid="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dissolve">
                                      <p:cBhvr>
                                        <p:cTn id="21" dur="500"/>
                                        <p:tgtEl>
                                          <p:spTgt spid="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dissolve">
                                      <p:cBhvr>
                                        <p:cTn id="26" dur="500"/>
                                        <p:tgtEl>
                                          <p:spTgt spid="6">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Effect transition="in" filter="dissolve">
                                      <p:cBhvr>
                                        <p:cTn id="31" dur="500"/>
                                        <p:tgtEl>
                                          <p:spTgt spid="6">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Effect transition="in" filter="dissolve">
                                      <p:cBhvr>
                                        <p:cTn id="36" dur="500"/>
                                        <p:tgtEl>
                                          <p:spTgt spid="6">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9">
                                            <p:txEl>
                                              <p:pRg st="0" end="0"/>
                                            </p:txEl>
                                          </p:spTgt>
                                        </p:tgtEl>
                                        <p:attrNameLst>
                                          <p:attrName>style.visibility</p:attrName>
                                        </p:attrNameLst>
                                      </p:cBhvr>
                                      <p:to>
                                        <p:strVal val="visible"/>
                                      </p:to>
                                    </p:set>
                                    <p:animEffect transition="in" filter="dissolve">
                                      <p:cBhvr>
                                        <p:cTn id="41" dur="500"/>
                                        <p:tgtEl>
                                          <p:spTgt spid="9">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animEffect transition="in" filter="dissolve">
                                      <p:cBhvr>
                                        <p:cTn id="51" dur="500"/>
                                        <p:tgtEl>
                                          <p:spTgt spid="7">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left)">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p:cTn id="61" dur="1000" fill="hold"/>
                                        <p:tgtEl>
                                          <p:spTgt spid="4"/>
                                        </p:tgtEl>
                                        <p:attrNameLst>
                                          <p:attrName>ppt_w</p:attrName>
                                        </p:attrNameLst>
                                      </p:cBhvr>
                                      <p:tavLst>
                                        <p:tav tm="0">
                                          <p:val>
                                            <p:fltVal val="0"/>
                                          </p:val>
                                        </p:tav>
                                        <p:tav tm="100000">
                                          <p:val>
                                            <p:strVal val="#ppt_w"/>
                                          </p:val>
                                        </p:tav>
                                      </p:tavLst>
                                    </p:anim>
                                    <p:anim calcmode="lin" valueType="num">
                                      <p:cBhvr>
                                        <p:cTn id="62" dur="1000" fill="hold"/>
                                        <p:tgtEl>
                                          <p:spTgt spid="4"/>
                                        </p:tgtEl>
                                        <p:attrNameLst>
                                          <p:attrName>ppt_h</p:attrName>
                                        </p:attrNameLst>
                                      </p:cBhvr>
                                      <p:tavLst>
                                        <p:tav tm="0">
                                          <p:val>
                                            <p:fltVal val="0"/>
                                          </p:val>
                                        </p:tav>
                                        <p:tav tm="100000">
                                          <p:val>
                                            <p:strVal val="#ppt_h"/>
                                          </p:val>
                                        </p:tav>
                                      </p:tavLst>
                                    </p:anim>
                                    <p:anim calcmode="lin" valueType="num">
                                      <p:cBhvr>
                                        <p:cTn id="63" dur="1000" fill="hold"/>
                                        <p:tgtEl>
                                          <p:spTgt spid="4"/>
                                        </p:tgtEl>
                                        <p:attrNameLst>
                                          <p:attrName>style.rotation</p:attrName>
                                        </p:attrNameLst>
                                      </p:cBhvr>
                                      <p:tavLst>
                                        <p:tav tm="0">
                                          <p:val>
                                            <p:fltVal val="90"/>
                                          </p:val>
                                        </p:tav>
                                        <p:tav tm="100000">
                                          <p:val>
                                            <p:fltVal val="0"/>
                                          </p:val>
                                        </p:tav>
                                      </p:tavLst>
                                    </p:anim>
                                    <p:animEffect transition="in" filter="fade">
                                      <p:cBhvr>
                                        <p:cTn id="6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2" grpId="0" animBg="1"/>
      <p:bldP spid="10"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txBox="1">
            <a:spLocks noChangeArrowheads="1"/>
          </p:cNvSpPr>
          <p:nvPr/>
        </p:nvSpPr>
        <p:spPr bwMode="auto">
          <a:xfrm>
            <a:off x="4871864" y="116632"/>
            <a:ext cx="732013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作业</a:t>
            </a:r>
            <a:endParaRPr lang="en-US" altLang="zh-CN"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Tx/>
              <a:buNone/>
            </a:pPr>
            <a:r>
              <a:rPr lang="en-US" altLang="zh-CN" sz="40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3600" b="0" i="1"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62</a:t>
            </a:r>
            <a:r>
              <a:rPr lang="zh-CN" altLang="en-US"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600" b="0" dirty="0">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12(1), 16</a:t>
            </a:r>
            <a:endParaRPr lang="zh-CN" altLang="en-US" sz="3600" b="0" dirty="0">
              <a:solidFill>
                <a:srgbClr val="FFFF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圆角矩形 4"/>
          <p:cNvSpPr>
            <a:spLocks noChangeArrowheads="1"/>
          </p:cNvSpPr>
          <p:nvPr/>
        </p:nvSpPr>
        <p:spPr bwMode="auto">
          <a:xfrm>
            <a:off x="263352" y="1556791"/>
            <a:ext cx="11665296" cy="4943673"/>
          </a:xfrm>
          <a:prstGeom prst="roundRect">
            <a:avLst>
              <a:gd name="adj" fmla="val 5406"/>
            </a:avLst>
          </a:prstGeom>
          <a:noFill/>
          <a:ln w="38100" algn="ctr">
            <a:solidFill>
              <a:srgbClr val="92D050"/>
            </a:solidFill>
            <a:rou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bg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bg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bg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bg1"/>
                </a:solidFill>
                <a:latin typeface="Arial" panose="020B0604020202020204" pitchFamily="34" charset="0"/>
                <a:ea typeface="宋体" panose="02010600030101010101" pitchFamily="2" charset="-122"/>
              </a:defRPr>
            </a:lvl9pPr>
          </a:lstStyle>
          <a:p>
            <a:pPr algn="ctr" eaLnBrk="1" hangingPunct="1">
              <a:spcBef>
                <a:spcPct val="50000"/>
              </a:spcBef>
              <a:buFontTx/>
              <a:buNone/>
            </a:pPr>
            <a:endParaRPr lang="zh-CN" altLang="en-US" sz="1600">
              <a:solidFill>
                <a:schemeClr val="tx1"/>
              </a:solidFill>
              <a:latin typeface="Times New Roman" panose="02020603050405020304" pitchFamily="18" charset="0"/>
            </a:endParaRPr>
          </a:p>
        </p:txBody>
      </p:sp>
      <p:sp>
        <p:nvSpPr>
          <p:cNvPr id="9" name="文本框 8"/>
          <p:cNvSpPr txBox="1"/>
          <p:nvPr/>
        </p:nvSpPr>
        <p:spPr>
          <a:xfrm>
            <a:off x="479376" y="1569342"/>
            <a:ext cx="11521280" cy="1133708"/>
          </a:xfrm>
          <a:prstGeom prst="rect">
            <a:avLst/>
          </a:prstGeom>
          <a:noFill/>
        </p:spPr>
        <p:txBody>
          <a:bodyPr wrap="square">
            <a:spAutoFit/>
          </a:bodyPr>
          <a:lstStyle>
            <a:defPPr>
              <a:defRPr lang="zh-CN"/>
            </a:defPPr>
            <a:lvl1pPr>
              <a:lnSpc>
                <a:spcPct val="120000"/>
              </a:lnSpc>
              <a:defRPr sz="2400" b="0">
                <a:solidFill>
                  <a:schemeClr val="bg1"/>
                </a:solidFill>
                <a:ea typeface="微软雅黑" panose="020B0503020204020204" pitchFamily="34" charset="-122"/>
                <a:cs typeface="Times New Roman" panose="02020603050405020304" pitchFamily="18" charset="0"/>
              </a:defRPr>
            </a:lvl1pPr>
          </a:lstStyle>
          <a:p>
            <a:pPr marL="0" indent="0" eaLnBrk="1" hangingPunct="1">
              <a:lnSpc>
                <a:spcPct val="150000"/>
              </a:lnSpc>
              <a:buFont typeface="Wingdings" panose="05000000000000000000" pitchFamily="2" charset="2"/>
              <a:buNone/>
              <a:defRPr/>
            </a:pPr>
            <a:r>
              <a:rPr lang="en-US" altLang="zh-CN" dirty="0"/>
              <a:t>1. </a:t>
            </a:r>
            <a:r>
              <a:rPr lang="zh-CN" altLang="en-US" dirty="0"/>
              <a:t>通过等值演算求</a:t>
            </a:r>
            <a:r>
              <a:rPr lang="en-US" altLang="zh-CN" i="1" dirty="0"/>
              <a:t>p</a:t>
            </a:r>
            <a:r>
              <a:rPr lang="en-US" altLang="zh-CN" dirty="0">
                <a:sym typeface="Symbol" panose="05050102010706020507" pitchFamily="18" charset="2"/>
              </a:rPr>
              <a:t></a:t>
            </a:r>
            <a:r>
              <a:rPr lang="en-US" altLang="zh-CN" dirty="0"/>
              <a:t>(</a:t>
            </a:r>
            <a:r>
              <a:rPr lang="en-US" altLang="zh-CN" i="1" dirty="0"/>
              <a:t>p</a:t>
            </a:r>
            <a:r>
              <a:rPr lang="en-US" altLang="zh-CN" dirty="0">
                <a:sym typeface="Symbol" panose="05050102010706020507" pitchFamily="18" charset="2"/>
              </a:rPr>
              <a:t></a:t>
            </a:r>
            <a:r>
              <a:rPr lang="en-US" altLang="zh-CN" dirty="0"/>
              <a:t>(</a:t>
            </a:r>
            <a:r>
              <a:rPr lang="en-US" altLang="zh-CN" i="1" dirty="0" err="1"/>
              <a:t>q</a:t>
            </a:r>
            <a:r>
              <a:rPr lang="en-US" altLang="zh-CN" dirty="0" err="1">
                <a:sym typeface="Symbol" panose="05050102010706020507" pitchFamily="18" charset="2"/>
              </a:rPr>
              <a:t></a:t>
            </a:r>
            <a:r>
              <a:rPr lang="en-US" altLang="zh-CN" i="1" dirty="0" err="1"/>
              <a:t>p</a:t>
            </a:r>
            <a:r>
              <a:rPr lang="en-US" altLang="zh-CN" dirty="0"/>
              <a:t>))</a:t>
            </a:r>
            <a:r>
              <a:rPr lang="zh-CN" altLang="en-US" dirty="0"/>
              <a:t>的主析取范式和主合取范式 。</a:t>
            </a:r>
          </a:p>
          <a:p>
            <a:pPr marL="0" indent="0" eaLnBrk="1" hangingPunct="1">
              <a:lnSpc>
                <a:spcPct val="150000"/>
              </a:lnSpc>
              <a:buFont typeface="Wingdings" panose="05000000000000000000" pitchFamily="2" charset="2"/>
              <a:buNone/>
              <a:defRPr/>
            </a:pPr>
            <a:r>
              <a:rPr lang="en-US" altLang="zh-CN" dirty="0"/>
              <a:t>2. </a:t>
            </a:r>
            <a:r>
              <a:rPr lang="zh-CN" altLang="en-US" dirty="0"/>
              <a:t>证明</a:t>
            </a:r>
            <a:r>
              <a:rPr lang="en-US" altLang="zh-CN" dirty="0"/>
              <a:t>{</a:t>
            </a:r>
            <a:r>
              <a:rPr lang="en-US" altLang="zh-CN" dirty="0">
                <a:sym typeface="Symbol" panose="05050102010706020507" pitchFamily="18" charset="2"/>
              </a:rPr>
              <a:t></a:t>
            </a:r>
            <a:r>
              <a:rPr lang="en-US" altLang="zh-CN" dirty="0"/>
              <a:t>,</a:t>
            </a:r>
            <a:r>
              <a:rPr lang="en-US" altLang="zh-CN" dirty="0">
                <a:sym typeface="Symbol" panose="05050102010706020507" pitchFamily="18" charset="2"/>
              </a:rPr>
              <a:t></a:t>
            </a:r>
            <a:r>
              <a:rPr lang="en-US" altLang="zh-CN" dirty="0"/>
              <a:t>}</a:t>
            </a:r>
            <a:r>
              <a:rPr lang="zh-CN" altLang="en-US" dirty="0"/>
              <a:t>是功能完备集 。</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p:cTn id="7" dur="1000" fill="hold"/>
                                        <p:tgtEl>
                                          <p:spTgt spid="37892"/>
                                        </p:tgtEl>
                                        <p:attrNameLst>
                                          <p:attrName>ppt_w</p:attrName>
                                        </p:attrNameLst>
                                      </p:cBhvr>
                                      <p:tavLst>
                                        <p:tav tm="0">
                                          <p:val>
                                            <p:fltVal val="0"/>
                                          </p:val>
                                        </p:tav>
                                        <p:tav tm="100000">
                                          <p:val>
                                            <p:strVal val="#ppt_w"/>
                                          </p:val>
                                        </p:tav>
                                      </p:tavLst>
                                    </p:anim>
                                    <p:anim calcmode="lin" valueType="num">
                                      <p:cBhvr>
                                        <p:cTn id="8" dur="1000" fill="hold"/>
                                        <p:tgtEl>
                                          <p:spTgt spid="37892"/>
                                        </p:tgtEl>
                                        <p:attrNameLst>
                                          <p:attrName>ppt_h</p:attrName>
                                        </p:attrNameLst>
                                      </p:cBhvr>
                                      <p:tavLst>
                                        <p:tav tm="0">
                                          <p:val>
                                            <p:fltVal val="0"/>
                                          </p:val>
                                        </p:tav>
                                        <p:tav tm="100000">
                                          <p:val>
                                            <p:strVal val="#ppt_h"/>
                                          </p:val>
                                        </p:tav>
                                      </p:tavLst>
                                    </p:anim>
                                    <p:anim calcmode="lin" valueType="num">
                                      <p:cBhvr>
                                        <p:cTn id="9" dur="1000" fill="hold"/>
                                        <p:tgtEl>
                                          <p:spTgt spid="37892"/>
                                        </p:tgtEl>
                                        <p:attrNameLst>
                                          <p:attrName>style.rotation</p:attrName>
                                        </p:attrNameLst>
                                      </p:cBhvr>
                                      <p:tavLst>
                                        <p:tav tm="0">
                                          <p:val>
                                            <p:fltVal val="90"/>
                                          </p:val>
                                        </p:tav>
                                        <p:tav tm="100000">
                                          <p:val>
                                            <p:fltVal val="0"/>
                                          </p:val>
                                        </p:tav>
                                      </p:tavLst>
                                    </p:anim>
                                    <p:animEffect transition="in" filter="fade">
                                      <p:cBhvr>
                                        <p:cTn id="10" dur="1000"/>
                                        <p:tgtEl>
                                          <p:spTgt spid="37892"/>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left)">
                                      <p:cBhvr>
                                        <p:cTn id="14" dur="500"/>
                                        <p:tgtEl>
                                          <p:spTgt spid="9">
                                            <p:txEl>
                                              <p:pRg st="0" end="0"/>
                                            </p:txEl>
                                          </p:spTgt>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9">
                                            <p:txEl>
                                              <p:pRg st="1" end="1"/>
                                            </p:txEl>
                                          </p:spTgt>
                                        </p:tgtEl>
                                        <p:attrNameLst>
                                          <p:attrName>style.visibility</p:attrName>
                                        </p:attrNameLst>
                                      </p:cBhvr>
                                      <p:to>
                                        <p:strVal val="visible"/>
                                      </p:to>
                                    </p:set>
                                    <p:animEffect transition="in" filter="wipe(left)">
                                      <p:cBhvr>
                                        <p:cTn id="1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UxMDZlMWMxNThhZTg1OTc1ODg1MTk0MzVmZTYzZTEifQ=="/>
</p:tagLst>
</file>

<file path=ppt/tags/tag2.xml><?xml version="1.0" encoding="utf-8"?>
<p:tagLst xmlns:a="http://schemas.openxmlformats.org/drawingml/2006/main" xmlns:r="http://schemas.openxmlformats.org/officeDocument/2006/relationships" xmlns:p="http://schemas.openxmlformats.org/presentationml/2006/main">
  <p:tag name="TIMING" val="|4.6|4.6|10.6|6.2|3.8|3.8"/>
</p:tagLst>
</file>

<file path=ppt/tags/tag3.xml><?xml version="1.0" encoding="utf-8"?>
<p:tagLst xmlns:a="http://schemas.openxmlformats.org/drawingml/2006/main" xmlns:r="http://schemas.openxmlformats.org/officeDocument/2006/relationships" xmlns:p="http://schemas.openxmlformats.org/presentationml/2006/main">
  <p:tag name="TIMING" val="|1.6|8.6|1.5|3.5|3.1|3.7|5.1|2.8|4.3|3.9|3.6"/>
</p:tagLst>
</file>

<file path=ppt/tags/tag4.xml><?xml version="1.0" encoding="utf-8"?>
<p:tagLst xmlns:a="http://schemas.openxmlformats.org/drawingml/2006/main" xmlns:r="http://schemas.openxmlformats.org/officeDocument/2006/relationships" xmlns:p="http://schemas.openxmlformats.org/presentationml/2006/main">
  <p:tag name="TIMING" val="|1.6"/>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TotalTime>
  <Words>4834</Words>
  <Application>Microsoft Office PowerPoint</Application>
  <PresentationFormat>宽屏</PresentationFormat>
  <Paragraphs>527</Paragraphs>
  <Slides>34</Slides>
  <Notes>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楷体_GB2312</vt:lpstr>
      <vt:lpstr>宋体</vt:lpstr>
      <vt:lpstr>微软雅黑</vt:lpstr>
      <vt:lpstr>Arial</vt:lpstr>
      <vt:lpstr>Calibri</vt:lpstr>
      <vt:lpstr>Symbol</vt:lpstr>
      <vt:lpstr>Tahoma</vt:lpstr>
      <vt:lpstr>Times New Roman</vt:lpstr>
      <vt:lpstr>Wingdings</vt:lpstr>
      <vt:lpstr>默认设计模板</vt:lpstr>
      <vt:lpstr>PowerPoint 演示文稿</vt:lpstr>
      <vt:lpstr>PowerPoint 演示文稿</vt:lpstr>
      <vt:lpstr>PowerPoint 演示文稿</vt:lpstr>
      <vt:lpstr>PowerPoint 演示文稿</vt:lpstr>
      <vt:lpstr>PowerPoint 演示文稿</vt:lpstr>
      <vt:lpstr>PowerPoint 演示文稿</vt:lpstr>
      <vt:lpstr>例3.3.1  求公式(p→q)↔r的合取范式与析取范式。</vt:lpstr>
      <vt:lpstr>PowerPoint 演示文稿</vt:lpstr>
      <vt:lpstr>范式的注解</vt:lpstr>
      <vt:lpstr>定义3.3.1(极小项)</vt:lpstr>
      <vt:lpstr>定义3.3.2(极大项)</vt:lpstr>
      <vt:lpstr>极大(小)项的真值表</vt:lpstr>
      <vt:lpstr>极大(小)项的真值表(续)</vt:lpstr>
      <vt:lpstr>主范式定义</vt:lpstr>
      <vt:lpstr>主析取范式和主合取范式的求法</vt:lpstr>
      <vt:lpstr>PowerPoint 演示文稿</vt:lpstr>
      <vt:lpstr>PowerPoint 演示文稿</vt:lpstr>
      <vt:lpstr>主析取范式和主合取范式的用途</vt:lpstr>
      <vt:lpstr>PowerPoint 演示文稿</vt:lpstr>
      <vt:lpstr>PowerPoint 演示文稿</vt:lpstr>
      <vt:lpstr>例3.3.4 利用公式的主析取范式判断公式的类型           (1) ┐(p→q)∧q;   (2) p→(p∨q);   (3) (p∨q)→r</vt:lpstr>
      <vt:lpstr>PowerPoint 演示文稿</vt:lpstr>
      <vt:lpstr>PowerPoint 演示文稿</vt:lpstr>
      <vt:lpstr>PowerPoint 演示文稿</vt:lpstr>
      <vt:lpstr>PowerPoint 演示文稿</vt:lpstr>
      <vt:lpstr>一个观察</vt:lpstr>
      <vt:lpstr>PowerPoint 演示文稿</vt:lpstr>
      <vt:lpstr>2元真值函数(16个)</vt:lpstr>
      <vt:lpstr>PowerPoint 演示文稿</vt:lpstr>
      <vt:lpstr>PowerPoint 演示文稿</vt:lpstr>
      <vt:lpstr>PowerPoint 演示文稿</vt:lpstr>
      <vt:lpstr>定义——与非式、或非式</vt:lpstr>
      <vt:lpstr>PowerPoint 演示文稿</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番茄花园</dc:creator>
  <cp:lastModifiedBy>86186</cp:lastModifiedBy>
  <cp:revision>843</cp:revision>
  <dcterms:created xsi:type="dcterms:W3CDTF">2008-05-09T05:16:00Z</dcterms:created>
  <dcterms:modified xsi:type="dcterms:W3CDTF">2026-03-23T02:47:46Z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CC39A5CBAA524466B9DA59864E0444E6_12</vt:lpwstr>
  </property>
  <property fmtid="{D5CDD505-2E9C-101B-9397-08002B2CF9AE}" pid="3" name="KSOProductBuildVer">
    <vt:lpwstr>2052-12.1.0.16388</vt:lpwstr>
  </property>
</Properties>
</file>