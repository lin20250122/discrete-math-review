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7" r:id="rId2"/>
    <p:sldId id="377" r:id="rId3"/>
    <p:sldId id="378" r:id="rId4"/>
    <p:sldId id="379" r:id="rId5"/>
    <p:sldId id="380" r:id="rId6"/>
    <p:sldId id="381" r:id="rId7"/>
    <p:sldId id="382" r:id="rId8"/>
    <p:sldId id="376" r:id="rId9"/>
    <p:sldId id="338" r:id="rId10"/>
    <p:sldId id="361" r:id="rId11"/>
    <p:sldId id="339" r:id="rId12"/>
    <p:sldId id="362" r:id="rId13"/>
    <p:sldId id="363" r:id="rId14"/>
    <p:sldId id="364" r:id="rId15"/>
    <p:sldId id="365" r:id="rId16"/>
    <p:sldId id="366" r:id="rId17"/>
    <p:sldId id="367" r:id="rId18"/>
    <p:sldId id="368" r:id="rId19"/>
    <p:sldId id="369" r:id="rId20"/>
    <p:sldId id="370" r:id="rId21"/>
    <p:sldId id="371" r:id="rId22"/>
    <p:sldId id="372" r:id="rId23"/>
    <p:sldId id="373" r:id="rId24"/>
    <p:sldId id="374" r:id="rId25"/>
    <p:sldId id="375" r:id="rId26"/>
    <p:sldId id="356" r:id="rId27"/>
  </p:sldIdLst>
  <p:sldSz cx="12192000" cy="6858000"/>
  <p:notesSz cx="6858000" cy="9144000"/>
  <p:custDataLst>
    <p:tags r:id="rId29"/>
  </p:custDataLst>
  <p:defaultTextStyle>
    <a:defPPr>
      <a:defRPr lang="zh-CN"/>
    </a:defPPr>
    <a:lvl1pPr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16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16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16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16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7C80"/>
    <a:srgbClr val="FFCCFF"/>
    <a:srgbClr val="FFFF00"/>
    <a:srgbClr val="FF3300"/>
    <a:srgbClr val="0033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98" autoAdjust="0"/>
    <p:restoredTop sz="79632" autoAdjust="0"/>
  </p:normalViewPr>
  <p:slideViewPr>
    <p:cSldViewPr showGuides="1">
      <p:cViewPr varScale="1">
        <p:scale>
          <a:sx n="63" d="100"/>
          <a:sy n="63" d="100"/>
        </p:scale>
        <p:origin x="638" y="53"/>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kumimoji="0" sz="1200" b="0">
                <a:latin typeface="Arial" panose="020B0604020202020204" pitchFamily="34" charset="0"/>
              </a:defRPr>
            </a:lvl1pPr>
          </a:lstStyle>
          <a:p>
            <a:pPr>
              <a:defRPr/>
            </a:pPr>
            <a:endParaRPr lang="en-US" altLang="zh-CN"/>
          </a:p>
        </p:txBody>
      </p:sp>
      <p:sp>
        <p:nvSpPr>
          <p:cNvPr id="6553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kumimoji="0" sz="1200" b="0">
                <a:latin typeface="Arial" panose="020B0604020202020204" pitchFamily="34" charset="0"/>
              </a:defRPr>
            </a:lvl1pPr>
          </a:lstStyle>
          <a:p>
            <a:pPr>
              <a:defRPr/>
            </a:pPr>
            <a:endParaRPr lang="en-US" altLang="zh-CN"/>
          </a:p>
        </p:txBody>
      </p:sp>
      <p:sp>
        <p:nvSpPr>
          <p:cNvPr id="3891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554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554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kumimoji="0" sz="1200" b="0">
                <a:latin typeface="Arial" panose="020B0604020202020204" pitchFamily="34" charset="0"/>
              </a:defRPr>
            </a:lvl1pPr>
          </a:lstStyle>
          <a:p>
            <a:pPr>
              <a:defRPr/>
            </a:pPr>
            <a:endParaRPr lang="en-US" altLang="zh-CN"/>
          </a:p>
        </p:txBody>
      </p:sp>
      <p:sp>
        <p:nvSpPr>
          <p:cNvPr id="6554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200" b="0">
                <a:latin typeface="Arial" panose="020B0604020202020204" pitchFamily="34" charset="0"/>
              </a:defRPr>
            </a:lvl1pPr>
          </a:lstStyle>
          <a:p>
            <a:fld id="{BADCFBF9-860F-4F90-B134-F893524A9FE6}"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9</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10</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11</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12</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13</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14</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15</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16</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17</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18</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19</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i="1" dirty="0">
                <a:solidFill>
                  <a:schemeClr val="bg1"/>
                </a:solidFill>
                <a:cs typeface="Times New Roman" panose="02020603050405020304" pitchFamily="18" charset="0"/>
              </a:rPr>
              <a:t>A</a:t>
            </a:r>
            <a:r>
              <a:rPr lang="en-US" altLang="zh-CN" sz="1200" dirty="0">
                <a:solidFill>
                  <a:schemeClr val="bg1"/>
                </a:solidFill>
                <a:cs typeface="Times New Roman" panose="02020603050405020304" pitchFamily="18" charset="0"/>
                <a:sym typeface="Symbol" panose="05050102010706020507" pitchFamily="18" charset="2"/>
              </a:rPr>
              <a:t></a:t>
            </a:r>
            <a:r>
              <a:rPr lang="en-US" altLang="zh-CN" sz="1200" i="1" dirty="0">
                <a:solidFill>
                  <a:schemeClr val="bg1"/>
                </a:solidFill>
                <a:cs typeface="Times New Roman" panose="02020603050405020304" pitchFamily="18" charset="0"/>
              </a:rPr>
              <a:t>B</a:t>
            </a:r>
            <a:r>
              <a:rPr lang="zh-CN" altLang="en-US" sz="1200" i="1" dirty="0">
                <a:solidFill>
                  <a:schemeClr val="bg1"/>
                </a:solidFill>
                <a:cs typeface="Times New Roman" panose="02020603050405020304" pitchFamily="18" charset="0"/>
              </a:rPr>
              <a:t>不成立：存在某个 𝑥，使得 𝑥∈𝐴 且 𝑥∉𝐵；</a:t>
            </a:r>
            <a:endParaRPr lang="en-US" altLang="zh-CN" sz="1200" i="1" dirty="0">
              <a:solidFill>
                <a:schemeClr val="bg1"/>
              </a:solidFill>
              <a:cs typeface="Times New Roman" panose="02020603050405020304" pitchFamily="18" charset="0"/>
            </a:endParaRPr>
          </a:p>
          <a:p>
            <a:endParaRPr lang="zh-CN" altLang="en-US" sz="1200" i="1" dirty="0">
              <a:solidFill>
                <a:schemeClr val="bg1"/>
              </a:solidFill>
              <a:cs typeface="Times New Roman" panose="02020603050405020304" pitchFamily="18" charset="0"/>
            </a:endParaRPr>
          </a:p>
          <a:p>
            <a:r>
              <a:rPr lang="en-US" altLang="zh-CN" sz="1200" i="1" dirty="0">
                <a:solidFill>
                  <a:schemeClr val="bg1"/>
                </a:solidFill>
                <a:cs typeface="Times New Roman" panose="02020603050405020304" pitchFamily="18" charset="0"/>
              </a:rPr>
              <a:t>A</a:t>
            </a:r>
            <a:r>
              <a:rPr lang="en-US" altLang="zh-CN" sz="1200" dirty="0">
                <a:solidFill>
                  <a:schemeClr val="bg1"/>
                </a:solidFill>
                <a:cs typeface="Times New Roman" panose="02020603050405020304" pitchFamily="18" charset="0"/>
                <a:sym typeface="Symbol" panose="05050102010706020507" pitchFamily="18" charset="2"/>
              </a:rPr>
              <a:t></a:t>
            </a:r>
            <a:r>
              <a:rPr lang="en-US" altLang="zh-CN" sz="1200" i="1" dirty="0">
                <a:solidFill>
                  <a:schemeClr val="bg1"/>
                </a:solidFill>
                <a:cs typeface="Times New Roman" panose="02020603050405020304" pitchFamily="18" charset="0"/>
              </a:rPr>
              <a:t>B</a:t>
            </a:r>
            <a:r>
              <a:rPr lang="zh-CN" altLang="en-US" sz="1200" dirty="0">
                <a:solidFill>
                  <a:schemeClr val="bg1"/>
                </a:solidFill>
                <a:cs typeface="Times New Roman" panose="02020603050405020304" pitchFamily="18" charset="0"/>
              </a:rPr>
              <a:t>不</a:t>
            </a:r>
            <a:r>
              <a:rPr lang="zh-CN" altLang="en-US"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成立 ，意味着</a:t>
            </a:r>
            <a:r>
              <a:rPr lang="en-US" altLang="zh-CN"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A</a:t>
            </a:r>
            <a:r>
              <a:rPr lang="zh-CN" altLang="en-US"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不是</a:t>
            </a:r>
            <a:r>
              <a:rPr lang="en-US" altLang="zh-CN"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B</a:t>
            </a:r>
            <a:r>
              <a:rPr lang="zh-CN" altLang="en-US"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的真子集，即</a:t>
            </a:r>
            <a:r>
              <a:rPr lang="en-US" altLang="zh-CN"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A</a:t>
            </a:r>
            <a:r>
              <a:rPr lang="zh-CN" altLang="en-US"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集合中至少有一个元素不属于</a:t>
            </a:r>
            <a:r>
              <a:rPr lang="en-US" altLang="zh-CN"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B</a:t>
            </a:r>
            <a:r>
              <a:rPr lang="zh-CN" altLang="en-US"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集合，或者</a:t>
            </a:r>
            <a:r>
              <a:rPr lang="en-US" altLang="zh-CN"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A</a:t>
            </a:r>
            <a:r>
              <a:rPr lang="zh-CN" altLang="en-US"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与</a:t>
            </a:r>
            <a:r>
              <a:rPr lang="en-US" altLang="zh-CN"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B</a:t>
            </a:r>
            <a:r>
              <a:rPr lang="zh-CN" altLang="en-US"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相等。故存在某个 𝑥，使得 𝑥∈𝐴 且 𝑥∉𝐵；或</a:t>
            </a:r>
            <a:r>
              <a:rPr lang="en-US" altLang="zh-CN"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rPr>
              <a:t>A=B</a:t>
            </a:r>
            <a:endParaRPr lang="zh-CN" altLang="en-US"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endParaRPr>
          </a:p>
          <a:p>
            <a:endParaRPr lang="zh-CN" altLang="en-US" sz="1200" kern="1200" dirty="0">
              <a:solidFill>
                <a:schemeClr val="bg1"/>
              </a:solidFill>
              <a:latin typeface="Arial" panose="020B060402020202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BADCFBF9-860F-4F90-B134-F893524A9FE6}" type="slidenum">
              <a:rPr lang="en-US" altLang="zh-CN" smtClean="0"/>
              <a:t>20</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21</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22</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23</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24</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25</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26</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dirty="0"/>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
        <p:nvSpPr>
          <p:cNvPr id="4" name="Rectangle 6"/>
          <p:cNvSpPr>
            <a:spLocks noGrp="1" noChangeArrowheads="1"/>
          </p:cNvSpPr>
          <p:nvPr>
            <p:ph type="sldNum" sz="quarter" idx="10"/>
          </p:nvPr>
        </p:nvSpPr>
        <p:spPr/>
        <p:txBody>
          <a:bodyPr/>
          <a:lstStyle>
            <a:lvl1pPr>
              <a:defRPr/>
            </a:lvl1pPr>
          </a:lstStyle>
          <a:p>
            <a:fld id="{F7F6A5AF-1443-405D-A63C-1DA2EF827E5F}"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TextBox 8"/>
          <p:cNvSpPr txBox="1">
            <a:spLocks noChangeArrowheads="1"/>
          </p:cNvSpPr>
          <p:nvPr userDrawn="1"/>
        </p:nvSpPr>
        <p:spPr bwMode="auto">
          <a:xfrm>
            <a:off x="10970762" y="50195"/>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spcBef>
                <a:spcPct val="50000"/>
              </a:spcBef>
              <a:defRPr/>
            </a:pPr>
            <a:r>
              <a:rPr lang="zh-CN" altLang="en-US" sz="2000" dirty="0">
                <a:solidFill>
                  <a:srgbClr val="7F7F7F"/>
                </a:solidFill>
              </a:rPr>
              <a:t>离散数学</a:t>
            </a:r>
          </a:p>
        </p:txBody>
      </p:sp>
      <p:sp>
        <p:nvSpPr>
          <p:cNvPr id="2" name="标题 1"/>
          <p:cNvSpPr>
            <a:spLocks noGrp="1"/>
          </p:cNvSpPr>
          <p:nvPr>
            <p:ph type="title"/>
          </p:nvPr>
        </p:nvSpPr>
        <p:spPr>
          <a:xfrm>
            <a:off x="911424" y="50195"/>
            <a:ext cx="10972800" cy="1143000"/>
          </a:xfrm>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sldNum" sz="quarter" idx="10"/>
          </p:nvPr>
        </p:nvSpPr>
        <p:spPr/>
        <p:txBody>
          <a:bodyPr/>
          <a:lstStyle>
            <a:lvl1pPr>
              <a:defRPr>
                <a:solidFill>
                  <a:srgbClr val="003399"/>
                </a:solidFill>
              </a:defRPr>
            </a:lvl1pPr>
          </a:lstStyle>
          <a:p>
            <a:fld id="{9D73877B-74AE-4634-8955-8B92B699D7D7}"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xfrm>
            <a:off x="609600" y="6245225"/>
            <a:ext cx="2844800" cy="476250"/>
          </a:xfrm>
          <a:prstGeom prst="rect">
            <a:avLst/>
          </a:prstGeom>
        </p:spPr>
        <p:txBody>
          <a:bodyPr/>
          <a:lstStyle>
            <a:lvl1pPr algn="ctr">
              <a:spcBef>
                <a:spcPct val="50000"/>
              </a:spcBef>
              <a:defRPr/>
            </a:lvl1pPr>
          </a:lstStyle>
          <a:p>
            <a:pPr>
              <a:defRPr/>
            </a:pPr>
            <a:endParaRPr lang="en-US" altLang="zh-CN"/>
          </a:p>
        </p:txBody>
      </p:sp>
      <p:sp>
        <p:nvSpPr>
          <p:cNvPr id="6" name="Rectangle 5"/>
          <p:cNvSpPr>
            <a:spLocks noGrp="1" noChangeArrowheads="1"/>
          </p:cNvSpPr>
          <p:nvPr>
            <p:ph type="ftr" sz="quarter" idx="11"/>
          </p:nvPr>
        </p:nvSpPr>
        <p:spPr>
          <a:xfrm>
            <a:off x="4165600" y="6245225"/>
            <a:ext cx="3860800" cy="476250"/>
          </a:xfrm>
          <a:prstGeom prst="rect">
            <a:avLst/>
          </a:prstGeom>
        </p:spPr>
        <p:txBody>
          <a:bodyPr/>
          <a:lstStyle>
            <a:lvl1pPr algn="ctr">
              <a:spcBef>
                <a:spcPct val="50000"/>
              </a:spcBef>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C51CD6DC-2977-469C-827E-1A1841E80F85}"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xfrm>
            <a:off x="609600" y="6245225"/>
            <a:ext cx="2844800" cy="476250"/>
          </a:xfrm>
          <a:prstGeom prst="rect">
            <a:avLst/>
          </a:prstGeom>
        </p:spPr>
        <p:txBody>
          <a:bodyPr/>
          <a:lstStyle>
            <a:lvl1pPr algn="ctr">
              <a:spcBef>
                <a:spcPct val="50000"/>
              </a:spcBef>
              <a:defRPr/>
            </a:lvl1pPr>
          </a:lstStyle>
          <a:p>
            <a:pPr>
              <a:defRPr/>
            </a:pPr>
            <a:endParaRPr lang="en-US" altLang="zh-CN"/>
          </a:p>
        </p:txBody>
      </p:sp>
      <p:sp>
        <p:nvSpPr>
          <p:cNvPr id="4" name="Rectangle 5"/>
          <p:cNvSpPr>
            <a:spLocks noGrp="1" noChangeArrowheads="1"/>
          </p:cNvSpPr>
          <p:nvPr>
            <p:ph type="ftr" sz="quarter" idx="11"/>
          </p:nvPr>
        </p:nvSpPr>
        <p:spPr>
          <a:xfrm>
            <a:off x="4165600" y="6245225"/>
            <a:ext cx="3860800" cy="476250"/>
          </a:xfrm>
          <a:prstGeom prst="rect">
            <a:avLst/>
          </a:prstGeom>
        </p:spPr>
        <p:txBody>
          <a:bodyPr/>
          <a:lstStyle>
            <a:lvl1pPr algn="ctr">
              <a:spcBef>
                <a:spcPct val="50000"/>
              </a:spcBef>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D12FC91A-76FC-48FB-8078-168CC0EC6377}"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Box 7"/>
          <p:cNvSpPr txBox="1">
            <a:spLocks noChangeArrowheads="1"/>
          </p:cNvSpPr>
          <p:nvPr userDrawn="1"/>
        </p:nvSpPr>
        <p:spPr bwMode="auto">
          <a:xfrm>
            <a:off x="10200456" y="11309"/>
            <a:ext cx="19457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spcBef>
                <a:spcPct val="50000"/>
              </a:spcBef>
              <a:defRPr/>
            </a:pPr>
            <a:r>
              <a:rPr lang="zh-CN" altLang="en-US" sz="2000" b="0" dirty="0">
                <a:solidFill>
                  <a:schemeClr val="bg1">
                    <a:lumMod val="65000"/>
                  </a:schemeClr>
                </a:solidFill>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2000" b="0" dirty="0">
                <a:solidFill>
                  <a:schemeClr val="bg1">
                    <a:lumMod val="65000"/>
                  </a:schemeClr>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b="0" dirty="0">
                <a:solidFill>
                  <a:schemeClr val="bg1">
                    <a:lumMod val="65000"/>
                  </a:schemeClr>
                </a:solidFill>
                <a:latin typeface="Times New Roman" panose="02020603050405020304" pitchFamily="18" charset="0"/>
                <a:ea typeface="微软雅黑" panose="020B0503020204020204" pitchFamily="34" charset="-122"/>
                <a:cs typeface="Times New Roman" panose="02020603050405020304" pitchFamily="18" charset="0"/>
              </a:rPr>
              <a:t>章  集合论</a:t>
            </a:r>
            <a:endParaRPr lang="en-US" altLang="zh-CN" sz="2000" b="0" dirty="0">
              <a:solidFill>
                <a:schemeClr val="bg1">
                  <a:lumMod val="6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Rectangle 4"/>
          <p:cNvSpPr>
            <a:spLocks noGrp="1" noChangeArrowheads="1"/>
          </p:cNvSpPr>
          <p:nvPr>
            <p:ph type="dt" sz="half" idx="10"/>
          </p:nvPr>
        </p:nvSpPr>
        <p:spPr>
          <a:xfrm>
            <a:off x="609600" y="6245225"/>
            <a:ext cx="2844800" cy="476250"/>
          </a:xfrm>
          <a:prstGeom prst="rect">
            <a:avLst/>
          </a:prstGeom>
        </p:spPr>
        <p:txBody>
          <a:bodyPr/>
          <a:lstStyle>
            <a:lvl1pPr algn="ctr">
              <a:spcBef>
                <a:spcPct val="50000"/>
              </a:spcBef>
              <a:defRPr/>
            </a:lvl1pPr>
          </a:lstStyle>
          <a:p>
            <a:pPr>
              <a:defRPr/>
            </a:pPr>
            <a:endParaRPr lang="en-US" altLang="zh-CN"/>
          </a:p>
        </p:txBody>
      </p:sp>
      <p:sp>
        <p:nvSpPr>
          <p:cNvPr id="4" name="Rectangle 5"/>
          <p:cNvSpPr>
            <a:spLocks noGrp="1" noChangeArrowheads="1"/>
          </p:cNvSpPr>
          <p:nvPr>
            <p:ph type="ftr" sz="quarter" idx="11"/>
          </p:nvPr>
        </p:nvSpPr>
        <p:spPr>
          <a:xfrm>
            <a:off x="4165600" y="6245225"/>
            <a:ext cx="3860800" cy="476250"/>
          </a:xfrm>
          <a:prstGeom prst="rect">
            <a:avLst/>
          </a:prstGeom>
        </p:spPr>
        <p:txBody>
          <a:bodyPr/>
          <a:lstStyle>
            <a:lvl1pPr algn="ctr">
              <a:spcBef>
                <a:spcPct val="50000"/>
              </a:spcBef>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19472F5C-1417-4827-93CA-7FE37B1FF370}"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0" name="Rectangle 6"/>
          <p:cNvSpPr>
            <a:spLocks noGrp="1" noChangeArrowheads="1"/>
          </p:cNvSpPr>
          <p:nvPr>
            <p:ph type="sldNum" sz="quarter" idx="4"/>
          </p:nvPr>
        </p:nvSpPr>
        <p:spPr bwMode="auto">
          <a:xfrm>
            <a:off x="2117" y="6503989"/>
            <a:ext cx="812800" cy="238125"/>
          </a:xfrm>
          <a:prstGeom prst="rect">
            <a:avLst/>
          </a:prstGeom>
          <a:noFill/>
          <a:ln w="9525">
            <a:noFill/>
            <a:miter lim="800000"/>
          </a:ln>
          <a:effectLst/>
        </p:spPr>
        <p:txBody>
          <a:bodyPr vert="horz" wrap="square" lIns="91440" tIns="45720" rIns="91440" bIns="45720" numCol="1" anchor="t" anchorCtr="0" compatLnSpc="1"/>
          <a:lstStyle>
            <a:lvl1pPr algn="ctr">
              <a:defRPr kumimoji="0" sz="1400" b="0">
                <a:solidFill>
                  <a:srgbClr val="7F7F7F"/>
                </a:solidFill>
                <a:latin typeface="Arial" panose="020B0604020202020204" pitchFamily="34" charset="0"/>
              </a:defRPr>
            </a:lvl1pPr>
          </a:lstStyle>
          <a:p>
            <a:fld id="{56FB0DFF-F635-4648-B05A-78129B270A74}"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bg1"/>
          </a:solidFill>
          <a:latin typeface="+mn-lt"/>
          <a:ea typeface="+mn-ea"/>
          <a:cs typeface="+mn-cs"/>
        </a:defRPr>
      </a:lvl1pPr>
      <a:lvl2pPr marL="742950" indent="-285750" algn="l" rtl="0" eaLnBrk="0" fontAlgn="base" hangingPunct="0">
        <a:spcBef>
          <a:spcPct val="20000"/>
        </a:spcBef>
        <a:spcAft>
          <a:spcPct val="0"/>
        </a:spcAft>
        <a:buChar char="–"/>
        <a:defRPr sz="2800">
          <a:solidFill>
            <a:schemeClr val="bg1"/>
          </a:solidFill>
          <a:latin typeface="+mn-lt"/>
          <a:ea typeface="+mn-ea"/>
        </a:defRPr>
      </a:lvl2pPr>
      <a:lvl3pPr marL="1143000" indent="-228600" algn="l" rtl="0" eaLnBrk="0" fontAlgn="base" hangingPunct="0">
        <a:spcBef>
          <a:spcPct val="20000"/>
        </a:spcBef>
        <a:spcAft>
          <a:spcPct val="0"/>
        </a:spcAft>
        <a:buChar char="•"/>
        <a:defRPr sz="2400">
          <a:solidFill>
            <a:schemeClr val="bg1"/>
          </a:solidFill>
          <a:latin typeface="+mn-lt"/>
          <a:ea typeface="+mn-ea"/>
        </a:defRPr>
      </a:lvl3pPr>
      <a:lvl4pPr marL="1600200" indent="-228600" algn="l" rtl="0" eaLnBrk="0" fontAlgn="base" hangingPunct="0">
        <a:spcBef>
          <a:spcPct val="20000"/>
        </a:spcBef>
        <a:spcAft>
          <a:spcPct val="0"/>
        </a:spcAft>
        <a:buChar char="–"/>
        <a:defRPr sz="2000">
          <a:solidFill>
            <a:schemeClr val="bg1"/>
          </a:solidFill>
          <a:latin typeface="+mn-lt"/>
          <a:ea typeface="+mn-ea"/>
        </a:defRPr>
      </a:lvl4pPr>
      <a:lvl5pPr marL="2057400" indent="-228600" algn="l" rtl="0" eaLnBrk="0" fontAlgn="base" hangingPunct="0">
        <a:spcBef>
          <a:spcPct val="20000"/>
        </a:spcBef>
        <a:spcAft>
          <a:spcPct val="0"/>
        </a:spcAft>
        <a:buChar char="»"/>
        <a:defRPr sz="2000">
          <a:solidFill>
            <a:schemeClr val="bg1"/>
          </a:solidFill>
          <a:latin typeface="+mn-lt"/>
          <a:ea typeface="+mn-ea"/>
        </a:defRPr>
      </a:lvl5pPr>
      <a:lvl6pPr marL="2514600" indent="-228600" algn="l" rtl="0" fontAlgn="base">
        <a:spcBef>
          <a:spcPct val="20000"/>
        </a:spcBef>
        <a:spcAft>
          <a:spcPct val="0"/>
        </a:spcAft>
        <a:buChar char="»"/>
        <a:defRPr sz="2000">
          <a:solidFill>
            <a:schemeClr val="bg1"/>
          </a:solidFill>
          <a:latin typeface="+mn-lt"/>
          <a:ea typeface="+mn-ea"/>
        </a:defRPr>
      </a:lvl6pPr>
      <a:lvl7pPr marL="2971800" indent="-228600" algn="l" rtl="0" fontAlgn="base">
        <a:spcBef>
          <a:spcPct val="20000"/>
        </a:spcBef>
        <a:spcAft>
          <a:spcPct val="0"/>
        </a:spcAft>
        <a:buChar char="»"/>
        <a:defRPr sz="2000">
          <a:solidFill>
            <a:schemeClr val="bg1"/>
          </a:solidFill>
          <a:latin typeface="+mn-lt"/>
          <a:ea typeface="+mn-ea"/>
        </a:defRPr>
      </a:lvl7pPr>
      <a:lvl8pPr marL="3429000" indent="-228600" algn="l" rtl="0" fontAlgn="base">
        <a:spcBef>
          <a:spcPct val="20000"/>
        </a:spcBef>
        <a:spcAft>
          <a:spcPct val="0"/>
        </a:spcAft>
        <a:buChar char="»"/>
        <a:defRPr sz="2000">
          <a:solidFill>
            <a:schemeClr val="bg1"/>
          </a:solidFill>
          <a:latin typeface="+mn-lt"/>
          <a:ea typeface="+mn-ea"/>
        </a:defRPr>
      </a:lvl8pPr>
      <a:lvl9pPr marL="3886200" indent="-228600" algn="l" rtl="0" fontAlgn="base">
        <a:spcBef>
          <a:spcPct val="20000"/>
        </a:spcBef>
        <a:spcAft>
          <a:spcPct val="0"/>
        </a:spcAft>
        <a:buChar char="»"/>
        <a:defRPr sz="2000">
          <a:solidFill>
            <a:schemeClr val="bg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4.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7.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0.png"/><Relationship Id="rId2" Type="http://schemas.openxmlformats.org/officeDocument/2006/relationships/slideLayout" Target="../slideLayouts/slideLayout5.xml"/><Relationship Id="rId1" Type="http://schemas.openxmlformats.org/officeDocument/2006/relationships/tags" Target="../tags/tag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8.xml"/><Relationship Id="rId4" Type="http://schemas.openxmlformats.org/officeDocument/2006/relationships/image" Target="../media/image11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txBox="1">
            <a:spLocks noChangeArrowheads="1"/>
          </p:cNvSpPr>
          <p:nvPr/>
        </p:nvSpPr>
        <p:spPr bwMode="auto">
          <a:xfrm>
            <a:off x="2135188" y="1773238"/>
            <a:ext cx="7772400" cy="1583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5400" b="0" dirty="0">
                <a:latin typeface="微软雅黑" panose="020B0503020204020204" pitchFamily="34" charset="-122"/>
                <a:ea typeface="微软雅黑" panose="020B0503020204020204" pitchFamily="34" charset="-122"/>
                <a:cs typeface="楷体_GB2312"/>
              </a:rPr>
              <a:t>第一章 集合论</a:t>
            </a:r>
          </a:p>
        </p:txBody>
      </p:sp>
      <p:sp>
        <p:nvSpPr>
          <p:cNvPr id="6" name="Rectangle 3"/>
          <p:cNvSpPr txBox="1">
            <a:spLocks noChangeArrowheads="1"/>
          </p:cNvSpPr>
          <p:nvPr/>
        </p:nvSpPr>
        <p:spPr bwMode="auto">
          <a:xfrm>
            <a:off x="2423592" y="4293096"/>
            <a:ext cx="7772400" cy="1727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lnSpc>
                <a:spcPct val="150000"/>
              </a:lnSpc>
              <a:buFontTx/>
              <a:buNone/>
            </a:pPr>
            <a:r>
              <a:rPr lang="zh-CN" altLang="en-US"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华东师范大学计算机科学与技术学院</a:t>
            </a:r>
            <a:endParaRPr lang="en-US" altLang="zh-CN"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eaLnBrk="1" hangingPunct="1">
              <a:lnSpc>
                <a:spcPct val="150000"/>
              </a:lnSpc>
              <a:buFontTx/>
              <a:buNone/>
            </a:pPr>
            <a:r>
              <a:rPr lang="zh-CN" altLang="en-US"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主讲教师：卢兴见</a:t>
            </a:r>
            <a:endParaRPr lang="en-US" altLang="zh-CN"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43872" y="50195"/>
            <a:ext cx="3384376" cy="1143000"/>
          </a:xfrm>
        </p:spPr>
        <p:txBody>
          <a:bodyPr/>
          <a:lstStyle/>
          <a:p>
            <a:r>
              <a:rPr lang="zh-CN" altLang="en-US" dirty="0">
                <a:latin typeface="微软雅黑" panose="020B0503020204020204" pitchFamily="34" charset="-122"/>
                <a:ea typeface="微软雅黑" panose="020B0503020204020204" pitchFamily="34" charset="-122"/>
              </a:rPr>
              <a:t>本章导读</a:t>
            </a:r>
          </a:p>
        </p:txBody>
      </p:sp>
      <p:sp>
        <p:nvSpPr>
          <p:cNvPr id="6" name="Rectangle 3"/>
          <p:cNvSpPr txBox="1">
            <a:spLocks noChangeArrowheads="1"/>
          </p:cNvSpPr>
          <p:nvPr/>
        </p:nvSpPr>
        <p:spPr bwMode="auto">
          <a:xfrm>
            <a:off x="1559496" y="2060848"/>
            <a:ext cx="8374062" cy="3744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bg1"/>
                </a:solidFill>
                <a:latin typeface="+mn-lt"/>
                <a:ea typeface="+mn-ea"/>
                <a:cs typeface="+mn-cs"/>
              </a:defRPr>
            </a:lvl1pPr>
            <a:lvl2pPr marL="742950" indent="-285750" algn="l" rtl="0" eaLnBrk="0" fontAlgn="base" hangingPunct="0">
              <a:spcBef>
                <a:spcPct val="20000"/>
              </a:spcBef>
              <a:spcAft>
                <a:spcPct val="0"/>
              </a:spcAft>
              <a:buChar char="–"/>
              <a:defRPr sz="2800">
                <a:solidFill>
                  <a:schemeClr val="bg1"/>
                </a:solidFill>
                <a:latin typeface="+mn-lt"/>
                <a:ea typeface="+mn-ea"/>
              </a:defRPr>
            </a:lvl2pPr>
            <a:lvl3pPr marL="1143000" indent="-228600" algn="l" rtl="0" eaLnBrk="0" fontAlgn="base" hangingPunct="0">
              <a:spcBef>
                <a:spcPct val="20000"/>
              </a:spcBef>
              <a:spcAft>
                <a:spcPct val="0"/>
              </a:spcAft>
              <a:buChar char="•"/>
              <a:defRPr sz="2400">
                <a:solidFill>
                  <a:schemeClr val="bg1"/>
                </a:solidFill>
                <a:latin typeface="+mn-lt"/>
                <a:ea typeface="+mn-ea"/>
              </a:defRPr>
            </a:lvl3pPr>
            <a:lvl4pPr marL="1600200" indent="-228600" algn="l" rtl="0" eaLnBrk="0" fontAlgn="base" hangingPunct="0">
              <a:spcBef>
                <a:spcPct val="20000"/>
              </a:spcBef>
              <a:spcAft>
                <a:spcPct val="0"/>
              </a:spcAft>
              <a:buChar char="–"/>
              <a:defRPr sz="2000">
                <a:solidFill>
                  <a:schemeClr val="bg1"/>
                </a:solidFill>
                <a:latin typeface="+mn-lt"/>
                <a:ea typeface="+mn-ea"/>
              </a:defRPr>
            </a:lvl4pPr>
            <a:lvl5pPr marL="2057400" indent="-228600" algn="l" rtl="0" eaLnBrk="0" fontAlgn="base" hangingPunct="0">
              <a:spcBef>
                <a:spcPct val="20000"/>
              </a:spcBef>
              <a:spcAft>
                <a:spcPct val="0"/>
              </a:spcAft>
              <a:buChar char="»"/>
              <a:defRPr sz="2000">
                <a:solidFill>
                  <a:schemeClr val="bg1"/>
                </a:solidFill>
                <a:latin typeface="+mn-lt"/>
                <a:ea typeface="+mn-ea"/>
              </a:defRPr>
            </a:lvl5pPr>
            <a:lvl6pPr marL="2514600" indent="-228600" algn="l" rtl="0" fontAlgn="base">
              <a:spcBef>
                <a:spcPct val="20000"/>
              </a:spcBef>
              <a:spcAft>
                <a:spcPct val="0"/>
              </a:spcAft>
              <a:buChar char="»"/>
              <a:defRPr sz="2000">
                <a:solidFill>
                  <a:schemeClr val="bg1"/>
                </a:solidFill>
                <a:latin typeface="+mn-lt"/>
                <a:ea typeface="+mn-ea"/>
              </a:defRPr>
            </a:lvl6pPr>
            <a:lvl7pPr marL="2971800" indent="-228600" algn="l" rtl="0" fontAlgn="base">
              <a:spcBef>
                <a:spcPct val="20000"/>
              </a:spcBef>
              <a:spcAft>
                <a:spcPct val="0"/>
              </a:spcAft>
              <a:buChar char="»"/>
              <a:defRPr sz="2000">
                <a:solidFill>
                  <a:schemeClr val="bg1"/>
                </a:solidFill>
                <a:latin typeface="+mn-lt"/>
                <a:ea typeface="+mn-ea"/>
              </a:defRPr>
            </a:lvl7pPr>
            <a:lvl8pPr marL="3429000" indent="-228600" algn="l" rtl="0" fontAlgn="base">
              <a:spcBef>
                <a:spcPct val="20000"/>
              </a:spcBef>
              <a:spcAft>
                <a:spcPct val="0"/>
              </a:spcAft>
              <a:buChar char="»"/>
              <a:defRPr sz="2000">
                <a:solidFill>
                  <a:schemeClr val="bg1"/>
                </a:solidFill>
                <a:latin typeface="+mn-lt"/>
                <a:ea typeface="+mn-ea"/>
              </a:defRPr>
            </a:lvl8pPr>
            <a:lvl9pPr marL="3886200" indent="-228600" algn="l" rtl="0" fontAlgn="base">
              <a:spcBef>
                <a:spcPct val="20000"/>
              </a:spcBef>
              <a:spcAft>
                <a:spcPct val="0"/>
              </a:spcAft>
              <a:buChar char="»"/>
              <a:defRPr sz="2000">
                <a:solidFill>
                  <a:schemeClr val="bg1"/>
                </a:solidFill>
                <a:latin typeface="+mn-lt"/>
                <a:ea typeface="+mn-ea"/>
              </a:defRPr>
            </a:lvl9pPr>
          </a:lstStyle>
          <a:p>
            <a:pPr marL="812800" indent="-812800" eaLnBrk="1" hangingPunct="1">
              <a:buFont typeface="Wingdings" panose="05000000000000000000" pitchFamily="2" charset="2"/>
              <a:buNone/>
              <a:defRPr/>
            </a:pPr>
            <a:r>
              <a:rPr lang="en-US" altLang="zh-CN" dirty="0"/>
              <a:t>1.1 </a:t>
            </a:r>
            <a:r>
              <a:rPr lang="zh-CN" altLang="en-US" dirty="0"/>
              <a:t>集合的概念和术语  </a:t>
            </a:r>
          </a:p>
          <a:p>
            <a:pPr marL="812800" indent="-812800" eaLnBrk="1" hangingPunct="1">
              <a:buFont typeface="Wingdings" panose="05000000000000000000" pitchFamily="2" charset="2"/>
              <a:buNone/>
              <a:defRPr/>
            </a:pPr>
            <a:r>
              <a:rPr lang="en-US" altLang="zh-CN" dirty="0"/>
              <a:t>1.2 </a:t>
            </a:r>
            <a:r>
              <a:rPr lang="zh-CN" altLang="en-US" dirty="0"/>
              <a:t>集合的运算 </a:t>
            </a:r>
          </a:p>
          <a:p>
            <a:pPr marL="812800" indent="-812800" eaLnBrk="1" hangingPunct="1">
              <a:buFont typeface="Wingdings" panose="05000000000000000000" pitchFamily="2" charset="2"/>
              <a:buNone/>
              <a:defRPr/>
            </a:pPr>
            <a:r>
              <a:rPr lang="en-US" altLang="zh-CN" dirty="0"/>
              <a:t>1.3 </a:t>
            </a:r>
            <a:r>
              <a:rPr lang="zh-CN" altLang="en-US" dirty="0"/>
              <a:t>集合运算的性质</a:t>
            </a:r>
          </a:p>
          <a:p>
            <a:pPr marL="812800" indent="-812800" eaLnBrk="1" hangingPunct="1">
              <a:buFont typeface="Wingdings" panose="05000000000000000000" pitchFamily="2" charset="2"/>
              <a:buNone/>
              <a:defRPr/>
            </a:pPr>
            <a:r>
              <a:rPr lang="en-US" altLang="zh-CN" dirty="0"/>
              <a:t>1.4 </a:t>
            </a:r>
            <a:r>
              <a:rPr lang="zh-CN" altLang="en-US" dirty="0"/>
              <a:t>有限集合的计数</a:t>
            </a:r>
          </a:p>
          <a:p>
            <a:pPr marL="812800" indent="-812800" eaLnBrk="1" hangingPunct="1">
              <a:buFont typeface="Wingdings" panose="05000000000000000000" pitchFamily="2" charset="2"/>
              <a:buNone/>
              <a:defRPr/>
            </a:pPr>
            <a:r>
              <a:rPr lang="en-US" altLang="zh-CN" dirty="0"/>
              <a:t>1.5 </a:t>
            </a:r>
            <a:r>
              <a:rPr lang="zh-CN" altLang="en-US" dirty="0"/>
              <a:t>罗素悖论</a:t>
            </a:r>
          </a:p>
        </p:txBody>
      </p:sp>
      <p:sp>
        <p:nvSpPr>
          <p:cNvPr id="7" name="圆角矩形 4"/>
          <p:cNvSpPr>
            <a:spLocks noChangeArrowheads="1"/>
          </p:cNvSpPr>
          <p:nvPr/>
        </p:nvSpPr>
        <p:spPr bwMode="auto">
          <a:xfrm>
            <a:off x="911424" y="1772816"/>
            <a:ext cx="10369152" cy="4176464"/>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232558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985124-12BB-425A-BB8D-712E5106775E}"/>
              </a:ext>
            </a:extLst>
          </p:cNvPr>
          <p:cNvSpPr>
            <a:spLocks noGrp="1"/>
          </p:cNvSpPr>
          <p:nvPr>
            <p:ph type="title"/>
          </p:nvPr>
        </p:nvSpPr>
        <p:spPr>
          <a:xfrm>
            <a:off x="911424" y="44624"/>
            <a:ext cx="10972800" cy="1143000"/>
          </a:xfrm>
        </p:spPr>
        <p:txBody>
          <a:bodyPr/>
          <a:lstStyle/>
          <a:p>
            <a:r>
              <a:rPr lang="zh-CN" altLang="en-US" dirty="0"/>
              <a:t>      </a:t>
            </a:r>
            <a:r>
              <a:rPr lang="zh-CN" altLang="en-US" dirty="0">
                <a:latin typeface="微软雅黑" panose="020B0503020204020204" pitchFamily="34" charset="-122"/>
                <a:ea typeface="微软雅黑" panose="020B0503020204020204" pitchFamily="34" charset="-122"/>
              </a:rPr>
              <a:t>集合论发展史</a:t>
            </a:r>
          </a:p>
        </p:txBody>
      </p:sp>
      <p:sp>
        <p:nvSpPr>
          <p:cNvPr id="3" name="内容占位符 2">
            <a:extLst>
              <a:ext uri="{FF2B5EF4-FFF2-40B4-BE49-F238E27FC236}">
                <a16:creationId xmlns:a16="http://schemas.microsoft.com/office/drawing/2014/main" id="{408F4578-C9CB-45E8-9B31-13E57828AC83}"/>
              </a:ext>
            </a:extLst>
          </p:cNvPr>
          <p:cNvSpPr>
            <a:spLocks noGrp="1"/>
          </p:cNvSpPr>
          <p:nvPr>
            <p:ph idx="1"/>
          </p:nvPr>
        </p:nvSpPr>
        <p:spPr/>
        <p:txBody>
          <a:bodyPr/>
          <a:lstStyle/>
          <a:p>
            <a:pPr>
              <a:buFont typeface="Wingdings" panose="05000000000000000000" pitchFamily="2" charset="2"/>
              <a:buChar char="Ø"/>
            </a:pPr>
            <a:r>
              <a:rPr lang="zh-CN" altLang="en-US" b="1" dirty="0">
                <a:solidFill>
                  <a:srgbClr val="FFFF00"/>
                </a:solidFill>
              </a:rPr>
              <a:t>起源可追溯到</a:t>
            </a:r>
            <a:r>
              <a:rPr lang="en-US" altLang="zh-CN" b="1" dirty="0">
                <a:solidFill>
                  <a:srgbClr val="FFFF00"/>
                </a:solidFill>
              </a:rPr>
              <a:t>16</a:t>
            </a:r>
            <a:r>
              <a:rPr lang="zh-CN" altLang="en-US" b="1" dirty="0">
                <a:solidFill>
                  <a:srgbClr val="FFFF00"/>
                </a:solidFill>
              </a:rPr>
              <a:t>世纪末</a:t>
            </a:r>
            <a:endParaRPr lang="en-US" altLang="zh-CN" b="1" dirty="0">
              <a:solidFill>
                <a:srgbClr val="FFFF00"/>
              </a:solidFill>
            </a:endParaRPr>
          </a:p>
          <a:p>
            <a:pPr marL="0" indent="0">
              <a:buNone/>
            </a:pPr>
            <a:r>
              <a:rPr lang="zh-CN" altLang="en-US" sz="2800" dirty="0"/>
              <a:t>    </a:t>
            </a:r>
            <a:r>
              <a:rPr lang="zh-CN" altLang="en-US" sz="2800" b="1" dirty="0"/>
              <a:t>主要是对</a:t>
            </a:r>
            <a:r>
              <a:rPr lang="zh-CN" altLang="en-US" sz="2800" b="1" dirty="0">
                <a:solidFill>
                  <a:srgbClr val="FFFF00"/>
                </a:solidFill>
              </a:rPr>
              <a:t>数集</a:t>
            </a:r>
            <a:r>
              <a:rPr lang="zh-CN" altLang="en-US" sz="2800" b="1" dirty="0"/>
              <a:t>进行卓有成效的研究。</a:t>
            </a:r>
            <a:endParaRPr lang="en-US" altLang="zh-CN" sz="2800" b="1" dirty="0"/>
          </a:p>
          <a:p>
            <a:pPr marL="0" indent="0">
              <a:buNone/>
            </a:pPr>
            <a:endParaRPr lang="en-US" altLang="zh-CN" sz="2400" dirty="0"/>
          </a:p>
          <a:p>
            <a:pPr>
              <a:buFont typeface="Wingdings" panose="05000000000000000000" pitchFamily="2" charset="2"/>
              <a:buChar char="Ø"/>
            </a:pPr>
            <a:r>
              <a:rPr lang="zh-CN" altLang="en-US" b="1" dirty="0">
                <a:solidFill>
                  <a:srgbClr val="FFFF00"/>
                </a:solidFill>
              </a:rPr>
              <a:t>集合论实际发展是由</a:t>
            </a:r>
            <a:r>
              <a:rPr lang="en-US" altLang="zh-CN" b="1" dirty="0">
                <a:solidFill>
                  <a:srgbClr val="FFFF00"/>
                </a:solidFill>
              </a:rPr>
              <a:t>19</a:t>
            </a:r>
            <a:r>
              <a:rPr lang="zh-CN" altLang="en-US" b="1" dirty="0">
                <a:solidFill>
                  <a:srgbClr val="FFFF00"/>
                </a:solidFill>
              </a:rPr>
              <a:t>世纪</a:t>
            </a:r>
            <a:r>
              <a:rPr lang="en-US" altLang="zh-CN" b="1" dirty="0">
                <a:solidFill>
                  <a:srgbClr val="FFFF00"/>
                </a:solidFill>
              </a:rPr>
              <a:t>70</a:t>
            </a:r>
            <a:r>
              <a:rPr lang="zh-CN" altLang="en-US" b="1" dirty="0">
                <a:solidFill>
                  <a:srgbClr val="FFFF00"/>
                </a:solidFill>
              </a:rPr>
              <a:t>年代德国数学家康托尔在无穷序列和分析的有关课题的理论研究中创立的。</a:t>
            </a:r>
            <a:endParaRPr lang="en-US" altLang="zh-CN" b="1" dirty="0">
              <a:solidFill>
                <a:srgbClr val="FFFF00"/>
              </a:solidFill>
            </a:endParaRPr>
          </a:p>
          <a:p>
            <a:pPr marL="0" indent="0">
              <a:buNone/>
            </a:pPr>
            <a:r>
              <a:rPr lang="zh-CN" altLang="en-US" b="1" dirty="0"/>
              <a:t>   </a:t>
            </a:r>
            <a:r>
              <a:rPr lang="zh-CN" altLang="en-US" sz="2800" b="1" dirty="0"/>
              <a:t>他创立的集合论是实数理论以至整个微积分理论体系的基础。</a:t>
            </a:r>
          </a:p>
        </p:txBody>
      </p:sp>
    </p:spTree>
    <p:extLst>
      <p:ext uri="{BB962C8B-B14F-4D97-AF65-F5344CB8AC3E}">
        <p14:creationId xmlns:p14="http://schemas.microsoft.com/office/powerpoint/2010/main" val="423076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E9053-35B3-4AF8-AF6D-361A04DF6CDE}"/>
              </a:ext>
            </a:extLst>
          </p:cNvPr>
          <p:cNvSpPr>
            <a:spLocks noGrp="1"/>
          </p:cNvSpPr>
          <p:nvPr>
            <p:ph type="title"/>
          </p:nvPr>
        </p:nvSpPr>
        <p:spPr>
          <a:xfrm>
            <a:off x="4511824" y="50195"/>
            <a:ext cx="6840760" cy="1143000"/>
          </a:xfrm>
        </p:spPr>
        <p:txBody>
          <a:bodyPr/>
          <a:lstStyle/>
          <a:p>
            <a:r>
              <a:rPr lang="zh-CN" altLang="en-US" dirty="0">
                <a:latin typeface="微软雅黑" panose="020B0503020204020204" pitchFamily="34" charset="-122"/>
                <a:ea typeface="微软雅黑" panose="020B0503020204020204" pitchFamily="34" charset="-122"/>
              </a:rPr>
              <a:t>康托尔</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集合论的奠基人</a:t>
            </a:r>
          </a:p>
        </p:txBody>
      </p:sp>
      <p:sp>
        <p:nvSpPr>
          <p:cNvPr id="3" name="内容占位符 2">
            <a:extLst>
              <a:ext uri="{FF2B5EF4-FFF2-40B4-BE49-F238E27FC236}">
                <a16:creationId xmlns:a16="http://schemas.microsoft.com/office/drawing/2014/main" id="{C096BBDD-4477-4954-9FAC-3F8ADCBE9E3C}"/>
              </a:ext>
            </a:extLst>
          </p:cNvPr>
          <p:cNvSpPr>
            <a:spLocks noGrp="1"/>
          </p:cNvSpPr>
          <p:nvPr>
            <p:ph idx="1"/>
          </p:nvPr>
        </p:nvSpPr>
        <p:spPr>
          <a:xfrm>
            <a:off x="3695448" y="1412776"/>
            <a:ext cx="8496944" cy="3096344"/>
          </a:xfrm>
        </p:spPr>
        <p:txBody>
          <a:bodyPr/>
          <a:lstStyle/>
          <a:p>
            <a:r>
              <a:rPr lang="en-US" altLang="zh-CN" sz="2400" dirty="0">
                <a:latin typeface="微软雅黑" panose="020B0503020204020204" pitchFamily="34" charset="-122"/>
                <a:ea typeface="微软雅黑" panose="020B0503020204020204" pitchFamily="34" charset="-122"/>
              </a:rPr>
              <a:t>1845</a:t>
            </a:r>
            <a:r>
              <a:rPr lang="zh-CN" altLang="en-US" sz="2400" dirty="0">
                <a:latin typeface="微软雅黑" panose="020B0503020204020204" pitchFamily="34" charset="-122"/>
                <a:ea typeface="微软雅黑" panose="020B0503020204020204" pitchFamily="34" charset="-122"/>
              </a:rPr>
              <a:t>年生于俄国圣彼得堡。</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1863</a:t>
            </a:r>
            <a:r>
              <a:rPr lang="zh-CN" altLang="en-US" sz="2400" dirty="0">
                <a:latin typeface="微软雅黑" panose="020B0503020204020204" pitchFamily="34" charset="-122"/>
                <a:ea typeface="微软雅黑" panose="020B0503020204020204" pitchFamily="34" charset="-122"/>
              </a:rPr>
              <a:t>年进入柏林大学。</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1867</a:t>
            </a:r>
            <a:r>
              <a:rPr lang="zh-CN" altLang="en-US" sz="2400" dirty="0">
                <a:latin typeface="微软雅黑" panose="020B0503020204020204" pitchFamily="34" charset="-122"/>
                <a:ea typeface="微软雅黑" panose="020B0503020204020204" pitchFamily="34" charset="-122"/>
              </a:rPr>
              <a:t>年获数学博士学位。</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1872</a:t>
            </a:r>
            <a:r>
              <a:rPr lang="zh-CN" altLang="en-US" sz="2400" dirty="0">
                <a:latin typeface="微软雅黑" panose="020B0503020204020204" pitchFamily="34" charset="-122"/>
                <a:ea typeface="微软雅黑" panose="020B0503020204020204" pitchFamily="34" charset="-122"/>
              </a:rPr>
              <a:t>年起任教于哈雷大学。</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1879</a:t>
            </a:r>
            <a:r>
              <a:rPr lang="zh-CN" altLang="en-US" sz="2400" dirty="0">
                <a:latin typeface="微软雅黑" panose="020B0503020204020204" pitchFamily="34" charset="-122"/>
                <a:ea typeface="微软雅黑" panose="020B0503020204020204" pitchFamily="34" charset="-122"/>
              </a:rPr>
              <a:t>年晋升为教授，并在此度过了大部分学术生涯。</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其开创性的集合论一度遭到克罗内克等同时代学者的强烈反对，这给他带来了巨大的精神压力。</a:t>
            </a:r>
            <a:r>
              <a:rPr lang="en-US" altLang="zh-CN" sz="2400" dirty="0">
                <a:latin typeface="微软雅黑" panose="020B0503020204020204" pitchFamily="34" charset="-122"/>
                <a:ea typeface="微软雅黑" panose="020B0503020204020204" pitchFamily="34" charset="-122"/>
              </a:rPr>
              <a:t>1918</a:t>
            </a:r>
            <a:r>
              <a:rPr lang="zh-CN" altLang="en-US" sz="2400" dirty="0">
                <a:latin typeface="微软雅黑" panose="020B0503020204020204" pitchFamily="34" charset="-122"/>
                <a:ea typeface="微软雅黑" panose="020B0503020204020204" pitchFamily="34" charset="-122"/>
              </a:rPr>
              <a:t>年在哈雷逝世。</a:t>
            </a:r>
          </a:p>
        </p:txBody>
      </p:sp>
      <p:pic>
        <p:nvPicPr>
          <p:cNvPr id="2050" name="Picture 2" descr="https://img1.baidu.com/it/u=1498057883,789394111&amp;fm=253&amp;fmt=auto&amp;app=138&amp;f=JPEG?w=800&amp;h=1036">
            <a:extLst>
              <a:ext uri="{FF2B5EF4-FFF2-40B4-BE49-F238E27FC236}">
                <a16:creationId xmlns:a16="http://schemas.microsoft.com/office/drawing/2014/main" id="{1668F8C5-18D6-4E16-B6AC-3AC50EE2484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1344" y="1412776"/>
            <a:ext cx="3280765" cy="424847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CC7D3148-EB8F-4B0A-9D14-9FC3B94A8190}"/>
              </a:ext>
            </a:extLst>
          </p:cNvPr>
          <p:cNvSpPr txBox="1"/>
          <p:nvPr/>
        </p:nvSpPr>
        <p:spPr>
          <a:xfrm>
            <a:off x="551384" y="5733256"/>
            <a:ext cx="2736647" cy="461665"/>
          </a:xfrm>
          <a:prstGeom prst="rect">
            <a:avLst/>
          </a:prstGeom>
          <a:noFill/>
        </p:spPr>
        <p:txBody>
          <a:bodyPr wrap="none" rtlCol="0">
            <a:spAutoFit/>
          </a:bodyPr>
          <a:lstStyle/>
          <a:p>
            <a:r>
              <a:rPr lang="zh-CN" altLang="en-US" sz="2400" dirty="0">
                <a:solidFill>
                  <a:schemeClr val="bg1"/>
                </a:solidFill>
              </a:rPr>
              <a:t>德国数学家 康托尔</a:t>
            </a:r>
          </a:p>
        </p:txBody>
      </p:sp>
      <p:sp>
        <p:nvSpPr>
          <p:cNvPr id="5" name="Rectangle 3">
            <a:extLst>
              <a:ext uri="{FF2B5EF4-FFF2-40B4-BE49-F238E27FC236}">
                <a16:creationId xmlns:a16="http://schemas.microsoft.com/office/drawing/2014/main" id="{AAAA325F-AFC7-4713-9514-7EE016406383}"/>
              </a:ext>
            </a:extLst>
          </p:cNvPr>
          <p:cNvSpPr>
            <a:spLocks noChangeArrowheads="1"/>
          </p:cNvSpPr>
          <p:nvPr/>
        </p:nvSpPr>
        <p:spPr bwMode="auto">
          <a:xfrm>
            <a:off x="3695449" y="4609872"/>
            <a:ext cx="8305208" cy="1661993"/>
          </a:xfrm>
          <a:prstGeom prst="rect">
            <a:avLst/>
          </a:prstGeom>
          <a:noFill/>
          <a:ln>
            <a:noFill/>
          </a:ln>
          <a:effectLst/>
        </p:spPr>
        <p:txBody>
          <a:bodyPr vert="horz" wrap="square" lIns="-19044" tIns="45720" rIns="-19044"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ctr"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rPr>
              <a:t>“</a:t>
            </a:r>
            <a:r>
              <a:rPr kumimoji="0" lang="zh-CN" altLang="zh-CN" sz="2400" b="1" i="0"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rPr>
              <a:t>没有任何人能将我们从康托尔所创造的伊甸园中驱赶出去</a:t>
            </a:r>
            <a:r>
              <a:rPr kumimoji="0" lang="zh-CN" altLang="zh-CN" sz="2400" b="0" i="0"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rPr>
              <a:t>”</a:t>
            </a:r>
            <a:endParaRPr kumimoji="0" lang="en-US" altLang="zh-CN" sz="2400" b="0" i="0"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endParaRPr>
          </a:p>
          <a:p>
            <a:pPr marL="0" marR="0" lvl="0" indent="0" algn="l" defTabSz="914400" rtl="0" eaLnBrk="0" fontAlgn="ctr" latinLnBrk="0" hangingPunct="0">
              <a:lnSpc>
                <a:spcPct val="100000"/>
              </a:lnSpc>
              <a:spcBef>
                <a:spcPct val="0"/>
              </a:spcBef>
              <a:spcAft>
                <a:spcPts val="1200"/>
              </a:spcAft>
              <a:buClrTx/>
              <a:buSzTx/>
              <a:buFontTx/>
              <a:buNone/>
              <a:tabLst/>
            </a:pPr>
            <a:r>
              <a:rPr kumimoji="0" lang="en-US" altLang="zh-CN" sz="2000" b="0" dirty="0">
                <a:solidFill>
                  <a:schemeClr val="bg1"/>
                </a:solidFill>
                <a:latin typeface="微软雅黑" panose="020B0503020204020204" pitchFamily="34" charset="-122"/>
                <a:ea typeface="微软雅黑" panose="020B0503020204020204" pitchFamily="34" charset="-122"/>
              </a:rPr>
              <a:t>                                                                          </a:t>
            </a:r>
            <a:r>
              <a:rPr kumimoji="0" lang="zh-CN" altLang="zh-CN" sz="20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 </a:t>
            </a:r>
            <a:r>
              <a:rPr kumimoji="0" lang="en-US" altLang="zh-CN" sz="20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    </a:t>
            </a:r>
            <a:r>
              <a:rPr kumimoji="0" lang="zh-CN" altLang="zh-CN" sz="20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 大卫·希尔伯特</a:t>
            </a: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   </a:t>
            </a:r>
            <a:r>
              <a:rPr kumimoji="0" lang="zh-CN" altLang="zh-CN"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尽管生前备受争议，但康托尔的集合论最终被广泛接受，</a:t>
            </a:r>
            <a:endParaRPr kumimoji="0" lang="en-US" altLang="zh-CN"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   </a:t>
            </a:r>
            <a:r>
              <a:rPr kumimoji="0" lang="zh-CN" altLang="zh-CN"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并</a:t>
            </a:r>
            <a:r>
              <a:rPr kumimoji="0" lang="zh-CN" altLang="zh-CN" sz="2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成为</a:t>
            </a:r>
            <a:r>
              <a:rPr kumimoji="0" lang="zh-CN" altLang="zh-CN" sz="2400" b="1" i="0"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rPr>
              <a:t>现代数学</a:t>
            </a:r>
            <a:r>
              <a:rPr kumimoji="0" lang="zh-CN" altLang="zh-CN" sz="2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a:t>
            </a:r>
            <a:r>
              <a:rPr kumimoji="0" lang="zh-CN" altLang="zh-CN" sz="2400" b="1" i="0"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rPr>
              <a:t>数理逻辑</a:t>
            </a:r>
            <a:r>
              <a:rPr kumimoji="0" lang="zh-CN" altLang="zh-CN" sz="2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乃至</a:t>
            </a:r>
            <a:r>
              <a:rPr kumimoji="0" lang="zh-CN" altLang="zh-CN" sz="2400" b="1" i="0"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rPr>
              <a:t>计算机科学</a:t>
            </a:r>
            <a:r>
              <a:rPr kumimoji="0" lang="zh-CN" altLang="zh-CN" sz="2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的</a:t>
            </a:r>
            <a:r>
              <a:rPr kumimoji="0" lang="zh-CN" altLang="zh-CN" sz="2400" b="1" i="0"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rPr>
              <a:t>重要基石</a:t>
            </a:r>
            <a:r>
              <a:rPr kumimoji="0" lang="zh-CN" altLang="zh-CN"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828344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7A7E36CB-231D-422E-A312-5C0E5F3B268E}"/>
              </a:ext>
            </a:extLst>
          </p:cNvPr>
          <p:cNvGraphicFramePr>
            <a:graphicFrameLocks noGrp="1"/>
          </p:cNvGraphicFramePr>
          <p:nvPr>
            <p:extLst>
              <p:ext uri="{D42A27DB-BD31-4B8C-83A1-F6EECF244321}">
                <p14:modId xmlns:p14="http://schemas.microsoft.com/office/powerpoint/2010/main" val="4267463418"/>
              </p:ext>
            </p:extLst>
          </p:nvPr>
        </p:nvGraphicFramePr>
        <p:xfrm>
          <a:off x="263352" y="1421066"/>
          <a:ext cx="11665296" cy="4816246"/>
        </p:xfrm>
        <a:graphic>
          <a:graphicData uri="http://schemas.openxmlformats.org/drawingml/2006/table">
            <a:tbl>
              <a:tblPr/>
              <a:tblGrid>
                <a:gridCol w="2304256">
                  <a:extLst>
                    <a:ext uri="{9D8B030D-6E8A-4147-A177-3AD203B41FA5}">
                      <a16:colId xmlns:a16="http://schemas.microsoft.com/office/drawing/2014/main" val="4013932953"/>
                    </a:ext>
                  </a:extLst>
                </a:gridCol>
                <a:gridCol w="9361040">
                  <a:extLst>
                    <a:ext uri="{9D8B030D-6E8A-4147-A177-3AD203B41FA5}">
                      <a16:colId xmlns:a16="http://schemas.microsoft.com/office/drawing/2014/main" val="4220184792"/>
                    </a:ext>
                  </a:extLst>
                </a:gridCol>
              </a:tblGrid>
              <a:tr h="232101">
                <a:tc>
                  <a:txBody>
                    <a:bodyPr/>
                    <a:lstStyle/>
                    <a:p>
                      <a:pPr algn="ctr"/>
                      <a:r>
                        <a:rPr lang="zh-CN" altLang="en-US" sz="2400" b="1" dirty="0">
                          <a:solidFill>
                            <a:schemeClr val="bg1"/>
                          </a:solidFill>
                          <a:effectLst/>
                          <a:latin typeface="微软雅黑" panose="020B0503020204020204" pitchFamily="34" charset="-122"/>
                          <a:ea typeface="微软雅黑" panose="020B0503020204020204" pitchFamily="34" charset="-122"/>
                        </a:rPr>
                        <a:t>贡献</a:t>
                      </a:r>
                    </a:p>
                  </a:txBody>
                  <a:tcPr marL="49736" marR="66314" marT="41447" marB="4144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zh-CN" altLang="en-US" sz="2400" b="1" dirty="0">
                          <a:solidFill>
                            <a:schemeClr val="bg1"/>
                          </a:solidFill>
                          <a:effectLst/>
                          <a:latin typeface="微软雅黑" panose="020B0503020204020204" pitchFamily="34" charset="-122"/>
                          <a:ea typeface="微软雅黑" panose="020B0503020204020204" pitchFamily="34" charset="-122"/>
                        </a:rPr>
                        <a:t>核心内容与意义</a:t>
                      </a:r>
                    </a:p>
                  </a:txBody>
                  <a:tcPr marL="66314" marR="66314" marT="41447" marB="4144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76151116"/>
                  </a:ext>
                </a:extLst>
              </a:tr>
              <a:tr h="679723">
                <a:tc>
                  <a:txBody>
                    <a:bodyPr/>
                    <a:lstStyle/>
                    <a:p>
                      <a:r>
                        <a:rPr lang="zh-CN" altLang="en-US" sz="2200" b="0" dirty="0">
                          <a:solidFill>
                            <a:srgbClr val="FFFF00"/>
                          </a:solidFill>
                          <a:effectLst/>
                          <a:latin typeface="微软雅黑" panose="020B0503020204020204" pitchFamily="34" charset="-122"/>
                          <a:ea typeface="微软雅黑" panose="020B0503020204020204" pitchFamily="34" charset="-122"/>
                        </a:rPr>
                        <a:t>创立集合论基础</a:t>
                      </a:r>
                    </a:p>
                  </a:txBody>
                  <a:tcPr marL="49736" marR="66314" marT="41447" marB="4144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zh-CN" altLang="en-US" sz="2200" b="0" dirty="0">
                          <a:solidFill>
                            <a:schemeClr val="bg1"/>
                          </a:solidFill>
                          <a:effectLst/>
                          <a:latin typeface="微软雅黑" panose="020B0503020204020204" pitchFamily="34" charset="-122"/>
                          <a:ea typeface="微软雅黑" panose="020B0503020204020204" pitchFamily="34" charset="-122"/>
                        </a:rPr>
                        <a:t>首次将“集合”作为基本数学概念进行系统研究，为整个现代数学提供了统一的基础框架。</a:t>
                      </a:r>
                    </a:p>
                  </a:txBody>
                  <a:tcPr marL="66314" marR="49736" marT="41447" marB="4144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38669996"/>
                  </a:ext>
                </a:extLst>
              </a:tr>
              <a:tr h="1127346">
                <a:tc>
                  <a:txBody>
                    <a:bodyPr/>
                    <a:lstStyle/>
                    <a:p>
                      <a:r>
                        <a:rPr lang="zh-CN" altLang="en-US" sz="2200" b="0" dirty="0">
                          <a:solidFill>
                            <a:srgbClr val="FFFF00"/>
                          </a:solidFill>
                          <a:effectLst/>
                          <a:latin typeface="微软雅黑" panose="020B0503020204020204" pitchFamily="34" charset="-122"/>
                          <a:ea typeface="微软雅黑" panose="020B0503020204020204" pitchFamily="34" charset="-122"/>
                        </a:rPr>
                        <a:t>揭示无穷的层次</a:t>
                      </a:r>
                    </a:p>
                  </a:txBody>
                  <a:tcPr marL="49736" marR="66314" marT="41447" marB="4144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zh-CN" altLang="en-US" sz="2200" b="0" dirty="0">
                          <a:solidFill>
                            <a:schemeClr val="bg1"/>
                          </a:solidFill>
                          <a:effectLst/>
                          <a:latin typeface="微软雅黑" panose="020B0503020204020204" pitchFamily="34" charset="-122"/>
                          <a:ea typeface="微软雅黑" panose="020B0503020204020204" pitchFamily="34" charset="-122"/>
                        </a:rPr>
                        <a:t>革命性地提出无穷集合也有大小之分。证明了：</a:t>
                      </a:r>
                      <a:br>
                        <a:rPr lang="zh-CN" altLang="en-US" sz="2200" b="0" dirty="0">
                          <a:solidFill>
                            <a:schemeClr val="bg1"/>
                          </a:solidFill>
                          <a:effectLst/>
                          <a:latin typeface="微软雅黑" panose="020B0503020204020204" pitchFamily="34" charset="-122"/>
                          <a:ea typeface="微软雅黑" panose="020B0503020204020204" pitchFamily="34" charset="-122"/>
                        </a:rPr>
                      </a:br>
                      <a:r>
                        <a:rPr lang="en-US" altLang="zh-CN" sz="2200" b="0" dirty="0">
                          <a:solidFill>
                            <a:schemeClr val="bg1"/>
                          </a:solidFill>
                          <a:effectLst/>
                          <a:latin typeface="微软雅黑" panose="020B0503020204020204" pitchFamily="34" charset="-122"/>
                          <a:ea typeface="微软雅黑" panose="020B0503020204020204" pitchFamily="34" charset="-122"/>
                        </a:rPr>
                        <a:t>1. </a:t>
                      </a:r>
                      <a:r>
                        <a:rPr lang="zh-CN" altLang="en-US" sz="2200" b="0" dirty="0">
                          <a:solidFill>
                            <a:schemeClr val="bg1"/>
                          </a:solidFill>
                          <a:effectLst/>
                          <a:latin typeface="微软雅黑" panose="020B0503020204020204" pitchFamily="34" charset="-122"/>
                          <a:ea typeface="微软雅黑" panose="020B0503020204020204" pitchFamily="34" charset="-122"/>
                        </a:rPr>
                        <a:t>有理数集是可数的（与自然数一样多）。</a:t>
                      </a:r>
                      <a:br>
                        <a:rPr lang="zh-CN" altLang="en-US" sz="2200" b="0" dirty="0">
                          <a:solidFill>
                            <a:schemeClr val="bg1"/>
                          </a:solidFill>
                          <a:effectLst/>
                          <a:latin typeface="微软雅黑" panose="020B0503020204020204" pitchFamily="34" charset="-122"/>
                          <a:ea typeface="微软雅黑" panose="020B0503020204020204" pitchFamily="34" charset="-122"/>
                        </a:rPr>
                      </a:br>
                      <a:r>
                        <a:rPr lang="en-US" altLang="zh-CN" sz="2200" b="0" dirty="0">
                          <a:solidFill>
                            <a:schemeClr val="bg1"/>
                          </a:solidFill>
                          <a:effectLst/>
                          <a:latin typeface="微软雅黑" panose="020B0503020204020204" pitchFamily="34" charset="-122"/>
                          <a:ea typeface="微软雅黑" panose="020B0503020204020204" pitchFamily="34" charset="-122"/>
                        </a:rPr>
                        <a:t>2. </a:t>
                      </a:r>
                      <a:r>
                        <a:rPr lang="zh-CN" altLang="en-US" sz="2200" b="0" dirty="0">
                          <a:solidFill>
                            <a:schemeClr val="bg1"/>
                          </a:solidFill>
                          <a:effectLst/>
                          <a:latin typeface="微软雅黑" panose="020B0503020204020204" pitchFamily="34" charset="-122"/>
                          <a:ea typeface="微软雅黑" panose="020B0503020204020204" pitchFamily="34" charset="-122"/>
                        </a:rPr>
                        <a:t>实数集是不可数的（比自然数“更多”），这被称为“</a:t>
                      </a:r>
                      <a:r>
                        <a:rPr lang="zh-CN" altLang="en-US" sz="2200" b="0" dirty="0">
                          <a:solidFill>
                            <a:srgbClr val="FFFF00"/>
                          </a:solidFill>
                          <a:effectLst/>
                          <a:latin typeface="微软雅黑" panose="020B0503020204020204" pitchFamily="34" charset="-122"/>
                          <a:ea typeface="微软雅黑" panose="020B0503020204020204" pitchFamily="34" charset="-122"/>
                        </a:rPr>
                        <a:t>对角线论证</a:t>
                      </a:r>
                      <a:r>
                        <a:rPr lang="zh-CN" altLang="en-US" sz="2200" b="0" dirty="0">
                          <a:solidFill>
                            <a:schemeClr val="bg1"/>
                          </a:solidFill>
                          <a:effectLst/>
                          <a:latin typeface="微软雅黑" panose="020B0503020204020204" pitchFamily="34" charset="-122"/>
                          <a:ea typeface="微软雅黑" panose="020B0503020204020204" pitchFamily="34" charset="-122"/>
                        </a:rPr>
                        <a:t>”。</a:t>
                      </a:r>
                    </a:p>
                  </a:txBody>
                  <a:tcPr marL="66314" marR="49736" marT="41447" marB="4144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036448259"/>
                  </a:ext>
                </a:extLst>
              </a:tr>
              <a:tr h="828931">
                <a:tc>
                  <a:txBody>
                    <a:bodyPr/>
                    <a:lstStyle/>
                    <a:p>
                      <a:r>
                        <a:rPr lang="zh-CN" altLang="en-US" sz="2200" b="0" dirty="0">
                          <a:solidFill>
                            <a:srgbClr val="FFFF00"/>
                          </a:solidFill>
                          <a:effectLst/>
                          <a:latin typeface="微软雅黑" panose="020B0503020204020204" pitchFamily="34" charset="-122"/>
                          <a:ea typeface="微软雅黑" panose="020B0503020204020204" pitchFamily="34" charset="-122"/>
                        </a:rPr>
                        <a:t>提出超穷数理论</a:t>
                      </a:r>
                    </a:p>
                  </a:txBody>
                  <a:tcPr marL="49736" marR="66314" marT="41447" marB="4144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zh-CN" altLang="en-US" sz="2200" b="0" dirty="0">
                          <a:solidFill>
                            <a:schemeClr val="bg1"/>
                          </a:solidFill>
                          <a:effectLst/>
                          <a:latin typeface="微软雅黑" panose="020B0503020204020204" pitchFamily="34" charset="-122"/>
                          <a:ea typeface="微软雅黑" panose="020B0503020204020204" pitchFamily="34" charset="-122"/>
                        </a:rPr>
                        <a:t>引入了超穷基数和超穷序数的概念，建立了一套完整的无穷数学理论，彻底改变了人们对“无限”的认识。</a:t>
                      </a:r>
                    </a:p>
                  </a:txBody>
                  <a:tcPr marL="66314" marR="49736" marT="41447" marB="4144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193280317"/>
                  </a:ext>
                </a:extLst>
              </a:tr>
              <a:tr h="978138">
                <a:tc>
                  <a:txBody>
                    <a:bodyPr/>
                    <a:lstStyle/>
                    <a:p>
                      <a:r>
                        <a:rPr lang="zh-CN" altLang="en-US" sz="2200" b="0" dirty="0">
                          <a:solidFill>
                            <a:srgbClr val="FFFF00"/>
                          </a:solidFill>
                          <a:effectLst/>
                          <a:latin typeface="微软雅黑" panose="020B0503020204020204" pitchFamily="34" charset="-122"/>
                          <a:ea typeface="微软雅黑" panose="020B0503020204020204" pitchFamily="34" charset="-122"/>
                        </a:rPr>
                        <a:t>提出连续统假设</a:t>
                      </a:r>
                    </a:p>
                  </a:txBody>
                  <a:tcPr marL="49736" marR="66314" marT="41447" marB="4144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zh-CN" altLang="en-US" sz="2200" b="0" dirty="0">
                          <a:solidFill>
                            <a:schemeClr val="bg1"/>
                          </a:solidFill>
                          <a:effectLst/>
                          <a:latin typeface="微软雅黑" panose="020B0503020204020204" pitchFamily="34" charset="-122"/>
                          <a:ea typeface="微软雅黑" panose="020B0503020204020204" pitchFamily="34" charset="-122"/>
                        </a:rPr>
                        <a:t>猜想在可数无穷（如自然数）和不可数无穷（如实数）之间不存在其他大小的无穷集合。</a:t>
                      </a:r>
                      <a:r>
                        <a:rPr lang="zh-CN" altLang="en-US" sz="2200" b="0" dirty="0">
                          <a:solidFill>
                            <a:srgbClr val="FFFF00"/>
                          </a:solidFill>
                          <a:effectLst/>
                          <a:latin typeface="微软雅黑" panose="020B0503020204020204" pitchFamily="34" charset="-122"/>
                          <a:ea typeface="微软雅黑" panose="020B0503020204020204" pitchFamily="34" charset="-122"/>
                        </a:rPr>
                        <a:t>该猜想是</a:t>
                      </a:r>
                      <a:r>
                        <a:rPr lang="en-US" altLang="zh-CN" sz="2200" b="0" dirty="0">
                          <a:solidFill>
                            <a:srgbClr val="FFFF00"/>
                          </a:solidFill>
                          <a:effectLst/>
                          <a:latin typeface="微软雅黑" panose="020B0503020204020204" pitchFamily="34" charset="-122"/>
                          <a:ea typeface="微软雅黑" panose="020B0503020204020204" pitchFamily="34" charset="-122"/>
                        </a:rPr>
                        <a:t>20</a:t>
                      </a:r>
                      <a:r>
                        <a:rPr lang="zh-CN" altLang="en-US" sz="2200" b="0" dirty="0">
                          <a:solidFill>
                            <a:srgbClr val="FFFF00"/>
                          </a:solidFill>
                          <a:effectLst/>
                          <a:latin typeface="微软雅黑" panose="020B0503020204020204" pitchFamily="34" charset="-122"/>
                          <a:ea typeface="微软雅黑" panose="020B0503020204020204" pitchFamily="34" charset="-122"/>
                        </a:rPr>
                        <a:t>世纪数学的重大难题之一</a:t>
                      </a:r>
                      <a:r>
                        <a:rPr lang="zh-CN" altLang="en-US" sz="2200" b="0" dirty="0">
                          <a:solidFill>
                            <a:schemeClr val="bg1"/>
                          </a:solidFill>
                          <a:effectLst/>
                          <a:latin typeface="微软雅黑" panose="020B0503020204020204" pitchFamily="34" charset="-122"/>
                          <a:ea typeface="微软雅黑" panose="020B0503020204020204" pitchFamily="34" charset="-122"/>
                        </a:rPr>
                        <a:t>。</a:t>
                      </a:r>
                    </a:p>
                  </a:txBody>
                  <a:tcPr marL="66314" marR="49736" marT="41447" marB="4144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30432091"/>
                  </a:ext>
                </a:extLst>
              </a:tr>
              <a:tr h="679723">
                <a:tc>
                  <a:txBody>
                    <a:bodyPr/>
                    <a:lstStyle/>
                    <a:p>
                      <a:r>
                        <a:rPr lang="zh-CN" altLang="en-US" sz="2200" b="0" dirty="0">
                          <a:solidFill>
                            <a:srgbClr val="FFFF00"/>
                          </a:solidFill>
                          <a:effectLst/>
                          <a:latin typeface="微软雅黑" panose="020B0503020204020204" pitchFamily="34" charset="-122"/>
                          <a:ea typeface="微软雅黑" panose="020B0503020204020204" pitchFamily="34" charset="-122"/>
                        </a:rPr>
                        <a:t>推动分析严格化</a:t>
                      </a:r>
                    </a:p>
                  </a:txBody>
                  <a:tcPr marL="49736" marR="66314" marT="41447" marB="4144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zh-CN" altLang="en-US" sz="2200" b="0" dirty="0">
                          <a:solidFill>
                            <a:schemeClr val="bg1"/>
                          </a:solidFill>
                          <a:effectLst/>
                          <a:latin typeface="微软雅黑" panose="020B0503020204020204" pitchFamily="34" charset="-122"/>
                          <a:ea typeface="微软雅黑" panose="020B0503020204020204" pitchFamily="34" charset="-122"/>
                        </a:rPr>
                        <a:t>他的工作（如用有理数列定义无理数）为微积分奠定了严格的实数理论基础。</a:t>
                      </a:r>
                    </a:p>
                  </a:txBody>
                  <a:tcPr marL="66314" marR="49736" marT="41447" marB="4144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31167764"/>
                  </a:ext>
                </a:extLst>
              </a:tr>
            </a:tbl>
          </a:graphicData>
        </a:graphic>
      </p:graphicFrame>
      <p:sp>
        <p:nvSpPr>
          <p:cNvPr id="6" name="标题 1">
            <a:extLst>
              <a:ext uri="{FF2B5EF4-FFF2-40B4-BE49-F238E27FC236}">
                <a16:creationId xmlns:a16="http://schemas.microsoft.com/office/drawing/2014/main" id="{12274AD4-2AA6-43CF-A05D-BB9142D9CE2B}"/>
              </a:ext>
            </a:extLst>
          </p:cNvPr>
          <p:cNvSpPr>
            <a:spLocks noGrp="1"/>
          </p:cNvSpPr>
          <p:nvPr>
            <p:ph type="title"/>
          </p:nvPr>
        </p:nvSpPr>
        <p:spPr>
          <a:xfrm>
            <a:off x="4511824" y="50195"/>
            <a:ext cx="6840760" cy="1143000"/>
          </a:xfrm>
        </p:spPr>
        <p:txBody>
          <a:bodyPr/>
          <a:lstStyle/>
          <a:p>
            <a:r>
              <a:rPr lang="zh-CN" altLang="en-US" dirty="0">
                <a:latin typeface="微软雅黑" panose="020B0503020204020204" pitchFamily="34" charset="-122"/>
                <a:ea typeface="微软雅黑" panose="020B0503020204020204" pitchFamily="34" charset="-122"/>
              </a:rPr>
              <a:t>康托尔</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集合论的奠基人</a:t>
            </a:r>
          </a:p>
        </p:txBody>
      </p:sp>
    </p:spTree>
    <p:extLst>
      <p:ext uri="{BB962C8B-B14F-4D97-AF65-F5344CB8AC3E}">
        <p14:creationId xmlns:p14="http://schemas.microsoft.com/office/powerpoint/2010/main" val="2074868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985124-12BB-425A-BB8D-712E5106775E}"/>
              </a:ext>
            </a:extLst>
          </p:cNvPr>
          <p:cNvSpPr>
            <a:spLocks noGrp="1"/>
          </p:cNvSpPr>
          <p:nvPr>
            <p:ph type="title"/>
          </p:nvPr>
        </p:nvSpPr>
        <p:spPr>
          <a:xfrm>
            <a:off x="2999656" y="44624"/>
            <a:ext cx="8884568" cy="1143000"/>
          </a:xfrm>
        </p:spPr>
        <p:txBody>
          <a:bodyPr/>
          <a:lstStyle/>
          <a:p>
            <a:r>
              <a:rPr lang="zh-CN" altLang="en-US" dirty="0"/>
              <a:t>      </a:t>
            </a:r>
            <a:r>
              <a:rPr lang="zh-CN" altLang="en-US" dirty="0">
                <a:latin typeface="微软雅黑" panose="020B0503020204020204" pitchFamily="34" charset="-122"/>
                <a:ea typeface="微软雅黑" panose="020B0503020204020204" pitchFamily="34" charset="-122"/>
              </a:rPr>
              <a:t>集合论发展史（继续）</a:t>
            </a:r>
          </a:p>
        </p:txBody>
      </p:sp>
      <p:sp>
        <p:nvSpPr>
          <p:cNvPr id="3" name="内容占位符 2">
            <a:extLst>
              <a:ext uri="{FF2B5EF4-FFF2-40B4-BE49-F238E27FC236}">
                <a16:creationId xmlns:a16="http://schemas.microsoft.com/office/drawing/2014/main" id="{408F4578-C9CB-45E8-9B31-13E57828AC83}"/>
              </a:ext>
            </a:extLst>
          </p:cNvPr>
          <p:cNvSpPr>
            <a:spLocks noGrp="1"/>
          </p:cNvSpPr>
          <p:nvPr>
            <p:ph idx="1"/>
          </p:nvPr>
        </p:nvSpPr>
        <p:spPr>
          <a:xfrm>
            <a:off x="458688" y="1628800"/>
            <a:ext cx="11274624" cy="4525963"/>
          </a:xfrm>
        </p:spPr>
        <p:txBody>
          <a:bodyPr/>
          <a:lstStyle/>
          <a:p>
            <a:pPr>
              <a:buFont typeface="Wingdings" panose="05000000000000000000" pitchFamily="2" charset="2"/>
              <a:buChar char="Ø"/>
            </a:pPr>
            <a:r>
              <a:rPr lang="en-US" altLang="zh-CN" dirty="0">
                <a:solidFill>
                  <a:srgbClr val="FFFF00"/>
                </a:solidFill>
                <a:latin typeface="微软雅黑" panose="020B0503020204020204" pitchFamily="34" charset="-122"/>
                <a:ea typeface="微软雅黑" panose="020B0503020204020204" pitchFamily="34" charset="-122"/>
              </a:rPr>
              <a:t>1900</a:t>
            </a:r>
            <a:r>
              <a:rPr lang="zh-CN" altLang="en-US" dirty="0">
                <a:solidFill>
                  <a:srgbClr val="FFFF00"/>
                </a:solidFill>
                <a:latin typeface="微软雅黑" panose="020B0503020204020204" pitchFamily="34" charset="-122"/>
                <a:ea typeface="微软雅黑" panose="020B0503020204020204" pitchFamily="34" charset="-122"/>
              </a:rPr>
              <a:t>年前后，出现了许多悖论，有力冲击了集合论的发展</a:t>
            </a:r>
            <a:endParaRPr lang="en-US" altLang="zh-CN" sz="2800" dirty="0">
              <a:latin typeface="微软雅黑" panose="020B0503020204020204" pitchFamily="34" charset="-122"/>
              <a:ea typeface="微软雅黑" panose="020B0503020204020204" pitchFamily="34" charset="-122"/>
            </a:endParaRPr>
          </a:p>
          <a:p>
            <a:pPr marL="0" indent="0">
              <a:buNone/>
            </a:pPr>
            <a:endParaRPr lang="en-US" altLang="zh-CN" sz="2400" dirty="0">
              <a:latin typeface="微软雅黑" panose="020B0503020204020204" pitchFamily="34" charset="-122"/>
              <a:ea typeface="微软雅黑" panose="020B0503020204020204" pitchFamily="34" charset="-122"/>
            </a:endParaRPr>
          </a:p>
          <a:p>
            <a:pPr>
              <a:buFont typeface="Wingdings" panose="05000000000000000000" pitchFamily="2" charset="2"/>
              <a:buChar char="Ø"/>
            </a:pPr>
            <a:r>
              <a:rPr lang="zh-CN" altLang="en-US" dirty="0">
                <a:solidFill>
                  <a:srgbClr val="FFFF00"/>
                </a:solidFill>
                <a:latin typeface="微软雅黑" panose="020B0503020204020204" pitchFamily="34" charset="-122"/>
                <a:ea typeface="微软雅黑" panose="020B0503020204020204" pitchFamily="34" charset="-122"/>
              </a:rPr>
              <a:t>著名的罗素悖论</a:t>
            </a:r>
            <a:endParaRPr lang="en-US" altLang="zh-CN" dirty="0">
              <a:solidFill>
                <a:srgbClr val="FFFF00"/>
              </a:solidFill>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1902</a:t>
            </a:r>
            <a:r>
              <a:rPr lang="zh-CN" altLang="en-US" sz="2800" dirty="0">
                <a:latin typeface="微软雅黑" panose="020B0503020204020204" pitchFamily="34" charset="-122"/>
                <a:ea typeface="微软雅黑" panose="020B0503020204020204" pitchFamily="34" charset="-122"/>
              </a:rPr>
              <a:t>年，受到“理发师悖论”的启发而提出。</a:t>
            </a:r>
            <a:endParaRPr lang="en-US" altLang="zh-CN" sz="2800" dirty="0">
              <a:latin typeface="微软雅黑" panose="020B0503020204020204" pitchFamily="34" charset="-122"/>
              <a:ea typeface="微软雅黑" panose="020B0503020204020204" pitchFamily="34" charset="-122"/>
            </a:endParaRPr>
          </a:p>
          <a:p>
            <a:pPr marL="0" indent="0">
              <a:buNone/>
            </a:pPr>
            <a:endParaRPr lang="en-US" altLang="zh-CN" sz="2800" dirty="0">
              <a:latin typeface="微软雅黑" panose="020B0503020204020204" pitchFamily="34" charset="-122"/>
              <a:ea typeface="微软雅黑" panose="020B0503020204020204" pitchFamily="34" charset="-122"/>
            </a:endParaRPr>
          </a:p>
          <a:p>
            <a:pPr marL="0" indent="0">
              <a:buNone/>
            </a:pPr>
            <a:r>
              <a:rPr lang="zh-CN" altLang="en-US" sz="2800" dirty="0">
                <a:latin typeface="微软雅黑" panose="020B0503020204020204" pitchFamily="34" charset="-122"/>
                <a:ea typeface="微软雅黑" panose="020B0503020204020204" pitchFamily="34" charset="-122"/>
              </a:rPr>
              <a:t>理发师悖论：“一个理发师宣称，他不给自己刮脸的人刮脸，但给所有不自己刮脸的人刮脸”，人们问：“理发师先生，您自己的脸谁刮？”</a:t>
            </a:r>
          </a:p>
        </p:txBody>
      </p:sp>
    </p:spTree>
    <p:extLst>
      <p:ext uri="{BB962C8B-B14F-4D97-AF65-F5344CB8AC3E}">
        <p14:creationId xmlns:p14="http://schemas.microsoft.com/office/powerpoint/2010/main" val="2939945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985124-12BB-425A-BB8D-712E5106775E}"/>
              </a:ext>
            </a:extLst>
          </p:cNvPr>
          <p:cNvSpPr>
            <a:spLocks noGrp="1"/>
          </p:cNvSpPr>
          <p:nvPr>
            <p:ph type="title"/>
          </p:nvPr>
        </p:nvSpPr>
        <p:spPr>
          <a:xfrm>
            <a:off x="2999656" y="44624"/>
            <a:ext cx="8884568" cy="1143000"/>
          </a:xfrm>
        </p:spPr>
        <p:txBody>
          <a:bodyPr/>
          <a:lstStyle/>
          <a:p>
            <a:r>
              <a:rPr lang="zh-CN" altLang="en-US" dirty="0"/>
              <a:t>      </a:t>
            </a:r>
            <a:r>
              <a:rPr lang="zh-CN" altLang="en-US" dirty="0">
                <a:latin typeface="微软雅黑" panose="020B0503020204020204" pitchFamily="34" charset="-122"/>
                <a:ea typeface="微软雅黑" panose="020B0503020204020204" pitchFamily="34" charset="-122"/>
              </a:rPr>
              <a:t>集合论发展史（继续）</a:t>
            </a:r>
          </a:p>
        </p:txBody>
      </p:sp>
      <p:sp>
        <p:nvSpPr>
          <p:cNvPr id="3" name="内容占位符 2">
            <a:extLst>
              <a:ext uri="{FF2B5EF4-FFF2-40B4-BE49-F238E27FC236}">
                <a16:creationId xmlns:a16="http://schemas.microsoft.com/office/drawing/2014/main" id="{408F4578-C9CB-45E8-9B31-13E57828AC83}"/>
              </a:ext>
            </a:extLst>
          </p:cNvPr>
          <p:cNvSpPr>
            <a:spLocks noGrp="1"/>
          </p:cNvSpPr>
          <p:nvPr>
            <p:ph idx="1"/>
          </p:nvPr>
        </p:nvSpPr>
        <p:spPr>
          <a:xfrm>
            <a:off x="515380" y="1556793"/>
            <a:ext cx="11161240" cy="2952328"/>
          </a:xfrm>
        </p:spPr>
        <p:txBody>
          <a:bodyPr/>
          <a:lstStyle/>
          <a:p>
            <a:pPr>
              <a:spcAft>
                <a:spcPts val="24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由于朴素集合论产生了悖论，促进了集合论公理化的工作：</a:t>
            </a:r>
            <a:endParaRPr lang="en-US" altLang="zh-CN" dirty="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en-US" altLang="zh-CN" sz="2800" dirty="0">
                <a:solidFill>
                  <a:srgbClr val="FFFF00"/>
                </a:solidFill>
                <a:latin typeface="微软雅黑" panose="020B0503020204020204" pitchFamily="34" charset="-122"/>
                <a:ea typeface="微软雅黑" panose="020B0503020204020204" pitchFamily="34" charset="-122"/>
              </a:rPr>
              <a:t>ZF</a:t>
            </a:r>
            <a:r>
              <a:rPr lang="zh-CN" altLang="en-US" sz="2800" dirty="0">
                <a:solidFill>
                  <a:srgbClr val="FFFF00"/>
                </a:solidFill>
                <a:latin typeface="微软雅黑" panose="020B0503020204020204" pitchFamily="34" charset="-122"/>
                <a:ea typeface="微软雅黑" panose="020B0503020204020204" pitchFamily="34" charset="-122"/>
              </a:rPr>
              <a:t>公理集合论系统，加入选择公理的系统成为</a:t>
            </a:r>
            <a:r>
              <a:rPr lang="en-US" altLang="zh-CN" sz="2800" dirty="0">
                <a:solidFill>
                  <a:srgbClr val="FFFF00"/>
                </a:solidFill>
                <a:latin typeface="微软雅黑" panose="020B0503020204020204" pitchFamily="34" charset="-122"/>
                <a:ea typeface="微软雅黑" panose="020B0503020204020204" pitchFamily="34" charset="-122"/>
              </a:rPr>
              <a:t>ZFC</a:t>
            </a:r>
          </a:p>
          <a:p>
            <a:pPr marL="360000" indent="-457200">
              <a:buNone/>
            </a:pPr>
            <a:r>
              <a:rPr lang="zh-CN" altLang="en-US" sz="2400" dirty="0">
                <a:latin typeface="微软雅黑" panose="020B0503020204020204" pitchFamily="34" charset="-122"/>
                <a:ea typeface="微软雅黑" panose="020B0503020204020204" pitchFamily="34" charset="-122"/>
              </a:rPr>
              <a:t>    德国数学家策梅洛（</a:t>
            </a:r>
            <a:r>
              <a:rPr lang="en-US" altLang="zh-CN" sz="2400" dirty="0" err="1">
                <a:latin typeface="微软雅黑" panose="020B0503020204020204" pitchFamily="34" charset="-122"/>
                <a:ea typeface="微软雅黑" panose="020B0503020204020204" pitchFamily="34" charset="-122"/>
              </a:rPr>
              <a:t>E.Zermelo</a:t>
            </a:r>
            <a:r>
              <a:rPr lang="zh-CN" altLang="en-US" sz="2400" dirty="0">
                <a:latin typeface="微软雅黑" panose="020B0503020204020204" pitchFamily="34" charset="-122"/>
                <a:ea typeface="微软雅黑" panose="020B0503020204020204" pitchFamily="34" charset="-122"/>
              </a:rPr>
              <a:t>）于</a:t>
            </a:r>
            <a:r>
              <a:rPr lang="en-US" altLang="zh-CN" sz="2400" dirty="0">
                <a:latin typeface="微软雅黑" panose="020B0503020204020204" pitchFamily="34" charset="-122"/>
                <a:ea typeface="微软雅黑" panose="020B0503020204020204" pitchFamily="34" charset="-122"/>
              </a:rPr>
              <a:t>1908</a:t>
            </a:r>
            <a:r>
              <a:rPr lang="zh-CN" altLang="en-US" sz="2400" dirty="0">
                <a:latin typeface="微软雅黑" panose="020B0503020204020204" pitchFamily="34" charset="-122"/>
                <a:ea typeface="微软雅黑" panose="020B0503020204020204" pitchFamily="34" charset="-122"/>
              </a:rPr>
              <a:t>年首先建立，由以色列数学家弗兰克尔</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A.A.Fraenkel</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等学者于</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世纪</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年代加以改进。</a:t>
            </a:r>
            <a:endParaRPr lang="en-US" altLang="zh-CN" sz="2400" dirty="0">
              <a:latin typeface="微软雅黑" panose="020B0503020204020204" pitchFamily="34" charset="-122"/>
              <a:ea typeface="微软雅黑" panose="020B0503020204020204" pitchFamily="34" charset="-122"/>
            </a:endParaRPr>
          </a:p>
          <a:p>
            <a:pPr marL="360000" indent="-457200">
              <a:buNone/>
            </a:pPr>
            <a:endParaRPr lang="en-US" altLang="zh-CN" sz="2400" dirty="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2800" dirty="0">
                <a:solidFill>
                  <a:srgbClr val="FFFF00"/>
                </a:solidFill>
                <a:latin typeface="微软雅黑" panose="020B0503020204020204" pitchFamily="34" charset="-122"/>
                <a:ea typeface="微软雅黑" panose="020B0503020204020204" pitchFamily="34" charset="-122"/>
              </a:rPr>
              <a:t>冯</a:t>
            </a:r>
            <a:r>
              <a:rPr lang="en-US" altLang="zh-CN" sz="2800" dirty="0">
                <a:solidFill>
                  <a:srgbClr val="FFFF00"/>
                </a:solidFill>
                <a:latin typeface="微软雅黑" panose="020B0503020204020204" pitchFamily="34" charset="-122"/>
                <a:ea typeface="微软雅黑" panose="020B0503020204020204" pitchFamily="34" charset="-122"/>
              </a:rPr>
              <a:t>·</a:t>
            </a:r>
            <a:r>
              <a:rPr lang="zh-CN" altLang="en-US" sz="2800" dirty="0">
                <a:solidFill>
                  <a:srgbClr val="FFFF00"/>
                </a:solidFill>
                <a:latin typeface="微软雅黑" panose="020B0503020204020204" pitchFamily="34" charset="-122"/>
                <a:ea typeface="微软雅黑" panose="020B0503020204020204" pitchFamily="34" charset="-122"/>
              </a:rPr>
              <a:t>诺伊曼</a:t>
            </a:r>
            <a:r>
              <a:rPr lang="en-US" altLang="zh-CN" sz="2800" dirty="0">
                <a:solidFill>
                  <a:srgbClr val="FFFF00"/>
                </a:solidFill>
                <a:latin typeface="微软雅黑" panose="020B0503020204020204" pitchFamily="34" charset="-122"/>
                <a:ea typeface="微软雅黑" panose="020B0503020204020204" pitchFamily="34" charset="-122"/>
              </a:rPr>
              <a:t>-</a:t>
            </a:r>
            <a:r>
              <a:rPr lang="zh-CN" altLang="en-US" sz="2800" dirty="0">
                <a:solidFill>
                  <a:srgbClr val="FFFF00"/>
                </a:solidFill>
                <a:latin typeface="微软雅黑" panose="020B0503020204020204" pitchFamily="34" charset="-122"/>
                <a:ea typeface="微软雅黑" panose="020B0503020204020204" pitchFamily="34" charset="-122"/>
              </a:rPr>
              <a:t>贝尔纳斯</a:t>
            </a:r>
            <a:r>
              <a:rPr lang="en-US" altLang="zh-CN" sz="2800" dirty="0">
                <a:solidFill>
                  <a:srgbClr val="FFFF00"/>
                </a:solidFill>
                <a:latin typeface="微软雅黑" panose="020B0503020204020204" pitchFamily="34" charset="-122"/>
                <a:ea typeface="微软雅黑" panose="020B0503020204020204" pitchFamily="34" charset="-122"/>
              </a:rPr>
              <a:t>-</a:t>
            </a:r>
            <a:r>
              <a:rPr lang="zh-CN" altLang="en-US" sz="2800" dirty="0">
                <a:solidFill>
                  <a:srgbClr val="FFFF00"/>
                </a:solidFill>
                <a:latin typeface="微软雅黑" panose="020B0503020204020204" pitchFamily="34" charset="-122"/>
                <a:ea typeface="微软雅黑" panose="020B0503020204020204" pitchFamily="34" charset="-122"/>
              </a:rPr>
              <a:t>哥德尔公理系统</a:t>
            </a:r>
            <a:r>
              <a:rPr lang="en-US" altLang="zh-CN" sz="2800" dirty="0">
                <a:solidFill>
                  <a:srgbClr val="FFFF00"/>
                </a:solidFill>
                <a:latin typeface="微软雅黑" panose="020B0503020204020204" pitchFamily="34" charset="-122"/>
                <a:ea typeface="微软雅黑" panose="020B0503020204020204" pitchFamily="34" charset="-122"/>
              </a:rPr>
              <a:t>-NBG</a:t>
            </a:r>
            <a:r>
              <a:rPr lang="zh-CN" altLang="en-US" sz="2800" dirty="0">
                <a:solidFill>
                  <a:srgbClr val="FFFF00"/>
                </a:solidFill>
                <a:latin typeface="微软雅黑" panose="020B0503020204020204" pitchFamily="34" charset="-122"/>
                <a:ea typeface="微软雅黑" panose="020B0503020204020204" pitchFamily="34" charset="-122"/>
              </a:rPr>
              <a:t>系统</a:t>
            </a:r>
            <a:endParaRPr lang="en-US" altLang="zh-CN" sz="2800" dirty="0">
              <a:solidFill>
                <a:srgbClr val="FFFF00"/>
              </a:solidFill>
              <a:latin typeface="微软雅黑" panose="020B0503020204020204" pitchFamily="34" charset="-122"/>
              <a:ea typeface="微软雅黑" panose="020B0503020204020204" pitchFamily="34" charset="-122"/>
            </a:endParaRPr>
          </a:p>
          <a:p>
            <a:pPr>
              <a:buFont typeface="Arial" panose="020B0604020202020204" pitchFamily="34" charset="0"/>
              <a:buChar char="•"/>
            </a:pPr>
            <a:endParaRPr lang="en-US" altLang="zh-CN" sz="2400" dirty="0">
              <a:solidFill>
                <a:srgbClr val="FFFF00"/>
              </a:solidFill>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2800" dirty="0">
                <a:solidFill>
                  <a:srgbClr val="FFFF00"/>
                </a:solidFill>
                <a:latin typeface="微软雅黑" panose="020B0503020204020204" pitchFamily="34" charset="-122"/>
                <a:ea typeface="微软雅黑" panose="020B0503020204020204" pitchFamily="34" charset="-122"/>
              </a:rPr>
              <a:t>本课程主要介绍康托尔的朴素集合论的工作</a:t>
            </a:r>
            <a:endParaRPr lang="en-US" altLang="zh-CN" sz="2800"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87841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27848" y="44624"/>
            <a:ext cx="5976664" cy="1143000"/>
          </a:xfrm>
        </p:spPr>
        <p:txBody>
          <a:bodyPr/>
          <a:lstStyle/>
          <a:p>
            <a:r>
              <a:rPr lang="en-US" altLang="zh-CN" dirty="0">
                <a:latin typeface="微软雅黑" panose="020B0503020204020204" pitchFamily="34" charset="-122"/>
                <a:ea typeface="微软雅黑" panose="020B0503020204020204" pitchFamily="34" charset="-122"/>
              </a:rPr>
              <a:t>1.1 </a:t>
            </a:r>
            <a:r>
              <a:rPr lang="zh-CN" altLang="en-US" dirty="0">
                <a:latin typeface="微软雅黑" panose="020B0503020204020204" pitchFamily="34" charset="-122"/>
                <a:ea typeface="微软雅黑" panose="020B0503020204020204" pitchFamily="34" charset="-122"/>
              </a:rPr>
              <a:t>集合的概念和术语</a:t>
            </a:r>
          </a:p>
        </p:txBody>
      </p:sp>
      <p:sp>
        <p:nvSpPr>
          <p:cNvPr id="6" name="Rectangle 3"/>
          <p:cNvSpPr txBox="1">
            <a:spLocks noChangeArrowheads="1"/>
          </p:cNvSpPr>
          <p:nvPr/>
        </p:nvSpPr>
        <p:spPr bwMode="auto">
          <a:xfrm>
            <a:off x="1559496" y="2060848"/>
            <a:ext cx="8374062" cy="3744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bg1"/>
                </a:solidFill>
                <a:latin typeface="+mn-lt"/>
                <a:ea typeface="+mn-ea"/>
                <a:cs typeface="+mn-cs"/>
              </a:defRPr>
            </a:lvl1pPr>
            <a:lvl2pPr marL="742950" indent="-285750" algn="l" rtl="0" eaLnBrk="0" fontAlgn="base" hangingPunct="0">
              <a:spcBef>
                <a:spcPct val="20000"/>
              </a:spcBef>
              <a:spcAft>
                <a:spcPct val="0"/>
              </a:spcAft>
              <a:buChar char="–"/>
              <a:defRPr sz="2800">
                <a:solidFill>
                  <a:schemeClr val="bg1"/>
                </a:solidFill>
                <a:latin typeface="+mn-lt"/>
                <a:ea typeface="+mn-ea"/>
              </a:defRPr>
            </a:lvl2pPr>
            <a:lvl3pPr marL="1143000" indent="-228600" algn="l" rtl="0" eaLnBrk="0" fontAlgn="base" hangingPunct="0">
              <a:spcBef>
                <a:spcPct val="20000"/>
              </a:spcBef>
              <a:spcAft>
                <a:spcPct val="0"/>
              </a:spcAft>
              <a:buChar char="•"/>
              <a:defRPr sz="2400">
                <a:solidFill>
                  <a:schemeClr val="bg1"/>
                </a:solidFill>
                <a:latin typeface="+mn-lt"/>
                <a:ea typeface="+mn-ea"/>
              </a:defRPr>
            </a:lvl3pPr>
            <a:lvl4pPr marL="1600200" indent="-228600" algn="l" rtl="0" eaLnBrk="0" fontAlgn="base" hangingPunct="0">
              <a:spcBef>
                <a:spcPct val="20000"/>
              </a:spcBef>
              <a:spcAft>
                <a:spcPct val="0"/>
              </a:spcAft>
              <a:buChar char="–"/>
              <a:defRPr sz="2000">
                <a:solidFill>
                  <a:schemeClr val="bg1"/>
                </a:solidFill>
                <a:latin typeface="+mn-lt"/>
                <a:ea typeface="+mn-ea"/>
              </a:defRPr>
            </a:lvl4pPr>
            <a:lvl5pPr marL="2057400" indent="-228600" algn="l" rtl="0" eaLnBrk="0" fontAlgn="base" hangingPunct="0">
              <a:spcBef>
                <a:spcPct val="20000"/>
              </a:spcBef>
              <a:spcAft>
                <a:spcPct val="0"/>
              </a:spcAft>
              <a:buChar char="»"/>
              <a:defRPr sz="2000">
                <a:solidFill>
                  <a:schemeClr val="bg1"/>
                </a:solidFill>
                <a:latin typeface="+mn-lt"/>
                <a:ea typeface="+mn-ea"/>
              </a:defRPr>
            </a:lvl5pPr>
            <a:lvl6pPr marL="2514600" indent="-228600" algn="l" rtl="0" fontAlgn="base">
              <a:spcBef>
                <a:spcPct val="20000"/>
              </a:spcBef>
              <a:spcAft>
                <a:spcPct val="0"/>
              </a:spcAft>
              <a:buChar char="»"/>
              <a:defRPr sz="2000">
                <a:solidFill>
                  <a:schemeClr val="bg1"/>
                </a:solidFill>
                <a:latin typeface="+mn-lt"/>
                <a:ea typeface="+mn-ea"/>
              </a:defRPr>
            </a:lvl6pPr>
            <a:lvl7pPr marL="2971800" indent="-228600" algn="l" rtl="0" fontAlgn="base">
              <a:spcBef>
                <a:spcPct val="20000"/>
              </a:spcBef>
              <a:spcAft>
                <a:spcPct val="0"/>
              </a:spcAft>
              <a:buChar char="»"/>
              <a:defRPr sz="2000">
                <a:solidFill>
                  <a:schemeClr val="bg1"/>
                </a:solidFill>
                <a:latin typeface="+mn-lt"/>
                <a:ea typeface="+mn-ea"/>
              </a:defRPr>
            </a:lvl7pPr>
            <a:lvl8pPr marL="3429000" indent="-228600" algn="l" rtl="0" fontAlgn="base">
              <a:spcBef>
                <a:spcPct val="20000"/>
              </a:spcBef>
              <a:spcAft>
                <a:spcPct val="0"/>
              </a:spcAft>
              <a:buChar char="»"/>
              <a:defRPr sz="2000">
                <a:solidFill>
                  <a:schemeClr val="bg1"/>
                </a:solidFill>
                <a:latin typeface="+mn-lt"/>
                <a:ea typeface="+mn-ea"/>
              </a:defRPr>
            </a:lvl8pPr>
            <a:lvl9pPr marL="3886200" indent="-228600" algn="l" rtl="0" fontAlgn="base">
              <a:spcBef>
                <a:spcPct val="20000"/>
              </a:spcBef>
              <a:spcAft>
                <a:spcPct val="0"/>
              </a:spcAft>
              <a:buChar char="»"/>
              <a:defRPr sz="2000">
                <a:solidFill>
                  <a:schemeClr val="bg1"/>
                </a:solidFill>
                <a:latin typeface="+mn-lt"/>
                <a:ea typeface="+mn-ea"/>
              </a:defRPr>
            </a:lvl9pPr>
          </a:lstStyle>
          <a:p>
            <a:pPr marL="812800" indent="-812800" eaLnBrk="1" hangingPunct="1">
              <a:lnSpc>
                <a:spcPct val="150000"/>
              </a:lnSpc>
              <a:defRPr/>
            </a:pPr>
            <a:r>
              <a:rPr kumimoji="0" lang="zh-CN" altLang="en-US" sz="2800" b="0" kern="0" dirty="0">
                <a:latin typeface="Times New Roman" panose="02020603050405020304" pitchFamily="18" charset="0"/>
                <a:ea typeface="微软雅黑" panose="020B0503020204020204" pitchFamily="34" charset="-122"/>
                <a:cs typeface="Times New Roman" panose="02020603050405020304" pitchFamily="18" charset="0"/>
              </a:rPr>
              <a:t>集合是最基本的数学概念</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800" b="0" kern="0" dirty="0">
                <a:latin typeface="Times New Roman" panose="02020603050405020304" pitchFamily="18" charset="0"/>
                <a:ea typeface="微软雅黑" panose="020B0503020204020204" pitchFamily="34" charset="-122"/>
                <a:cs typeface="Times New Roman" panose="02020603050405020304" pitchFamily="18" charset="0"/>
              </a:rPr>
              <a:t>没有定义</a:t>
            </a:r>
          </a:p>
          <a:p>
            <a:pPr marL="812800" indent="-812800" eaLnBrk="1" hangingPunct="1">
              <a:lnSpc>
                <a:spcPct val="150000"/>
              </a:lnSpc>
              <a:defRPr/>
            </a:pPr>
            <a:r>
              <a:rPr kumimoji="0" lang="zh-CN" altLang="en-US" sz="2800" b="0" kern="0" dirty="0">
                <a:latin typeface="Times New Roman" panose="02020603050405020304" pitchFamily="18" charset="0"/>
                <a:ea typeface="微软雅黑" panose="020B0503020204020204" pitchFamily="34" charset="-122"/>
                <a:cs typeface="Times New Roman" panose="02020603050405020304" pitchFamily="18" charset="0"/>
              </a:rPr>
              <a:t>集合是所有数学的基础</a:t>
            </a:r>
          </a:p>
          <a:p>
            <a:pPr marL="812800" indent="-812800" eaLnBrk="1" hangingPunct="1">
              <a:lnSpc>
                <a:spcPct val="150000"/>
              </a:lnSpc>
              <a:defRPr/>
            </a:pPr>
            <a:r>
              <a:rPr kumimoji="0" lang="zh-CN" altLang="en-US" sz="2800" b="0" kern="0" dirty="0">
                <a:latin typeface="Times New Roman" panose="02020603050405020304" pitchFamily="18" charset="0"/>
                <a:ea typeface="微软雅黑" panose="020B0503020204020204" pitchFamily="34" charset="-122"/>
                <a:cs typeface="Times New Roman" panose="02020603050405020304" pitchFamily="18" charset="0"/>
              </a:rPr>
              <a:t>两种集合论</a:t>
            </a:r>
          </a:p>
          <a:p>
            <a:pPr marL="812800" indent="-812800" eaLnBrk="1" hangingPunct="1">
              <a:lnSpc>
                <a:spcPct val="150000"/>
              </a:lnSpc>
              <a:buFont typeface="Wingdings" panose="05000000000000000000" pitchFamily="2" charset="2"/>
              <a:buNone/>
              <a:defRPr/>
            </a:pPr>
            <a:r>
              <a:rPr kumimoji="0" lang="zh-CN" altLang="en-US" sz="2800" b="0" kern="0"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800" kern="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朴素集合论</a:t>
            </a:r>
            <a:r>
              <a:rPr kumimoji="0" lang="zh-CN" altLang="en-US" sz="2800" b="0" kern="0" dirty="0">
                <a:latin typeface="Times New Roman" panose="02020603050405020304" pitchFamily="18" charset="0"/>
                <a:ea typeface="微软雅黑" panose="020B0503020204020204" pitchFamily="34" charset="-122"/>
                <a:cs typeface="Times New Roman" panose="02020603050405020304" pitchFamily="18" charset="0"/>
              </a:rPr>
              <a:t>：直观描述集合的概念</a:t>
            </a:r>
          </a:p>
          <a:p>
            <a:pPr marL="812800" indent="-812800" eaLnBrk="1" hangingPunct="1">
              <a:lnSpc>
                <a:spcPct val="150000"/>
              </a:lnSpc>
              <a:buFont typeface="Wingdings" panose="05000000000000000000" pitchFamily="2" charset="2"/>
              <a:buNone/>
              <a:defRPr/>
            </a:pPr>
            <a:r>
              <a:rPr kumimoji="0" lang="zh-CN" altLang="en-US" sz="2800" b="0" kern="0"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800" kern="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公理集合论</a:t>
            </a:r>
            <a:r>
              <a:rPr kumimoji="0" lang="zh-CN" altLang="en-US" sz="2800" b="0" kern="0" dirty="0">
                <a:latin typeface="Times New Roman" panose="02020603050405020304" pitchFamily="18" charset="0"/>
                <a:ea typeface="微软雅黑" panose="020B0503020204020204" pitchFamily="34" charset="-122"/>
                <a:cs typeface="Times New Roman" panose="02020603050405020304" pitchFamily="18" charset="0"/>
              </a:rPr>
              <a:t>：用一组公理刻画集合的性质</a:t>
            </a:r>
            <a:r>
              <a:rPr kumimoji="0" lang="zh-CN" altLang="en-US" b="0" kern="0" dirty="0">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7" name="圆角矩形 4"/>
          <p:cNvSpPr>
            <a:spLocks noChangeArrowheads="1"/>
          </p:cNvSpPr>
          <p:nvPr/>
        </p:nvSpPr>
        <p:spPr bwMode="auto">
          <a:xfrm>
            <a:off x="911424" y="1772816"/>
            <a:ext cx="10369152" cy="4176464"/>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txBox="1">
            <a:spLocks noChangeArrowheads="1"/>
          </p:cNvSpPr>
          <p:nvPr/>
        </p:nvSpPr>
        <p:spPr bwMode="auto">
          <a:xfrm>
            <a:off x="2927648" y="2356018"/>
            <a:ext cx="6369109"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1.1.1  </a:t>
            </a:r>
            <a:r>
              <a:rPr lang="zh-CN" altLang="en-US"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集合的描述、表示和术语</a:t>
            </a:r>
          </a:p>
        </p:txBody>
      </p:sp>
      <p:sp>
        <p:nvSpPr>
          <p:cNvPr id="6"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20" name="Rectangle 2"/>
          <p:cNvSpPr txBox="1">
            <a:spLocks noChangeArrowheads="1"/>
          </p:cNvSpPr>
          <p:nvPr/>
        </p:nvSpPr>
        <p:spPr bwMode="auto">
          <a:xfrm>
            <a:off x="4943872" y="116632"/>
            <a:ext cx="3528392"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4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内容要点</a:t>
            </a:r>
          </a:p>
        </p:txBody>
      </p:sp>
      <p:sp>
        <p:nvSpPr>
          <p:cNvPr id="23" name="Rectangle 2"/>
          <p:cNvSpPr txBox="1">
            <a:spLocks noChangeArrowheads="1"/>
          </p:cNvSpPr>
          <p:nvPr/>
        </p:nvSpPr>
        <p:spPr bwMode="auto">
          <a:xfrm>
            <a:off x="2927648" y="3298389"/>
            <a:ext cx="5139683"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1.1.2  </a:t>
            </a:r>
            <a:r>
              <a:rPr lang="zh-CN" altLang="en-US"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集合之间的关系</a:t>
            </a:r>
          </a:p>
        </p:txBody>
      </p:sp>
      <p:sp>
        <p:nvSpPr>
          <p:cNvPr id="24" name="Rectangle 2"/>
          <p:cNvSpPr txBox="1">
            <a:spLocks noChangeArrowheads="1"/>
          </p:cNvSpPr>
          <p:nvPr/>
        </p:nvSpPr>
        <p:spPr bwMode="auto">
          <a:xfrm>
            <a:off x="2927648" y="4240759"/>
            <a:ext cx="5139683"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1.1.3  </a:t>
            </a:r>
            <a:r>
              <a:rPr lang="zh-CN" altLang="en-US"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7"/>
                                        </p:tgtEl>
                                        <p:attrNameLst>
                                          <p:attrName>style.visibility</p:attrName>
                                        </p:attrNameLst>
                                      </p:cBhvr>
                                      <p:to>
                                        <p:strVal val="visible"/>
                                      </p:to>
                                    </p:set>
                                    <p:animEffect transition="in" filter="wipe(left)">
                                      <p:cBhvr>
                                        <p:cTn id="7" dur="500"/>
                                        <p:tgtEl>
                                          <p:spTgt spid="163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P spid="23" grpId="0"/>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63352" y="1575667"/>
            <a:ext cx="3672408"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集合</a:t>
            </a:r>
            <a:r>
              <a:rPr lang="en-US" altLang="zh-CN"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集</a:t>
            </a:r>
            <a:r>
              <a:rPr lang="en-US" altLang="zh-CN"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的概念</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24" name="Rectangle 2"/>
          <p:cNvSpPr txBox="1">
            <a:spLocks noChangeArrowheads="1"/>
          </p:cNvSpPr>
          <p:nvPr/>
        </p:nvSpPr>
        <p:spPr bwMode="auto">
          <a:xfrm>
            <a:off x="1127448" y="3758992"/>
            <a:ext cx="9044558"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None/>
            </a:pPr>
            <a:r>
              <a:rPr lang="zh-CN" altLang="en-US" sz="2800"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集合的元素：</a:t>
            </a:r>
            <a:r>
              <a:rPr lang="zh-CN" altLang="en-US" sz="2800" b="0" dirty="0">
                <a:latin typeface="微软雅黑" panose="020B0503020204020204" pitchFamily="34" charset="-122"/>
                <a:ea typeface="微软雅黑" panose="020B0503020204020204" pitchFamily="34" charset="-122"/>
              </a:rPr>
              <a:t>构成整体</a:t>
            </a:r>
            <a:r>
              <a:rPr lang="en-US" altLang="zh-CN" sz="2800" b="0" dirty="0">
                <a:latin typeface="微软雅黑" panose="020B0503020204020204" pitchFamily="34" charset="-122"/>
                <a:ea typeface="微软雅黑" panose="020B0503020204020204" pitchFamily="34" charset="-122"/>
              </a:rPr>
              <a:t>(</a:t>
            </a:r>
            <a:r>
              <a:rPr lang="zh-CN" altLang="en-US" sz="2800" b="0" dirty="0">
                <a:latin typeface="微软雅黑" panose="020B0503020204020204" pitchFamily="34" charset="-122"/>
                <a:ea typeface="微软雅黑" panose="020B0503020204020204" pitchFamily="34" charset="-122"/>
              </a:rPr>
              <a:t>集合</a:t>
            </a:r>
            <a:r>
              <a:rPr lang="en-US" altLang="zh-CN" sz="2800" b="0" dirty="0">
                <a:latin typeface="微软雅黑" panose="020B0503020204020204" pitchFamily="34" charset="-122"/>
                <a:ea typeface="微软雅黑" panose="020B0503020204020204" pitchFamily="34" charset="-122"/>
              </a:rPr>
              <a:t>)</a:t>
            </a:r>
            <a:r>
              <a:rPr lang="zh-CN" altLang="en-US" sz="2800" b="0" dirty="0">
                <a:latin typeface="微软雅黑" panose="020B0503020204020204" pitchFamily="34" charset="-122"/>
                <a:ea typeface="微软雅黑" panose="020B0503020204020204" pitchFamily="34" charset="-122"/>
              </a:rPr>
              <a:t>的个体</a:t>
            </a:r>
            <a:r>
              <a:rPr lang="en-US" altLang="zh-CN" sz="2800" b="0" dirty="0">
                <a:latin typeface="微软雅黑" panose="020B0503020204020204" pitchFamily="34" charset="-122"/>
                <a:ea typeface="微软雅黑" panose="020B0503020204020204" pitchFamily="34" charset="-122"/>
              </a:rPr>
              <a:t>(</a:t>
            </a:r>
            <a:r>
              <a:rPr lang="zh-CN" altLang="en-US" sz="2800" b="0" dirty="0">
                <a:latin typeface="微软雅黑" panose="020B0503020204020204" pitchFamily="34" charset="-122"/>
                <a:ea typeface="微软雅黑" panose="020B0503020204020204" pitchFamily="34" charset="-122"/>
              </a:rPr>
              <a:t>成员</a:t>
            </a:r>
            <a:r>
              <a:rPr lang="en-US" altLang="zh-CN" sz="2800" b="0" dirty="0">
                <a:latin typeface="微软雅黑" panose="020B0503020204020204" pitchFamily="34" charset="-122"/>
                <a:ea typeface="微软雅黑" panose="020B0503020204020204" pitchFamily="34" charset="-122"/>
              </a:rPr>
              <a:t>)</a:t>
            </a:r>
            <a:endParaRPr lang="zh-CN" altLang="en-US" sz="2800"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Rectangle 2"/>
          <p:cNvSpPr txBox="1">
            <a:spLocks noChangeArrowheads="1"/>
          </p:cNvSpPr>
          <p:nvPr/>
        </p:nvSpPr>
        <p:spPr bwMode="auto">
          <a:xfrm>
            <a:off x="1127448" y="2564904"/>
            <a:ext cx="7488832"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0" dirty="0">
                <a:solidFill>
                  <a:srgbClr val="FFFF00"/>
                </a:solidFill>
                <a:latin typeface="微软雅黑" panose="020B0503020204020204" pitchFamily="34" charset="-122"/>
                <a:ea typeface="微软雅黑" panose="020B0503020204020204" pitchFamily="34" charset="-122"/>
              </a:rPr>
              <a:t>集合：</a:t>
            </a:r>
            <a:r>
              <a:rPr lang="zh-CN" altLang="en-US" sz="2800" b="0" dirty="0">
                <a:latin typeface="微软雅黑" panose="020B0503020204020204" pitchFamily="34" charset="-122"/>
                <a:ea typeface="微软雅黑" panose="020B0503020204020204" pitchFamily="34" charset="-122"/>
              </a:rPr>
              <a:t>一些对象的全体作为一个整体</a:t>
            </a:r>
            <a:r>
              <a:rPr lang="en-US" altLang="zh-CN" sz="2800" b="0" dirty="0">
                <a:latin typeface="微软雅黑" panose="020B0503020204020204" pitchFamily="34" charset="-122"/>
                <a:ea typeface="微软雅黑" panose="020B0503020204020204" pitchFamily="34" charset="-122"/>
              </a:rPr>
              <a:t>(</a:t>
            </a:r>
            <a:r>
              <a:rPr lang="zh-CN" altLang="en-US" sz="2800" b="0" dirty="0">
                <a:latin typeface="微软雅黑" panose="020B0503020204020204" pitchFamily="34" charset="-122"/>
                <a:ea typeface="微软雅黑" panose="020B0503020204020204" pitchFamily="34" charset="-122"/>
              </a:rPr>
              <a:t>描述</a:t>
            </a:r>
            <a:r>
              <a:rPr lang="en-US" altLang="zh-CN" sz="2800" b="0" dirty="0">
                <a:latin typeface="微软雅黑" panose="020B0503020204020204" pitchFamily="34" charset="-122"/>
                <a:ea typeface="微软雅黑" panose="020B0503020204020204" pitchFamily="34" charset="-122"/>
              </a:rPr>
              <a:t>)</a:t>
            </a:r>
            <a:endParaRPr lang="zh-CN" altLang="en-US" sz="2800"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8" name="Rectangle 2"/>
          <p:cNvSpPr txBox="1">
            <a:spLocks noChangeArrowheads="1"/>
          </p:cNvSpPr>
          <p:nvPr/>
        </p:nvSpPr>
        <p:spPr bwMode="auto">
          <a:xfrm>
            <a:off x="5159896" y="247802"/>
            <a:ext cx="6768752"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1.1.1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集合的描述、表示和术语</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1"/>
                                        </p:tgtEl>
                                        <p:attrNameLst>
                                          <p:attrName>style.visibility</p:attrName>
                                        </p:attrNameLst>
                                      </p:cBhvr>
                                      <p:to>
                                        <p:strVal val="visible"/>
                                      </p:to>
                                    </p:set>
                                    <p:animEffect transition="in" filter="wipe(left)">
                                      <p:cBhvr>
                                        <p:cTn id="12" dur="500"/>
                                        <p:tgtEl>
                                          <p:spTgt spid="174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24" grpId="0"/>
      <p:bldP spid="6"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63352" y="1575667"/>
            <a:ext cx="1368152"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solidFill>
                  <a:srgbClr val="FFCC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示例</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5" name="Rectangle 2"/>
              <p:cNvSpPr txBox="1">
                <a:spLocks noChangeArrowheads="1"/>
              </p:cNvSpPr>
              <p:nvPr/>
            </p:nvSpPr>
            <p:spPr bwMode="auto">
              <a:xfrm>
                <a:off x="1084016" y="2276872"/>
                <a:ext cx="11089232" cy="390266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533400" indent="-533400" eaLnBrk="1" hangingPunct="1">
                  <a:lnSpc>
                    <a:spcPct val="120000"/>
                  </a:lnSpc>
                  <a:buClr>
                    <a:schemeClr val="tx1"/>
                  </a:buClr>
                  <a:buFont typeface="Wingdings" panose="05000000000000000000" pitchFamily="2" charset="2"/>
                  <a:buNone/>
                  <a:defRPr/>
                </a:pPr>
                <a:r>
                  <a:rPr lang="en-US" altLang="zh-CN"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800" b="0" dirty="0">
                    <a:latin typeface="微软雅黑" panose="020B0503020204020204" pitchFamily="34" charset="-122"/>
                    <a:ea typeface="微软雅黑" panose="020B0503020204020204" pitchFamily="34" charset="-122"/>
                  </a:rPr>
                  <a:t>  </a:t>
                </a:r>
                <a:r>
                  <a:rPr lang="zh-CN" altLang="en-US" sz="2800" b="0" dirty="0">
                    <a:latin typeface="微软雅黑" panose="020B0503020204020204" pitchFamily="34" charset="-122"/>
                    <a:ea typeface="微软雅黑" panose="020B0503020204020204" pitchFamily="34" charset="-122"/>
                  </a:rPr>
                  <a:t>把所有的整数看作一个整体</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0" dirty="0">
                    <a:latin typeface="微软雅黑" panose="020B0503020204020204" pitchFamily="34" charset="-122"/>
                    <a:ea typeface="微软雅黑" panose="020B0503020204020204" pitchFamily="34" charset="-122"/>
                  </a:rPr>
                  <a:t>这个整体是一个集合</a:t>
                </a:r>
              </a:p>
              <a:p>
                <a:pPr marL="533400" indent="-533400" eaLnBrk="1" hangingPunct="1">
                  <a:lnSpc>
                    <a:spcPct val="120000"/>
                  </a:lnSpc>
                  <a:buFont typeface="Wingdings" panose="05000000000000000000" pitchFamily="2" charset="2"/>
                  <a:buNone/>
                  <a:defRPr/>
                </a:pPr>
                <a:r>
                  <a:rPr lang="zh-CN" altLang="en-US" sz="2800" b="0" dirty="0">
                    <a:latin typeface="微软雅黑" panose="020B0503020204020204" pitchFamily="34" charset="-122"/>
                    <a:ea typeface="微软雅黑" panose="020B0503020204020204" pitchFamily="34" charset="-122"/>
                  </a:rPr>
                  <a:t>            </a:t>
                </a:r>
                <a:r>
                  <a:rPr lang="zh-CN" altLang="en-US" b="0"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0"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b="0"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b="0"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b="0"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0" dirty="0">
                    <a:solidFill>
                      <a:srgbClr val="92D05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0" dirty="0">
                    <a:solidFill>
                      <a:srgbClr val="92D050"/>
                    </a:solidFill>
                    <a:latin typeface="微软雅黑" panose="020B0503020204020204" pitchFamily="34" charset="-122"/>
                    <a:ea typeface="微软雅黑" panose="020B0503020204020204" pitchFamily="34" charset="-122"/>
                  </a:rPr>
                  <a:t>…</a:t>
                </a:r>
                <a:r>
                  <a:rPr lang="zh-CN" altLang="en-US" sz="2800" b="0" dirty="0">
                    <a:latin typeface="微软雅黑" panose="020B0503020204020204" pitchFamily="34" charset="-122"/>
                    <a:ea typeface="微软雅黑" panose="020B0503020204020204" pitchFamily="34" charset="-122"/>
                  </a:rPr>
                  <a:t>   是整数集合的元素</a:t>
                </a:r>
                <a:endParaRPr lang="en-US" altLang="zh-CN" sz="2800" b="0" dirty="0">
                  <a:latin typeface="微软雅黑" panose="020B0503020204020204" pitchFamily="34" charset="-122"/>
                  <a:ea typeface="微软雅黑" panose="020B0503020204020204" pitchFamily="34" charset="-122"/>
                </a:endParaRPr>
              </a:p>
              <a:p>
                <a:pPr marL="533400" indent="-533400" eaLnBrk="1" hangingPunct="1">
                  <a:lnSpc>
                    <a:spcPct val="120000"/>
                  </a:lnSpc>
                  <a:buFont typeface="Wingdings" panose="05000000000000000000" pitchFamily="2" charset="2"/>
                  <a:buNone/>
                  <a:defRPr/>
                </a:pPr>
                <a:r>
                  <a:rPr lang="en-US" altLang="zh-CN"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6.8</a:t>
                </a:r>
                <a:r>
                  <a:rPr lang="zh-CN" altLang="en-US"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ad>
                      <m:radPr>
                        <m:degHide m:val="on"/>
                        <m:ctrlPr>
                          <a:rPr lang="zh-CN" altLang="en-US" b="0" i="1">
                            <a:solidFill>
                              <a:srgbClr val="FFC000"/>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radPr>
                      <m:deg/>
                      <m:e>
                        <m:r>
                          <a:rPr lang="en-US" altLang="zh-CN" b="0">
                            <a:solidFill>
                              <a:srgbClr val="FFC000"/>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2</m:t>
                        </m:r>
                      </m:e>
                    </m:rad>
                  </m:oMath>
                </a14:m>
                <a:r>
                  <a:rPr lang="zh-CN" altLang="en-US" b="0"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0" dirty="0">
                    <a:solidFill>
                      <a:srgbClr val="FFC000"/>
                    </a:solidFill>
                    <a:latin typeface="微软雅黑" panose="020B0503020204020204" pitchFamily="34" charset="-122"/>
                    <a:ea typeface="微软雅黑" panose="020B0503020204020204" pitchFamily="34" charset="-122"/>
                  </a:rPr>
                  <a:t>、</a:t>
                </a:r>
                <a:r>
                  <a:rPr lang="en-US" altLang="zh-CN" sz="2800" b="0" dirty="0">
                    <a:solidFill>
                      <a:srgbClr val="FFC000"/>
                    </a:solidFill>
                    <a:latin typeface="微软雅黑" panose="020B0503020204020204" pitchFamily="34" charset="-122"/>
                    <a:ea typeface="微软雅黑" panose="020B0503020204020204" pitchFamily="34" charset="-122"/>
                  </a:rPr>
                  <a:t>…</a:t>
                </a:r>
                <a:r>
                  <a:rPr lang="zh-CN" altLang="en-US" sz="2800" b="0" dirty="0">
                    <a:latin typeface="微软雅黑" panose="020B0503020204020204" pitchFamily="34" charset="-122"/>
                    <a:ea typeface="微软雅黑" panose="020B0503020204020204" pitchFamily="34" charset="-122"/>
                  </a:rPr>
                  <a:t>不是整数集合的元素</a:t>
                </a:r>
              </a:p>
              <a:p>
                <a:pPr marL="533400" indent="-533400" eaLnBrk="1" hangingPunct="1">
                  <a:lnSpc>
                    <a:spcPct val="120000"/>
                  </a:lnSpc>
                  <a:buClr>
                    <a:schemeClr val="tx1"/>
                  </a:buClr>
                  <a:buFont typeface="Wingdings" panose="05000000000000000000" pitchFamily="2" charset="2"/>
                  <a:buNone/>
                  <a:defRPr/>
                </a:pPr>
                <a:r>
                  <a:rPr lang="en-US" altLang="zh-CN"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800" b="0" dirty="0">
                    <a:latin typeface="微软雅黑" panose="020B0503020204020204" pitchFamily="34" charset="-122"/>
                    <a:ea typeface="微软雅黑" panose="020B0503020204020204" pitchFamily="34" charset="-122"/>
                  </a:rPr>
                  <a:t>  </a:t>
                </a:r>
                <a:r>
                  <a:rPr lang="zh-CN" altLang="en-US" sz="2800" b="0" dirty="0">
                    <a:latin typeface="微软雅黑" panose="020B0503020204020204" pitchFamily="34" charset="-122"/>
                    <a:ea typeface="微软雅黑" panose="020B0503020204020204" pitchFamily="34" charset="-122"/>
                  </a:rPr>
                  <a:t>中国的所有大学也构成一个集合</a:t>
                </a:r>
              </a:p>
              <a:p>
                <a:pPr marL="533400" indent="-533400" eaLnBrk="1" hangingPunct="1">
                  <a:lnSpc>
                    <a:spcPct val="120000"/>
                  </a:lnSpc>
                  <a:buFont typeface="Wingdings" panose="05000000000000000000" pitchFamily="2" charset="2"/>
                  <a:buNone/>
                  <a:defRPr/>
                </a:pPr>
                <a:r>
                  <a:rPr lang="zh-CN" altLang="en-US" sz="2800" b="0" dirty="0">
                    <a:latin typeface="微软雅黑" panose="020B0503020204020204" pitchFamily="34" charset="-122"/>
                    <a:ea typeface="微软雅黑" panose="020B0503020204020204" pitchFamily="34" charset="-122"/>
                  </a:rPr>
                  <a:t>      其中含元素：</a:t>
                </a:r>
                <a:r>
                  <a:rPr lang="zh-CN" altLang="en-US" sz="2800" b="0" dirty="0">
                    <a:solidFill>
                      <a:srgbClr val="92D050"/>
                    </a:solidFill>
                    <a:latin typeface="微软雅黑" panose="020B0503020204020204" pitchFamily="34" charset="-122"/>
                    <a:ea typeface="微软雅黑" panose="020B0503020204020204" pitchFamily="34" charset="-122"/>
                  </a:rPr>
                  <a:t>北京大学、清华大学、华东师范大学、</a:t>
                </a:r>
                <a:r>
                  <a:rPr lang="en-US" altLang="zh-CN" sz="2800" b="0" dirty="0">
                    <a:solidFill>
                      <a:srgbClr val="92D050"/>
                    </a:solidFill>
                    <a:latin typeface="微软雅黑" panose="020B0503020204020204" pitchFamily="34" charset="-122"/>
                    <a:ea typeface="微软雅黑" panose="020B0503020204020204" pitchFamily="34" charset="-122"/>
                  </a:rPr>
                  <a:t>…</a:t>
                </a:r>
              </a:p>
              <a:p>
                <a:pPr marL="533400" indent="-533400" eaLnBrk="1" hangingPunct="1">
                  <a:lnSpc>
                    <a:spcPct val="120000"/>
                  </a:lnSpc>
                  <a:buFont typeface="Wingdings" panose="05000000000000000000" pitchFamily="2" charset="2"/>
                  <a:buNone/>
                  <a:defRPr/>
                </a:pPr>
                <a:r>
                  <a:rPr lang="en-US" altLang="zh-CN" sz="2800" b="0" dirty="0">
                    <a:latin typeface="微软雅黑" panose="020B0503020204020204" pitchFamily="34" charset="-122"/>
                    <a:ea typeface="微软雅黑" panose="020B0503020204020204" pitchFamily="34" charset="-122"/>
                  </a:rPr>
                  <a:t>      </a:t>
                </a:r>
                <a:r>
                  <a:rPr lang="zh-CN" altLang="en-US" sz="2800" b="0" dirty="0">
                    <a:solidFill>
                      <a:srgbClr val="FFC000"/>
                    </a:solidFill>
                    <a:latin typeface="微软雅黑" panose="020B0503020204020204" pitchFamily="34" charset="-122"/>
                    <a:ea typeface="微软雅黑" panose="020B0503020204020204" pitchFamily="34" charset="-122"/>
                  </a:rPr>
                  <a:t>哈佛大学、麻省理工学院</a:t>
                </a:r>
                <a:r>
                  <a:rPr lang="zh-CN" altLang="en-US" sz="2800" b="0" dirty="0">
                    <a:latin typeface="微软雅黑" panose="020B0503020204020204" pitchFamily="34" charset="-122"/>
                    <a:ea typeface="微软雅黑" panose="020B0503020204020204" pitchFamily="34" charset="-122"/>
                  </a:rPr>
                  <a:t>不是中国大学集合的元素 </a:t>
                </a:r>
              </a:p>
            </p:txBody>
          </p:sp>
        </mc:Choice>
        <mc:Fallback xmlns="">
          <p:sp>
            <p:nvSpPr>
              <p:cNvPr id="25" name="Rectangle 2"/>
              <p:cNvSpPr txBox="1">
                <a:spLocks noRot="1" noChangeAspect="1" noMove="1" noResize="1" noEditPoints="1" noAdjustHandles="1" noChangeArrowheads="1" noChangeShapeType="1" noTextEdit="1"/>
              </p:cNvSpPr>
              <p:nvPr/>
            </p:nvSpPr>
            <p:spPr bwMode="auto">
              <a:xfrm>
                <a:off x="1084016" y="2276872"/>
                <a:ext cx="11089232" cy="3902664"/>
              </a:xfrm>
              <a:prstGeom prst="rect">
                <a:avLst/>
              </a:prstGeom>
              <a:blipFill rotWithShape="1">
                <a:blip r:embed="rId4"/>
                <a:stretch>
                  <a:fillRect l="-1" t="-10" r="3" b="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 name="Rectangle 2"/>
          <p:cNvSpPr txBox="1">
            <a:spLocks noChangeArrowheads="1"/>
          </p:cNvSpPr>
          <p:nvPr/>
        </p:nvSpPr>
        <p:spPr bwMode="auto">
          <a:xfrm>
            <a:off x="5015880" y="388485"/>
            <a:ext cx="6768752"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1.1.1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集合的描述、表示和术语</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fade">
                                      <p:cBhvr>
                                        <p:cTn id="7" dur="500"/>
                                        <p:tgtEl>
                                          <p:spTgt spid="174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fade">
                                      <p:cBhvr>
                                        <p:cTn id="12" dur="1000"/>
                                        <p:tgtEl>
                                          <p:spTgt spid="25">
                                            <p:txEl>
                                              <p:pRg st="0" end="0"/>
                                            </p:txEl>
                                          </p:spTgt>
                                        </p:tgtEl>
                                      </p:cBhvr>
                                    </p:animEffect>
                                    <p:anim calcmode="lin" valueType="num">
                                      <p:cBhvr>
                                        <p:cTn id="13" dur="1000" fill="hold"/>
                                        <p:tgtEl>
                                          <p:spTgt spid="2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5">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25">
                                            <p:txEl>
                                              <p:pRg st="1" end="1"/>
                                            </p:txEl>
                                          </p:spTgt>
                                        </p:tgtEl>
                                        <p:attrNameLst>
                                          <p:attrName>style.visibility</p:attrName>
                                        </p:attrNameLst>
                                      </p:cBhvr>
                                      <p:to>
                                        <p:strVal val="visible"/>
                                      </p:to>
                                    </p:set>
                                    <p:animEffect transition="in" filter="fade">
                                      <p:cBhvr>
                                        <p:cTn id="18" dur="1000"/>
                                        <p:tgtEl>
                                          <p:spTgt spid="25">
                                            <p:txEl>
                                              <p:pRg st="1" end="1"/>
                                            </p:txEl>
                                          </p:spTgt>
                                        </p:tgtEl>
                                      </p:cBhvr>
                                    </p:animEffect>
                                    <p:anim calcmode="lin" valueType="num">
                                      <p:cBhvr>
                                        <p:cTn id="19" dur="1000" fill="hold"/>
                                        <p:tgtEl>
                                          <p:spTgt spid="2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25">
                                            <p:txEl>
                                              <p:pRg st="1" end="1"/>
                                            </p:txEl>
                                          </p:spTgt>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42" presetClass="entr" presetSubtype="0" fill="hold" nodeType="afterEffect">
                                  <p:stCondLst>
                                    <p:cond delay="0"/>
                                  </p:stCondLst>
                                  <p:childTnLst>
                                    <p:set>
                                      <p:cBhvr>
                                        <p:cTn id="23" dur="1" fill="hold">
                                          <p:stCondLst>
                                            <p:cond delay="0"/>
                                          </p:stCondLst>
                                        </p:cTn>
                                        <p:tgtEl>
                                          <p:spTgt spid="25">
                                            <p:txEl>
                                              <p:pRg st="2" end="2"/>
                                            </p:txEl>
                                          </p:spTgt>
                                        </p:tgtEl>
                                        <p:attrNameLst>
                                          <p:attrName>style.visibility</p:attrName>
                                        </p:attrNameLst>
                                      </p:cBhvr>
                                      <p:to>
                                        <p:strVal val="visible"/>
                                      </p:to>
                                    </p:set>
                                    <p:animEffect transition="in" filter="fade">
                                      <p:cBhvr>
                                        <p:cTn id="24" dur="1000"/>
                                        <p:tgtEl>
                                          <p:spTgt spid="25">
                                            <p:txEl>
                                              <p:pRg st="2" end="2"/>
                                            </p:txEl>
                                          </p:spTgt>
                                        </p:tgtEl>
                                      </p:cBhvr>
                                    </p:animEffect>
                                    <p:anim calcmode="lin" valueType="num">
                                      <p:cBhvr>
                                        <p:cTn id="25" dur="1000" fill="hold"/>
                                        <p:tgtEl>
                                          <p:spTgt spid="25">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2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5">
                                            <p:txEl>
                                              <p:pRg st="3" end="3"/>
                                            </p:txEl>
                                          </p:spTgt>
                                        </p:tgtEl>
                                        <p:attrNameLst>
                                          <p:attrName>style.visibility</p:attrName>
                                        </p:attrNameLst>
                                      </p:cBhvr>
                                      <p:to>
                                        <p:strVal val="visible"/>
                                      </p:to>
                                    </p:set>
                                    <p:animEffect transition="in" filter="fade">
                                      <p:cBhvr>
                                        <p:cTn id="31" dur="1000"/>
                                        <p:tgtEl>
                                          <p:spTgt spid="25">
                                            <p:txEl>
                                              <p:pRg st="3" end="3"/>
                                            </p:txEl>
                                          </p:spTgt>
                                        </p:tgtEl>
                                      </p:cBhvr>
                                    </p:animEffect>
                                    <p:anim calcmode="lin" valueType="num">
                                      <p:cBhvr>
                                        <p:cTn id="32" dur="1000" fill="hold"/>
                                        <p:tgtEl>
                                          <p:spTgt spid="25">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25">
                                            <p:txEl>
                                              <p:pRg st="3" end="3"/>
                                            </p:txEl>
                                          </p:spTgt>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42" presetClass="entr" presetSubtype="0" fill="hold" nodeType="afterEffect">
                                  <p:stCondLst>
                                    <p:cond delay="0"/>
                                  </p:stCondLst>
                                  <p:childTnLst>
                                    <p:set>
                                      <p:cBhvr>
                                        <p:cTn id="36" dur="1" fill="hold">
                                          <p:stCondLst>
                                            <p:cond delay="0"/>
                                          </p:stCondLst>
                                        </p:cTn>
                                        <p:tgtEl>
                                          <p:spTgt spid="25">
                                            <p:txEl>
                                              <p:pRg st="4" end="4"/>
                                            </p:txEl>
                                          </p:spTgt>
                                        </p:tgtEl>
                                        <p:attrNameLst>
                                          <p:attrName>style.visibility</p:attrName>
                                        </p:attrNameLst>
                                      </p:cBhvr>
                                      <p:to>
                                        <p:strVal val="visible"/>
                                      </p:to>
                                    </p:set>
                                    <p:animEffect transition="in" filter="fade">
                                      <p:cBhvr>
                                        <p:cTn id="37" dur="1000"/>
                                        <p:tgtEl>
                                          <p:spTgt spid="25">
                                            <p:txEl>
                                              <p:pRg st="4" end="4"/>
                                            </p:txEl>
                                          </p:spTgt>
                                        </p:tgtEl>
                                      </p:cBhvr>
                                    </p:animEffect>
                                    <p:anim calcmode="lin" valueType="num">
                                      <p:cBhvr>
                                        <p:cTn id="38" dur="1000" fill="hold"/>
                                        <p:tgtEl>
                                          <p:spTgt spid="25">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25">
                                            <p:txEl>
                                              <p:pRg st="4" end="4"/>
                                            </p:txEl>
                                          </p:spTgt>
                                        </p:tgtEl>
                                        <p:attrNameLst>
                                          <p:attrName>ppt_y</p:attrName>
                                        </p:attrNameLst>
                                      </p:cBhvr>
                                      <p:tavLst>
                                        <p:tav tm="0">
                                          <p:val>
                                            <p:strVal val="#ppt_y+.1"/>
                                          </p:val>
                                        </p:tav>
                                        <p:tav tm="100000">
                                          <p:val>
                                            <p:strVal val="#ppt_y"/>
                                          </p:val>
                                        </p:tav>
                                      </p:tavLst>
                                    </p:anim>
                                  </p:childTnLst>
                                </p:cTn>
                              </p:par>
                            </p:childTnLst>
                          </p:cTn>
                        </p:par>
                        <p:par>
                          <p:cTn id="40" fill="hold">
                            <p:stCondLst>
                              <p:cond delay="2000"/>
                            </p:stCondLst>
                            <p:childTnLst>
                              <p:par>
                                <p:cTn id="41" presetID="42" presetClass="entr" presetSubtype="0" fill="hold" nodeType="afterEffect">
                                  <p:stCondLst>
                                    <p:cond delay="0"/>
                                  </p:stCondLst>
                                  <p:childTnLst>
                                    <p:set>
                                      <p:cBhvr>
                                        <p:cTn id="42" dur="1" fill="hold">
                                          <p:stCondLst>
                                            <p:cond delay="0"/>
                                          </p:stCondLst>
                                        </p:cTn>
                                        <p:tgtEl>
                                          <p:spTgt spid="25">
                                            <p:txEl>
                                              <p:pRg st="5" end="5"/>
                                            </p:txEl>
                                          </p:spTgt>
                                        </p:tgtEl>
                                        <p:attrNameLst>
                                          <p:attrName>style.visibility</p:attrName>
                                        </p:attrNameLst>
                                      </p:cBhvr>
                                      <p:to>
                                        <p:strVal val="visible"/>
                                      </p:to>
                                    </p:set>
                                    <p:animEffect transition="in" filter="fade">
                                      <p:cBhvr>
                                        <p:cTn id="43" dur="1000"/>
                                        <p:tgtEl>
                                          <p:spTgt spid="25">
                                            <p:txEl>
                                              <p:pRg st="5" end="5"/>
                                            </p:txEl>
                                          </p:spTgt>
                                        </p:tgtEl>
                                      </p:cBhvr>
                                    </p:animEffect>
                                    <p:anim calcmode="lin" valueType="num">
                                      <p:cBhvr>
                                        <p:cTn id="44" dur="1000" fill="hold"/>
                                        <p:tgtEl>
                                          <p:spTgt spid="25">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2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63351" y="1660342"/>
            <a:ext cx="3672409"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集合的字母表示</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24" name="Rectangle 2"/>
          <p:cNvSpPr txBox="1">
            <a:spLocks noChangeArrowheads="1"/>
          </p:cNvSpPr>
          <p:nvPr/>
        </p:nvSpPr>
        <p:spPr bwMode="auto">
          <a:xfrm>
            <a:off x="457263" y="3327807"/>
            <a:ext cx="2736304"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0" dirty="0">
                <a:solidFill>
                  <a:srgbClr val="FFCC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数集的表示</a:t>
            </a:r>
          </a:p>
        </p:txBody>
      </p:sp>
      <p:sp>
        <p:nvSpPr>
          <p:cNvPr id="6" name="Rectangle 2"/>
          <p:cNvSpPr txBox="1">
            <a:spLocks noChangeArrowheads="1"/>
          </p:cNvSpPr>
          <p:nvPr/>
        </p:nvSpPr>
        <p:spPr bwMode="auto">
          <a:xfrm>
            <a:off x="983432" y="2414970"/>
            <a:ext cx="7488832"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0" dirty="0">
                <a:latin typeface="微软雅黑" panose="020B0503020204020204" pitchFamily="34" charset="-122"/>
                <a:ea typeface="微软雅黑" panose="020B0503020204020204" pitchFamily="34" charset="-122"/>
              </a:rPr>
              <a:t>大写字母表示集合</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0" dirty="0">
                <a:latin typeface="微软雅黑" panose="020B0503020204020204" pitchFamily="34" charset="-122"/>
                <a:ea typeface="微软雅黑" panose="020B0503020204020204" pitchFamily="34" charset="-122"/>
              </a:rPr>
              <a:t>小写字母表示元素</a:t>
            </a:r>
            <a:endParaRPr lang="zh-CN" altLang="en-US" sz="2800"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8" name="Rectangle 2"/>
          <p:cNvSpPr txBox="1">
            <a:spLocks noChangeArrowheads="1"/>
          </p:cNvSpPr>
          <p:nvPr/>
        </p:nvSpPr>
        <p:spPr bwMode="auto">
          <a:xfrm>
            <a:off x="983432" y="4140300"/>
            <a:ext cx="5256584" cy="14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533400" indent="-533400" eaLnBrk="1" hangingPunct="1">
              <a:buFont typeface="Wingdings" panose="05000000000000000000" pitchFamily="2" charset="2"/>
              <a:buNone/>
              <a:defRPr/>
            </a:pP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：自然数的集合</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自然数集</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endParaRPr>
          </a:p>
          <a:p>
            <a:pPr marL="533400" indent="-533400" eaLnBrk="1" hangingPunct="1">
              <a:lnSpc>
                <a:spcPct val="120000"/>
              </a:lnSpc>
              <a:buFont typeface="Wingdings" panose="05000000000000000000" pitchFamily="2" charset="2"/>
              <a:buNone/>
              <a:defRPr/>
            </a:pP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Z</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：整数的集合</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整数集</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p>
          <a:p>
            <a:pPr marL="533400" indent="-533400" eaLnBrk="1" hangingPunct="1">
              <a:lnSpc>
                <a:spcPct val="120000"/>
              </a:lnSpc>
              <a:buFont typeface="Wingdings" panose="05000000000000000000" pitchFamily="2" charset="2"/>
              <a:buNone/>
              <a:defRPr/>
            </a:pP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N</a:t>
            </a:r>
            <a:r>
              <a:rPr lang="en-US" altLang="zh-CN" sz="2800" b="0" baseline="-25000" dirty="0">
                <a:ea typeface="微软雅黑" panose="020B0503020204020204" pitchFamily="34" charset="-122"/>
                <a:cs typeface="Times New Roman" panose="02020603050405020304" pitchFamily="18" charset="0"/>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0"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N</a:t>
            </a:r>
          </a:p>
        </p:txBody>
      </p:sp>
      <p:sp>
        <p:nvSpPr>
          <p:cNvPr id="9" name="Rectangle 2"/>
          <p:cNvSpPr txBox="1">
            <a:spLocks noChangeArrowheads="1"/>
          </p:cNvSpPr>
          <p:nvPr/>
        </p:nvSpPr>
        <p:spPr bwMode="auto">
          <a:xfrm>
            <a:off x="6123781" y="3895323"/>
            <a:ext cx="5732859" cy="2614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533400" indent="-533400" eaLnBrk="1" hangingPunct="1">
              <a:buFont typeface="Wingdings" panose="05000000000000000000" pitchFamily="2" charset="2"/>
              <a:buNone/>
              <a:defRPr/>
            </a:pP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：实数的集合</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实数集</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p>
          <a:p>
            <a:pPr marL="533400" indent="-533400" eaLnBrk="1" hangingPunct="1">
              <a:lnSpc>
                <a:spcPct val="120000"/>
              </a:lnSpc>
              <a:buFont typeface="Wingdings" panose="05000000000000000000" pitchFamily="2" charset="2"/>
              <a:buNone/>
              <a:defRPr/>
            </a:pP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800" b="0" baseline="-25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：正实数的集合</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正实数集</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endParaRPr>
          </a:p>
          <a:p>
            <a:pPr marL="533400" indent="-533400" eaLnBrk="1" hangingPunct="1">
              <a:lnSpc>
                <a:spcPct val="120000"/>
              </a:lnSpc>
              <a:buFont typeface="Wingdings" panose="05000000000000000000" pitchFamily="2" charset="2"/>
              <a:buNone/>
              <a:defRPr/>
            </a:pP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：有理数的集合</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有理数的集</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endParaRPr>
          </a:p>
          <a:p>
            <a:pPr marL="533400" indent="-533400" eaLnBrk="1" hangingPunct="1">
              <a:lnSpc>
                <a:spcPct val="120000"/>
              </a:lnSpc>
              <a:buFont typeface="Wingdings" panose="05000000000000000000" pitchFamily="2" charset="2"/>
              <a:buNone/>
              <a:defRPr/>
            </a:pP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800" b="0" baseline="-25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：正有理数的集合</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正有理数集</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Rectangle 2"/>
          <p:cNvSpPr txBox="1">
            <a:spLocks noChangeArrowheads="1"/>
          </p:cNvSpPr>
          <p:nvPr/>
        </p:nvSpPr>
        <p:spPr bwMode="auto">
          <a:xfrm>
            <a:off x="5159896" y="247802"/>
            <a:ext cx="6768752"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1.1.1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集合的描述、表示和术语</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wipe(left)">
                                      <p:cBhvr>
                                        <p:cTn id="7" dur="500"/>
                                        <p:tgtEl>
                                          <p:spTgt spid="174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left)">
                                      <p:cBhvr>
                                        <p:cTn id="16" dur="500"/>
                                        <p:tgtEl>
                                          <p:spTgt spid="24"/>
                                        </p:tgtEl>
                                      </p:cBhvr>
                                    </p:animEffect>
                                  </p:childTnLst>
                                </p:cTn>
                              </p:par>
                            </p:childTnLst>
                          </p:cTn>
                        </p:par>
                        <p:par>
                          <p:cTn id="17" fill="hold">
                            <p:stCondLst>
                              <p:cond delay="500"/>
                            </p:stCondLst>
                            <p:childTnLst>
                              <p:par>
                                <p:cTn id="18" presetID="42"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anim calcmode="lin" valueType="num">
                                      <p:cBhvr>
                                        <p:cTn id="21" dur="1000" fill="hold"/>
                                        <p:tgtEl>
                                          <p:spTgt spid="8"/>
                                        </p:tgtEl>
                                        <p:attrNameLst>
                                          <p:attrName>ppt_x</p:attrName>
                                        </p:attrNameLst>
                                      </p:cBhvr>
                                      <p:tavLst>
                                        <p:tav tm="0">
                                          <p:val>
                                            <p:strVal val="#ppt_x"/>
                                          </p:val>
                                        </p:tav>
                                        <p:tav tm="100000">
                                          <p:val>
                                            <p:strVal val="#ppt_x"/>
                                          </p:val>
                                        </p:tav>
                                      </p:tavLst>
                                    </p:anim>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42" presetClass="entr" presetSubtype="0"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24" grpId="0"/>
      <p:bldP spid="6"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63352" y="1585961"/>
            <a:ext cx="4320480"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集合与元素的关系</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25" name="Rectangle 2"/>
          <p:cNvSpPr txBox="1">
            <a:spLocks noChangeArrowheads="1"/>
          </p:cNvSpPr>
          <p:nvPr/>
        </p:nvSpPr>
        <p:spPr bwMode="auto">
          <a:xfrm>
            <a:off x="839416" y="2320336"/>
            <a:ext cx="11089232" cy="1527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533400" indent="-533400" eaLnBrk="1" hangingPunct="1">
              <a:lnSpc>
                <a:spcPct val="150000"/>
              </a:lnSpc>
              <a:buFont typeface="Wingdings" panose="05000000000000000000" pitchFamily="2" charset="2"/>
              <a:buNone/>
              <a:defRPr/>
            </a:pPr>
            <a:r>
              <a:rPr lang="zh-CN" altLang="en-US" sz="2800" b="0" dirty="0">
                <a:solidFill>
                  <a:srgbClr val="FFFF00"/>
                </a:solidFill>
                <a:latin typeface="微软雅黑" panose="020B0503020204020204" pitchFamily="34" charset="-122"/>
                <a:ea typeface="微软雅黑" panose="020B0503020204020204" pitchFamily="34" charset="-122"/>
              </a:rPr>
              <a:t>属于</a:t>
            </a:r>
            <a:r>
              <a:rPr lang="en-US" altLang="zh-CN" sz="28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8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0" dirty="0">
                <a:solidFill>
                  <a:srgbClr val="FFFF00"/>
                </a:solidFill>
                <a:latin typeface="微软雅黑" panose="020B0503020204020204" pitchFamily="34" charset="-122"/>
                <a:ea typeface="微软雅黑" panose="020B0503020204020204" pitchFamily="34" charset="-122"/>
              </a:rPr>
              <a:t>和不属于</a:t>
            </a:r>
            <a:r>
              <a:rPr lang="en-US" altLang="zh-CN" sz="28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8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0" dirty="0">
                <a:solidFill>
                  <a:srgbClr val="FFFF00"/>
                </a:solidFill>
                <a:latin typeface="微软雅黑" panose="020B0503020204020204" pitchFamily="34" charset="-122"/>
                <a:ea typeface="微软雅黑" panose="020B0503020204020204" pitchFamily="34" charset="-122"/>
              </a:rPr>
              <a:t>：</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是集合</a:t>
            </a: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中的元素</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那么称</a:t>
            </a: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属于</a:t>
            </a: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记为</a:t>
            </a:r>
            <a:r>
              <a:rPr lang="en-US" altLang="zh-CN" sz="2800" b="0"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8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800" b="0" i="1" dirty="0" err="1">
                <a:latin typeface="Times New Roman" panose="02020603050405020304" pitchFamily="18" charset="0"/>
                <a:ea typeface="微软雅黑" panose="020B0503020204020204" pitchFamily="34" charset="-122"/>
                <a:cs typeface="Times New Roman" panose="02020603050405020304" pitchFamily="18" charset="0"/>
              </a:rPr>
              <a:t>A</a:t>
            </a:r>
            <a:endPar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endParaRPr>
          </a:p>
          <a:p>
            <a:pPr marL="533400" indent="-533400" eaLnBrk="1" hangingPunct="1">
              <a:lnSpc>
                <a:spcPct val="150000"/>
              </a:lnSpc>
              <a:buFont typeface="Wingdings" panose="05000000000000000000" pitchFamily="2" charset="2"/>
              <a:buNone/>
              <a:defRPr/>
            </a:pP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不是</a:t>
            </a: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的元素</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称</a:t>
            </a: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不属于</a:t>
            </a: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记为</a:t>
            </a:r>
            <a:r>
              <a:rPr lang="en-US" altLang="zh-CN" sz="2800" b="0"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800" b="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800" b="0" i="1" dirty="0" err="1">
                <a:latin typeface="Times New Roman" panose="02020603050405020304" pitchFamily="18" charset="0"/>
                <a:ea typeface="微软雅黑" panose="020B0503020204020204" pitchFamily="34" charset="-122"/>
                <a:cs typeface="Times New Roman" panose="02020603050405020304" pitchFamily="18" charset="0"/>
              </a:rPr>
              <a:t>A</a:t>
            </a:r>
            <a:endPar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Rectangle 2"/>
          <p:cNvSpPr txBox="1">
            <a:spLocks noChangeArrowheads="1"/>
          </p:cNvSpPr>
          <p:nvPr/>
        </p:nvSpPr>
        <p:spPr bwMode="auto">
          <a:xfrm>
            <a:off x="810717" y="4131432"/>
            <a:ext cx="2228724"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solidFill>
                  <a:srgbClr val="FFCC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示例</a:t>
            </a:r>
          </a:p>
        </p:txBody>
      </p:sp>
      <mc:AlternateContent xmlns:mc="http://schemas.openxmlformats.org/markup-compatibility/2006" xmlns:a14="http://schemas.microsoft.com/office/drawing/2010/main">
        <mc:Choice Requires="a14">
          <p:sp>
            <p:nvSpPr>
              <p:cNvPr id="9" name="文本框 8"/>
              <p:cNvSpPr txBox="1"/>
              <p:nvPr/>
            </p:nvSpPr>
            <p:spPr>
              <a:xfrm>
                <a:off x="1537023" y="4924178"/>
                <a:ext cx="6093618" cy="565155"/>
              </a:xfrm>
              <a:prstGeom prst="rect">
                <a:avLst/>
              </a:prstGeom>
              <a:noFill/>
            </p:spPr>
            <p:txBody>
              <a:bodyPr wrap="square">
                <a:spAutoFit/>
              </a:bodyPr>
              <a:lstStyle/>
              <a:p>
                <a:r>
                  <a:rPr lang="en-US" altLang="zh-CN" sz="2800" b="0" dirty="0">
                    <a:solidFill>
                      <a:schemeClr val="bg1"/>
                    </a:solidFill>
                    <a:ea typeface="微软雅黑" panose="020B0503020204020204" pitchFamily="34" charset="-122"/>
                    <a:cs typeface="Times New Roman" panose="02020603050405020304" pitchFamily="18" charset="0"/>
                  </a:rPr>
                  <a:t>3</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i="1" dirty="0">
                    <a:solidFill>
                      <a:schemeClr val="bg1"/>
                    </a:solidFill>
                    <a:ea typeface="微软雅黑" panose="020B0503020204020204" pitchFamily="34" charset="-122"/>
                    <a:cs typeface="Times New Roman" panose="02020603050405020304" pitchFamily="18" charset="0"/>
                  </a:rPr>
                  <a:t>N</a:t>
                </a:r>
                <a:r>
                  <a:rPr lang="en-US" altLang="zh-CN" sz="2800" b="0" dirty="0">
                    <a:solidFill>
                      <a:schemeClr val="bg1"/>
                    </a:solidFill>
                    <a:ea typeface="微软雅黑" panose="020B0503020204020204" pitchFamily="34" charset="-122"/>
                    <a:cs typeface="Times New Roman" panose="02020603050405020304" pitchFamily="18" charset="0"/>
                  </a:rPr>
                  <a:t>,  0</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i="1"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N</a:t>
                </a:r>
                <a:r>
                  <a:rPr lang="en-US" altLang="zh-CN" sz="2800" b="0" baseline="-2500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dirty="0">
                    <a:solidFill>
                      <a:schemeClr val="bg1"/>
                    </a:solidFill>
                    <a:ea typeface="Cambria Math" panose="02040503050406030204" pitchFamily="18" charset="0"/>
                  </a:rPr>
                  <a:t> </a:t>
                </a:r>
                <a14:m>
                  <m:oMath xmlns:m="http://schemas.openxmlformats.org/officeDocument/2006/math">
                    <m:rad>
                      <m:radPr>
                        <m:degHide m:val="on"/>
                        <m:ctrlPr>
                          <a:rPr lang="zh-CN" altLang="en-US" sz="2800" b="0" i="1" smtClean="0">
                            <a:solidFill>
                              <a:schemeClr val="bg1"/>
                            </a:solidFill>
                            <a:latin typeface="Cambria Math" panose="02040503050406030204" pitchFamily="18" charset="0"/>
                            <a:ea typeface="微软雅黑" panose="020B0503020204020204" pitchFamily="34" charset="-122"/>
                          </a:rPr>
                        </m:ctrlPr>
                      </m:radPr>
                      <m:deg/>
                      <m:e>
                        <m:r>
                          <a:rPr lang="en-US" altLang="zh-CN" sz="2800" b="0" i="1" smtClean="0">
                            <a:solidFill>
                              <a:schemeClr val="bg1"/>
                            </a:solidFill>
                            <a:latin typeface="Cambria Math" panose="02040503050406030204" pitchFamily="18" charset="0"/>
                            <a:ea typeface="微软雅黑" panose="020B0503020204020204" pitchFamily="34" charset="-122"/>
                          </a:rPr>
                          <m:t>2</m:t>
                        </m:r>
                      </m:e>
                    </m:rad>
                  </m:oMath>
                </a14:m>
                <a:r>
                  <a:rPr lang="zh-CN" altLang="en-US"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i="1" dirty="0">
                    <a:solidFill>
                      <a:schemeClr val="bg1"/>
                    </a:solidFill>
                    <a:ea typeface="微软雅黑" panose="020B0503020204020204" pitchFamily="34" charset="-122"/>
                    <a:cs typeface="Times New Roman" panose="02020603050405020304" pitchFamily="18" charset="0"/>
                  </a:rPr>
                  <a:t>Q</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 </a:t>
                </a:r>
                <a14:m>
                  <m:oMath xmlns:m="http://schemas.openxmlformats.org/officeDocument/2006/math">
                    <m:rad>
                      <m:radPr>
                        <m:degHide m:val="on"/>
                        <m:ctrlPr>
                          <a:rPr lang="zh-CN" altLang="en-US" sz="2800" b="0" i="1">
                            <a:solidFill>
                              <a:schemeClr val="bg1"/>
                            </a:solidFill>
                            <a:latin typeface="Cambria Math" panose="02040503050406030204" pitchFamily="18" charset="0"/>
                            <a:ea typeface="微软雅黑" panose="020B0503020204020204" pitchFamily="34" charset="-122"/>
                          </a:rPr>
                        </m:ctrlPr>
                      </m:radPr>
                      <m:deg/>
                      <m:e>
                        <m:r>
                          <a:rPr lang="en-US" altLang="zh-CN" sz="2800" b="0" i="1">
                            <a:solidFill>
                              <a:schemeClr val="bg1"/>
                            </a:solidFill>
                            <a:latin typeface="Cambria Math" panose="02040503050406030204" pitchFamily="18" charset="0"/>
                            <a:ea typeface="微软雅黑" panose="020B0503020204020204" pitchFamily="34" charset="-122"/>
                          </a:rPr>
                          <m:t>2</m:t>
                        </m:r>
                      </m:e>
                    </m:rad>
                  </m:oMath>
                </a14:m>
                <a:r>
                  <a:rPr lang="zh-CN" altLang="en-US"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i="1" dirty="0">
                    <a:solidFill>
                      <a:schemeClr val="bg1"/>
                    </a:solidFill>
                    <a:ea typeface="微软雅黑" panose="020B0503020204020204" pitchFamily="34" charset="-122"/>
                    <a:cs typeface="Times New Roman" panose="02020603050405020304" pitchFamily="18" charset="0"/>
                  </a:rPr>
                  <a:t>R</a:t>
                </a:r>
                <a:endParaRPr lang="zh-CN" altLang="en-US" sz="2800" b="0" dirty="0">
                  <a:solidFill>
                    <a:schemeClr val="bg1"/>
                  </a:solidFill>
                  <a:ea typeface="微软雅黑" panose="020B0503020204020204" pitchFamily="34" charset="-122"/>
                  <a:cs typeface="Times New Roman" panose="020206030504050203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537023" y="4924178"/>
                <a:ext cx="6093618" cy="565155"/>
              </a:xfrm>
              <a:prstGeom prst="rect">
                <a:avLst/>
              </a:prstGeom>
              <a:blipFill rotWithShape="1">
                <a:blip r:embed="rId4"/>
                <a:stretch>
                  <a:fillRect l="-5" t="-69" r="8" b="70"/>
                </a:stretch>
              </a:blipFill>
            </p:spPr>
            <p:txBody>
              <a:bodyPr/>
              <a:lstStyle/>
              <a:p>
                <a:r>
                  <a:rPr lang="zh-CN" altLang="en-US">
                    <a:noFill/>
                  </a:rPr>
                  <a:t> </a:t>
                </a:r>
              </a:p>
            </p:txBody>
          </p:sp>
        </mc:Fallback>
      </mc:AlternateContent>
      <p:sp>
        <p:nvSpPr>
          <p:cNvPr id="8" name="Rectangle 2"/>
          <p:cNvSpPr txBox="1">
            <a:spLocks noChangeArrowheads="1"/>
          </p:cNvSpPr>
          <p:nvPr/>
        </p:nvSpPr>
        <p:spPr bwMode="auto">
          <a:xfrm>
            <a:off x="5159896" y="247802"/>
            <a:ext cx="6768752"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1.1.1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集合的描述、表示和术语</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411"/>
                                        </p:tgtEl>
                                        <p:attrNameLst>
                                          <p:attrName>style.visibility</p:attrName>
                                        </p:attrNameLst>
                                      </p:cBhvr>
                                      <p:to>
                                        <p:strVal val="visible"/>
                                      </p:to>
                                    </p:set>
                                    <p:animEffect transition="in" filter="wipe(left)">
                                      <p:cBhvr>
                                        <p:cTn id="11" dur="500"/>
                                        <p:tgtEl>
                                          <p:spTgt spid="17411"/>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anim calcmode="lin" valueType="num">
                                      <p:cBhvr>
                                        <p:cTn id="17" dur="1000" fill="hold"/>
                                        <p:tgtEl>
                                          <p:spTgt spid="2"/>
                                        </p:tgtEl>
                                        <p:attrNameLst>
                                          <p:attrName>ppt_x</p:attrName>
                                        </p:attrNameLst>
                                      </p:cBhvr>
                                      <p:tavLst>
                                        <p:tav tm="0">
                                          <p:val>
                                            <p:strVal val="#ppt_x"/>
                                          </p:val>
                                        </p:tav>
                                        <p:tav tm="100000">
                                          <p:val>
                                            <p:strVal val="#ppt_x"/>
                                          </p:val>
                                        </p:tav>
                                      </p:tavLst>
                                    </p:anim>
                                    <p:anim calcmode="lin" valueType="num">
                                      <p:cBhvr>
                                        <p:cTn id="18" dur="1000" fill="hold"/>
                                        <p:tgtEl>
                                          <p:spTgt spid="2"/>
                                        </p:tgtEl>
                                        <p:attrNameLst>
                                          <p:attrName>ppt_y</p:attrName>
                                        </p:attrNameLst>
                                      </p:cBhvr>
                                      <p:tavLst>
                                        <p:tav tm="0">
                                          <p:val>
                                            <p:strVal val="#ppt_y+.1"/>
                                          </p:val>
                                        </p:tav>
                                        <p:tav tm="100000">
                                          <p:val>
                                            <p:strVal val="#ppt_y"/>
                                          </p:val>
                                        </p:tav>
                                      </p:tavLst>
                                    </p:anim>
                                  </p:childTnLst>
                                </p:cTn>
                              </p:par>
                            </p:childTnLst>
                          </p:cTn>
                        </p:par>
                        <p:par>
                          <p:cTn id="19" fill="hold">
                            <p:stCondLst>
                              <p:cond delay="1000"/>
                            </p:stCondLst>
                            <p:childTnLst>
                              <p:par>
                                <p:cTn id="20" presetID="42"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25" grpId="0"/>
      <p:bldP spid="2"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63352" y="1585961"/>
            <a:ext cx="4320480"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集合的表示</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文本框 10"/>
              <p:cNvSpPr txBox="1"/>
              <p:nvPr/>
            </p:nvSpPr>
            <p:spPr>
              <a:xfrm>
                <a:off x="950144" y="2214605"/>
                <a:ext cx="10945216" cy="3720377"/>
              </a:xfrm>
              <a:prstGeom prst="rect">
                <a:avLst/>
              </a:prstGeom>
              <a:noFill/>
            </p:spPr>
            <p:txBody>
              <a:bodyPr wrap="square">
                <a:spAutoFit/>
              </a:bodyPr>
              <a:lstStyle/>
              <a:p>
                <a:pPr marL="533400" indent="-533400" eaLnBrk="1" hangingPunct="1">
                  <a:lnSpc>
                    <a:spcPct val="150000"/>
                  </a:lnSpc>
                  <a:buFont typeface="Wingdings" panose="05000000000000000000" pitchFamily="2" charset="2"/>
                  <a:buNone/>
                  <a:defRPr/>
                </a:pPr>
                <a:r>
                  <a:rPr lang="en-US" altLang="zh-CN" sz="2800" b="0" dirty="0">
                    <a:solidFill>
                      <a:srgbClr val="FFFF00"/>
                    </a:solidFill>
                    <a:ea typeface="微软雅黑" panose="020B0503020204020204" pitchFamily="34" charset="-122"/>
                    <a:cs typeface="Times New Roman" panose="02020603050405020304" pitchFamily="18" charset="0"/>
                  </a:rPr>
                  <a:t>(1)  </a:t>
                </a:r>
                <a:r>
                  <a:rPr lang="zh-CN" altLang="en-US" sz="2800" b="0" dirty="0">
                    <a:solidFill>
                      <a:srgbClr val="FFFF00"/>
                    </a:solidFill>
                    <a:ea typeface="微软雅黑" panose="020B0503020204020204" pitchFamily="34" charset="-122"/>
                    <a:cs typeface="Times New Roman" panose="02020603050405020304" pitchFamily="18" charset="0"/>
                  </a:rPr>
                  <a:t>列</a:t>
                </a:r>
                <a:r>
                  <a:rPr lang="en-US" altLang="zh-CN" sz="2800" b="0" dirty="0">
                    <a:solidFill>
                      <a:srgbClr val="FFFF00"/>
                    </a:solidFill>
                    <a:ea typeface="微软雅黑" panose="020B0503020204020204" pitchFamily="34" charset="-122"/>
                    <a:cs typeface="Times New Roman" panose="02020603050405020304" pitchFamily="18" charset="0"/>
                  </a:rPr>
                  <a:t>(</a:t>
                </a:r>
                <a:r>
                  <a:rPr lang="zh-CN" altLang="en-US" sz="2800" b="0" dirty="0">
                    <a:solidFill>
                      <a:srgbClr val="FFFF00"/>
                    </a:solidFill>
                    <a:ea typeface="微软雅黑" panose="020B0503020204020204" pitchFamily="34" charset="-122"/>
                    <a:cs typeface="Times New Roman" panose="02020603050405020304" pitchFamily="18" charset="0"/>
                  </a:rPr>
                  <a:t>枚</a:t>
                </a:r>
                <a:r>
                  <a:rPr lang="en-US" altLang="zh-CN" sz="2800" b="0" dirty="0">
                    <a:solidFill>
                      <a:srgbClr val="FFFF00"/>
                    </a:solidFill>
                    <a:ea typeface="微软雅黑" panose="020B0503020204020204" pitchFamily="34" charset="-122"/>
                    <a:cs typeface="Times New Roman" panose="02020603050405020304" pitchFamily="18" charset="0"/>
                  </a:rPr>
                  <a:t>)</a:t>
                </a:r>
                <a:r>
                  <a:rPr lang="zh-CN" altLang="en-US" sz="2800" b="0" dirty="0">
                    <a:solidFill>
                      <a:srgbClr val="FFFF00"/>
                    </a:solidFill>
                    <a:ea typeface="微软雅黑" panose="020B0503020204020204" pitchFamily="34" charset="-122"/>
                    <a:cs typeface="Times New Roman" panose="02020603050405020304" pitchFamily="18" charset="0"/>
                  </a:rPr>
                  <a:t>举法： </a:t>
                </a:r>
                <a:r>
                  <a:rPr lang="en-US" altLang="zh-CN" sz="2600" b="0" dirty="0">
                    <a:solidFill>
                      <a:schemeClr val="bg1"/>
                    </a:solidFill>
                    <a:ea typeface="微软雅黑" panose="020B0503020204020204" pitchFamily="34" charset="-122"/>
                    <a:cs typeface="Times New Roman" panose="02020603050405020304" pitchFamily="18" charset="0"/>
                  </a:rPr>
                  <a:t>{</a:t>
                </a:r>
                <a:r>
                  <a:rPr lang="zh-CN" altLang="en-US" sz="2600" b="0" dirty="0">
                    <a:solidFill>
                      <a:schemeClr val="bg1"/>
                    </a:solidFill>
                    <a:ea typeface="微软雅黑" panose="020B0503020204020204" pitchFamily="34" charset="-122"/>
                    <a:cs typeface="Times New Roman" panose="02020603050405020304" pitchFamily="18" charset="0"/>
                  </a:rPr>
                  <a:t>元素列表</a:t>
                </a:r>
                <a:r>
                  <a:rPr lang="en-US" altLang="zh-CN" sz="2600" b="0" dirty="0">
                    <a:solidFill>
                      <a:schemeClr val="bg1"/>
                    </a:solidFill>
                    <a:ea typeface="微软雅黑" panose="020B0503020204020204" pitchFamily="34" charset="-122"/>
                    <a:cs typeface="Times New Roman" panose="02020603050405020304" pitchFamily="18" charset="0"/>
                  </a:rPr>
                  <a:t>}</a:t>
                </a:r>
              </a:p>
              <a:p>
                <a:pPr marL="533400" indent="-533400" eaLnBrk="1" hangingPunct="1">
                  <a:lnSpc>
                    <a:spcPct val="150000"/>
                  </a:lnSpc>
                  <a:buFont typeface="Wingdings" panose="05000000000000000000" pitchFamily="2" charset="2"/>
                  <a:buNone/>
                  <a:defRPr/>
                </a:pPr>
                <a:r>
                  <a:rPr lang="en-US" altLang="zh-CN" sz="2400" dirty="0">
                    <a:solidFill>
                      <a:srgbClr val="FFCCFF"/>
                    </a:solidFill>
                    <a:ea typeface="微软雅黑" panose="020B0503020204020204" pitchFamily="34" charset="-122"/>
                    <a:cs typeface="Times New Roman" panose="02020603050405020304" pitchFamily="18" charset="0"/>
                  </a:rPr>
                  <a:t>    </a:t>
                </a:r>
                <a:r>
                  <a:rPr lang="zh-CN" altLang="en-US" sz="2400" dirty="0">
                    <a:solidFill>
                      <a:srgbClr val="FFCCFF"/>
                    </a:solidFill>
                    <a:ea typeface="微软雅黑" panose="020B0503020204020204" pitchFamily="34" charset="-122"/>
                    <a:cs typeface="Times New Roman" panose="02020603050405020304" pitchFamily="18" charset="0"/>
                  </a:rPr>
                  <a:t>示例：</a:t>
                </a:r>
                <a:r>
                  <a:rPr lang="en-US" altLang="zh-CN" sz="2400" b="0" dirty="0">
                    <a:solidFill>
                      <a:schemeClr val="bg1"/>
                    </a:solidFill>
                    <a:ea typeface="微软雅黑" panose="020B0503020204020204" pitchFamily="34" charset="-122"/>
                    <a:cs typeface="Times New Roman" panose="02020603050405020304" pitchFamily="18" charset="0"/>
                  </a:rPr>
                  <a:t>{1, 2, 3},  {1, 2, 3, …},  {1, 2, …, 100}</a:t>
                </a:r>
              </a:p>
              <a:p>
                <a:pPr marL="533400" indent="-533400" eaLnBrk="1" hangingPunct="1">
                  <a:lnSpc>
                    <a:spcPct val="150000"/>
                  </a:lnSpc>
                  <a:buFont typeface="Wingdings" panose="05000000000000000000" pitchFamily="2" charset="2"/>
                  <a:buNone/>
                  <a:defRPr/>
                </a:pPr>
                <a:r>
                  <a:rPr lang="en-US" altLang="zh-CN" sz="2800" b="0" dirty="0">
                    <a:solidFill>
                      <a:srgbClr val="FFFF00"/>
                    </a:solidFill>
                    <a:ea typeface="微软雅黑" panose="020B0503020204020204" pitchFamily="34" charset="-122"/>
                    <a:cs typeface="Times New Roman" panose="02020603050405020304" pitchFamily="18" charset="0"/>
                  </a:rPr>
                  <a:t>(2)  </a:t>
                </a:r>
                <a:r>
                  <a:rPr lang="zh-CN" altLang="en-US" sz="2800" b="0" dirty="0">
                    <a:solidFill>
                      <a:srgbClr val="FFFF00"/>
                    </a:solidFill>
                    <a:ea typeface="微软雅黑" panose="020B0503020204020204" pitchFamily="34" charset="-122"/>
                    <a:cs typeface="Times New Roman" panose="02020603050405020304" pitchFamily="18" charset="0"/>
                  </a:rPr>
                  <a:t>谓词法</a:t>
                </a:r>
                <a:r>
                  <a:rPr lang="en-US" altLang="zh-CN" sz="2800" b="0" dirty="0">
                    <a:solidFill>
                      <a:srgbClr val="FFFF00"/>
                    </a:solidFill>
                    <a:ea typeface="微软雅黑" panose="020B0503020204020204" pitchFamily="34" charset="-122"/>
                    <a:cs typeface="Times New Roman" panose="02020603050405020304" pitchFamily="18" charset="0"/>
                  </a:rPr>
                  <a:t>(</a:t>
                </a:r>
                <a:r>
                  <a:rPr lang="zh-CN" altLang="en-US" sz="2800" b="0" dirty="0">
                    <a:solidFill>
                      <a:srgbClr val="FFFF00"/>
                    </a:solidFill>
                    <a:ea typeface="微软雅黑" panose="020B0503020204020204" pitchFamily="34" charset="-122"/>
                    <a:cs typeface="Times New Roman" panose="02020603050405020304" pitchFamily="18" charset="0"/>
                  </a:rPr>
                  <a:t>概括法</a:t>
                </a:r>
                <a:r>
                  <a:rPr lang="en-US" altLang="zh-CN" sz="2800" b="0" dirty="0">
                    <a:solidFill>
                      <a:srgbClr val="FFFF00"/>
                    </a:solidFill>
                    <a:ea typeface="微软雅黑" panose="020B0503020204020204" pitchFamily="34" charset="-122"/>
                    <a:cs typeface="Times New Roman" panose="02020603050405020304" pitchFamily="18" charset="0"/>
                  </a:rPr>
                  <a:t>)</a:t>
                </a:r>
                <a:r>
                  <a:rPr lang="zh-CN" altLang="en-US" sz="2800" b="0" dirty="0">
                    <a:solidFill>
                      <a:srgbClr val="FFFF00"/>
                    </a:solidFill>
                    <a:ea typeface="微软雅黑" panose="020B0503020204020204" pitchFamily="34" charset="-122"/>
                    <a:cs typeface="Times New Roman" panose="02020603050405020304" pitchFamily="18" charset="0"/>
                  </a:rPr>
                  <a:t>：</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i="1" dirty="0" err="1">
                    <a:solidFill>
                      <a:schemeClr val="bg1"/>
                    </a:solidFill>
                    <a:cs typeface="Times New Roman" panose="02020603050405020304" pitchFamily="18" charset="0"/>
                  </a:rPr>
                  <a:t>x</a:t>
                </a:r>
                <a:r>
                  <a:rPr lang="en-US" altLang="zh-CN" sz="2800" b="0" dirty="0" err="1">
                    <a:solidFill>
                      <a:schemeClr val="bg1"/>
                    </a:solidFill>
                    <a:ea typeface="微软雅黑" panose="020B0503020204020204" pitchFamily="34" charset="-122"/>
                    <a:cs typeface="Times New Roman" panose="02020603050405020304" pitchFamily="18" charset="0"/>
                  </a:rPr>
                  <a:t>|</a:t>
                </a:r>
                <a:r>
                  <a:rPr lang="en-US" altLang="zh-CN" sz="2800" i="1" dirty="0" err="1">
                    <a:solidFill>
                      <a:srgbClr val="FFFF00"/>
                    </a:solidFill>
                    <a:cs typeface="Times New Roman" panose="02020603050405020304" pitchFamily="18" charset="0"/>
                  </a:rPr>
                  <a:t>p</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i="1" dirty="0">
                    <a:solidFill>
                      <a:schemeClr val="bg1"/>
                    </a:solidFill>
                    <a:cs typeface="Times New Roman" panose="02020603050405020304" pitchFamily="18" charset="0"/>
                  </a:rPr>
                  <a:t>x</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a:t>
                </a:r>
                <a:r>
                  <a:rPr lang="zh-CN" altLang="en-US" sz="2600" b="0" dirty="0">
                    <a:solidFill>
                      <a:schemeClr val="bg1"/>
                    </a:solidFill>
                    <a:ea typeface="微软雅黑" panose="020B0503020204020204" pitchFamily="34" charset="-122"/>
                    <a:cs typeface="Times New Roman" panose="02020603050405020304" pitchFamily="18" charset="0"/>
                  </a:rPr>
                  <a:t>满足性质</a:t>
                </a:r>
                <a:r>
                  <a:rPr lang="en-US" altLang="zh-CN" sz="2600" i="1" dirty="0">
                    <a:solidFill>
                      <a:srgbClr val="FFFF00"/>
                    </a:solidFill>
                    <a:ea typeface="微软雅黑" panose="020B0503020204020204" pitchFamily="34" charset="-122"/>
                    <a:cs typeface="Times New Roman" panose="02020603050405020304" pitchFamily="18" charset="0"/>
                  </a:rPr>
                  <a:t>p</a:t>
                </a:r>
                <a:r>
                  <a:rPr lang="zh-CN" altLang="en-US" sz="2600" b="0" dirty="0">
                    <a:solidFill>
                      <a:schemeClr val="bg1"/>
                    </a:solidFill>
                    <a:ea typeface="微软雅黑" panose="020B0503020204020204" pitchFamily="34" charset="-122"/>
                    <a:cs typeface="Times New Roman" panose="02020603050405020304" pitchFamily="18" charset="0"/>
                  </a:rPr>
                  <a:t>的所有元素所构成的集合</a:t>
                </a:r>
              </a:p>
              <a:p>
                <a:pPr marL="533400" indent="-533400" eaLnBrk="1" hangingPunct="1">
                  <a:lnSpc>
                    <a:spcPct val="150000"/>
                  </a:lnSpc>
                  <a:buFont typeface="Wingdings" panose="05000000000000000000" pitchFamily="2" charset="2"/>
                  <a:buNone/>
                  <a:defRPr/>
                </a:pPr>
                <a:r>
                  <a:rPr lang="zh-CN" altLang="en-US" sz="2400" b="0" dirty="0">
                    <a:solidFill>
                      <a:schemeClr val="bg1"/>
                    </a:solidFill>
                    <a:ea typeface="微软雅黑" panose="020B0503020204020204" pitchFamily="34" charset="-122"/>
                    <a:cs typeface="Times New Roman" panose="02020603050405020304" pitchFamily="18" charset="0"/>
                  </a:rPr>
                  <a:t>    </a:t>
                </a:r>
                <a:r>
                  <a:rPr lang="zh-CN" altLang="en-US" sz="2400" dirty="0">
                    <a:solidFill>
                      <a:srgbClr val="FFCCFF"/>
                    </a:solidFill>
                    <a:ea typeface="微软雅黑" panose="020B0503020204020204" pitchFamily="34" charset="-122"/>
                    <a:cs typeface="Times New Roman" panose="02020603050405020304" pitchFamily="18" charset="0"/>
                  </a:rPr>
                  <a:t>示例：</a:t>
                </a:r>
                <a:r>
                  <a:rPr lang="en-US" altLang="zh-CN" sz="2400" b="0" dirty="0">
                    <a:solidFill>
                      <a:schemeClr val="bg1"/>
                    </a:solidFill>
                    <a:ea typeface="微软雅黑" panose="020B0503020204020204" pitchFamily="34" charset="-122"/>
                    <a:cs typeface="Times New Roman" panose="02020603050405020304" pitchFamily="18" charset="0"/>
                  </a:rPr>
                  <a:t>{</a:t>
                </a:r>
                <a:r>
                  <a:rPr lang="en-US" altLang="zh-CN" sz="2800" i="1" dirty="0" err="1">
                    <a:solidFill>
                      <a:schemeClr val="bg1"/>
                    </a:solidFill>
                    <a:cs typeface="Times New Roman" panose="02020603050405020304" pitchFamily="18" charset="0"/>
                  </a:rPr>
                  <a:t>x</a:t>
                </a:r>
                <a:r>
                  <a:rPr lang="en-US" altLang="zh-CN" sz="2400" b="0" dirty="0" err="1">
                    <a:solidFill>
                      <a:schemeClr val="bg1"/>
                    </a:solidFill>
                    <a:ea typeface="微软雅黑" panose="020B0503020204020204" pitchFamily="34" charset="-122"/>
                    <a:cs typeface="Times New Roman" panose="02020603050405020304" pitchFamily="18" charset="0"/>
                  </a:rPr>
                  <a:t>|</a:t>
                </a:r>
                <a:r>
                  <a:rPr lang="en-US" altLang="zh-CN" sz="2800" i="1" dirty="0" err="1">
                    <a:solidFill>
                      <a:schemeClr val="bg1"/>
                    </a:solidFill>
                    <a:cs typeface="Times New Roman" panose="02020603050405020304" pitchFamily="18" charset="0"/>
                  </a:rPr>
                  <a:t>x</a:t>
                </a:r>
                <a:r>
                  <a:rPr lang="en-US" altLang="zh-CN" sz="2400" b="0" dirty="0" err="1">
                    <a:solidFill>
                      <a:schemeClr val="bg1"/>
                    </a:solidFill>
                    <a:ea typeface="微软雅黑" panose="020B0503020204020204" pitchFamily="34" charset="-122"/>
                    <a:cs typeface="Times New Roman" panose="02020603050405020304" pitchFamily="18" charset="0"/>
                  </a:rPr>
                  <a:t>∈</a:t>
                </a:r>
                <a14:m>
                  <m:oMath xmlns:m="http://schemas.openxmlformats.org/officeDocument/2006/math">
                    <m:r>
                      <m:rPr>
                        <m:nor/>
                      </m:rPr>
                      <a:rPr lang="en-US" altLang="zh-CN" sz="2400" b="0" i="1" dirty="0">
                        <a:solidFill>
                          <a:schemeClr val="bg1"/>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pitchFamily="18" charset="2"/>
                      </a:rPr>
                      <m:t>N</m:t>
                    </m:r>
                    <m:r>
                      <m:rPr>
                        <m:nor/>
                      </m:rPr>
                      <a:rPr lang="en-US" altLang="zh-CN" sz="2400" b="0" baseline="-25000" dirty="0">
                        <a:solidFill>
                          <a:schemeClr val="bg1"/>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pitchFamily="18" charset="2"/>
                      </a:rPr>
                      <m:t>+</m:t>
                    </m:r>
                  </m:oMath>
                </a14:m>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且</a:t>
                </a:r>
                <a:r>
                  <a:rPr lang="en-US" altLang="zh-CN" sz="2800" i="1" dirty="0">
                    <a:solidFill>
                      <a:schemeClr val="bg1"/>
                    </a:solidFill>
                    <a:cs typeface="Times New Roman" panose="02020603050405020304" pitchFamily="18" charset="0"/>
                  </a:rPr>
                  <a:t>x</a:t>
                </a:r>
                <a:r>
                  <a:rPr lang="en-US" altLang="zh-CN" sz="2400" b="0" baseline="30000" dirty="0">
                    <a:solidFill>
                      <a:schemeClr val="bg1"/>
                    </a:solidFill>
                    <a:ea typeface="微软雅黑" panose="020B0503020204020204" pitchFamily="34" charset="-122"/>
                    <a:cs typeface="Times New Roman" panose="02020603050405020304" pitchFamily="18" charset="0"/>
                  </a:rPr>
                  <a:t>2</a:t>
                </a:r>
                <a:r>
                  <a:rPr lang="en-US" altLang="zh-CN" sz="2400" b="0" dirty="0">
                    <a:solidFill>
                      <a:schemeClr val="bg1"/>
                    </a:solidFill>
                    <a:ea typeface="微软雅黑" panose="020B0503020204020204" pitchFamily="34" charset="-122"/>
                    <a:cs typeface="Times New Roman" panose="02020603050405020304" pitchFamily="18" charset="0"/>
                  </a:rPr>
                  <a:t>≤100}= {1, 2, …, 10}</a:t>
                </a:r>
              </a:p>
              <a:p>
                <a:pPr marL="533400" indent="-533400" eaLnBrk="1" hangingPunct="1">
                  <a:lnSpc>
                    <a:spcPct val="150000"/>
                  </a:lnSpc>
                  <a:buFont typeface="Wingdings" panose="05000000000000000000" pitchFamily="2" charset="2"/>
                  <a:buNone/>
                  <a:defRPr/>
                </a:pPr>
                <a:r>
                  <a:rPr lang="en-US" altLang="zh-CN" sz="2800" b="0" dirty="0">
                    <a:solidFill>
                      <a:srgbClr val="FFFF00"/>
                    </a:solidFill>
                    <a:ea typeface="微软雅黑" panose="020B0503020204020204" pitchFamily="34" charset="-122"/>
                    <a:cs typeface="Times New Roman" panose="02020603050405020304" pitchFamily="18" charset="0"/>
                  </a:rPr>
                  <a:t>(3)  </a:t>
                </a:r>
                <a:r>
                  <a:rPr lang="zh-CN" altLang="en-US" sz="2800" b="0" dirty="0">
                    <a:solidFill>
                      <a:srgbClr val="FFFF00"/>
                    </a:solidFill>
                    <a:ea typeface="微软雅黑" panose="020B0503020204020204" pitchFamily="34" charset="-122"/>
                    <a:cs typeface="Times New Roman" panose="02020603050405020304" pitchFamily="18" charset="0"/>
                  </a:rPr>
                  <a:t>文氏图：</a:t>
                </a:r>
                <a:r>
                  <a:rPr lang="zh-CN" altLang="en-US" sz="2600" b="0" dirty="0">
                    <a:solidFill>
                      <a:schemeClr val="bg1"/>
                    </a:solidFill>
                    <a:ea typeface="微软雅黑" panose="020B0503020204020204" pitchFamily="34" charset="-122"/>
                    <a:cs typeface="Times New Roman" panose="02020603050405020304" pitchFamily="18" charset="0"/>
                  </a:rPr>
                  <a:t>用来</a:t>
                </a:r>
                <a:r>
                  <a:rPr lang="zh-CN" altLang="en-US" sz="2600" b="0" u="sng" dirty="0">
                    <a:solidFill>
                      <a:srgbClr val="FF7C80"/>
                    </a:solidFill>
                    <a:ea typeface="微软雅黑" panose="020B0503020204020204" pitchFamily="34" charset="-122"/>
                    <a:cs typeface="Times New Roman" panose="02020603050405020304" pitchFamily="18" charset="0"/>
                  </a:rPr>
                  <a:t>示意</a:t>
                </a:r>
                <a:r>
                  <a:rPr lang="zh-CN" altLang="en-US" sz="2600" b="0" dirty="0">
                    <a:solidFill>
                      <a:schemeClr val="bg1"/>
                    </a:solidFill>
                    <a:ea typeface="微软雅黑" panose="020B0503020204020204" pitchFamily="34" charset="-122"/>
                    <a:cs typeface="Times New Roman" panose="02020603050405020304" pitchFamily="18" charset="0"/>
                  </a:rPr>
                  <a:t>集合的图形</a:t>
                </a:r>
                <a:r>
                  <a:rPr lang="en-US" altLang="zh-CN" sz="2600" b="0" dirty="0">
                    <a:solidFill>
                      <a:schemeClr val="bg1"/>
                    </a:solidFill>
                    <a:ea typeface="微软雅黑" panose="020B0503020204020204" pitchFamily="34" charset="-122"/>
                    <a:cs typeface="Times New Roman" panose="02020603050405020304" pitchFamily="18" charset="0"/>
                  </a:rPr>
                  <a:t>,  </a:t>
                </a:r>
                <a:r>
                  <a:rPr lang="zh-CN" altLang="en-US" sz="2600" b="0" dirty="0">
                    <a:solidFill>
                      <a:schemeClr val="bg1"/>
                    </a:solidFill>
                    <a:ea typeface="微软雅黑" panose="020B0503020204020204" pitchFamily="34" charset="-122"/>
                    <a:cs typeface="Times New Roman" panose="02020603050405020304" pitchFamily="18" charset="0"/>
                  </a:rPr>
                  <a:t>可直观地表示集合间的关系</a:t>
                </a:r>
              </a:p>
              <a:p>
                <a:pPr marL="533400" indent="-533400" eaLnBrk="1" hangingPunct="1">
                  <a:lnSpc>
                    <a:spcPct val="150000"/>
                  </a:lnSpc>
                  <a:buFont typeface="Wingdings" panose="05000000000000000000" pitchFamily="2" charset="2"/>
                  <a:buNone/>
                  <a:defRPr/>
                </a:pPr>
                <a:r>
                  <a:rPr lang="zh-CN" altLang="en-US" sz="2400" dirty="0">
                    <a:solidFill>
                      <a:srgbClr val="FFCCFF"/>
                    </a:solidFill>
                    <a:ea typeface="微软雅黑" panose="020B0503020204020204" pitchFamily="34" charset="-122"/>
                    <a:cs typeface="Times New Roman" panose="02020603050405020304" pitchFamily="18" charset="0"/>
                  </a:rPr>
                  <a:t>     约定：</a:t>
                </a:r>
                <a:r>
                  <a:rPr lang="zh-CN" altLang="en-US" sz="2400" b="0" dirty="0">
                    <a:solidFill>
                      <a:schemeClr val="bg1"/>
                    </a:solidFill>
                    <a:ea typeface="微软雅黑" panose="020B0503020204020204" pitchFamily="34" charset="-122"/>
                    <a:cs typeface="Times New Roman" panose="02020603050405020304" pitchFamily="18" charset="0"/>
                  </a:rPr>
                  <a:t>矩形表示全集</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圆表示其他集合</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点表示元素</a:t>
                </a:r>
              </a:p>
            </p:txBody>
          </p:sp>
        </mc:Choice>
        <mc:Fallback xmlns="">
          <p:sp>
            <p:nvSpPr>
              <p:cNvPr id="11" name="文本框 10"/>
              <p:cNvSpPr txBox="1">
                <a:spLocks noRot="1" noChangeAspect="1" noMove="1" noResize="1" noEditPoints="1" noAdjustHandles="1" noChangeArrowheads="1" noChangeShapeType="1" noTextEdit="1"/>
              </p:cNvSpPr>
              <p:nvPr/>
            </p:nvSpPr>
            <p:spPr>
              <a:xfrm>
                <a:off x="950144" y="2214605"/>
                <a:ext cx="10945216" cy="3720377"/>
              </a:xfrm>
              <a:prstGeom prst="rect">
                <a:avLst/>
              </a:prstGeom>
              <a:blipFill rotWithShape="1">
                <a:blip r:embed="rId4"/>
                <a:stretch>
                  <a:fillRect l="-2" t="-10" r="5" b="7"/>
                </a:stretch>
              </a:blipFill>
            </p:spPr>
            <p:txBody>
              <a:bodyPr/>
              <a:lstStyle/>
              <a:p>
                <a:r>
                  <a:rPr lang="zh-CN" altLang="en-US">
                    <a:noFill/>
                  </a:rPr>
                  <a:t> </a:t>
                </a:r>
              </a:p>
            </p:txBody>
          </p:sp>
        </mc:Fallback>
      </mc:AlternateContent>
      <p:sp>
        <p:nvSpPr>
          <p:cNvPr id="6" name="Rectangle 2"/>
          <p:cNvSpPr txBox="1">
            <a:spLocks noChangeArrowheads="1"/>
          </p:cNvSpPr>
          <p:nvPr/>
        </p:nvSpPr>
        <p:spPr bwMode="auto">
          <a:xfrm>
            <a:off x="5159896" y="247802"/>
            <a:ext cx="6768752"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1.1.1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集合的描述、表示和术语</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wipe(left)">
                                      <p:cBhvr>
                                        <p:cTn id="7" dur="500"/>
                                        <p:tgtEl>
                                          <p:spTgt spid="174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1000"/>
                                        <p:tgtEl>
                                          <p:spTgt spid="11">
                                            <p:txEl>
                                              <p:pRg st="0" end="0"/>
                                            </p:txEl>
                                          </p:spTgt>
                                        </p:tgtEl>
                                      </p:cBhvr>
                                    </p:animEffect>
                                    <p:anim calcmode="lin" valueType="num">
                                      <p:cBhvr>
                                        <p:cTn id="13"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1000"/>
                                        <p:tgtEl>
                                          <p:spTgt spid="11">
                                            <p:txEl>
                                              <p:pRg st="1" end="1"/>
                                            </p:txEl>
                                          </p:spTgt>
                                        </p:tgtEl>
                                      </p:cBhvr>
                                    </p:animEffect>
                                    <p:anim calcmode="lin" valueType="num">
                                      <p:cBhvr>
                                        <p:cTn id="19"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animEffect transition="in" filter="fade">
                                      <p:cBhvr>
                                        <p:cTn id="25" dur="1000"/>
                                        <p:tgtEl>
                                          <p:spTgt spid="11">
                                            <p:txEl>
                                              <p:pRg st="2" end="2"/>
                                            </p:txEl>
                                          </p:spTgt>
                                        </p:tgtEl>
                                      </p:cBhvr>
                                    </p:animEffect>
                                    <p:anim calcmode="lin" valueType="num">
                                      <p:cBhvr>
                                        <p:cTn id="26"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par>
                          <p:cTn id="28" fill="hold">
                            <p:stCondLst>
                              <p:cond delay="1000"/>
                            </p:stCondLst>
                            <p:childTnLst>
                              <p:par>
                                <p:cTn id="29" presetID="42" presetClass="entr" presetSubtype="0" fill="hold" nodeType="afterEffect">
                                  <p:stCondLst>
                                    <p:cond delay="0"/>
                                  </p:stCondLst>
                                  <p:childTnLst>
                                    <p:set>
                                      <p:cBhvr>
                                        <p:cTn id="30" dur="1" fill="hold">
                                          <p:stCondLst>
                                            <p:cond delay="0"/>
                                          </p:stCondLst>
                                        </p:cTn>
                                        <p:tgtEl>
                                          <p:spTgt spid="11">
                                            <p:txEl>
                                              <p:pRg st="3" end="3"/>
                                            </p:txEl>
                                          </p:spTgt>
                                        </p:tgtEl>
                                        <p:attrNameLst>
                                          <p:attrName>style.visibility</p:attrName>
                                        </p:attrNameLst>
                                      </p:cBhvr>
                                      <p:to>
                                        <p:strVal val="visible"/>
                                      </p:to>
                                    </p:set>
                                    <p:animEffect transition="in" filter="fade">
                                      <p:cBhvr>
                                        <p:cTn id="31" dur="1000"/>
                                        <p:tgtEl>
                                          <p:spTgt spid="11">
                                            <p:txEl>
                                              <p:pRg st="3" end="3"/>
                                            </p:txEl>
                                          </p:spTgt>
                                        </p:tgtEl>
                                      </p:cBhvr>
                                    </p:animEffect>
                                    <p:anim calcmode="lin" valueType="num">
                                      <p:cBhvr>
                                        <p:cTn id="32"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1">
                                            <p:txEl>
                                              <p:pRg st="4" end="4"/>
                                            </p:txEl>
                                          </p:spTgt>
                                        </p:tgtEl>
                                        <p:attrNameLst>
                                          <p:attrName>style.visibility</p:attrName>
                                        </p:attrNameLst>
                                      </p:cBhvr>
                                      <p:to>
                                        <p:strVal val="visible"/>
                                      </p:to>
                                    </p:set>
                                    <p:animEffect transition="in" filter="fade">
                                      <p:cBhvr>
                                        <p:cTn id="38" dur="1000"/>
                                        <p:tgtEl>
                                          <p:spTgt spid="11">
                                            <p:txEl>
                                              <p:pRg st="4" end="4"/>
                                            </p:txEl>
                                          </p:spTgt>
                                        </p:tgtEl>
                                      </p:cBhvr>
                                    </p:animEffect>
                                    <p:anim calcmode="lin" valueType="num">
                                      <p:cBhvr>
                                        <p:cTn id="39"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par>
                          <p:cTn id="41" fill="hold">
                            <p:stCondLst>
                              <p:cond delay="1000"/>
                            </p:stCondLst>
                            <p:childTnLst>
                              <p:par>
                                <p:cTn id="42" presetID="42" presetClass="entr" presetSubtype="0" fill="hold" nodeType="afterEffect">
                                  <p:stCondLst>
                                    <p:cond delay="0"/>
                                  </p:stCondLst>
                                  <p:childTnLst>
                                    <p:set>
                                      <p:cBhvr>
                                        <p:cTn id="43" dur="1" fill="hold">
                                          <p:stCondLst>
                                            <p:cond delay="0"/>
                                          </p:stCondLst>
                                        </p:cTn>
                                        <p:tgtEl>
                                          <p:spTgt spid="11">
                                            <p:txEl>
                                              <p:pRg st="5" end="5"/>
                                            </p:txEl>
                                          </p:spTgt>
                                        </p:tgtEl>
                                        <p:attrNameLst>
                                          <p:attrName>style.visibility</p:attrName>
                                        </p:attrNameLst>
                                      </p:cBhvr>
                                      <p:to>
                                        <p:strVal val="visible"/>
                                      </p:to>
                                    </p:set>
                                    <p:animEffect transition="in" filter="fade">
                                      <p:cBhvr>
                                        <p:cTn id="44" dur="1000"/>
                                        <p:tgtEl>
                                          <p:spTgt spid="11">
                                            <p:txEl>
                                              <p:pRg st="5" end="5"/>
                                            </p:txEl>
                                          </p:spTgt>
                                        </p:tgtEl>
                                      </p:cBhvr>
                                    </p:animEffect>
                                    <p:anim calcmode="lin" valueType="num">
                                      <p:cBhvr>
                                        <p:cTn id="45"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46"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63352" y="1585961"/>
            <a:ext cx="4320480"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5.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几个术语</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文本框 10"/>
              <p:cNvSpPr txBox="1"/>
              <p:nvPr/>
            </p:nvSpPr>
            <p:spPr>
              <a:xfrm>
                <a:off x="948408" y="2276872"/>
                <a:ext cx="10945216" cy="3828612"/>
              </a:xfrm>
              <a:prstGeom prst="rect">
                <a:avLst/>
              </a:prstGeom>
              <a:noFill/>
            </p:spPr>
            <p:txBody>
              <a:bodyPr wrap="square">
                <a:spAutoFit/>
              </a:bodyPr>
              <a:lstStyle/>
              <a:p>
                <a:pPr marL="533400" indent="-533400" eaLnBrk="1" hangingPunct="1">
                  <a:lnSpc>
                    <a:spcPct val="110000"/>
                  </a:lnSpc>
                  <a:buFont typeface="Wingdings" panose="05000000000000000000" pitchFamily="2" charset="2"/>
                  <a:buNone/>
                  <a:defRPr/>
                </a:pPr>
                <a:r>
                  <a:rPr lang="en-US" altLang="zh-CN" sz="2400" b="0" dirty="0">
                    <a:solidFill>
                      <a:srgbClr val="FFFF00"/>
                    </a:solidFill>
                    <a:ea typeface="微软雅黑" panose="020B0503020204020204" pitchFamily="34" charset="-122"/>
                    <a:cs typeface="Times New Roman" panose="02020603050405020304" pitchFamily="18" charset="0"/>
                  </a:rPr>
                  <a:t>(1)  </a:t>
                </a:r>
                <a:r>
                  <a:rPr lang="zh-CN" altLang="en-US" sz="2400" b="0" dirty="0">
                    <a:solidFill>
                      <a:srgbClr val="FFFF00"/>
                    </a:solidFill>
                    <a:ea typeface="微软雅黑" panose="020B0503020204020204" pitchFamily="34" charset="-122"/>
                    <a:cs typeface="Times New Roman" panose="02020603050405020304" pitchFamily="18" charset="0"/>
                  </a:rPr>
                  <a:t>空集：</a:t>
                </a:r>
                <a:r>
                  <a:rPr lang="zh-CN" altLang="en-US" sz="2400" b="0" dirty="0">
                    <a:solidFill>
                      <a:schemeClr val="bg1"/>
                    </a:solidFill>
                    <a:ea typeface="微软雅黑" panose="020B0503020204020204" pitchFamily="34" charset="-122"/>
                    <a:cs typeface="Times New Roman" panose="02020603050405020304" pitchFamily="18" charset="0"/>
                  </a:rPr>
                  <a:t>记为</a:t>
                </a:r>
                <a:r>
                  <a:rPr lang="zh-CN" altLang="en-US" sz="2400" i="1" dirty="0">
                    <a:solidFill>
                      <a:schemeClr val="bg1"/>
                    </a:solidFill>
                    <a:cs typeface="Times New Roman" panose="02020603050405020304" pitchFamily="18" charset="0"/>
                    <a:sym typeface="Symbol" panose="05050102010706020507" pitchFamily="18" charset="2"/>
                  </a:rPr>
                  <a:t></a:t>
                </a:r>
                <a:r>
                  <a:rPr lang="zh-CN" altLang="en-US" sz="2400" b="0" dirty="0">
                    <a:solidFill>
                      <a:schemeClr val="bg1"/>
                    </a:solidFill>
                    <a:ea typeface="微软雅黑" panose="020B0503020204020204" pitchFamily="34" charset="-122"/>
                    <a:cs typeface="Times New Roman" panose="02020603050405020304" pitchFamily="18" charset="0"/>
                  </a:rPr>
                  <a:t>     不含任何元素的集合</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是最基本的集合</a:t>
                </a:r>
                <a:endParaRPr lang="en-US" altLang="zh-CN" sz="2400" b="0" dirty="0">
                  <a:solidFill>
                    <a:schemeClr val="bg1"/>
                  </a:solidFill>
                  <a:ea typeface="微软雅黑" panose="020B0503020204020204" pitchFamily="34" charset="-122"/>
                  <a:cs typeface="Times New Roman" panose="02020603050405020304" pitchFamily="18" charset="0"/>
                </a:endParaRPr>
              </a:p>
              <a:p>
                <a:pPr marL="533400" indent="-533400" eaLnBrk="1" hangingPunct="1">
                  <a:lnSpc>
                    <a:spcPct val="110000"/>
                  </a:lnSpc>
                  <a:buFont typeface="Wingdings" panose="05000000000000000000" pitchFamily="2" charset="2"/>
                  <a:buNone/>
                  <a:defRPr/>
                </a:pPr>
                <a:r>
                  <a:rPr lang="zh-CN" altLang="en-US" sz="2400" dirty="0">
                    <a:solidFill>
                      <a:srgbClr val="FFCCFF"/>
                    </a:solidFill>
                    <a:ea typeface="微软雅黑" panose="020B0503020204020204" pitchFamily="34" charset="-122"/>
                    <a:cs typeface="Times New Roman" panose="02020603050405020304" pitchFamily="18" charset="0"/>
                  </a:rPr>
                  <a:t>       示例：</a:t>
                </a:r>
                <a:r>
                  <a:rPr lang="en-US" altLang="zh-CN" sz="2400" dirty="0">
                    <a:cs typeface="Times New Roman" panose="02020603050405020304" pitchFamily="18" charset="0"/>
                  </a:rPr>
                  <a:t> </a:t>
                </a:r>
                <a:r>
                  <a:rPr lang="en-US" altLang="zh-CN" sz="2400" b="0" dirty="0">
                    <a:solidFill>
                      <a:schemeClr val="bg1"/>
                    </a:solidFill>
                    <a:ea typeface="微软雅黑" panose="020B0503020204020204" pitchFamily="34" charset="-122"/>
                    <a:cs typeface="Times New Roman" panose="02020603050405020304" pitchFamily="18" charset="0"/>
                  </a:rPr>
                  <a:t>{},  {</a:t>
                </a:r>
                <a:r>
                  <a:rPr lang="en-US" altLang="zh-CN" sz="2400" i="1" dirty="0" err="1">
                    <a:solidFill>
                      <a:schemeClr val="bg1"/>
                    </a:solidFill>
                    <a:cs typeface="Times New Roman" panose="02020603050405020304" pitchFamily="18" charset="0"/>
                  </a:rPr>
                  <a:t>x</a:t>
                </a:r>
                <a:r>
                  <a:rPr lang="en-US" altLang="zh-CN" sz="2400" b="0" dirty="0" err="1">
                    <a:solidFill>
                      <a:schemeClr val="bg1"/>
                    </a:solidFill>
                    <a:ea typeface="微软雅黑" panose="020B0503020204020204" pitchFamily="34" charset="-122"/>
                    <a:cs typeface="Times New Roman" panose="02020603050405020304" pitchFamily="18" charset="0"/>
                  </a:rPr>
                  <a:t>|</a:t>
                </a:r>
                <a:r>
                  <a:rPr lang="en-US" altLang="zh-CN" sz="2400" i="1" dirty="0" err="1">
                    <a:solidFill>
                      <a:schemeClr val="bg1"/>
                    </a:solidFill>
                    <a:cs typeface="Times New Roman" panose="02020603050405020304" pitchFamily="18" charset="0"/>
                  </a:rPr>
                  <a:t>x</a:t>
                </a:r>
                <a:r>
                  <a:rPr lang="en-US" altLang="zh-CN" sz="2400" b="0" dirty="0">
                    <a:solidFill>
                      <a:schemeClr val="bg1"/>
                    </a:solidFill>
                    <a:ea typeface="微软雅黑" panose="020B0503020204020204" pitchFamily="34" charset="-122"/>
                    <a:cs typeface="Times New Roman" panose="02020603050405020304" pitchFamily="18" charset="0"/>
                  </a:rPr>
                  <a:t>∈</a:t>
                </a:r>
                <a14:m>
                  <m:oMath xmlns:m="http://schemas.openxmlformats.org/officeDocument/2006/math">
                    <m:r>
                      <m:rPr>
                        <m:nor/>
                      </m:rPr>
                      <a:rPr lang="en-US" altLang="zh-CN" sz="2400" b="0" i="1" dirty="0">
                        <a:solidFill>
                          <a:schemeClr val="bg1"/>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pitchFamily="18" charset="2"/>
                      </a:rPr>
                      <m:t>N</m:t>
                    </m:r>
                    <m:r>
                      <m:rPr>
                        <m:nor/>
                      </m:rPr>
                      <a:rPr lang="en-US" altLang="zh-CN" sz="2400" b="0" baseline="-25000" dirty="0">
                        <a:solidFill>
                          <a:schemeClr val="bg1"/>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pitchFamily="18" charset="2"/>
                      </a:rPr>
                      <m:t>+</m:t>
                    </m:r>
                  </m:oMath>
                </a14:m>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且</a:t>
                </a:r>
                <a:r>
                  <a:rPr lang="en-US" altLang="zh-CN" sz="2400" i="1" dirty="0">
                    <a:solidFill>
                      <a:schemeClr val="bg1"/>
                    </a:solidFill>
                    <a:cs typeface="Times New Roman" panose="02020603050405020304" pitchFamily="18" charset="0"/>
                  </a:rPr>
                  <a:t>x</a:t>
                </a:r>
                <a:r>
                  <a:rPr lang="en-US" altLang="zh-CN" sz="2400" b="0" baseline="30000" dirty="0">
                    <a:solidFill>
                      <a:schemeClr val="bg1"/>
                    </a:solidFill>
                    <a:ea typeface="微软雅黑" panose="020B0503020204020204" pitchFamily="34" charset="-122"/>
                    <a:cs typeface="Times New Roman" panose="02020603050405020304" pitchFamily="18" charset="0"/>
                  </a:rPr>
                  <a:t>2</a:t>
                </a:r>
                <a:r>
                  <a:rPr lang="en-US" altLang="zh-CN" sz="2400" b="0" dirty="0">
                    <a:solidFill>
                      <a:schemeClr val="bg1"/>
                    </a:solidFill>
                    <a:ea typeface="微软雅黑" panose="020B0503020204020204" pitchFamily="34" charset="-122"/>
                    <a:cs typeface="Times New Roman" panose="02020603050405020304" pitchFamily="18" charset="0"/>
                  </a:rPr>
                  <a:t>≤0}</a:t>
                </a:r>
              </a:p>
              <a:p>
                <a:pPr eaLnBrk="1" hangingPunct="1">
                  <a:lnSpc>
                    <a:spcPct val="110000"/>
                  </a:lnSpc>
                  <a:spcBef>
                    <a:spcPts val="1200"/>
                  </a:spcBef>
                  <a:buFont typeface="Wingdings" panose="05000000000000000000" pitchFamily="2" charset="2"/>
                  <a:buNone/>
                  <a:defRPr/>
                </a:pPr>
                <a:r>
                  <a:rPr lang="en-US" altLang="zh-CN" sz="2400" b="0" dirty="0">
                    <a:solidFill>
                      <a:srgbClr val="FFFF00"/>
                    </a:solidFill>
                    <a:ea typeface="微软雅黑" panose="020B0503020204020204" pitchFamily="34" charset="-122"/>
                    <a:cs typeface="Times New Roman" panose="02020603050405020304" pitchFamily="18" charset="0"/>
                  </a:rPr>
                  <a:t>(2)  </a:t>
                </a:r>
                <a:r>
                  <a:rPr lang="zh-CN" altLang="en-US" sz="2400" b="0" dirty="0">
                    <a:solidFill>
                      <a:srgbClr val="FFFF00"/>
                    </a:solidFill>
                    <a:ea typeface="微软雅黑" panose="020B0503020204020204" pitchFamily="34" charset="-122"/>
                    <a:cs typeface="Times New Roman" panose="02020603050405020304" pitchFamily="18" charset="0"/>
                  </a:rPr>
                  <a:t>全集：</a:t>
                </a:r>
                <a:r>
                  <a:rPr lang="zh-CN" altLang="en-US" sz="2400" b="0" dirty="0">
                    <a:solidFill>
                      <a:schemeClr val="bg1"/>
                    </a:solidFill>
                    <a:ea typeface="微软雅黑" panose="020B0503020204020204" pitchFamily="34" charset="-122"/>
                    <a:cs typeface="Times New Roman" panose="02020603050405020304" pitchFamily="18" charset="0"/>
                  </a:rPr>
                  <a:t>常记为</a:t>
                </a:r>
                <a:r>
                  <a:rPr lang="en-US" altLang="zh-CN" sz="2400" b="0" i="1" dirty="0">
                    <a:solidFill>
                      <a:schemeClr val="bg1"/>
                    </a:solidFill>
                    <a:ea typeface="微软雅黑" panose="020B0503020204020204" pitchFamily="34" charset="-122"/>
                    <a:cs typeface="Times New Roman" panose="02020603050405020304" pitchFamily="18" charset="0"/>
                  </a:rPr>
                  <a:t>U</a:t>
                </a:r>
                <a:r>
                  <a:rPr lang="zh-CN" altLang="en-US" sz="2400" b="0" dirty="0">
                    <a:solidFill>
                      <a:schemeClr val="bg1"/>
                    </a:solidFill>
                    <a:ea typeface="微软雅黑" panose="020B0503020204020204" pitchFamily="34" charset="-122"/>
                    <a:cs typeface="Times New Roman" panose="02020603050405020304" pitchFamily="18" charset="0"/>
                  </a:rPr>
                  <a:t>或</a:t>
                </a:r>
                <a:r>
                  <a:rPr lang="en-US" altLang="zh-CN" sz="2400" b="0" i="1" dirty="0">
                    <a:solidFill>
                      <a:schemeClr val="bg1"/>
                    </a:solidFill>
                    <a:ea typeface="微软雅黑" panose="020B0503020204020204" pitchFamily="34" charset="-122"/>
                    <a:cs typeface="Times New Roman" panose="02020603050405020304" pitchFamily="18" charset="0"/>
                  </a:rPr>
                  <a:t>E</a:t>
                </a:r>
                <a:r>
                  <a:rPr lang="zh-CN" altLang="en-US" sz="2400" b="0" dirty="0">
                    <a:solidFill>
                      <a:schemeClr val="bg1"/>
                    </a:solidFill>
                    <a:ea typeface="微软雅黑" panose="020B0503020204020204" pitchFamily="34" charset="-122"/>
                    <a:cs typeface="Times New Roman" panose="02020603050405020304" pitchFamily="18" charset="0"/>
                  </a:rPr>
                  <a:t>     问题领域中所关心的所有对象组成的集合</a:t>
                </a:r>
              </a:p>
              <a:p>
                <a:pPr marL="533400" indent="-533400" eaLnBrk="1" hangingPunct="1">
                  <a:lnSpc>
                    <a:spcPct val="110000"/>
                  </a:lnSpc>
                  <a:buFont typeface="Wingdings" panose="05000000000000000000" pitchFamily="2" charset="2"/>
                  <a:buNone/>
                  <a:defRPr/>
                </a:pPr>
                <a:r>
                  <a:rPr lang="zh-CN" altLang="en-US" sz="2400" b="0" dirty="0">
                    <a:solidFill>
                      <a:schemeClr val="bg1"/>
                    </a:solidFill>
                    <a:ea typeface="微软雅黑" panose="020B0503020204020204" pitchFamily="34" charset="-122"/>
                    <a:cs typeface="Times New Roman" panose="02020603050405020304" pitchFamily="18" charset="0"/>
                  </a:rPr>
                  <a:t>       </a:t>
                </a:r>
                <a:r>
                  <a:rPr lang="zh-CN" altLang="en-US" sz="2400" dirty="0">
                    <a:solidFill>
                      <a:srgbClr val="FFCCFF"/>
                    </a:solidFill>
                    <a:ea typeface="微软雅黑" panose="020B0503020204020204" pitchFamily="34" charset="-122"/>
                    <a:cs typeface="Times New Roman" panose="02020603050405020304" pitchFamily="18" charset="0"/>
                  </a:rPr>
                  <a:t>示例：</a:t>
                </a:r>
                <a:r>
                  <a:rPr lang="zh-CN" altLang="en-US" sz="2400" b="0" dirty="0">
                    <a:solidFill>
                      <a:schemeClr val="bg1"/>
                    </a:solidFill>
                    <a:ea typeface="微软雅黑" panose="020B0503020204020204" pitchFamily="34" charset="-122"/>
                    <a:cs typeface="Times New Roman" panose="02020603050405020304" pitchFamily="18" charset="0"/>
                  </a:rPr>
                  <a:t>微积分：</a:t>
                </a:r>
                <a:r>
                  <a:rPr lang="en-US" altLang="zh-CN" sz="2400" b="0" i="1" dirty="0">
                    <a:solidFill>
                      <a:schemeClr val="bg1"/>
                    </a:solidFill>
                    <a:cs typeface="Times New Roman" panose="02020603050405020304" pitchFamily="18" charset="0"/>
                  </a:rPr>
                  <a:t>R</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班级问题：本班所有学生</a:t>
                </a:r>
                <a:endParaRPr lang="en-US" altLang="zh-CN" sz="2400" b="0" dirty="0">
                  <a:solidFill>
                    <a:schemeClr val="bg1"/>
                  </a:solidFill>
                  <a:ea typeface="微软雅黑" panose="020B0503020204020204" pitchFamily="34" charset="-122"/>
                  <a:cs typeface="Times New Roman" panose="02020603050405020304" pitchFamily="18" charset="0"/>
                </a:endParaRPr>
              </a:p>
              <a:p>
                <a:pPr marL="533400" indent="-533400" eaLnBrk="1" hangingPunct="1">
                  <a:lnSpc>
                    <a:spcPct val="110000"/>
                  </a:lnSpc>
                  <a:spcBef>
                    <a:spcPts val="1200"/>
                  </a:spcBef>
                  <a:buFont typeface="Wingdings" panose="05000000000000000000" pitchFamily="2" charset="2"/>
                  <a:buNone/>
                  <a:defRPr/>
                </a:pPr>
                <a:r>
                  <a:rPr lang="en-US" altLang="zh-CN" sz="2400" b="0" dirty="0">
                    <a:solidFill>
                      <a:srgbClr val="FFFF00"/>
                    </a:solidFill>
                    <a:ea typeface="微软雅黑" panose="020B0503020204020204" pitchFamily="34" charset="-122"/>
                    <a:cs typeface="Times New Roman" panose="02020603050405020304" pitchFamily="18" charset="0"/>
                  </a:rPr>
                  <a:t>(3)  </a:t>
                </a:r>
                <a:r>
                  <a:rPr lang="zh-CN" altLang="en-US" sz="2400" b="0" dirty="0">
                    <a:solidFill>
                      <a:srgbClr val="FFFF00"/>
                    </a:solidFill>
                    <a:ea typeface="微软雅黑" panose="020B0503020204020204" pitchFamily="34" charset="-122"/>
                    <a:cs typeface="Times New Roman" panose="02020603050405020304" pitchFamily="18" charset="0"/>
                  </a:rPr>
                  <a:t>有限集：</a:t>
                </a:r>
                <a:r>
                  <a:rPr lang="zh-CN" altLang="en-US" sz="2400" b="0" dirty="0">
                    <a:solidFill>
                      <a:schemeClr val="bg1"/>
                    </a:solidFill>
                    <a:ea typeface="微软雅黑" panose="020B0503020204020204" pitchFamily="34" charset="-122"/>
                    <a:cs typeface="Times New Roman" panose="02020603050405020304" pitchFamily="18" charset="0"/>
                  </a:rPr>
                  <a:t>只含有限个元素的集合</a:t>
                </a:r>
              </a:p>
              <a:p>
                <a:pPr marL="533400" indent="-533400" eaLnBrk="1" hangingPunct="1">
                  <a:lnSpc>
                    <a:spcPct val="110000"/>
                  </a:lnSpc>
                  <a:buFont typeface="Wingdings" panose="05000000000000000000" pitchFamily="2" charset="2"/>
                  <a:buNone/>
                  <a:defRPr/>
                </a:pPr>
                <a:r>
                  <a:rPr lang="zh-CN" altLang="en-US" sz="2400" b="0" dirty="0">
                    <a:solidFill>
                      <a:schemeClr val="bg1"/>
                    </a:solidFill>
                    <a:ea typeface="微软雅黑" panose="020B0503020204020204" pitchFamily="34" charset="-122"/>
                    <a:cs typeface="Times New Roman" panose="02020603050405020304" pitchFamily="18" charset="0"/>
                  </a:rPr>
                  <a:t>       </a:t>
                </a:r>
                <a:r>
                  <a:rPr lang="zh-CN" altLang="en-US" sz="2400" dirty="0">
                    <a:solidFill>
                      <a:srgbClr val="FFCCFF"/>
                    </a:solidFill>
                    <a:ea typeface="微软雅黑" panose="020B0503020204020204" pitchFamily="34" charset="-122"/>
                    <a:cs typeface="Times New Roman" panose="02020603050405020304" pitchFamily="18" charset="0"/>
                  </a:rPr>
                  <a:t>示例：</a:t>
                </a:r>
                <a:r>
                  <a:rPr lang="en-US" altLang="zh-CN" sz="2400" dirty="0">
                    <a:cs typeface="Times New Roman" panose="02020603050405020304" pitchFamily="18" charset="0"/>
                  </a:rPr>
                  <a:t> </a:t>
                </a:r>
                <a:r>
                  <a:rPr lang="en-US" altLang="zh-CN" sz="2400" b="0" dirty="0">
                    <a:solidFill>
                      <a:schemeClr val="bg1"/>
                    </a:solidFill>
                    <a:ea typeface="微软雅黑" panose="020B0503020204020204" pitchFamily="34" charset="-122"/>
                    <a:cs typeface="Times New Roman" panose="02020603050405020304" pitchFamily="18" charset="0"/>
                  </a:rPr>
                  <a:t>{1, 2, 3},  {</a:t>
                </a:r>
                <a:r>
                  <a:rPr lang="en-US" altLang="zh-CN" sz="2400" i="1" dirty="0">
                    <a:solidFill>
                      <a:schemeClr val="bg1"/>
                    </a:solidFill>
                    <a:cs typeface="Times New Roman" panose="02020603050405020304" pitchFamily="18" charset="0"/>
                  </a:rPr>
                  <a:t>a</a:t>
                </a:r>
                <a:r>
                  <a:rPr lang="en-US" altLang="zh-CN" sz="2400" b="0" dirty="0">
                    <a:solidFill>
                      <a:schemeClr val="bg1"/>
                    </a:solidFill>
                    <a:ea typeface="微软雅黑" panose="020B0503020204020204" pitchFamily="34" charset="-122"/>
                    <a:cs typeface="Times New Roman" panose="02020603050405020304" pitchFamily="18" charset="0"/>
                  </a:rPr>
                  <a:t>, </a:t>
                </a:r>
                <a:r>
                  <a:rPr lang="en-US" altLang="zh-CN" sz="2400" i="1" dirty="0">
                    <a:solidFill>
                      <a:schemeClr val="bg1"/>
                    </a:solidFill>
                    <a:cs typeface="Times New Roman" panose="02020603050405020304" pitchFamily="18" charset="0"/>
                  </a:rPr>
                  <a:t>b</a:t>
                </a:r>
                <a:r>
                  <a:rPr lang="en-US" altLang="zh-CN" sz="2400" b="0" dirty="0">
                    <a:solidFill>
                      <a:schemeClr val="bg1"/>
                    </a:solidFill>
                    <a:ea typeface="微软雅黑" panose="020B0503020204020204" pitchFamily="34" charset="-122"/>
                    <a:cs typeface="Times New Roman" panose="02020603050405020304" pitchFamily="18" charset="0"/>
                  </a:rPr>
                  <a:t>, …, </a:t>
                </a:r>
                <a:r>
                  <a:rPr lang="en-US" altLang="zh-CN" sz="2400" i="1" dirty="0">
                    <a:solidFill>
                      <a:schemeClr val="bg1"/>
                    </a:solidFill>
                    <a:cs typeface="Times New Roman" panose="02020603050405020304" pitchFamily="18" charset="0"/>
                  </a:rPr>
                  <a:t>z</a:t>
                </a:r>
                <a:r>
                  <a:rPr lang="en-US" altLang="zh-CN" sz="2400" b="0" dirty="0">
                    <a:solidFill>
                      <a:schemeClr val="bg1"/>
                    </a:solidFill>
                    <a:ea typeface="微软雅黑" panose="020B0503020204020204" pitchFamily="34" charset="-122"/>
                    <a:cs typeface="Times New Roman" panose="02020603050405020304" pitchFamily="18" charset="0"/>
                  </a:rPr>
                  <a:t>},  {</a:t>
                </a:r>
                <a:r>
                  <a:rPr lang="en-US" altLang="zh-CN" sz="2400" i="1" dirty="0" err="1">
                    <a:solidFill>
                      <a:schemeClr val="bg1"/>
                    </a:solidFill>
                    <a:cs typeface="Times New Roman" panose="02020603050405020304" pitchFamily="18" charset="0"/>
                  </a:rPr>
                  <a:t>x</a:t>
                </a:r>
                <a:r>
                  <a:rPr lang="en-US" altLang="zh-CN" sz="2400" b="0" dirty="0" err="1">
                    <a:solidFill>
                      <a:schemeClr val="bg1"/>
                    </a:solidFill>
                    <a:ea typeface="微软雅黑" panose="020B0503020204020204" pitchFamily="34" charset="-122"/>
                    <a:cs typeface="Times New Roman" panose="02020603050405020304" pitchFamily="18" charset="0"/>
                  </a:rPr>
                  <a:t>|</a:t>
                </a:r>
                <a:r>
                  <a:rPr lang="en-US" altLang="zh-CN" sz="2400" i="1" dirty="0" err="1">
                    <a:solidFill>
                      <a:schemeClr val="bg1"/>
                    </a:solidFill>
                    <a:cs typeface="Times New Roman" panose="02020603050405020304" pitchFamily="18" charset="0"/>
                  </a:rPr>
                  <a:t>x</a:t>
                </a:r>
                <a:r>
                  <a:rPr lang="en-US" altLang="zh-CN" sz="2400" b="0" dirty="0">
                    <a:solidFill>
                      <a:schemeClr val="bg1"/>
                    </a:solidFill>
                    <a:ea typeface="微软雅黑" panose="020B0503020204020204" pitchFamily="34" charset="-122"/>
                    <a:cs typeface="Times New Roman" panose="02020603050405020304" pitchFamily="18" charset="0"/>
                  </a:rPr>
                  <a:t>∈</a:t>
                </a:r>
                <a14:m>
                  <m:oMath xmlns:m="http://schemas.openxmlformats.org/officeDocument/2006/math">
                    <m:r>
                      <m:rPr>
                        <m:nor/>
                      </m:rPr>
                      <a:rPr lang="en-US" altLang="zh-CN" sz="2400" b="0" i="1" dirty="0">
                        <a:solidFill>
                          <a:schemeClr val="bg1"/>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pitchFamily="18" charset="2"/>
                      </a:rPr>
                      <m:t>N</m:t>
                    </m:r>
                    <m:r>
                      <m:rPr>
                        <m:nor/>
                      </m:rPr>
                      <a:rPr lang="en-US" altLang="zh-CN" sz="2400" b="0" baseline="-25000" dirty="0">
                        <a:solidFill>
                          <a:schemeClr val="bg1"/>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pitchFamily="18" charset="2"/>
                      </a:rPr>
                      <m:t>+</m:t>
                    </m:r>
                  </m:oMath>
                </a14:m>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且</a:t>
                </a:r>
                <a:r>
                  <a:rPr lang="en-US" altLang="zh-CN" sz="2400" i="1" dirty="0">
                    <a:solidFill>
                      <a:schemeClr val="bg1"/>
                    </a:solidFill>
                    <a:cs typeface="Times New Roman" panose="02020603050405020304" pitchFamily="18" charset="0"/>
                  </a:rPr>
                  <a:t>x</a:t>
                </a:r>
                <a:r>
                  <a:rPr lang="en-US" altLang="zh-CN" sz="2400" b="0" baseline="30000" dirty="0">
                    <a:solidFill>
                      <a:schemeClr val="bg1"/>
                    </a:solidFill>
                    <a:ea typeface="微软雅黑" panose="020B0503020204020204" pitchFamily="34" charset="-122"/>
                    <a:cs typeface="Times New Roman" panose="02020603050405020304" pitchFamily="18" charset="0"/>
                  </a:rPr>
                  <a:t>2</a:t>
                </a:r>
                <a:r>
                  <a:rPr lang="en-US" altLang="zh-CN" sz="2400" b="0" dirty="0">
                    <a:solidFill>
                      <a:schemeClr val="bg1"/>
                    </a:solidFill>
                    <a:ea typeface="微软雅黑" panose="020B0503020204020204" pitchFamily="34" charset="-122"/>
                    <a:cs typeface="Times New Roman" panose="02020603050405020304" pitchFamily="18" charset="0"/>
                  </a:rPr>
                  <a:t>≤100} </a:t>
                </a:r>
              </a:p>
              <a:p>
                <a:pPr marL="533400" indent="-533400" eaLnBrk="1" hangingPunct="1">
                  <a:lnSpc>
                    <a:spcPct val="110000"/>
                  </a:lnSpc>
                  <a:spcBef>
                    <a:spcPts val="1200"/>
                  </a:spcBef>
                  <a:buFont typeface="Wingdings" panose="05000000000000000000" pitchFamily="2" charset="2"/>
                  <a:buNone/>
                  <a:defRPr/>
                </a:pPr>
                <a:r>
                  <a:rPr lang="en-US" altLang="zh-CN" sz="2400" b="0" dirty="0">
                    <a:solidFill>
                      <a:srgbClr val="FFFF00"/>
                    </a:solidFill>
                    <a:ea typeface="微软雅黑" panose="020B0503020204020204" pitchFamily="34" charset="-122"/>
                    <a:cs typeface="Times New Roman" panose="02020603050405020304" pitchFamily="18" charset="0"/>
                  </a:rPr>
                  <a:t>(4)  </a:t>
                </a:r>
                <a:r>
                  <a:rPr lang="zh-CN" altLang="en-US" sz="2400" b="0" dirty="0">
                    <a:solidFill>
                      <a:srgbClr val="FFFF00"/>
                    </a:solidFill>
                    <a:ea typeface="微软雅黑" panose="020B0503020204020204" pitchFamily="34" charset="-122"/>
                    <a:cs typeface="Times New Roman" panose="02020603050405020304" pitchFamily="18" charset="0"/>
                  </a:rPr>
                  <a:t>无限集：</a:t>
                </a:r>
                <a:r>
                  <a:rPr lang="zh-CN" altLang="en-US" sz="2400" b="0" dirty="0">
                    <a:solidFill>
                      <a:schemeClr val="bg1"/>
                    </a:solidFill>
                    <a:ea typeface="微软雅黑" panose="020B0503020204020204" pitchFamily="34" charset="-122"/>
                    <a:cs typeface="Times New Roman" panose="02020603050405020304" pitchFamily="18" charset="0"/>
                  </a:rPr>
                  <a:t>含无限多个元素的集合</a:t>
                </a:r>
              </a:p>
              <a:p>
                <a:pPr marL="533400" indent="-533400" eaLnBrk="1" hangingPunct="1">
                  <a:lnSpc>
                    <a:spcPct val="110000"/>
                  </a:lnSpc>
                  <a:buFont typeface="Wingdings" panose="05000000000000000000" pitchFamily="2" charset="2"/>
                  <a:buNone/>
                  <a:defRPr/>
                </a:pPr>
                <a:r>
                  <a:rPr lang="zh-CN" altLang="en-US" sz="2400" dirty="0">
                    <a:solidFill>
                      <a:schemeClr val="bg1"/>
                    </a:solidFill>
                    <a:ea typeface="微软雅黑" panose="020B0503020204020204" pitchFamily="34" charset="-122"/>
                    <a:cs typeface="Times New Roman" panose="02020603050405020304" pitchFamily="18" charset="0"/>
                  </a:rPr>
                  <a:t>        </a:t>
                </a:r>
                <a:r>
                  <a:rPr lang="zh-CN" altLang="en-US" sz="2400" dirty="0">
                    <a:solidFill>
                      <a:srgbClr val="FFCCFF"/>
                    </a:solidFill>
                    <a:ea typeface="微软雅黑" panose="020B0503020204020204" pitchFamily="34" charset="-122"/>
                    <a:cs typeface="Times New Roman" panose="02020603050405020304" pitchFamily="18" charset="0"/>
                  </a:rPr>
                  <a:t>示例：</a:t>
                </a:r>
                <a:r>
                  <a:rPr lang="en-US" altLang="zh-CN" sz="2400" dirty="0">
                    <a:cs typeface="Times New Roman" panose="02020603050405020304" pitchFamily="18" charset="0"/>
                  </a:rPr>
                  <a:t> </a:t>
                </a:r>
                <a:r>
                  <a:rPr lang="en-US" altLang="zh-CN" sz="2400" b="0" dirty="0">
                    <a:solidFill>
                      <a:schemeClr val="bg1"/>
                    </a:solidFill>
                    <a:ea typeface="微软雅黑" panose="020B0503020204020204" pitchFamily="34" charset="-122"/>
                    <a:cs typeface="Times New Roman" panose="02020603050405020304" pitchFamily="18" charset="0"/>
                  </a:rPr>
                  <a:t>{1, 2, 3, …},  </a:t>
                </a:r>
                <a:r>
                  <a:rPr lang="en-US" altLang="zh-CN" sz="2400" b="0" i="1" dirty="0">
                    <a:solidFill>
                      <a:schemeClr val="bg1"/>
                    </a:solidFill>
                    <a:cs typeface="Times New Roman" panose="02020603050405020304" pitchFamily="18" charset="0"/>
                  </a:rPr>
                  <a:t>Q</a:t>
                </a:r>
                <a:r>
                  <a:rPr lang="en-US" altLang="zh-CN" sz="2400" b="0" dirty="0">
                    <a:solidFill>
                      <a:schemeClr val="bg1"/>
                    </a:solidFill>
                    <a:ea typeface="微软雅黑" panose="020B0503020204020204" pitchFamily="34" charset="-122"/>
                    <a:cs typeface="Times New Roman" panose="02020603050405020304" pitchFamily="18" charset="0"/>
                  </a:rPr>
                  <a:t>,  </a:t>
                </a:r>
                <a:r>
                  <a:rPr lang="en-US" altLang="zh-CN" sz="2400" b="0" i="1" dirty="0">
                    <a:solidFill>
                      <a:schemeClr val="bg1"/>
                    </a:solidFill>
                    <a:cs typeface="Times New Roman" panose="02020603050405020304" pitchFamily="18" charset="0"/>
                  </a:rPr>
                  <a:t>R</a:t>
                </a:r>
                <a:r>
                  <a:rPr lang="en-US" altLang="zh-CN" sz="2400" b="0" dirty="0">
                    <a:solidFill>
                      <a:schemeClr val="bg1"/>
                    </a:solidFill>
                    <a:ea typeface="微软雅黑" panose="020B0503020204020204" pitchFamily="34" charset="-122"/>
                    <a:cs typeface="Times New Roman" panose="02020603050405020304" pitchFamily="18" charset="0"/>
                  </a:rPr>
                  <a:t>,  {</a:t>
                </a:r>
                <a:r>
                  <a:rPr lang="en-US" altLang="zh-CN" sz="2400" i="1" dirty="0" err="1">
                    <a:solidFill>
                      <a:schemeClr val="bg1"/>
                    </a:solidFill>
                    <a:cs typeface="Times New Roman" panose="02020603050405020304" pitchFamily="18" charset="0"/>
                  </a:rPr>
                  <a:t>x</a:t>
                </a:r>
                <a:r>
                  <a:rPr lang="en-US" altLang="zh-CN" sz="2400" b="0" dirty="0" err="1">
                    <a:solidFill>
                      <a:schemeClr val="bg1"/>
                    </a:solidFill>
                    <a:ea typeface="微软雅黑" panose="020B0503020204020204" pitchFamily="34" charset="-122"/>
                    <a:cs typeface="Times New Roman" panose="02020603050405020304" pitchFamily="18" charset="0"/>
                  </a:rPr>
                  <a:t>|</a:t>
                </a:r>
                <a:r>
                  <a:rPr lang="en-US" altLang="zh-CN" sz="2400" i="1" dirty="0" err="1">
                    <a:solidFill>
                      <a:schemeClr val="bg1"/>
                    </a:solidFill>
                    <a:cs typeface="Times New Roman" panose="02020603050405020304" pitchFamily="18" charset="0"/>
                  </a:rPr>
                  <a:t>x</a:t>
                </a:r>
                <a:r>
                  <a:rPr lang="en-US" altLang="zh-CN" sz="2400" b="0" dirty="0">
                    <a:solidFill>
                      <a:schemeClr val="bg1"/>
                    </a:solidFill>
                    <a:ea typeface="微软雅黑" panose="020B0503020204020204" pitchFamily="34" charset="-122"/>
                    <a:cs typeface="Times New Roman" panose="02020603050405020304" pitchFamily="18" charset="0"/>
                  </a:rPr>
                  <a:t>∈</a:t>
                </a:r>
                <a14:m>
                  <m:oMath xmlns:m="http://schemas.openxmlformats.org/officeDocument/2006/math">
                    <m:r>
                      <m:rPr>
                        <m:nor/>
                      </m:rPr>
                      <a:rPr lang="en-US" altLang="zh-CN" sz="2400" b="0" i="1" dirty="0">
                        <a:solidFill>
                          <a:schemeClr val="bg1"/>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pitchFamily="18" charset="2"/>
                      </a:rPr>
                      <m:t>N</m:t>
                    </m:r>
                    <m:r>
                      <m:rPr>
                        <m:nor/>
                      </m:rPr>
                      <a:rPr lang="en-US" altLang="zh-CN" sz="2400" b="0" baseline="-25000" dirty="0">
                        <a:solidFill>
                          <a:schemeClr val="bg1"/>
                        </a:solidFill>
                        <a:latin typeface="Cambria Math" panose="02040503050406030204" pitchFamily="18" charset="0"/>
                        <a:ea typeface="微软雅黑" panose="020B0503020204020204" pitchFamily="34" charset="-122"/>
                        <a:cs typeface="Times New Roman" panose="02020603050405020304" pitchFamily="18" charset="0"/>
                        <a:sym typeface="Symbol" panose="05050102010706020507" pitchFamily="18" charset="2"/>
                      </a:rPr>
                      <m:t>+</m:t>
                    </m:r>
                  </m:oMath>
                </a14:m>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且</a:t>
                </a:r>
                <a:r>
                  <a:rPr lang="en-US" altLang="zh-CN" sz="2400" i="1" dirty="0">
                    <a:solidFill>
                      <a:schemeClr val="bg1"/>
                    </a:solidFill>
                    <a:cs typeface="Times New Roman" panose="02020603050405020304" pitchFamily="18" charset="0"/>
                  </a:rPr>
                  <a:t>x</a:t>
                </a:r>
                <a:r>
                  <a:rPr lang="en-US" altLang="zh-CN" sz="2400" b="0" baseline="30000" dirty="0">
                    <a:solidFill>
                      <a:schemeClr val="bg1"/>
                    </a:solidFill>
                    <a:ea typeface="微软雅黑" panose="020B0503020204020204" pitchFamily="34" charset="-122"/>
                    <a:cs typeface="Times New Roman" panose="02020603050405020304" pitchFamily="18" charset="0"/>
                  </a:rPr>
                  <a:t>2</a:t>
                </a:r>
                <a:r>
                  <a:rPr lang="en-US" altLang="zh-CN" sz="2400" b="0" dirty="0">
                    <a:solidFill>
                      <a:schemeClr val="bg1"/>
                    </a:solidFill>
                    <a:ea typeface="微软雅黑" panose="020B0503020204020204" pitchFamily="34" charset="-122"/>
                    <a:cs typeface="Times New Roman" panose="02020603050405020304" pitchFamily="18" charset="0"/>
                  </a:rPr>
                  <a:t>≥100} </a:t>
                </a:r>
                <a:endParaRPr lang="zh-CN" altLang="en-US" sz="2400" b="0" dirty="0">
                  <a:solidFill>
                    <a:schemeClr val="bg1"/>
                  </a:solidFill>
                  <a:ea typeface="微软雅黑" panose="020B0503020204020204" pitchFamily="34" charset="-122"/>
                  <a:cs typeface="Times New Roman" panose="020206030504050203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948408" y="2276872"/>
                <a:ext cx="10945216" cy="3828612"/>
              </a:xfrm>
              <a:prstGeom prst="rect">
                <a:avLst/>
              </a:prstGeom>
              <a:blipFill rotWithShape="1">
                <a:blip r:embed="rId4"/>
                <a:stretch>
                  <a:fillRect l="-3" t="-10" r="1" b="16"/>
                </a:stretch>
              </a:blipFill>
            </p:spPr>
            <p:txBody>
              <a:bodyPr/>
              <a:lstStyle/>
              <a:p>
                <a:r>
                  <a:rPr lang="zh-CN" altLang="en-US">
                    <a:noFill/>
                  </a:rPr>
                  <a:t> </a:t>
                </a:r>
              </a:p>
            </p:txBody>
          </p:sp>
        </mc:Fallback>
      </mc:AlternateContent>
      <p:sp>
        <p:nvSpPr>
          <p:cNvPr id="6" name="Rectangle 2"/>
          <p:cNvSpPr txBox="1">
            <a:spLocks noChangeArrowheads="1"/>
          </p:cNvSpPr>
          <p:nvPr/>
        </p:nvSpPr>
        <p:spPr bwMode="auto">
          <a:xfrm>
            <a:off x="5159896" y="247802"/>
            <a:ext cx="6768752"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1.1.1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集合的描述、表示和术语</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wipe(left)">
                                      <p:cBhvr>
                                        <p:cTn id="7" dur="500"/>
                                        <p:tgtEl>
                                          <p:spTgt spid="174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1000"/>
                                        <p:tgtEl>
                                          <p:spTgt spid="11">
                                            <p:txEl>
                                              <p:pRg st="0" end="0"/>
                                            </p:txEl>
                                          </p:spTgt>
                                        </p:tgtEl>
                                      </p:cBhvr>
                                    </p:animEffect>
                                    <p:anim calcmode="lin" valueType="num">
                                      <p:cBhvr>
                                        <p:cTn id="13"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1000"/>
                                        <p:tgtEl>
                                          <p:spTgt spid="11">
                                            <p:txEl>
                                              <p:pRg st="1" end="1"/>
                                            </p:txEl>
                                          </p:spTgt>
                                        </p:tgtEl>
                                      </p:cBhvr>
                                    </p:animEffect>
                                    <p:anim calcmode="lin" valueType="num">
                                      <p:cBhvr>
                                        <p:cTn id="19"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animEffect transition="in" filter="fade">
                                      <p:cBhvr>
                                        <p:cTn id="25" dur="1000"/>
                                        <p:tgtEl>
                                          <p:spTgt spid="11">
                                            <p:txEl>
                                              <p:pRg st="2" end="2"/>
                                            </p:txEl>
                                          </p:spTgt>
                                        </p:tgtEl>
                                      </p:cBhvr>
                                    </p:animEffect>
                                    <p:anim calcmode="lin" valueType="num">
                                      <p:cBhvr>
                                        <p:cTn id="26"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par>
                          <p:cTn id="28" fill="hold">
                            <p:stCondLst>
                              <p:cond delay="1000"/>
                            </p:stCondLst>
                            <p:childTnLst>
                              <p:par>
                                <p:cTn id="29" presetID="42" presetClass="entr" presetSubtype="0" fill="hold" nodeType="afterEffect">
                                  <p:stCondLst>
                                    <p:cond delay="0"/>
                                  </p:stCondLst>
                                  <p:childTnLst>
                                    <p:set>
                                      <p:cBhvr>
                                        <p:cTn id="30" dur="1" fill="hold">
                                          <p:stCondLst>
                                            <p:cond delay="0"/>
                                          </p:stCondLst>
                                        </p:cTn>
                                        <p:tgtEl>
                                          <p:spTgt spid="11">
                                            <p:txEl>
                                              <p:pRg st="3" end="3"/>
                                            </p:txEl>
                                          </p:spTgt>
                                        </p:tgtEl>
                                        <p:attrNameLst>
                                          <p:attrName>style.visibility</p:attrName>
                                        </p:attrNameLst>
                                      </p:cBhvr>
                                      <p:to>
                                        <p:strVal val="visible"/>
                                      </p:to>
                                    </p:set>
                                    <p:animEffect transition="in" filter="fade">
                                      <p:cBhvr>
                                        <p:cTn id="31" dur="1000"/>
                                        <p:tgtEl>
                                          <p:spTgt spid="11">
                                            <p:txEl>
                                              <p:pRg st="3" end="3"/>
                                            </p:txEl>
                                          </p:spTgt>
                                        </p:tgtEl>
                                      </p:cBhvr>
                                    </p:animEffect>
                                    <p:anim calcmode="lin" valueType="num">
                                      <p:cBhvr>
                                        <p:cTn id="32"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1">
                                            <p:txEl>
                                              <p:pRg st="4" end="4"/>
                                            </p:txEl>
                                          </p:spTgt>
                                        </p:tgtEl>
                                        <p:attrNameLst>
                                          <p:attrName>style.visibility</p:attrName>
                                        </p:attrNameLst>
                                      </p:cBhvr>
                                      <p:to>
                                        <p:strVal val="visible"/>
                                      </p:to>
                                    </p:set>
                                    <p:animEffect transition="in" filter="fade">
                                      <p:cBhvr>
                                        <p:cTn id="38" dur="1000"/>
                                        <p:tgtEl>
                                          <p:spTgt spid="11">
                                            <p:txEl>
                                              <p:pRg st="4" end="4"/>
                                            </p:txEl>
                                          </p:spTgt>
                                        </p:tgtEl>
                                      </p:cBhvr>
                                    </p:animEffect>
                                    <p:anim calcmode="lin" valueType="num">
                                      <p:cBhvr>
                                        <p:cTn id="39"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par>
                          <p:cTn id="41" fill="hold">
                            <p:stCondLst>
                              <p:cond delay="1000"/>
                            </p:stCondLst>
                            <p:childTnLst>
                              <p:par>
                                <p:cTn id="42" presetID="42" presetClass="entr" presetSubtype="0" fill="hold" nodeType="afterEffect">
                                  <p:stCondLst>
                                    <p:cond delay="0"/>
                                  </p:stCondLst>
                                  <p:childTnLst>
                                    <p:set>
                                      <p:cBhvr>
                                        <p:cTn id="43" dur="1" fill="hold">
                                          <p:stCondLst>
                                            <p:cond delay="0"/>
                                          </p:stCondLst>
                                        </p:cTn>
                                        <p:tgtEl>
                                          <p:spTgt spid="11">
                                            <p:txEl>
                                              <p:pRg st="5" end="5"/>
                                            </p:txEl>
                                          </p:spTgt>
                                        </p:tgtEl>
                                        <p:attrNameLst>
                                          <p:attrName>style.visibility</p:attrName>
                                        </p:attrNameLst>
                                      </p:cBhvr>
                                      <p:to>
                                        <p:strVal val="visible"/>
                                      </p:to>
                                    </p:set>
                                    <p:animEffect transition="in" filter="fade">
                                      <p:cBhvr>
                                        <p:cTn id="44" dur="1000"/>
                                        <p:tgtEl>
                                          <p:spTgt spid="11">
                                            <p:txEl>
                                              <p:pRg st="5" end="5"/>
                                            </p:txEl>
                                          </p:spTgt>
                                        </p:tgtEl>
                                      </p:cBhvr>
                                    </p:animEffect>
                                    <p:anim calcmode="lin" valueType="num">
                                      <p:cBhvr>
                                        <p:cTn id="45"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46"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1">
                                            <p:txEl>
                                              <p:pRg st="6" end="6"/>
                                            </p:txEl>
                                          </p:spTgt>
                                        </p:tgtEl>
                                        <p:attrNameLst>
                                          <p:attrName>style.visibility</p:attrName>
                                        </p:attrNameLst>
                                      </p:cBhvr>
                                      <p:to>
                                        <p:strVal val="visible"/>
                                      </p:to>
                                    </p:set>
                                    <p:animEffect transition="in" filter="fade">
                                      <p:cBhvr>
                                        <p:cTn id="51" dur="1000"/>
                                        <p:tgtEl>
                                          <p:spTgt spid="11">
                                            <p:txEl>
                                              <p:pRg st="6" end="6"/>
                                            </p:txEl>
                                          </p:spTgt>
                                        </p:tgtEl>
                                      </p:cBhvr>
                                    </p:animEffect>
                                    <p:anim calcmode="lin" valueType="num">
                                      <p:cBhvr>
                                        <p:cTn id="52"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53"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par>
                          <p:cTn id="54" fill="hold">
                            <p:stCondLst>
                              <p:cond delay="1000"/>
                            </p:stCondLst>
                            <p:childTnLst>
                              <p:par>
                                <p:cTn id="55" presetID="42" presetClass="entr" presetSubtype="0" fill="hold" nodeType="afterEffect">
                                  <p:stCondLst>
                                    <p:cond delay="0"/>
                                  </p:stCondLst>
                                  <p:childTnLst>
                                    <p:set>
                                      <p:cBhvr>
                                        <p:cTn id="56" dur="1" fill="hold">
                                          <p:stCondLst>
                                            <p:cond delay="0"/>
                                          </p:stCondLst>
                                        </p:cTn>
                                        <p:tgtEl>
                                          <p:spTgt spid="11">
                                            <p:txEl>
                                              <p:pRg st="7" end="7"/>
                                            </p:txEl>
                                          </p:spTgt>
                                        </p:tgtEl>
                                        <p:attrNameLst>
                                          <p:attrName>style.visibility</p:attrName>
                                        </p:attrNameLst>
                                      </p:cBhvr>
                                      <p:to>
                                        <p:strVal val="visible"/>
                                      </p:to>
                                    </p:set>
                                    <p:animEffect transition="in" filter="fade">
                                      <p:cBhvr>
                                        <p:cTn id="57" dur="1000"/>
                                        <p:tgtEl>
                                          <p:spTgt spid="11">
                                            <p:txEl>
                                              <p:pRg st="7" end="7"/>
                                            </p:txEl>
                                          </p:spTgt>
                                        </p:tgtEl>
                                      </p:cBhvr>
                                    </p:animEffect>
                                    <p:anim calcmode="lin" valueType="num">
                                      <p:cBhvr>
                                        <p:cTn id="58"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59" dur="1000" fill="hold"/>
                                        <p:tgtEl>
                                          <p:spTgt spid="1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63352" y="1585961"/>
            <a:ext cx="4320480"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集合的表示</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10" name="Rectangle 2"/>
          <p:cNvSpPr txBox="1">
            <a:spLocks noChangeArrowheads="1"/>
          </p:cNvSpPr>
          <p:nvPr/>
        </p:nvSpPr>
        <p:spPr bwMode="auto">
          <a:xfrm>
            <a:off x="5159896" y="247802"/>
            <a:ext cx="6768752"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1.1.1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集合的描述、表示和术语</a:t>
            </a:r>
          </a:p>
        </p:txBody>
      </p:sp>
      <p:sp>
        <p:nvSpPr>
          <p:cNvPr id="11" name="文本框 10"/>
          <p:cNvSpPr txBox="1"/>
          <p:nvPr/>
        </p:nvSpPr>
        <p:spPr>
          <a:xfrm>
            <a:off x="839416" y="2147305"/>
            <a:ext cx="10945216" cy="1319720"/>
          </a:xfrm>
          <a:prstGeom prst="rect">
            <a:avLst/>
          </a:prstGeom>
          <a:noFill/>
        </p:spPr>
        <p:txBody>
          <a:bodyPr wrap="square">
            <a:spAutoFit/>
          </a:bodyPr>
          <a:lstStyle/>
          <a:p>
            <a:pPr marL="533400" indent="-533400" eaLnBrk="1" hangingPunct="1">
              <a:lnSpc>
                <a:spcPct val="150000"/>
              </a:lnSpc>
              <a:buFont typeface="Wingdings" panose="05000000000000000000" pitchFamily="2" charset="2"/>
              <a:buNone/>
              <a:defRPr/>
            </a:pPr>
            <a:r>
              <a:rPr lang="en-US" altLang="zh-CN" sz="32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(3)  </a:t>
            </a:r>
            <a:r>
              <a:rPr lang="zh-CN" altLang="en-US" sz="2800" b="0" dirty="0">
                <a:solidFill>
                  <a:srgbClr val="FFFF00"/>
                </a:solidFill>
                <a:ea typeface="微软雅黑" panose="020B0503020204020204" pitchFamily="34" charset="-122"/>
                <a:cs typeface="Times New Roman" panose="02020603050405020304" pitchFamily="18" charset="0"/>
              </a:rPr>
              <a:t>文氏图：</a:t>
            </a:r>
            <a:r>
              <a:rPr lang="zh-CN" altLang="en-US" sz="2800" b="0" dirty="0">
                <a:solidFill>
                  <a:schemeClr val="bg1"/>
                </a:solidFill>
                <a:ea typeface="微软雅黑" panose="020B0503020204020204" pitchFamily="34" charset="-122"/>
                <a:cs typeface="Times New Roman" panose="02020603050405020304" pitchFamily="18" charset="0"/>
              </a:rPr>
              <a:t>用来示意集合的图形</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可直观地表示集合间的关系</a:t>
            </a:r>
          </a:p>
          <a:p>
            <a:pPr marL="533400" indent="-533400" eaLnBrk="1" hangingPunct="1">
              <a:lnSpc>
                <a:spcPct val="150000"/>
              </a:lnSpc>
              <a:buFont typeface="Wingdings" panose="05000000000000000000" pitchFamily="2" charset="2"/>
              <a:buNone/>
              <a:defRPr/>
            </a:pPr>
            <a:r>
              <a:rPr lang="zh-CN" altLang="en-US" sz="2400" b="0" dirty="0">
                <a:solidFill>
                  <a:schemeClr val="bg1"/>
                </a:solidFill>
                <a:ea typeface="微软雅黑" panose="020B0503020204020204" pitchFamily="34" charset="-122"/>
                <a:cs typeface="Times New Roman" panose="02020603050405020304" pitchFamily="18" charset="0"/>
              </a:rPr>
              <a:t>     </a:t>
            </a:r>
            <a:r>
              <a:rPr lang="zh-CN" altLang="en-US" sz="2400" dirty="0">
                <a:solidFill>
                  <a:srgbClr val="FFCCFF"/>
                </a:solidFill>
                <a:ea typeface="微软雅黑" panose="020B0503020204020204" pitchFamily="34" charset="-122"/>
                <a:cs typeface="Times New Roman" panose="02020603050405020304" pitchFamily="18" charset="0"/>
              </a:rPr>
              <a:t>约定：</a:t>
            </a:r>
            <a:r>
              <a:rPr lang="zh-CN" altLang="en-US" sz="2400" b="0" dirty="0">
                <a:solidFill>
                  <a:schemeClr val="bg1"/>
                </a:solidFill>
                <a:ea typeface="微软雅黑" panose="020B0503020204020204" pitchFamily="34" charset="-122"/>
                <a:cs typeface="Times New Roman" panose="02020603050405020304" pitchFamily="18" charset="0"/>
              </a:rPr>
              <a:t>矩形表示全集</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圆表示其他集合</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点表示元素</a:t>
            </a:r>
          </a:p>
        </p:txBody>
      </p:sp>
      <p:sp>
        <p:nvSpPr>
          <p:cNvPr id="4" name="Rectangle 6"/>
          <p:cNvSpPr>
            <a:spLocks noChangeArrowheads="1"/>
          </p:cNvSpPr>
          <p:nvPr/>
        </p:nvSpPr>
        <p:spPr bwMode="auto">
          <a:xfrm>
            <a:off x="2567608" y="5886392"/>
            <a:ext cx="2160588" cy="38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80000"/>
              </a:lnSpc>
              <a:spcBef>
                <a:spcPct val="20000"/>
              </a:spcBef>
              <a:buClr>
                <a:schemeClr val="hlink"/>
              </a:buClr>
              <a:buSzPct val="70000"/>
              <a:buFont typeface="Wingdings" panose="05000000000000000000" pitchFamily="2" charset="2"/>
              <a:buNone/>
              <a:defRPr/>
            </a:pPr>
            <a:r>
              <a:rPr lang="en-US" altLang="zh-CN" sz="2400" i="1" dirty="0">
                <a:solidFill>
                  <a:schemeClr val="bg1"/>
                </a:solidFill>
                <a:cs typeface="Times New Roman" panose="02020603050405020304" pitchFamily="18" charset="0"/>
              </a:rPr>
              <a:t>U</a:t>
            </a:r>
            <a:r>
              <a:rPr lang="en-US" altLang="zh-CN" sz="2400" dirty="0">
                <a:solidFill>
                  <a:schemeClr val="bg1"/>
                </a:solidFill>
                <a:effectLst>
                  <a:outerShdw blurRad="38100" dist="38100" dir="2700000" algn="tl">
                    <a:srgbClr val="000000"/>
                  </a:outerShdw>
                </a:effectLst>
                <a:latin typeface="宋体" panose="02010600030101010101" pitchFamily="2" charset="-122"/>
              </a:rPr>
              <a:t>={</a:t>
            </a:r>
            <a:r>
              <a:rPr lang="en-US" altLang="zh-CN" sz="2400" i="1" dirty="0" err="1">
                <a:solidFill>
                  <a:schemeClr val="bg1"/>
                </a:solidFill>
                <a:cs typeface="Times New Roman" panose="02020603050405020304" pitchFamily="18" charset="0"/>
              </a:rPr>
              <a:t>a</a:t>
            </a:r>
            <a:r>
              <a:rPr lang="en-US" altLang="zh-CN" sz="2400" dirty="0" err="1">
                <a:solidFill>
                  <a:schemeClr val="bg1"/>
                </a:solidFill>
                <a:effectLst>
                  <a:outerShdw blurRad="38100" dist="38100" dir="2700000" algn="tl">
                    <a:srgbClr val="000000"/>
                  </a:outerShdw>
                </a:effectLst>
                <a:latin typeface="宋体" panose="02010600030101010101" pitchFamily="2" charset="-122"/>
              </a:rPr>
              <a:t>,</a:t>
            </a:r>
            <a:r>
              <a:rPr lang="en-US" altLang="zh-CN" sz="2400" i="1" dirty="0" err="1">
                <a:solidFill>
                  <a:schemeClr val="bg1"/>
                </a:solidFill>
                <a:cs typeface="Times New Roman" panose="02020603050405020304" pitchFamily="18" charset="0"/>
              </a:rPr>
              <a:t>b</a:t>
            </a:r>
            <a:r>
              <a:rPr lang="en-US" altLang="zh-CN" sz="2400" dirty="0">
                <a:solidFill>
                  <a:schemeClr val="bg1"/>
                </a:solidFill>
                <a:effectLst>
                  <a:outerShdw blurRad="38100" dist="38100" dir="2700000" algn="tl">
                    <a:srgbClr val="000000"/>
                  </a:outerShdw>
                </a:effectLst>
                <a:latin typeface="宋体" panose="02010600030101010101" pitchFamily="2" charset="-122"/>
              </a:rPr>
              <a:t>,</a:t>
            </a:r>
            <a:r>
              <a:rPr lang="en-US" altLang="zh-CN" sz="2400" dirty="0">
                <a:solidFill>
                  <a:schemeClr val="bg1"/>
                </a:solidFill>
                <a:effectLst>
                  <a:outerShdw blurRad="38100" dist="38100" dir="2700000" algn="tl">
                    <a:srgbClr val="000000"/>
                  </a:outerShdw>
                </a:effectLst>
                <a:latin typeface="Arial" panose="020B0604020202020204" pitchFamily="34" charset="0"/>
              </a:rPr>
              <a:t>…</a:t>
            </a:r>
            <a:r>
              <a:rPr lang="en-US" altLang="zh-CN" sz="2400" dirty="0">
                <a:solidFill>
                  <a:schemeClr val="bg1"/>
                </a:solidFill>
                <a:effectLst>
                  <a:outerShdw blurRad="38100" dist="38100" dir="2700000" algn="tl">
                    <a:srgbClr val="000000"/>
                  </a:outerShdw>
                </a:effectLst>
                <a:latin typeface="宋体" panose="02010600030101010101" pitchFamily="2" charset="-122"/>
              </a:rPr>
              <a:t>,</a:t>
            </a:r>
            <a:r>
              <a:rPr lang="en-US" altLang="zh-CN" sz="2400" i="1" dirty="0">
                <a:solidFill>
                  <a:schemeClr val="bg1"/>
                </a:solidFill>
                <a:cs typeface="Times New Roman" panose="02020603050405020304" pitchFamily="18" charset="0"/>
              </a:rPr>
              <a:t>z</a:t>
            </a:r>
            <a:r>
              <a:rPr lang="en-US" altLang="zh-CN" sz="2400" dirty="0">
                <a:solidFill>
                  <a:schemeClr val="bg1"/>
                </a:solidFill>
                <a:effectLst>
                  <a:outerShdw blurRad="38100" dist="38100" dir="2700000" algn="tl">
                    <a:srgbClr val="000000"/>
                  </a:outerShdw>
                </a:effectLst>
                <a:latin typeface="宋体" panose="02010600030101010101" pitchFamily="2" charset="-122"/>
              </a:rPr>
              <a:t>}</a:t>
            </a:r>
          </a:p>
        </p:txBody>
      </p:sp>
      <p:sp>
        <p:nvSpPr>
          <p:cNvPr id="5" name="Rectangle 7"/>
          <p:cNvSpPr>
            <a:spLocks noChangeArrowheads="1"/>
          </p:cNvSpPr>
          <p:nvPr/>
        </p:nvSpPr>
        <p:spPr bwMode="auto">
          <a:xfrm>
            <a:off x="7936138" y="5860126"/>
            <a:ext cx="1137877" cy="38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80000"/>
              </a:lnSpc>
              <a:spcBef>
                <a:spcPct val="20000"/>
              </a:spcBef>
              <a:buClr>
                <a:schemeClr val="hlink"/>
              </a:buClr>
              <a:buSzPct val="70000"/>
              <a:buFont typeface="Wingdings" panose="05000000000000000000" pitchFamily="2" charset="2"/>
              <a:buNone/>
              <a:defRPr/>
            </a:pPr>
            <a:r>
              <a:rPr lang="en-US" altLang="zh-CN" sz="2400" i="1" dirty="0">
                <a:solidFill>
                  <a:schemeClr val="bg1"/>
                </a:solidFill>
                <a:cs typeface="Times New Roman" panose="02020603050405020304" pitchFamily="18" charset="0"/>
              </a:rPr>
              <a:t>U</a:t>
            </a:r>
            <a:r>
              <a:rPr lang="en-US" altLang="zh-CN" sz="2400" b="1" dirty="0">
                <a:solidFill>
                  <a:schemeClr val="bg1"/>
                </a:solidFill>
                <a:effectLst>
                  <a:outerShdw blurRad="38100" dist="38100" dir="2700000" algn="tl">
                    <a:srgbClr val="000000"/>
                  </a:outerShdw>
                </a:effectLst>
                <a:latin typeface="宋体" panose="02010600030101010101" pitchFamily="2" charset="-122"/>
              </a:rPr>
              <a:t>=</a:t>
            </a:r>
            <a:r>
              <a:rPr lang="en-US" altLang="zh-CN" sz="2400" i="1" dirty="0">
                <a:solidFill>
                  <a:schemeClr val="bg1"/>
                </a:solidFill>
                <a:cs typeface="Times New Roman" panose="02020603050405020304" pitchFamily="18" charset="0"/>
              </a:rPr>
              <a:t>R</a:t>
            </a:r>
          </a:p>
        </p:txBody>
      </p:sp>
      <p:pic>
        <p:nvPicPr>
          <p:cNvPr id="14" name="图片 13"/>
          <p:cNvPicPr>
            <a:picLocks noChangeAspect="1"/>
          </p:cNvPicPr>
          <p:nvPr/>
        </p:nvPicPr>
        <p:blipFill>
          <a:blip r:embed="rId4"/>
          <a:stretch>
            <a:fillRect/>
          </a:stretch>
        </p:blipFill>
        <p:spPr>
          <a:xfrm>
            <a:off x="1769471" y="3582162"/>
            <a:ext cx="4015493" cy="2208521"/>
          </a:xfrm>
          <a:prstGeom prst="rect">
            <a:avLst/>
          </a:prstGeom>
        </p:spPr>
      </p:pic>
      <p:sp>
        <p:nvSpPr>
          <p:cNvPr id="15" name="文本框 14"/>
          <p:cNvSpPr txBox="1"/>
          <p:nvPr/>
        </p:nvSpPr>
        <p:spPr>
          <a:xfrm>
            <a:off x="5280987" y="3561333"/>
            <a:ext cx="407484" cy="461665"/>
          </a:xfrm>
          <a:prstGeom prst="rect">
            <a:avLst/>
          </a:prstGeom>
          <a:noFill/>
        </p:spPr>
        <p:txBody>
          <a:bodyPr wrap="none" rtlCol="0">
            <a:spAutoFit/>
          </a:bodyPr>
          <a:lstStyle/>
          <a:p>
            <a:r>
              <a:rPr lang="en-US" altLang="zh-CN" sz="2400" i="1" dirty="0"/>
              <a:t>U</a:t>
            </a:r>
            <a:endParaRPr lang="zh-CN" altLang="en-US" sz="2400" i="1" dirty="0"/>
          </a:p>
        </p:txBody>
      </p:sp>
      <p:sp>
        <p:nvSpPr>
          <p:cNvPr id="16" name="文本框 15"/>
          <p:cNvSpPr txBox="1"/>
          <p:nvPr/>
        </p:nvSpPr>
        <p:spPr>
          <a:xfrm>
            <a:off x="3573475" y="4461398"/>
            <a:ext cx="389850" cy="461665"/>
          </a:xfrm>
          <a:prstGeom prst="rect">
            <a:avLst/>
          </a:prstGeom>
          <a:noFill/>
        </p:spPr>
        <p:txBody>
          <a:bodyPr wrap="none" rtlCol="0">
            <a:spAutoFit/>
          </a:bodyPr>
          <a:lstStyle/>
          <a:p>
            <a:r>
              <a:rPr lang="en-US" altLang="zh-CN" sz="2400" i="1" dirty="0"/>
              <a:t>V</a:t>
            </a:r>
            <a:endParaRPr lang="zh-CN" altLang="en-US" sz="2400" i="1" dirty="0"/>
          </a:p>
        </p:txBody>
      </p:sp>
      <p:sp>
        <p:nvSpPr>
          <p:cNvPr id="19" name="文本框 18"/>
          <p:cNvSpPr txBox="1"/>
          <p:nvPr/>
        </p:nvSpPr>
        <p:spPr>
          <a:xfrm>
            <a:off x="3835434" y="3940278"/>
            <a:ext cx="298119" cy="369332"/>
          </a:xfrm>
          <a:prstGeom prst="rect">
            <a:avLst/>
          </a:prstGeom>
          <a:noFill/>
        </p:spPr>
        <p:txBody>
          <a:bodyPr wrap="square" rtlCol="0">
            <a:spAutoFit/>
          </a:bodyPr>
          <a:lstStyle/>
          <a:p>
            <a:r>
              <a:rPr lang="en-US" altLang="zh-CN" sz="1800" i="1" dirty="0"/>
              <a:t>a</a:t>
            </a:r>
            <a:endParaRPr lang="zh-CN" altLang="en-US" sz="1800" i="1" dirty="0"/>
          </a:p>
        </p:txBody>
      </p:sp>
      <p:sp>
        <p:nvSpPr>
          <p:cNvPr id="20" name="文本框 19"/>
          <p:cNvSpPr txBox="1"/>
          <p:nvPr/>
        </p:nvSpPr>
        <p:spPr>
          <a:xfrm>
            <a:off x="4160535" y="4317943"/>
            <a:ext cx="298119" cy="369332"/>
          </a:xfrm>
          <a:prstGeom prst="rect">
            <a:avLst/>
          </a:prstGeom>
          <a:noFill/>
        </p:spPr>
        <p:txBody>
          <a:bodyPr wrap="square" rtlCol="0">
            <a:spAutoFit/>
          </a:bodyPr>
          <a:lstStyle/>
          <a:p>
            <a:r>
              <a:rPr lang="en-US" altLang="zh-CN" sz="1800" i="1" dirty="0"/>
              <a:t>e</a:t>
            </a:r>
            <a:endParaRPr lang="zh-CN" altLang="en-US" sz="1800" i="1" dirty="0"/>
          </a:p>
        </p:txBody>
      </p:sp>
      <p:sp>
        <p:nvSpPr>
          <p:cNvPr id="21" name="文本框 20"/>
          <p:cNvSpPr txBox="1"/>
          <p:nvPr/>
        </p:nvSpPr>
        <p:spPr>
          <a:xfrm>
            <a:off x="4133553" y="4702295"/>
            <a:ext cx="298119" cy="369332"/>
          </a:xfrm>
          <a:prstGeom prst="rect">
            <a:avLst/>
          </a:prstGeom>
          <a:noFill/>
        </p:spPr>
        <p:txBody>
          <a:bodyPr wrap="square" rtlCol="0">
            <a:spAutoFit/>
          </a:bodyPr>
          <a:lstStyle/>
          <a:p>
            <a:r>
              <a:rPr lang="en-US" altLang="zh-CN" sz="1800" i="1" dirty="0" err="1"/>
              <a:t>i</a:t>
            </a:r>
            <a:endParaRPr lang="zh-CN" altLang="en-US" sz="1800" i="1" dirty="0"/>
          </a:p>
        </p:txBody>
      </p:sp>
      <p:sp>
        <p:nvSpPr>
          <p:cNvPr id="22" name="文本框 21"/>
          <p:cNvSpPr txBox="1"/>
          <p:nvPr/>
        </p:nvSpPr>
        <p:spPr>
          <a:xfrm>
            <a:off x="3275356" y="4835045"/>
            <a:ext cx="298119" cy="369332"/>
          </a:xfrm>
          <a:prstGeom prst="rect">
            <a:avLst/>
          </a:prstGeom>
          <a:noFill/>
        </p:spPr>
        <p:txBody>
          <a:bodyPr wrap="square" rtlCol="0">
            <a:spAutoFit/>
          </a:bodyPr>
          <a:lstStyle/>
          <a:p>
            <a:r>
              <a:rPr lang="en-US" altLang="zh-CN" sz="1800" i="1" dirty="0"/>
              <a:t>o</a:t>
            </a:r>
            <a:endParaRPr lang="zh-CN" altLang="en-US" sz="1800" i="1" dirty="0"/>
          </a:p>
        </p:txBody>
      </p:sp>
      <p:sp>
        <p:nvSpPr>
          <p:cNvPr id="23" name="文本框 22"/>
          <p:cNvSpPr txBox="1"/>
          <p:nvPr/>
        </p:nvSpPr>
        <p:spPr>
          <a:xfrm>
            <a:off x="3078146" y="4332963"/>
            <a:ext cx="298119" cy="369332"/>
          </a:xfrm>
          <a:prstGeom prst="rect">
            <a:avLst/>
          </a:prstGeom>
          <a:noFill/>
        </p:spPr>
        <p:txBody>
          <a:bodyPr wrap="square" rtlCol="0">
            <a:spAutoFit/>
          </a:bodyPr>
          <a:lstStyle/>
          <a:p>
            <a:r>
              <a:rPr lang="en-US" altLang="zh-CN" sz="1800" i="1" dirty="0"/>
              <a:t>u</a:t>
            </a:r>
            <a:endParaRPr lang="zh-CN" altLang="en-US" sz="1800" i="1" dirty="0"/>
          </a:p>
        </p:txBody>
      </p:sp>
      <p:pic>
        <p:nvPicPr>
          <p:cNvPr id="24" name="图片 23"/>
          <p:cNvPicPr>
            <a:picLocks noChangeAspect="1"/>
          </p:cNvPicPr>
          <p:nvPr/>
        </p:nvPicPr>
        <p:blipFill>
          <a:blip r:embed="rId5"/>
          <a:stretch>
            <a:fillRect/>
          </a:stretch>
        </p:blipFill>
        <p:spPr>
          <a:xfrm>
            <a:off x="6199516" y="3569777"/>
            <a:ext cx="4015492" cy="2218559"/>
          </a:xfrm>
          <a:prstGeom prst="rect">
            <a:avLst/>
          </a:prstGeom>
        </p:spPr>
      </p:pic>
      <p:sp>
        <p:nvSpPr>
          <p:cNvPr id="25" name="文本框 24"/>
          <p:cNvSpPr txBox="1"/>
          <p:nvPr/>
        </p:nvSpPr>
        <p:spPr>
          <a:xfrm>
            <a:off x="9768408" y="3557359"/>
            <a:ext cx="389850" cy="461665"/>
          </a:xfrm>
          <a:prstGeom prst="rect">
            <a:avLst/>
          </a:prstGeom>
          <a:noFill/>
        </p:spPr>
        <p:txBody>
          <a:bodyPr wrap="none" rtlCol="0">
            <a:spAutoFit/>
          </a:bodyPr>
          <a:lstStyle/>
          <a:p>
            <a:r>
              <a:rPr lang="en-US" altLang="zh-CN" sz="2400" i="1" dirty="0"/>
              <a:t>R</a:t>
            </a:r>
            <a:endParaRPr lang="zh-CN" altLang="en-US" sz="2400" i="1" dirty="0"/>
          </a:p>
        </p:txBody>
      </p:sp>
      <p:sp>
        <p:nvSpPr>
          <p:cNvPr id="28" name="文本框 27"/>
          <p:cNvSpPr txBox="1"/>
          <p:nvPr/>
        </p:nvSpPr>
        <p:spPr>
          <a:xfrm>
            <a:off x="6600811" y="4429270"/>
            <a:ext cx="407484" cy="461665"/>
          </a:xfrm>
          <a:prstGeom prst="rect">
            <a:avLst/>
          </a:prstGeom>
          <a:noFill/>
        </p:spPr>
        <p:txBody>
          <a:bodyPr wrap="none" rtlCol="0">
            <a:spAutoFit/>
          </a:bodyPr>
          <a:lstStyle/>
          <a:p>
            <a:r>
              <a:rPr lang="en-US" altLang="zh-CN" sz="2400" i="1" dirty="0"/>
              <a:t>Q</a:t>
            </a:r>
            <a:endParaRPr lang="zh-CN" altLang="en-US" sz="2400" i="1" dirty="0"/>
          </a:p>
        </p:txBody>
      </p:sp>
      <p:sp>
        <p:nvSpPr>
          <p:cNvPr id="29" name="文本框 28"/>
          <p:cNvSpPr txBox="1"/>
          <p:nvPr/>
        </p:nvSpPr>
        <p:spPr>
          <a:xfrm>
            <a:off x="7182566" y="4429269"/>
            <a:ext cx="407484" cy="461665"/>
          </a:xfrm>
          <a:prstGeom prst="rect">
            <a:avLst/>
          </a:prstGeom>
          <a:noFill/>
        </p:spPr>
        <p:txBody>
          <a:bodyPr wrap="none" rtlCol="0">
            <a:spAutoFit/>
          </a:bodyPr>
          <a:lstStyle/>
          <a:p>
            <a:r>
              <a:rPr lang="en-US" altLang="zh-CN" sz="2400" i="1" dirty="0"/>
              <a:t>N</a:t>
            </a:r>
            <a:endParaRPr lang="zh-CN" altLang="en-US" sz="2400" i="1" dirty="0"/>
          </a:p>
        </p:txBody>
      </p:sp>
      <p:sp>
        <p:nvSpPr>
          <p:cNvPr id="30" name="文本框 29"/>
          <p:cNvSpPr txBox="1"/>
          <p:nvPr/>
        </p:nvSpPr>
        <p:spPr>
          <a:xfrm>
            <a:off x="7176120" y="3707740"/>
            <a:ext cx="662767" cy="369332"/>
          </a:xfrm>
          <a:prstGeom prst="rect">
            <a:avLst/>
          </a:prstGeom>
          <a:noFill/>
        </p:spPr>
        <p:txBody>
          <a:bodyPr wrap="square" rtlCol="0">
            <a:spAutoFit/>
          </a:bodyPr>
          <a:lstStyle/>
          <a:p>
            <a:r>
              <a:rPr lang="en-US" altLang="zh-CN" sz="1800" dirty="0"/>
              <a:t>1.3</a:t>
            </a:r>
            <a:endParaRPr lang="zh-CN" altLang="en-US" sz="1800" dirty="0"/>
          </a:p>
        </p:txBody>
      </p:sp>
      <p:sp>
        <p:nvSpPr>
          <p:cNvPr id="31" name="文本框 30"/>
          <p:cNvSpPr txBox="1"/>
          <p:nvPr/>
        </p:nvSpPr>
        <p:spPr>
          <a:xfrm>
            <a:off x="7842285" y="4427820"/>
            <a:ext cx="298119" cy="369332"/>
          </a:xfrm>
          <a:prstGeom prst="rect">
            <a:avLst/>
          </a:prstGeom>
          <a:noFill/>
        </p:spPr>
        <p:txBody>
          <a:bodyPr wrap="square" rtlCol="0">
            <a:spAutoFit/>
          </a:bodyPr>
          <a:lstStyle/>
          <a:p>
            <a:r>
              <a:rPr lang="en-US" altLang="zh-CN" sz="1800" dirty="0"/>
              <a:t>5</a:t>
            </a:r>
            <a:endParaRPr lang="zh-CN" altLang="en-US" sz="1800" dirty="0"/>
          </a:p>
        </p:txBody>
      </p:sp>
      <mc:AlternateContent xmlns:mc="http://schemas.openxmlformats.org/markup-compatibility/2006" xmlns:a14="http://schemas.microsoft.com/office/drawing/2010/main">
        <mc:Choice Requires="a14">
          <p:sp>
            <p:nvSpPr>
              <p:cNvPr id="33" name="文本框 32"/>
              <p:cNvSpPr txBox="1"/>
              <p:nvPr/>
            </p:nvSpPr>
            <p:spPr>
              <a:xfrm>
                <a:off x="9542297" y="5077436"/>
                <a:ext cx="2981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l-GR" altLang="zh-CN" sz="1800" i="1" smtClean="0">
                          <a:latin typeface="Cambria Math" panose="02040503050406030204" pitchFamily="18" charset="0"/>
                        </a:rPr>
                        <m:t>𝜋</m:t>
                      </m:r>
                    </m:oMath>
                  </m:oMathPara>
                </a14:m>
                <a:endParaRPr lang="zh-CN" altLang="en-US" sz="1800" i="1" dirty="0"/>
              </a:p>
            </p:txBody>
          </p:sp>
        </mc:Choice>
        <mc:Fallback xmlns="">
          <p:sp>
            <p:nvSpPr>
              <p:cNvPr id="33" name="文本框 32"/>
              <p:cNvSpPr txBox="1">
                <a:spLocks noRot="1" noChangeAspect="1" noMove="1" noResize="1" noEditPoints="1" noAdjustHandles="1" noChangeArrowheads="1" noChangeShapeType="1" noTextEdit="1"/>
              </p:cNvSpPr>
              <p:nvPr/>
            </p:nvSpPr>
            <p:spPr>
              <a:xfrm>
                <a:off x="9542297" y="5077436"/>
                <a:ext cx="298119" cy="369332"/>
              </a:xfrm>
              <a:prstGeom prst="rect">
                <a:avLst/>
              </a:prstGeom>
              <a:blipFill rotWithShape="1">
                <a:blip r:embed="rId6"/>
                <a:stretch>
                  <a:fillRect l="-51" t="-165" r="153" b="1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p:cNvSpPr txBox="1"/>
              <p:nvPr/>
            </p:nvSpPr>
            <p:spPr>
              <a:xfrm>
                <a:off x="9048328" y="4467190"/>
                <a:ext cx="298119" cy="4019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l-GR" altLang="zh-CN" sz="1800" i="1" smtClean="0">
                              <a:latin typeface="Cambria Math" panose="02040503050406030204" pitchFamily="18" charset="0"/>
                            </a:rPr>
                          </m:ctrlPr>
                        </m:radPr>
                        <m:deg/>
                        <m:e>
                          <m:r>
                            <a:rPr lang="en-US" altLang="zh-CN" sz="1800" b="1" i="1" smtClean="0">
                              <a:latin typeface="Cambria Math" panose="02040503050406030204" pitchFamily="18" charset="0"/>
                            </a:rPr>
                            <m:t>𝟐</m:t>
                          </m:r>
                        </m:e>
                      </m:rad>
                    </m:oMath>
                  </m:oMathPara>
                </a14:m>
                <a:endParaRPr lang="zh-CN" altLang="en-US" sz="1800" i="1" dirty="0"/>
              </a:p>
            </p:txBody>
          </p:sp>
        </mc:Choice>
        <mc:Fallback xmlns="">
          <p:sp>
            <p:nvSpPr>
              <p:cNvPr id="34" name="文本框 33"/>
              <p:cNvSpPr txBox="1">
                <a:spLocks noRot="1" noChangeAspect="1" noMove="1" noResize="1" noEditPoints="1" noAdjustHandles="1" noChangeArrowheads="1" noChangeShapeType="1" noTextEdit="1"/>
              </p:cNvSpPr>
              <p:nvPr/>
            </p:nvSpPr>
            <p:spPr>
              <a:xfrm>
                <a:off x="9048328" y="4467190"/>
                <a:ext cx="298119" cy="401970"/>
              </a:xfrm>
              <a:prstGeom prst="rect">
                <a:avLst/>
              </a:prstGeom>
              <a:blipFill rotWithShape="1">
                <a:blip r:embed="rId7"/>
                <a:stretch>
                  <a:fillRect l="-71" t="-149" r="-26665" b="153"/>
                </a:stretch>
              </a:blipFill>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p:cTn id="12" dur="500" fill="hold"/>
                                        <p:tgtEl>
                                          <p:spTgt spid="15"/>
                                        </p:tgtEl>
                                        <p:attrNameLst>
                                          <p:attrName>ppt_w</p:attrName>
                                        </p:attrNameLst>
                                      </p:cBhvr>
                                      <p:tavLst>
                                        <p:tav tm="0">
                                          <p:val>
                                            <p:fltVal val="0"/>
                                          </p:val>
                                        </p:tav>
                                        <p:tav tm="100000">
                                          <p:val>
                                            <p:strVal val="#ppt_w"/>
                                          </p:val>
                                        </p:tav>
                                      </p:tavLst>
                                    </p:anim>
                                    <p:anim calcmode="lin" valueType="num">
                                      <p:cBhvr>
                                        <p:cTn id="13" dur="500" fill="hold"/>
                                        <p:tgtEl>
                                          <p:spTgt spid="15"/>
                                        </p:tgtEl>
                                        <p:attrNameLst>
                                          <p:attrName>ppt_h</p:attrName>
                                        </p:attrNameLst>
                                      </p:cBhvr>
                                      <p:tavLst>
                                        <p:tav tm="0">
                                          <p:val>
                                            <p:fltVal val="0"/>
                                          </p:val>
                                        </p:tav>
                                        <p:tav tm="100000">
                                          <p:val>
                                            <p:strVal val="#ppt_h"/>
                                          </p:val>
                                        </p:tav>
                                      </p:tavLst>
                                    </p:anim>
                                    <p:animEffect transition="in" filter="fade">
                                      <p:cBhvr>
                                        <p:cTn id="14" dur="500"/>
                                        <p:tgtEl>
                                          <p:spTgt spid="1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p:cTn id="17" dur="500" fill="hold"/>
                                        <p:tgtEl>
                                          <p:spTgt spid="19"/>
                                        </p:tgtEl>
                                        <p:attrNameLst>
                                          <p:attrName>ppt_w</p:attrName>
                                        </p:attrNameLst>
                                      </p:cBhvr>
                                      <p:tavLst>
                                        <p:tav tm="0">
                                          <p:val>
                                            <p:fltVal val="0"/>
                                          </p:val>
                                        </p:tav>
                                        <p:tav tm="100000">
                                          <p:val>
                                            <p:strVal val="#ppt_w"/>
                                          </p:val>
                                        </p:tav>
                                      </p:tavLst>
                                    </p:anim>
                                    <p:anim calcmode="lin" valueType="num">
                                      <p:cBhvr>
                                        <p:cTn id="18" dur="500" fill="hold"/>
                                        <p:tgtEl>
                                          <p:spTgt spid="19"/>
                                        </p:tgtEl>
                                        <p:attrNameLst>
                                          <p:attrName>ppt_h</p:attrName>
                                        </p:attrNameLst>
                                      </p:cBhvr>
                                      <p:tavLst>
                                        <p:tav tm="0">
                                          <p:val>
                                            <p:fltVal val="0"/>
                                          </p:val>
                                        </p:tav>
                                        <p:tav tm="100000">
                                          <p:val>
                                            <p:strVal val="#ppt_h"/>
                                          </p:val>
                                        </p:tav>
                                      </p:tavLst>
                                    </p:anim>
                                    <p:animEffect transition="in" filter="fade">
                                      <p:cBhvr>
                                        <p:cTn id="19" dur="500"/>
                                        <p:tgtEl>
                                          <p:spTgt spid="1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p:cTn id="22" dur="500" fill="hold"/>
                                        <p:tgtEl>
                                          <p:spTgt spid="23"/>
                                        </p:tgtEl>
                                        <p:attrNameLst>
                                          <p:attrName>ppt_w</p:attrName>
                                        </p:attrNameLst>
                                      </p:cBhvr>
                                      <p:tavLst>
                                        <p:tav tm="0">
                                          <p:val>
                                            <p:fltVal val="0"/>
                                          </p:val>
                                        </p:tav>
                                        <p:tav tm="100000">
                                          <p:val>
                                            <p:strVal val="#ppt_w"/>
                                          </p:val>
                                        </p:tav>
                                      </p:tavLst>
                                    </p:anim>
                                    <p:anim calcmode="lin" valueType="num">
                                      <p:cBhvr>
                                        <p:cTn id="23" dur="500" fill="hold"/>
                                        <p:tgtEl>
                                          <p:spTgt spid="23"/>
                                        </p:tgtEl>
                                        <p:attrNameLst>
                                          <p:attrName>ppt_h</p:attrName>
                                        </p:attrNameLst>
                                      </p:cBhvr>
                                      <p:tavLst>
                                        <p:tav tm="0">
                                          <p:val>
                                            <p:fltVal val="0"/>
                                          </p:val>
                                        </p:tav>
                                        <p:tav tm="100000">
                                          <p:val>
                                            <p:strVal val="#ppt_h"/>
                                          </p:val>
                                        </p:tav>
                                      </p:tavLst>
                                    </p:anim>
                                    <p:animEffect transition="in" filter="fade">
                                      <p:cBhvr>
                                        <p:cTn id="24" dur="500"/>
                                        <p:tgtEl>
                                          <p:spTgt spid="2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500" fill="hold"/>
                                        <p:tgtEl>
                                          <p:spTgt spid="22"/>
                                        </p:tgtEl>
                                        <p:attrNameLst>
                                          <p:attrName>ppt_w</p:attrName>
                                        </p:attrNameLst>
                                      </p:cBhvr>
                                      <p:tavLst>
                                        <p:tav tm="0">
                                          <p:val>
                                            <p:fltVal val="0"/>
                                          </p:val>
                                        </p:tav>
                                        <p:tav tm="100000">
                                          <p:val>
                                            <p:strVal val="#ppt_w"/>
                                          </p:val>
                                        </p:tav>
                                      </p:tavLst>
                                    </p:anim>
                                    <p:anim calcmode="lin" valueType="num">
                                      <p:cBhvr>
                                        <p:cTn id="28" dur="500" fill="hold"/>
                                        <p:tgtEl>
                                          <p:spTgt spid="22"/>
                                        </p:tgtEl>
                                        <p:attrNameLst>
                                          <p:attrName>ppt_h</p:attrName>
                                        </p:attrNameLst>
                                      </p:cBhvr>
                                      <p:tavLst>
                                        <p:tav tm="0">
                                          <p:val>
                                            <p:fltVal val="0"/>
                                          </p:val>
                                        </p:tav>
                                        <p:tav tm="100000">
                                          <p:val>
                                            <p:strVal val="#ppt_h"/>
                                          </p:val>
                                        </p:tav>
                                      </p:tavLst>
                                    </p:anim>
                                    <p:animEffect transition="in" filter="fade">
                                      <p:cBhvr>
                                        <p:cTn id="29" dur="500"/>
                                        <p:tgtEl>
                                          <p:spTgt spid="22"/>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fltVal val="0"/>
                                          </p:val>
                                        </p:tav>
                                        <p:tav tm="100000">
                                          <p:val>
                                            <p:strVal val="#ppt_w"/>
                                          </p:val>
                                        </p:tav>
                                      </p:tavLst>
                                    </p:anim>
                                    <p:anim calcmode="lin" valueType="num">
                                      <p:cBhvr>
                                        <p:cTn id="33" dur="500" fill="hold"/>
                                        <p:tgtEl>
                                          <p:spTgt spid="21"/>
                                        </p:tgtEl>
                                        <p:attrNameLst>
                                          <p:attrName>ppt_h</p:attrName>
                                        </p:attrNameLst>
                                      </p:cBhvr>
                                      <p:tavLst>
                                        <p:tav tm="0">
                                          <p:val>
                                            <p:fltVal val="0"/>
                                          </p:val>
                                        </p:tav>
                                        <p:tav tm="100000">
                                          <p:val>
                                            <p:strVal val="#ppt_h"/>
                                          </p:val>
                                        </p:tav>
                                      </p:tavLst>
                                    </p:anim>
                                    <p:animEffect transition="in" filter="fade">
                                      <p:cBhvr>
                                        <p:cTn id="34" dur="500"/>
                                        <p:tgtEl>
                                          <p:spTgt spid="21"/>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ppt_w</p:attrName>
                                        </p:attrNameLst>
                                      </p:cBhvr>
                                      <p:tavLst>
                                        <p:tav tm="0">
                                          <p:val>
                                            <p:fltVal val="0"/>
                                          </p:val>
                                        </p:tav>
                                        <p:tav tm="100000">
                                          <p:val>
                                            <p:strVal val="#ppt_w"/>
                                          </p:val>
                                        </p:tav>
                                      </p:tavLst>
                                    </p:anim>
                                    <p:anim calcmode="lin" valueType="num">
                                      <p:cBhvr>
                                        <p:cTn id="38" dur="500" fill="hold"/>
                                        <p:tgtEl>
                                          <p:spTgt spid="20"/>
                                        </p:tgtEl>
                                        <p:attrNameLst>
                                          <p:attrName>ppt_h</p:attrName>
                                        </p:attrNameLst>
                                      </p:cBhvr>
                                      <p:tavLst>
                                        <p:tav tm="0">
                                          <p:val>
                                            <p:fltVal val="0"/>
                                          </p:val>
                                        </p:tav>
                                        <p:tav tm="100000">
                                          <p:val>
                                            <p:strVal val="#ppt_h"/>
                                          </p:val>
                                        </p:tav>
                                      </p:tavLst>
                                    </p:anim>
                                    <p:animEffect transition="in" filter="fade">
                                      <p:cBhvr>
                                        <p:cTn id="39" dur="500"/>
                                        <p:tgtEl>
                                          <p:spTgt spid="20"/>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p:cTn id="42" dur="500" fill="hold"/>
                                        <p:tgtEl>
                                          <p:spTgt spid="16"/>
                                        </p:tgtEl>
                                        <p:attrNameLst>
                                          <p:attrName>ppt_w</p:attrName>
                                        </p:attrNameLst>
                                      </p:cBhvr>
                                      <p:tavLst>
                                        <p:tav tm="0">
                                          <p:val>
                                            <p:fltVal val="0"/>
                                          </p:val>
                                        </p:tav>
                                        <p:tav tm="100000">
                                          <p:val>
                                            <p:strVal val="#ppt_w"/>
                                          </p:val>
                                        </p:tav>
                                      </p:tavLst>
                                    </p:anim>
                                    <p:anim calcmode="lin" valueType="num">
                                      <p:cBhvr>
                                        <p:cTn id="43" dur="500" fill="hold"/>
                                        <p:tgtEl>
                                          <p:spTgt spid="16"/>
                                        </p:tgtEl>
                                        <p:attrNameLst>
                                          <p:attrName>ppt_h</p:attrName>
                                        </p:attrNameLst>
                                      </p:cBhvr>
                                      <p:tavLst>
                                        <p:tav tm="0">
                                          <p:val>
                                            <p:fltVal val="0"/>
                                          </p:val>
                                        </p:tav>
                                        <p:tav tm="100000">
                                          <p:val>
                                            <p:strVal val="#ppt_h"/>
                                          </p:val>
                                        </p:tav>
                                      </p:tavLst>
                                    </p:anim>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left)">
                                      <p:cBhvr>
                                        <p:cTn id="49" dur="500"/>
                                        <p:tgtEl>
                                          <p:spTgt spid="4"/>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nodeType="click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p:cTn id="54" dur="500" fill="hold"/>
                                        <p:tgtEl>
                                          <p:spTgt spid="24"/>
                                        </p:tgtEl>
                                        <p:attrNameLst>
                                          <p:attrName>ppt_w</p:attrName>
                                        </p:attrNameLst>
                                      </p:cBhvr>
                                      <p:tavLst>
                                        <p:tav tm="0">
                                          <p:val>
                                            <p:fltVal val="0"/>
                                          </p:val>
                                        </p:tav>
                                        <p:tav tm="100000">
                                          <p:val>
                                            <p:strVal val="#ppt_w"/>
                                          </p:val>
                                        </p:tav>
                                      </p:tavLst>
                                    </p:anim>
                                    <p:anim calcmode="lin" valueType="num">
                                      <p:cBhvr>
                                        <p:cTn id="55" dur="500" fill="hold"/>
                                        <p:tgtEl>
                                          <p:spTgt spid="24"/>
                                        </p:tgtEl>
                                        <p:attrNameLst>
                                          <p:attrName>ppt_h</p:attrName>
                                        </p:attrNameLst>
                                      </p:cBhvr>
                                      <p:tavLst>
                                        <p:tav tm="0">
                                          <p:val>
                                            <p:fltVal val="0"/>
                                          </p:val>
                                        </p:tav>
                                        <p:tav tm="100000">
                                          <p:val>
                                            <p:strVal val="#ppt_h"/>
                                          </p:val>
                                        </p:tav>
                                      </p:tavLst>
                                    </p:anim>
                                    <p:animEffect transition="in" filter="fade">
                                      <p:cBhvr>
                                        <p:cTn id="56" dur="500"/>
                                        <p:tgtEl>
                                          <p:spTgt spid="24"/>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 calcmode="lin" valueType="num">
                                      <p:cBhvr>
                                        <p:cTn id="59" dur="500" fill="hold"/>
                                        <p:tgtEl>
                                          <p:spTgt spid="25"/>
                                        </p:tgtEl>
                                        <p:attrNameLst>
                                          <p:attrName>ppt_w</p:attrName>
                                        </p:attrNameLst>
                                      </p:cBhvr>
                                      <p:tavLst>
                                        <p:tav tm="0">
                                          <p:val>
                                            <p:fltVal val="0"/>
                                          </p:val>
                                        </p:tav>
                                        <p:tav tm="100000">
                                          <p:val>
                                            <p:strVal val="#ppt_w"/>
                                          </p:val>
                                        </p:tav>
                                      </p:tavLst>
                                    </p:anim>
                                    <p:anim calcmode="lin" valueType="num">
                                      <p:cBhvr>
                                        <p:cTn id="60" dur="500" fill="hold"/>
                                        <p:tgtEl>
                                          <p:spTgt spid="25"/>
                                        </p:tgtEl>
                                        <p:attrNameLst>
                                          <p:attrName>ppt_h</p:attrName>
                                        </p:attrNameLst>
                                      </p:cBhvr>
                                      <p:tavLst>
                                        <p:tav tm="0">
                                          <p:val>
                                            <p:fltVal val="0"/>
                                          </p:val>
                                        </p:tav>
                                        <p:tav tm="100000">
                                          <p:val>
                                            <p:strVal val="#ppt_h"/>
                                          </p:val>
                                        </p:tav>
                                      </p:tavLst>
                                    </p:anim>
                                    <p:animEffect transition="in" filter="fade">
                                      <p:cBhvr>
                                        <p:cTn id="61" dur="500"/>
                                        <p:tgtEl>
                                          <p:spTgt spid="25"/>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 calcmode="lin" valueType="num">
                                      <p:cBhvr>
                                        <p:cTn id="64" dur="500" fill="hold"/>
                                        <p:tgtEl>
                                          <p:spTgt spid="28"/>
                                        </p:tgtEl>
                                        <p:attrNameLst>
                                          <p:attrName>ppt_w</p:attrName>
                                        </p:attrNameLst>
                                      </p:cBhvr>
                                      <p:tavLst>
                                        <p:tav tm="0">
                                          <p:val>
                                            <p:fltVal val="0"/>
                                          </p:val>
                                        </p:tav>
                                        <p:tav tm="100000">
                                          <p:val>
                                            <p:strVal val="#ppt_w"/>
                                          </p:val>
                                        </p:tav>
                                      </p:tavLst>
                                    </p:anim>
                                    <p:anim calcmode="lin" valueType="num">
                                      <p:cBhvr>
                                        <p:cTn id="65" dur="500" fill="hold"/>
                                        <p:tgtEl>
                                          <p:spTgt spid="28"/>
                                        </p:tgtEl>
                                        <p:attrNameLst>
                                          <p:attrName>ppt_h</p:attrName>
                                        </p:attrNameLst>
                                      </p:cBhvr>
                                      <p:tavLst>
                                        <p:tav tm="0">
                                          <p:val>
                                            <p:fltVal val="0"/>
                                          </p:val>
                                        </p:tav>
                                        <p:tav tm="100000">
                                          <p:val>
                                            <p:strVal val="#ppt_h"/>
                                          </p:val>
                                        </p:tav>
                                      </p:tavLst>
                                    </p:anim>
                                    <p:animEffect transition="in" filter="fade">
                                      <p:cBhvr>
                                        <p:cTn id="66" dur="500"/>
                                        <p:tgtEl>
                                          <p:spTgt spid="28"/>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29"/>
                                        </p:tgtEl>
                                        <p:attrNameLst>
                                          <p:attrName>style.visibility</p:attrName>
                                        </p:attrNameLst>
                                      </p:cBhvr>
                                      <p:to>
                                        <p:strVal val="visible"/>
                                      </p:to>
                                    </p:set>
                                    <p:anim calcmode="lin" valueType="num">
                                      <p:cBhvr>
                                        <p:cTn id="69" dur="500" fill="hold"/>
                                        <p:tgtEl>
                                          <p:spTgt spid="29"/>
                                        </p:tgtEl>
                                        <p:attrNameLst>
                                          <p:attrName>ppt_w</p:attrName>
                                        </p:attrNameLst>
                                      </p:cBhvr>
                                      <p:tavLst>
                                        <p:tav tm="0">
                                          <p:val>
                                            <p:fltVal val="0"/>
                                          </p:val>
                                        </p:tav>
                                        <p:tav tm="100000">
                                          <p:val>
                                            <p:strVal val="#ppt_w"/>
                                          </p:val>
                                        </p:tav>
                                      </p:tavLst>
                                    </p:anim>
                                    <p:anim calcmode="lin" valueType="num">
                                      <p:cBhvr>
                                        <p:cTn id="70" dur="500" fill="hold"/>
                                        <p:tgtEl>
                                          <p:spTgt spid="29"/>
                                        </p:tgtEl>
                                        <p:attrNameLst>
                                          <p:attrName>ppt_h</p:attrName>
                                        </p:attrNameLst>
                                      </p:cBhvr>
                                      <p:tavLst>
                                        <p:tav tm="0">
                                          <p:val>
                                            <p:fltVal val="0"/>
                                          </p:val>
                                        </p:tav>
                                        <p:tav tm="100000">
                                          <p:val>
                                            <p:strVal val="#ppt_h"/>
                                          </p:val>
                                        </p:tav>
                                      </p:tavLst>
                                    </p:anim>
                                    <p:animEffect transition="in" filter="fade">
                                      <p:cBhvr>
                                        <p:cTn id="71" dur="500"/>
                                        <p:tgtEl>
                                          <p:spTgt spid="29"/>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30"/>
                                        </p:tgtEl>
                                        <p:attrNameLst>
                                          <p:attrName>style.visibility</p:attrName>
                                        </p:attrNameLst>
                                      </p:cBhvr>
                                      <p:to>
                                        <p:strVal val="visible"/>
                                      </p:to>
                                    </p:set>
                                    <p:anim calcmode="lin" valueType="num">
                                      <p:cBhvr>
                                        <p:cTn id="74" dur="500" fill="hold"/>
                                        <p:tgtEl>
                                          <p:spTgt spid="30"/>
                                        </p:tgtEl>
                                        <p:attrNameLst>
                                          <p:attrName>ppt_w</p:attrName>
                                        </p:attrNameLst>
                                      </p:cBhvr>
                                      <p:tavLst>
                                        <p:tav tm="0">
                                          <p:val>
                                            <p:fltVal val="0"/>
                                          </p:val>
                                        </p:tav>
                                        <p:tav tm="100000">
                                          <p:val>
                                            <p:strVal val="#ppt_w"/>
                                          </p:val>
                                        </p:tav>
                                      </p:tavLst>
                                    </p:anim>
                                    <p:anim calcmode="lin" valueType="num">
                                      <p:cBhvr>
                                        <p:cTn id="75" dur="500" fill="hold"/>
                                        <p:tgtEl>
                                          <p:spTgt spid="30"/>
                                        </p:tgtEl>
                                        <p:attrNameLst>
                                          <p:attrName>ppt_h</p:attrName>
                                        </p:attrNameLst>
                                      </p:cBhvr>
                                      <p:tavLst>
                                        <p:tav tm="0">
                                          <p:val>
                                            <p:fltVal val="0"/>
                                          </p:val>
                                        </p:tav>
                                        <p:tav tm="100000">
                                          <p:val>
                                            <p:strVal val="#ppt_h"/>
                                          </p:val>
                                        </p:tav>
                                      </p:tavLst>
                                    </p:anim>
                                    <p:animEffect transition="in" filter="fade">
                                      <p:cBhvr>
                                        <p:cTn id="76" dur="500"/>
                                        <p:tgtEl>
                                          <p:spTgt spid="30"/>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31"/>
                                        </p:tgtEl>
                                        <p:attrNameLst>
                                          <p:attrName>style.visibility</p:attrName>
                                        </p:attrNameLst>
                                      </p:cBhvr>
                                      <p:to>
                                        <p:strVal val="visible"/>
                                      </p:to>
                                    </p:set>
                                    <p:anim calcmode="lin" valueType="num">
                                      <p:cBhvr>
                                        <p:cTn id="79" dur="500" fill="hold"/>
                                        <p:tgtEl>
                                          <p:spTgt spid="31"/>
                                        </p:tgtEl>
                                        <p:attrNameLst>
                                          <p:attrName>ppt_w</p:attrName>
                                        </p:attrNameLst>
                                      </p:cBhvr>
                                      <p:tavLst>
                                        <p:tav tm="0">
                                          <p:val>
                                            <p:fltVal val="0"/>
                                          </p:val>
                                        </p:tav>
                                        <p:tav tm="100000">
                                          <p:val>
                                            <p:strVal val="#ppt_w"/>
                                          </p:val>
                                        </p:tav>
                                      </p:tavLst>
                                    </p:anim>
                                    <p:anim calcmode="lin" valueType="num">
                                      <p:cBhvr>
                                        <p:cTn id="80" dur="500" fill="hold"/>
                                        <p:tgtEl>
                                          <p:spTgt spid="31"/>
                                        </p:tgtEl>
                                        <p:attrNameLst>
                                          <p:attrName>ppt_h</p:attrName>
                                        </p:attrNameLst>
                                      </p:cBhvr>
                                      <p:tavLst>
                                        <p:tav tm="0">
                                          <p:val>
                                            <p:fltVal val="0"/>
                                          </p:val>
                                        </p:tav>
                                        <p:tav tm="100000">
                                          <p:val>
                                            <p:strVal val="#ppt_h"/>
                                          </p:val>
                                        </p:tav>
                                      </p:tavLst>
                                    </p:anim>
                                    <p:animEffect transition="in" filter="fade">
                                      <p:cBhvr>
                                        <p:cTn id="81" dur="500"/>
                                        <p:tgtEl>
                                          <p:spTgt spid="31"/>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33"/>
                                        </p:tgtEl>
                                        <p:attrNameLst>
                                          <p:attrName>style.visibility</p:attrName>
                                        </p:attrNameLst>
                                      </p:cBhvr>
                                      <p:to>
                                        <p:strVal val="visible"/>
                                      </p:to>
                                    </p:set>
                                    <p:anim calcmode="lin" valueType="num">
                                      <p:cBhvr>
                                        <p:cTn id="84" dur="500" fill="hold"/>
                                        <p:tgtEl>
                                          <p:spTgt spid="33"/>
                                        </p:tgtEl>
                                        <p:attrNameLst>
                                          <p:attrName>ppt_w</p:attrName>
                                        </p:attrNameLst>
                                      </p:cBhvr>
                                      <p:tavLst>
                                        <p:tav tm="0">
                                          <p:val>
                                            <p:fltVal val="0"/>
                                          </p:val>
                                        </p:tav>
                                        <p:tav tm="100000">
                                          <p:val>
                                            <p:strVal val="#ppt_w"/>
                                          </p:val>
                                        </p:tav>
                                      </p:tavLst>
                                    </p:anim>
                                    <p:anim calcmode="lin" valueType="num">
                                      <p:cBhvr>
                                        <p:cTn id="85" dur="500" fill="hold"/>
                                        <p:tgtEl>
                                          <p:spTgt spid="33"/>
                                        </p:tgtEl>
                                        <p:attrNameLst>
                                          <p:attrName>ppt_h</p:attrName>
                                        </p:attrNameLst>
                                      </p:cBhvr>
                                      <p:tavLst>
                                        <p:tav tm="0">
                                          <p:val>
                                            <p:fltVal val="0"/>
                                          </p:val>
                                        </p:tav>
                                        <p:tav tm="100000">
                                          <p:val>
                                            <p:strVal val="#ppt_h"/>
                                          </p:val>
                                        </p:tav>
                                      </p:tavLst>
                                    </p:anim>
                                    <p:animEffect transition="in" filter="fade">
                                      <p:cBhvr>
                                        <p:cTn id="86" dur="500"/>
                                        <p:tgtEl>
                                          <p:spTgt spid="33"/>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34"/>
                                        </p:tgtEl>
                                        <p:attrNameLst>
                                          <p:attrName>style.visibility</p:attrName>
                                        </p:attrNameLst>
                                      </p:cBhvr>
                                      <p:to>
                                        <p:strVal val="visible"/>
                                      </p:to>
                                    </p:set>
                                    <p:anim calcmode="lin" valueType="num">
                                      <p:cBhvr>
                                        <p:cTn id="89" dur="500" fill="hold"/>
                                        <p:tgtEl>
                                          <p:spTgt spid="34"/>
                                        </p:tgtEl>
                                        <p:attrNameLst>
                                          <p:attrName>ppt_w</p:attrName>
                                        </p:attrNameLst>
                                      </p:cBhvr>
                                      <p:tavLst>
                                        <p:tav tm="0">
                                          <p:val>
                                            <p:fltVal val="0"/>
                                          </p:val>
                                        </p:tav>
                                        <p:tav tm="100000">
                                          <p:val>
                                            <p:strVal val="#ppt_w"/>
                                          </p:val>
                                        </p:tav>
                                      </p:tavLst>
                                    </p:anim>
                                    <p:anim calcmode="lin" valueType="num">
                                      <p:cBhvr>
                                        <p:cTn id="90" dur="500" fill="hold"/>
                                        <p:tgtEl>
                                          <p:spTgt spid="34"/>
                                        </p:tgtEl>
                                        <p:attrNameLst>
                                          <p:attrName>ppt_h</p:attrName>
                                        </p:attrNameLst>
                                      </p:cBhvr>
                                      <p:tavLst>
                                        <p:tav tm="0">
                                          <p:val>
                                            <p:fltVal val="0"/>
                                          </p:val>
                                        </p:tav>
                                        <p:tav tm="100000">
                                          <p:val>
                                            <p:strVal val="#ppt_h"/>
                                          </p:val>
                                        </p:tav>
                                      </p:tavLst>
                                    </p:anim>
                                    <p:animEffect transition="in" filter="fade">
                                      <p:cBhvr>
                                        <p:cTn id="91" dur="500"/>
                                        <p:tgtEl>
                                          <p:spTgt spid="34"/>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5"/>
                                        </p:tgtEl>
                                        <p:attrNameLst>
                                          <p:attrName>style.visibility</p:attrName>
                                        </p:attrNameLst>
                                      </p:cBhvr>
                                      <p:to>
                                        <p:strVal val="visible"/>
                                      </p:to>
                                    </p:set>
                                    <p:animEffect transition="in" filter="wipe(left)">
                                      <p:cBhvr>
                                        <p:cTn id="9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5" grpId="0"/>
      <p:bldP spid="16" grpId="0"/>
      <p:bldP spid="19" grpId="0"/>
      <p:bldP spid="20" grpId="0"/>
      <p:bldP spid="21" grpId="0"/>
      <p:bldP spid="22" grpId="0"/>
      <p:bldP spid="23" grpId="0"/>
      <p:bldP spid="25" grpId="0"/>
      <p:bldP spid="28" grpId="0"/>
      <p:bldP spid="29" grpId="0"/>
      <p:bldP spid="30" grpId="0"/>
      <p:bldP spid="31" grpId="0"/>
      <p:bldP spid="33" grpId="0"/>
      <p:bldP spid="3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63352" y="1585961"/>
            <a:ext cx="4896544"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定义</a:t>
            </a: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1.1.1</a:t>
            </a:r>
            <a:r>
              <a:rPr lang="en-US" altLang="zh-CN"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集合的相等</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10" name="Rectangle 2"/>
          <p:cNvSpPr txBox="1">
            <a:spLocks noChangeArrowheads="1"/>
          </p:cNvSpPr>
          <p:nvPr/>
        </p:nvSpPr>
        <p:spPr bwMode="auto">
          <a:xfrm>
            <a:off x="5159896" y="247802"/>
            <a:ext cx="6336704"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集合之间的关系</a:t>
            </a:r>
          </a:p>
        </p:txBody>
      </p:sp>
      <p:sp>
        <p:nvSpPr>
          <p:cNvPr id="11" name="文本框 10"/>
          <p:cNvSpPr txBox="1"/>
          <p:nvPr/>
        </p:nvSpPr>
        <p:spPr>
          <a:xfrm>
            <a:off x="983432" y="2417468"/>
            <a:ext cx="10945216" cy="533288"/>
          </a:xfrm>
          <a:prstGeom prst="rect">
            <a:avLst/>
          </a:prstGeom>
          <a:noFill/>
        </p:spPr>
        <p:txBody>
          <a:bodyPr wrap="square">
            <a:spAutoFit/>
          </a:bodyPr>
          <a:lstStyle/>
          <a:p>
            <a:pPr marL="533400" indent="-533400" eaLnBrk="1" hangingPunct="1">
              <a:lnSpc>
                <a:spcPct val="110000"/>
              </a:lnSpc>
              <a:buFont typeface="Wingdings" panose="05000000000000000000" pitchFamily="2" charset="2"/>
              <a:buNone/>
              <a:defRPr/>
            </a:pPr>
            <a:r>
              <a:rPr lang="zh-CN" altLang="en-US" sz="2800" b="0" dirty="0">
                <a:solidFill>
                  <a:schemeClr val="bg1"/>
                </a:solidFill>
                <a:ea typeface="微软雅黑" panose="020B0503020204020204" pitchFamily="34" charset="-122"/>
                <a:cs typeface="Times New Roman" panose="02020603050405020304" pitchFamily="18" charset="0"/>
              </a:rPr>
              <a:t>若集合</a:t>
            </a:r>
            <a:r>
              <a:rPr lang="en-US" altLang="zh-CN" sz="2800" i="1" dirty="0">
                <a:solidFill>
                  <a:schemeClr val="bg1"/>
                </a:solidFill>
                <a:cs typeface="Times New Roman" panose="02020603050405020304" pitchFamily="18" charset="0"/>
              </a:rPr>
              <a:t>A</a:t>
            </a:r>
            <a:r>
              <a:rPr lang="zh-CN" altLang="en-US" sz="2800" b="0" dirty="0">
                <a:solidFill>
                  <a:schemeClr val="bg1"/>
                </a:solidFill>
                <a:ea typeface="微软雅黑" panose="020B0503020204020204" pitchFamily="34" charset="-122"/>
                <a:cs typeface="Times New Roman" panose="02020603050405020304" pitchFamily="18" charset="0"/>
              </a:rPr>
              <a:t>和</a:t>
            </a:r>
            <a:r>
              <a:rPr lang="en-US" altLang="zh-CN" sz="2800" i="1" dirty="0">
                <a:solidFill>
                  <a:schemeClr val="bg1"/>
                </a:solidFill>
                <a:cs typeface="Times New Roman" panose="02020603050405020304" pitchFamily="18" charset="0"/>
              </a:rPr>
              <a:t>B</a:t>
            </a:r>
            <a:r>
              <a:rPr lang="zh-CN" altLang="en-US" sz="2800" b="0" dirty="0">
                <a:solidFill>
                  <a:schemeClr val="bg1"/>
                </a:solidFill>
                <a:ea typeface="微软雅黑" panose="020B0503020204020204" pitchFamily="34" charset="-122"/>
                <a:cs typeface="Times New Roman" panose="02020603050405020304" pitchFamily="18" charset="0"/>
              </a:rPr>
              <a:t>包含相同的元素</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则称</a:t>
            </a:r>
            <a:r>
              <a:rPr lang="en-US" altLang="zh-CN" sz="2800" i="1" dirty="0">
                <a:solidFill>
                  <a:schemeClr val="bg1"/>
                </a:solidFill>
                <a:cs typeface="Times New Roman" panose="02020603050405020304" pitchFamily="18" charset="0"/>
              </a:rPr>
              <a:t>A</a:t>
            </a:r>
            <a:r>
              <a:rPr lang="zh-CN" altLang="en-US" sz="2800" b="0" dirty="0">
                <a:solidFill>
                  <a:schemeClr val="bg1"/>
                </a:solidFill>
                <a:ea typeface="微软雅黑" panose="020B0503020204020204" pitchFamily="34" charset="-122"/>
                <a:cs typeface="Times New Roman" panose="02020603050405020304" pitchFamily="18" charset="0"/>
              </a:rPr>
              <a:t>和</a:t>
            </a:r>
            <a:r>
              <a:rPr lang="en-US" altLang="zh-CN" sz="2800" i="1" dirty="0">
                <a:solidFill>
                  <a:schemeClr val="bg1"/>
                </a:solidFill>
                <a:cs typeface="Times New Roman" panose="02020603050405020304" pitchFamily="18" charset="0"/>
              </a:rPr>
              <a:t>B</a:t>
            </a:r>
            <a:r>
              <a:rPr lang="zh-CN" altLang="en-US" sz="2800" b="0" dirty="0">
                <a:solidFill>
                  <a:schemeClr val="bg1"/>
                </a:solidFill>
                <a:ea typeface="微软雅黑" panose="020B0503020204020204" pitchFamily="34" charset="-122"/>
                <a:cs typeface="Times New Roman" panose="02020603050405020304" pitchFamily="18" charset="0"/>
              </a:rPr>
              <a:t>相等</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记为</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i="1" dirty="0">
                <a:solidFill>
                  <a:schemeClr val="bg1"/>
                </a:solidFill>
                <a:cs typeface="Times New Roman" panose="02020603050405020304" pitchFamily="18" charset="0"/>
              </a:rPr>
              <a:t>B</a:t>
            </a:r>
            <a:r>
              <a:rPr lang="zh-CN" altLang="en-US" sz="2800" b="0" dirty="0">
                <a:solidFill>
                  <a:schemeClr val="bg1"/>
                </a:solidFill>
                <a:ea typeface="微软雅黑" panose="020B0503020204020204" pitchFamily="34" charset="-122"/>
                <a:cs typeface="Times New Roman" panose="02020603050405020304" pitchFamily="18" charset="0"/>
              </a:rPr>
              <a:t> </a:t>
            </a:r>
            <a:r>
              <a:rPr lang="zh-CN" altLang="en-US" sz="2400" dirty="0">
                <a:solidFill>
                  <a:srgbClr val="FFCCFF"/>
                </a:solidFill>
                <a:ea typeface="微软雅黑" panose="020B0503020204020204" pitchFamily="34" charset="-122"/>
                <a:cs typeface="Times New Roman" panose="02020603050405020304" pitchFamily="18" charset="0"/>
              </a:rPr>
              <a:t>   </a:t>
            </a:r>
            <a:endParaRPr lang="en-US" altLang="zh-CN" sz="2400" dirty="0">
              <a:solidFill>
                <a:srgbClr val="FFCCFF"/>
              </a:solidFill>
              <a:ea typeface="微软雅黑" panose="020B0503020204020204" pitchFamily="34" charset="-122"/>
              <a:cs typeface="Times New Roman" panose="02020603050405020304" pitchFamily="18" charset="0"/>
            </a:endParaRPr>
          </a:p>
        </p:txBody>
      </p:sp>
      <p:sp>
        <p:nvSpPr>
          <p:cNvPr id="6" name="文本框 5"/>
          <p:cNvSpPr txBox="1"/>
          <p:nvPr/>
        </p:nvSpPr>
        <p:spPr>
          <a:xfrm>
            <a:off x="407368" y="3640729"/>
            <a:ext cx="10945216" cy="533031"/>
          </a:xfrm>
          <a:prstGeom prst="rect">
            <a:avLst/>
          </a:prstGeom>
          <a:noFill/>
        </p:spPr>
        <p:txBody>
          <a:bodyPr wrap="square">
            <a:spAutoFit/>
          </a:bodyPr>
          <a:lstStyle/>
          <a:p>
            <a:pPr marL="533400" indent="-533400" eaLnBrk="1" hangingPunct="1">
              <a:lnSpc>
                <a:spcPct val="110000"/>
              </a:lnSpc>
              <a:buFont typeface="Wingdings" panose="05000000000000000000" pitchFamily="2" charset="2"/>
              <a:buNone/>
              <a:defRPr/>
            </a:pPr>
            <a:r>
              <a:rPr lang="zh-CN" altLang="en-US" sz="2800" dirty="0">
                <a:solidFill>
                  <a:srgbClr val="FFCCFF"/>
                </a:solidFill>
                <a:ea typeface="微软雅黑" panose="020B0503020204020204" pitchFamily="34" charset="-122"/>
                <a:cs typeface="Times New Roman" panose="02020603050405020304" pitchFamily="18" charset="0"/>
              </a:rPr>
              <a:t>示例：</a:t>
            </a:r>
            <a:r>
              <a:rPr lang="en-US" altLang="zh-CN" sz="2800" dirty="0">
                <a:cs typeface="Times New Roman" panose="02020603050405020304" pitchFamily="18" charset="0"/>
              </a:rPr>
              <a:t> </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i="1" dirty="0" err="1">
                <a:solidFill>
                  <a:schemeClr val="bg1"/>
                </a:solidFill>
                <a:cs typeface="Times New Roman" panose="02020603050405020304" pitchFamily="18" charset="0"/>
              </a:rPr>
              <a:t>x</a:t>
            </a:r>
            <a:r>
              <a:rPr lang="en-US" altLang="zh-CN" sz="2800" b="0" dirty="0" err="1">
                <a:solidFill>
                  <a:schemeClr val="bg1"/>
                </a:solidFill>
                <a:ea typeface="微软雅黑" panose="020B0503020204020204" pitchFamily="34" charset="-122"/>
                <a:cs typeface="Times New Roman" panose="02020603050405020304" pitchFamily="18" charset="0"/>
              </a:rPr>
              <a:t>|</a:t>
            </a:r>
            <a:r>
              <a:rPr lang="en-US" altLang="zh-CN" sz="2800" i="1" dirty="0" err="1">
                <a:solidFill>
                  <a:schemeClr val="bg1"/>
                </a:solidFill>
                <a:cs typeface="Times New Roman" panose="02020603050405020304" pitchFamily="18" charset="0"/>
              </a:rPr>
              <a:t>x</a:t>
            </a:r>
            <a:r>
              <a:rPr lang="en-US" altLang="zh-CN" sz="2800" b="0" dirty="0" err="1">
                <a:solidFill>
                  <a:schemeClr val="bg1"/>
                </a:solidFill>
                <a:ea typeface="微软雅黑" panose="020B0503020204020204" pitchFamily="34" charset="-122"/>
                <a:cs typeface="Times New Roman" panose="02020603050405020304" pitchFamily="18" charset="0"/>
              </a:rPr>
              <a:t>∈</a:t>
            </a:r>
            <a:r>
              <a:rPr lang="en-US" altLang="zh-CN" sz="2800" b="0" i="1" dirty="0" err="1">
                <a:solidFill>
                  <a:schemeClr val="bg1"/>
                </a:solidFill>
                <a:ea typeface="微软雅黑" panose="020B0503020204020204" pitchFamily="34" charset="-122"/>
                <a:cs typeface="Times New Roman" panose="02020603050405020304" pitchFamily="18" charset="0"/>
                <a:sym typeface="Symbol" panose="05050102010706020507" pitchFamily="18" charset="2"/>
              </a:rPr>
              <a:t>N</a:t>
            </a:r>
            <a:r>
              <a:rPr lang="en-US" altLang="zh-CN" sz="2800" b="0" baseline="-2500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且</a:t>
            </a:r>
            <a:r>
              <a:rPr lang="en-US" altLang="zh-CN" sz="2800" i="1" dirty="0">
                <a:solidFill>
                  <a:schemeClr val="bg1"/>
                </a:solidFill>
                <a:cs typeface="Times New Roman" panose="02020603050405020304" pitchFamily="18" charset="0"/>
              </a:rPr>
              <a:t>x</a:t>
            </a:r>
            <a:r>
              <a:rPr lang="en-US" altLang="zh-CN" sz="2800" b="0" baseline="30000" dirty="0">
                <a:solidFill>
                  <a:schemeClr val="bg1"/>
                </a:solidFill>
                <a:ea typeface="微软雅黑" panose="020B0503020204020204" pitchFamily="34" charset="-122"/>
                <a:cs typeface="Times New Roman" panose="02020603050405020304" pitchFamily="18" charset="0"/>
              </a:rPr>
              <a:t>2</a:t>
            </a:r>
            <a:r>
              <a:rPr lang="en-US" altLang="zh-CN" sz="2800" b="0" dirty="0">
                <a:solidFill>
                  <a:schemeClr val="bg1"/>
                </a:solidFill>
                <a:ea typeface="微软雅黑" panose="020B0503020204020204" pitchFamily="34" charset="-122"/>
                <a:cs typeface="Times New Roman" panose="02020603050405020304" pitchFamily="18" charset="0"/>
              </a:rPr>
              <a:t>≤100}= {1, 2, …, 10}</a:t>
            </a:r>
            <a:endParaRPr lang="zh-CN" altLang="en-US" sz="2800" b="0" dirty="0">
              <a:solidFill>
                <a:schemeClr val="bg1"/>
              </a:solidFill>
              <a:ea typeface="微软雅黑" panose="020B0503020204020204" pitchFamily="34" charset="-122"/>
              <a:cs typeface="Times New Roman" panose="02020603050405020304" pitchFamily="18" charset="0"/>
            </a:endParaRPr>
          </a:p>
        </p:txBody>
      </p:sp>
      <p:sp>
        <p:nvSpPr>
          <p:cNvPr id="8" name="文本框 7"/>
          <p:cNvSpPr txBox="1"/>
          <p:nvPr/>
        </p:nvSpPr>
        <p:spPr>
          <a:xfrm>
            <a:off x="1858765" y="4762710"/>
            <a:ext cx="7511305" cy="486287"/>
          </a:xfrm>
          <a:prstGeom prst="rect">
            <a:avLst/>
          </a:prstGeom>
          <a:noFill/>
        </p:spPr>
        <p:txBody>
          <a:bodyPr wrap="square">
            <a:spAutoFit/>
          </a:bodyPr>
          <a:lstStyle/>
          <a:p>
            <a:pPr algn="ctr" eaLnBrk="1" hangingPunct="1">
              <a:lnSpc>
                <a:spcPct val="80000"/>
              </a:lnSpc>
              <a:defRPr/>
            </a:pPr>
            <a:r>
              <a:rPr lang="zh-CN" altLang="en-US" sz="3200" b="0" dirty="0">
                <a:solidFill>
                  <a:srgbClr val="FFFF00"/>
                </a:solidFill>
                <a:latin typeface="微软雅黑" panose="020B0503020204020204" pitchFamily="34" charset="-122"/>
                <a:ea typeface="微软雅黑" panose="020B0503020204020204" pitchFamily="34" charset="-122"/>
              </a:rPr>
              <a:t>集合中元素的序无关性、重复无关性</a:t>
            </a:r>
          </a:p>
        </p:txBody>
      </p:sp>
      <p:sp>
        <p:nvSpPr>
          <p:cNvPr id="12" name="文本框 11"/>
          <p:cNvSpPr txBox="1"/>
          <p:nvPr/>
        </p:nvSpPr>
        <p:spPr>
          <a:xfrm>
            <a:off x="2567608" y="5576391"/>
            <a:ext cx="6093618" cy="486287"/>
          </a:xfrm>
          <a:prstGeom prst="rect">
            <a:avLst/>
          </a:prstGeom>
          <a:noFill/>
        </p:spPr>
        <p:txBody>
          <a:bodyPr wrap="square">
            <a:spAutoFit/>
          </a:bodyPr>
          <a:lstStyle/>
          <a:p>
            <a:pPr algn="ctr" eaLnBrk="1" hangingPunct="1">
              <a:lnSpc>
                <a:spcPct val="80000"/>
              </a:lnSpc>
              <a:buFont typeface="Wingdings" panose="05000000000000000000" pitchFamily="2" charset="2"/>
              <a:buNone/>
              <a:defRPr/>
            </a:pPr>
            <a:r>
              <a:rPr lang="en-US" altLang="zh-CN" sz="3200" b="0" dirty="0">
                <a:solidFill>
                  <a:schemeClr val="bg1"/>
                </a:solidFill>
              </a:rPr>
              <a:t>{1, 2, 3}={2, 3, 1}={1, 1, 3, 3, 3, 2}</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wipe(left)">
                                      <p:cBhvr>
                                        <p:cTn id="7" dur="500"/>
                                        <p:tgtEl>
                                          <p:spTgt spid="174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par>
                          <p:cTn id="19" fill="hold">
                            <p:stCondLst>
                              <p:cond delay="1000"/>
                            </p:stCondLst>
                            <p:childTnLst>
                              <p:par>
                                <p:cTn id="20" presetID="42"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par>
                          <p:cTn id="25" fill="hold">
                            <p:stCondLst>
                              <p:cond delay="200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11" grpId="0"/>
      <p:bldP spid="6" grpId="0"/>
      <p:bldP spid="8"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63352" y="1585961"/>
            <a:ext cx="5616624"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定义</a:t>
            </a: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1.1.2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子集和包含关系</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10" name="Rectangle 2"/>
          <p:cNvSpPr txBox="1">
            <a:spLocks noChangeArrowheads="1"/>
          </p:cNvSpPr>
          <p:nvPr/>
        </p:nvSpPr>
        <p:spPr bwMode="auto">
          <a:xfrm>
            <a:off x="5159896" y="247802"/>
            <a:ext cx="6336704"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集合之间的关系</a:t>
            </a:r>
          </a:p>
        </p:txBody>
      </p:sp>
      <p:sp>
        <p:nvSpPr>
          <p:cNvPr id="11" name="文本框 10"/>
          <p:cNvSpPr txBox="1"/>
          <p:nvPr/>
        </p:nvSpPr>
        <p:spPr>
          <a:xfrm>
            <a:off x="767410" y="2312673"/>
            <a:ext cx="11089232" cy="2599943"/>
          </a:xfrm>
          <a:prstGeom prst="rect">
            <a:avLst/>
          </a:prstGeom>
          <a:noFill/>
        </p:spPr>
        <p:txBody>
          <a:bodyPr wrap="square">
            <a:spAutoFit/>
          </a:bodyPr>
          <a:lstStyle/>
          <a:p>
            <a:pPr eaLnBrk="1" hangingPunct="1">
              <a:lnSpc>
                <a:spcPct val="150000"/>
              </a:lnSpc>
              <a:buFont typeface="Wingdings" panose="05000000000000000000" pitchFamily="2" charset="2"/>
              <a:buNone/>
              <a:defRPr/>
            </a:pPr>
            <a:r>
              <a:rPr lang="zh-CN" altLang="en-US" sz="2800" b="0" dirty="0">
                <a:solidFill>
                  <a:schemeClr val="bg1"/>
                </a:solidFill>
                <a:ea typeface="微软雅黑" panose="020B0503020204020204" pitchFamily="34" charset="-122"/>
                <a:cs typeface="Times New Roman" panose="02020603050405020304" pitchFamily="18" charset="0"/>
              </a:rPr>
              <a:t>若集合</a:t>
            </a:r>
            <a:r>
              <a:rPr lang="en-US" altLang="zh-CN" sz="2800" i="1" dirty="0">
                <a:solidFill>
                  <a:schemeClr val="bg1"/>
                </a:solidFill>
                <a:cs typeface="Times New Roman" panose="02020603050405020304" pitchFamily="18" charset="0"/>
              </a:rPr>
              <a:t>A</a:t>
            </a:r>
            <a:r>
              <a:rPr lang="zh-CN" altLang="en-US" sz="2800" b="0" dirty="0">
                <a:solidFill>
                  <a:schemeClr val="bg1"/>
                </a:solidFill>
                <a:ea typeface="微软雅黑" panose="020B0503020204020204" pitchFamily="34" charset="-122"/>
                <a:cs typeface="Times New Roman" panose="02020603050405020304" pitchFamily="18" charset="0"/>
              </a:rPr>
              <a:t>中的元素均属于集合</a:t>
            </a:r>
            <a:r>
              <a:rPr lang="en-US" altLang="zh-CN" sz="2800" i="1" dirty="0">
                <a:solidFill>
                  <a:schemeClr val="bg1"/>
                </a:solidFill>
                <a:cs typeface="Times New Roman" panose="02020603050405020304" pitchFamily="18" charset="0"/>
              </a:rPr>
              <a:t>B</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则称</a:t>
            </a:r>
            <a:r>
              <a:rPr lang="en-US" altLang="zh-CN" sz="2800" i="1" dirty="0">
                <a:solidFill>
                  <a:srgbClr val="FFFF00"/>
                </a:solidFill>
                <a:cs typeface="Times New Roman" panose="02020603050405020304" pitchFamily="18" charset="0"/>
              </a:rPr>
              <a:t>A</a:t>
            </a:r>
            <a:r>
              <a:rPr lang="zh-CN" altLang="en-US" sz="2800" b="0" dirty="0">
                <a:solidFill>
                  <a:srgbClr val="FFFF00"/>
                </a:solidFill>
                <a:ea typeface="微软雅黑" panose="020B0503020204020204" pitchFamily="34" charset="-122"/>
                <a:cs typeface="Times New Roman" panose="02020603050405020304" pitchFamily="18" charset="0"/>
              </a:rPr>
              <a:t>是</a:t>
            </a:r>
            <a:r>
              <a:rPr lang="en-US" altLang="zh-CN" sz="2800" i="1" dirty="0">
                <a:solidFill>
                  <a:srgbClr val="FFFF00"/>
                </a:solidFill>
                <a:cs typeface="Times New Roman" panose="02020603050405020304" pitchFamily="18" charset="0"/>
              </a:rPr>
              <a:t>B</a:t>
            </a:r>
            <a:r>
              <a:rPr lang="zh-CN" altLang="en-US" sz="2800" b="0" dirty="0">
                <a:solidFill>
                  <a:srgbClr val="FFFF00"/>
                </a:solidFill>
                <a:ea typeface="微软雅黑" panose="020B0503020204020204" pitchFamily="34" charset="-122"/>
                <a:cs typeface="Times New Roman" panose="02020603050405020304" pitchFamily="18" charset="0"/>
              </a:rPr>
              <a:t>的子集</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B</a:t>
            </a:r>
            <a:r>
              <a:rPr lang="zh-CN" altLang="en-US" sz="2800" b="0" dirty="0">
                <a:solidFill>
                  <a:schemeClr val="bg1"/>
                </a:solidFill>
                <a:ea typeface="微软雅黑" panose="020B0503020204020204" pitchFamily="34" charset="-122"/>
                <a:cs typeface="Times New Roman" panose="02020603050405020304" pitchFamily="18" charset="0"/>
              </a:rPr>
              <a:t>包含</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A</a:t>
            </a:r>
            <a:r>
              <a:rPr lang="zh-CN" altLang="en-US" sz="2800" b="0" dirty="0">
                <a:solidFill>
                  <a:schemeClr val="bg1"/>
                </a:solidFill>
                <a:ea typeface="微软雅黑" panose="020B0503020204020204" pitchFamily="34" charset="-122"/>
                <a:cs typeface="Times New Roman" panose="02020603050405020304" pitchFamily="18" charset="0"/>
              </a:rPr>
              <a:t>包含于</a:t>
            </a:r>
            <a:r>
              <a:rPr lang="en-US" altLang="zh-CN" sz="2800" i="1" dirty="0">
                <a:solidFill>
                  <a:schemeClr val="bg1"/>
                </a:solidFill>
                <a:cs typeface="Times New Roman" panose="02020603050405020304" pitchFamily="18" charset="0"/>
              </a:rPr>
              <a:t>B</a:t>
            </a:r>
            <a:endParaRPr lang="en-US" altLang="zh-CN" sz="2800" b="0" dirty="0">
              <a:solidFill>
                <a:schemeClr val="bg1"/>
              </a:solidFill>
              <a:ea typeface="微软雅黑" panose="020B0503020204020204" pitchFamily="34" charset="-122"/>
              <a:cs typeface="Times New Roman" panose="02020603050405020304" pitchFamily="18" charset="0"/>
            </a:endParaRPr>
          </a:p>
          <a:p>
            <a:pPr eaLnBrk="1" hangingPunct="1">
              <a:lnSpc>
                <a:spcPct val="150000"/>
              </a:lnSpc>
              <a:buFont typeface="Wingdings" panose="05000000000000000000" pitchFamily="2" charset="2"/>
              <a:buNone/>
              <a:defRPr/>
            </a:pPr>
            <a:r>
              <a:rPr lang="zh-CN" altLang="en-US" sz="2800" b="0" dirty="0">
                <a:solidFill>
                  <a:srgbClr val="FFC000"/>
                </a:solidFill>
                <a:ea typeface="微软雅黑" panose="020B0503020204020204" pitchFamily="34" charset="-122"/>
                <a:cs typeface="Times New Roman" panose="02020603050405020304" pitchFamily="18" charset="0"/>
              </a:rPr>
              <a:t>记为</a:t>
            </a:r>
            <a:r>
              <a:rPr lang="en-US" altLang="zh-CN" sz="2800" i="1" dirty="0">
                <a:solidFill>
                  <a:srgbClr val="FFC000"/>
                </a:solidFill>
                <a:cs typeface="Times New Roman" panose="02020603050405020304" pitchFamily="18" charset="0"/>
              </a:rPr>
              <a:t>A</a:t>
            </a:r>
            <a:r>
              <a:rPr lang="en-US" altLang="zh-CN" sz="2800" b="0" dirty="0">
                <a:solidFill>
                  <a:srgbClr val="FFC000"/>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rgbClr val="FFC000"/>
                </a:solidFill>
                <a:cs typeface="Times New Roman" panose="02020603050405020304" pitchFamily="18" charset="0"/>
              </a:rPr>
              <a:t>B</a:t>
            </a:r>
            <a:r>
              <a:rPr lang="zh-CN" altLang="en-US" sz="2800" b="0" dirty="0">
                <a:solidFill>
                  <a:srgbClr val="FFC000"/>
                </a:solidFill>
                <a:ea typeface="微软雅黑" panose="020B0503020204020204" pitchFamily="34" charset="-122"/>
                <a:cs typeface="Times New Roman" panose="02020603050405020304" pitchFamily="18" charset="0"/>
              </a:rPr>
              <a:t>或</a:t>
            </a:r>
            <a:r>
              <a:rPr lang="en-US" altLang="zh-CN" sz="2800" i="1" dirty="0">
                <a:solidFill>
                  <a:srgbClr val="FFC000"/>
                </a:solidFill>
                <a:cs typeface="Times New Roman" panose="02020603050405020304" pitchFamily="18" charset="0"/>
              </a:rPr>
              <a:t>B</a:t>
            </a:r>
            <a:r>
              <a:rPr lang="en-US" altLang="zh-CN" sz="2800" b="0" dirty="0">
                <a:solidFill>
                  <a:srgbClr val="FFC000"/>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rgbClr val="FFC000"/>
                </a:solidFill>
                <a:cs typeface="Times New Roman" panose="02020603050405020304" pitchFamily="18" charset="0"/>
              </a:rPr>
              <a:t>A</a:t>
            </a:r>
            <a:endParaRPr lang="zh-CN" altLang="en-US" sz="2800" b="0" dirty="0">
              <a:solidFill>
                <a:srgbClr val="FFC000"/>
              </a:solidFill>
              <a:ea typeface="微软雅黑" panose="020B0503020204020204" pitchFamily="34" charset="-122"/>
              <a:cs typeface="Times New Roman" panose="02020603050405020304" pitchFamily="18" charset="0"/>
            </a:endParaRPr>
          </a:p>
          <a:p>
            <a:pPr eaLnBrk="1" hangingPunct="1">
              <a:lnSpc>
                <a:spcPct val="150000"/>
              </a:lnSpc>
              <a:buFont typeface="Wingdings" panose="05000000000000000000" pitchFamily="2" charset="2"/>
              <a:buNone/>
              <a:defRPr/>
            </a:pPr>
            <a:r>
              <a:rPr lang="zh-CN" altLang="en-US" sz="2800" b="0" dirty="0">
                <a:solidFill>
                  <a:schemeClr val="bg1"/>
                </a:solidFill>
                <a:ea typeface="微软雅黑" panose="020B0503020204020204" pitchFamily="34" charset="-122"/>
                <a:cs typeface="Times New Roman" panose="02020603050405020304" pitchFamily="18" charset="0"/>
              </a:rPr>
              <a:t>若</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B</a:t>
            </a:r>
            <a:r>
              <a:rPr lang="zh-CN" altLang="en-US" sz="2800" b="0" dirty="0">
                <a:solidFill>
                  <a:schemeClr val="bg1"/>
                </a:solidFill>
                <a:ea typeface="微软雅黑" panose="020B0503020204020204" pitchFamily="34" charset="-122"/>
                <a:cs typeface="Times New Roman" panose="02020603050405020304" pitchFamily="18" charset="0"/>
              </a:rPr>
              <a:t>但</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i="1" dirty="0">
                <a:solidFill>
                  <a:schemeClr val="bg1"/>
                </a:solidFill>
                <a:cs typeface="Times New Roman" panose="02020603050405020304" pitchFamily="18" charset="0"/>
              </a:rPr>
              <a:t>B</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则称</a:t>
            </a:r>
            <a:r>
              <a:rPr lang="en-US" altLang="zh-CN" sz="2800" i="1" dirty="0">
                <a:solidFill>
                  <a:srgbClr val="FFFF00"/>
                </a:solidFill>
                <a:cs typeface="Times New Roman" panose="02020603050405020304" pitchFamily="18" charset="0"/>
              </a:rPr>
              <a:t>A</a:t>
            </a:r>
            <a:r>
              <a:rPr lang="zh-CN" altLang="en-US" sz="2800" b="0" dirty="0">
                <a:solidFill>
                  <a:srgbClr val="FFFF00"/>
                </a:solidFill>
                <a:ea typeface="微软雅黑" panose="020B0503020204020204" pitchFamily="34" charset="-122"/>
                <a:cs typeface="Times New Roman" panose="02020603050405020304" pitchFamily="18" charset="0"/>
              </a:rPr>
              <a:t>是</a:t>
            </a:r>
            <a:r>
              <a:rPr lang="en-US" altLang="zh-CN" sz="2800" i="1" dirty="0">
                <a:solidFill>
                  <a:srgbClr val="FFFF00"/>
                </a:solidFill>
                <a:cs typeface="Times New Roman" panose="02020603050405020304" pitchFamily="18" charset="0"/>
              </a:rPr>
              <a:t>B</a:t>
            </a:r>
            <a:r>
              <a:rPr lang="zh-CN" altLang="en-US" sz="2800" b="0" dirty="0">
                <a:solidFill>
                  <a:srgbClr val="FFFF00"/>
                </a:solidFill>
                <a:ea typeface="微软雅黑" panose="020B0503020204020204" pitchFamily="34" charset="-122"/>
                <a:cs typeface="Times New Roman" panose="02020603050405020304" pitchFamily="18" charset="0"/>
              </a:rPr>
              <a:t>的真子集</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B</a:t>
            </a:r>
            <a:r>
              <a:rPr lang="zh-CN" altLang="en-US" sz="2800" b="0" dirty="0">
                <a:solidFill>
                  <a:schemeClr val="bg1"/>
                </a:solidFill>
                <a:ea typeface="微软雅黑" panose="020B0503020204020204" pitchFamily="34" charset="-122"/>
                <a:cs typeface="Times New Roman" panose="02020603050405020304" pitchFamily="18" charset="0"/>
              </a:rPr>
              <a:t>真包含</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A</a:t>
            </a:r>
            <a:r>
              <a:rPr lang="zh-CN" altLang="en-US" sz="2800" b="0" dirty="0">
                <a:solidFill>
                  <a:schemeClr val="bg1"/>
                </a:solidFill>
                <a:ea typeface="微软雅黑" panose="020B0503020204020204" pitchFamily="34" charset="-122"/>
                <a:cs typeface="Times New Roman" panose="02020603050405020304" pitchFamily="18" charset="0"/>
              </a:rPr>
              <a:t>真包含于</a:t>
            </a:r>
            <a:r>
              <a:rPr lang="en-US" altLang="zh-CN" sz="2800" i="1" dirty="0">
                <a:solidFill>
                  <a:schemeClr val="bg1"/>
                </a:solidFill>
                <a:cs typeface="Times New Roman" panose="02020603050405020304" pitchFamily="18" charset="0"/>
              </a:rPr>
              <a:t>B</a:t>
            </a:r>
            <a:endParaRPr lang="en-US" altLang="zh-CN" sz="2800" b="0" dirty="0">
              <a:solidFill>
                <a:schemeClr val="bg1"/>
              </a:solidFill>
              <a:ea typeface="微软雅黑" panose="020B0503020204020204" pitchFamily="34" charset="-122"/>
              <a:cs typeface="Times New Roman" panose="02020603050405020304" pitchFamily="18" charset="0"/>
            </a:endParaRPr>
          </a:p>
          <a:p>
            <a:pPr eaLnBrk="1" hangingPunct="1">
              <a:lnSpc>
                <a:spcPct val="150000"/>
              </a:lnSpc>
              <a:buFont typeface="Wingdings" panose="05000000000000000000" pitchFamily="2" charset="2"/>
              <a:buNone/>
              <a:defRPr/>
            </a:pPr>
            <a:r>
              <a:rPr lang="zh-CN" altLang="en-US" sz="2800" b="0" dirty="0">
                <a:solidFill>
                  <a:srgbClr val="FFC000"/>
                </a:solidFill>
                <a:ea typeface="微软雅黑" panose="020B0503020204020204" pitchFamily="34" charset="-122"/>
                <a:cs typeface="Times New Roman" panose="02020603050405020304" pitchFamily="18" charset="0"/>
              </a:rPr>
              <a:t>记为 </a:t>
            </a:r>
            <a:r>
              <a:rPr lang="en-US" altLang="zh-CN" sz="2800" i="1" dirty="0">
                <a:solidFill>
                  <a:srgbClr val="FFC000"/>
                </a:solidFill>
                <a:cs typeface="Times New Roman" panose="02020603050405020304" pitchFamily="18" charset="0"/>
              </a:rPr>
              <a:t>A</a:t>
            </a:r>
            <a:r>
              <a:rPr lang="en-US" altLang="zh-CN" sz="2800" b="0" dirty="0">
                <a:solidFill>
                  <a:srgbClr val="FFC000"/>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rgbClr val="FFC000"/>
                </a:solidFill>
                <a:cs typeface="Times New Roman" panose="02020603050405020304" pitchFamily="18" charset="0"/>
              </a:rPr>
              <a:t>B</a:t>
            </a:r>
            <a:r>
              <a:rPr lang="zh-CN" altLang="en-US" sz="2800" b="0" dirty="0">
                <a:solidFill>
                  <a:srgbClr val="FFC000"/>
                </a:solidFill>
                <a:ea typeface="微软雅黑" panose="020B0503020204020204" pitchFamily="34" charset="-122"/>
                <a:cs typeface="Times New Roman" panose="02020603050405020304" pitchFamily="18" charset="0"/>
              </a:rPr>
              <a:t>或</a:t>
            </a:r>
            <a:r>
              <a:rPr lang="en-US" altLang="zh-CN" sz="2800" i="1" dirty="0">
                <a:solidFill>
                  <a:srgbClr val="FFC000"/>
                </a:solidFill>
                <a:cs typeface="Times New Roman" panose="02020603050405020304" pitchFamily="18" charset="0"/>
              </a:rPr>
              <a:t>B</a:t>
            </a:r>
            <a:r>
              <a:rPr lang="en-US" altLang="zh-CN" sz="2800" b="0" dirty="0">
                <a:solidFill>
                  <a:srgbClr val="FFC000"/>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rgbClr val="FFC000"/>
                </a:solidFill>
                <a:cs typeface="Times New Roman" panose="02020603050405020304" pitchFamily="18" charset="0"/>
              </a:rPr>
              <a:t>A</a:t>
            </a:r>
            <a:endParaRPr lang="en-US" altLang="zh-CN" sz="2800" b="0" dirty="0">
              <a:solidFill>
                <a:srgbClr val="FFC000"/>
              </a:solidFill>
              <a:ea typeface="微软雅黑" panose="020B0503020204020204" pitchFamily="34" charset="-122"/>
              <a:cs typeface="Times New Roman" panose="02020603050405020304" pitchFamily="18" charset="0"/>
            </a:endParaRPr>
          </a:p>
        </p:txBody>
      </p:sp>
      <p:sp>
        <p:nvSpPr>
          <p:cNvPr id="6" name="文本框 5"/>
          <p:cNvSpPr txBox="1"/>
          <p:nvPr/>
        </p:nvSpPr>
        <p:spPr>
          <a:xfrm>
            <a:off x="623392" y="5241727"/>
            <a:ext cx="10945216" cy="657872"/>
          </a:xfrm>
          <a:prstGeom prst="rect">
            <a:avLst/>
          </a:prstGeom>
          <a:noFill/>
        </p:spPr>
        <p:txBody>
          <a:bodyPr wrap="square">
            <a:spAutoFit/>
          </a:bodyPr>
          <a:lstStyle/>
          <a:p>
            <a:pPr eaLnBrk="1" hangingPunct="1">
              <a:lnSpc>
                <a:spcPct val="150000"/>
              </a:lnSpc>
              <a:buFont typeface="Wingdings" panose="05000000000000000000" pitchFamily="2" charset="2"/>
              <a:buNone/>
              <a:defRPr/>
            </a:pPr>
            <a:r>
              <a:rPr lang="zh-CN" altLang="en-US" sz="2800" b="0" dirty="0">
                <a:solidFill>
                  <a:srgbClr val="FFCCFF"/>
                </a:solidFill>
                <a:ea typeface="微软雅黑" panose="020B0503020204020204" pitchFamily="34" charset="-122"/>
                <a:cs typeface="Times New Roman" panose="02020603050405020304" pitchFamily="18" charset="0"/>
              </a:rPr>
              <a:t>示例：</a:t>
            </a:r>
            <a:r>
              <a:rPr lang="en-US" altLang="zh-CN" sz="2800" b="0" dirty="0">
                <a:ea typeface="微软雅黑" panose="020B0503020204020204" pitchFamily="34" charset="-122"/>
                <a:cs typeface="Times New Roman" panose="02020603050405020304" pitchFamily="18" charset="0"/>
              </a:rPr>
              <a:t> </a:t>
            </a:r>
            <a:r>
              <a:rPr lang="en-US" altLang="zh-CN" sz="2800" b="0" i="1" dirty="0">
                <a:solidFill>
                  <a:schemeClr val="bg1"/>
                </a:solidFill>
                <a:ea typeface="微软雅黑" panose="020B0503020204020204" pitchFamily="34" charset="-122"/>
                <a:cs typeface="Times New Roman" panose="02020603050405020304" pitchFamily="18" charset="0"/>
              </a:rPr>
              <a:t>N</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i="1" dirty="0">
                <a:solidFill>
                  <a:schemeClr val="bg1"/>
                </a:solidFill>
                <a:ea typeface="微软雅黑" panose="020B0503020204020204" pitchFamily="34" charset="-122"/>
                <a:cs typeface="Times New Roman" panose="02020603050405020304" pitchFamily="18" charset="0"/>
              </a:rPr>
              <a:t>Z</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b="0" i="1" dirty="0">
                <a:solidFill>
                  <a:schemeClr val="bg1"/>
                </a:solidFill>
                <a:ea typeface="微软雅黑" panose="020B0503020204020204" pitchFamily="34" charset="-122"/>
                <a:cs typeface="Times New Roman" panose="02020603050405020304" pitchFamily="18" charset="0"/>
              </a:rPr>
              <a:t>N</a:t>
            </a:r>
            <a:r>
              <a:rPr lang="zh-CN" altLang="en-US" sz="2800" b="0" dirty="0">
                <a:solidFill>
                  <a:schemeClr val="bg1"/>
                </a:solidFill>
                <a:ea typeface="微软雅黑" panose="020B0503020204020204" pitchFamily="34" charset="-122"/>
                <a:cs typeface="Times New Roman" panose="02020603050405020304" pitchFamily="18" charset="0"/>
              </a:rPr>
              <a:t>是</a:t>
            </a:r>
            <a:r>
              <a:rPr lang="en-US" altLang="zh-CN" sz="2800" b="0" i="1" dirty="0">
                <a:solidFill>
                  <a:schemeClr val="bg1"/>
                </a:solidFill>
                <a:ea typeface="微软雅黑" panose="020B0503020204020204" pitchFamily="34" charset="-122"/>
                <a:cs typeface="Times New Roman" panose="02020603050405020304" pitchFamily="18" charset="0"/>
              </a:rPr>
              <a:t>Z</a:t>
            </a:r>
            <a:r>
              <a:rPr lang="zh-CN" altLang="en-US" sz="2800" b="0" dirty="0">
                <a:solidFill>
                  <a:schemeClr val="bg1"/>
                </a:solidFill>
                <a:ea typeface="微软雅黑" panose="020B0503020204020204" pitchFamily="34" charset="-122"/>
                <a:cs typeface="Times New Roman" panose="02020603050405020304" pitchFamily="18" charset="0"/>
              </a:rPr>
              <a:t>的真子集</a:t>
            </a:r>
            <a:r>
              <a:rPr lang="en-US" altLang="zh-CN" sz="2800" b="0" dirty="0">
                <a:solidFill>
                  <a:schemeClr val="bg1"/>
                </a:solidFill>
                <a:ea typeface="微软雅黑" panose="020B0503020204020204" pitchFamily="34" charset="-122"/>
                <a:cs typeface="Times New Roman" panose="02020603050405020304" pitchFamily="18" charset="0"/>
              </a:rPr>
              <a:t>;</a:t>
            </a:r>
            <a:r>
              <a:rPr lang="zh-CN" altLang="en-US" sz="2800" b="0" dirty="0">
                <a:solidFill>
                  <a:schemeClr val="bg1"/>
                </a:solidFill>
                <a:ea typeface="微软雅黑" panose="020B0503020204020204" pitchFamily="34" charset="-122"/>
                <a:cs typeface="Times New Roman" panose="02020603050405020304" pitchFamily="18" charset="0"/>
              </a:rPr>
              <a:t>    </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b="0" i="1" dirty="0">
                <a:solidFill>
                  <a:schemeClr val="bg1"/>
                </a:solidFill>
                <a:ea typeface="微软雅黑" panose="020B0503020204020204" pitchFamily="34" charset="-122"/>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b="0" i="1" dirty="0">
                <a:solidFill>
                  <a:schemeClr val="bg1"/>
                </a:solidFill>
                <a:ea typeface="微软雅黑" panose="020B0503020204020204" pitchFamily="34" charset="-122"/>
                <a:cs typeface="Times New Roman" panose="02020603050405020304" pitchFamily="18" charset="0"/>
              </a:rPr>
              <a:t>b</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b="0" i="1" dirty="0">
                <a:solidFill>
                  <a:schemeClr val="bg1"/>
                </a:solidFill>
                <a:ea typeface="微软雅黑" panose="020B0503020204020204" pitchFamily="34" charset="-122"/>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b="0" i="1" dirty="0">
                <a:solidFill>
                  <a:schemeClr val="bg1"/>
                </a:solidFill>
                <a:ea typeface="微软雅黑" panose="020B0503020204020204" pitchFamily="34" charset="-122"/>
                <a:cs typeface="Times New Roman" panose="02020603050405020304" pitchFamily="18" charset="0"/>
              </a:rPr>
              <a:t>b</a:t>
            </a:r>
            <a:r>
              <a:rPr lang="en-US" altLang="zh-CN" sz="2800" b="0" dirty="0">
                <a:solidFill>
                  <a:schemeClr val="bg1"/>
                </a:solidFill>
                <a:ea typeface="微软雅黑" panose="020B0503020204020204" pitchFamily="34" charset="-122"/>
                <a:cs typeface="Times New Roman" panose="02020603050405020304" pitchFamily="18" charset="0"/>
              </a:rPr>
              <a:t>}</a:t>
            </a:r>
            <a:r>
              <a:rPr lang="zh-CN" altLang="en-US" sz="2800" b="0" dirty="0">
                <a:solidFill>
                  <a:schemeClr val="bg1"/>
                </a:solidFill>
                <a:ea typeface="微软雅黑" panose="020B0503020204020204" pitchFamily="34" charset="-122"/>
                <a:cs typeface="Times New Roman" panose="02020603050405020304" pitchFamily="18" charset="0"/>
              </a:rPr>
              <a:t>不成立</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wipe(left)">
                                      <p:cBhvr>
                                        <p:cTn id="7" dur="500"/>
                                        <p:tgtEl>
                                          <p:spTgt spid="174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animEffect transition="in" filter="wipe(left)">
                                      <p:cBhvr>
                                        <p:cTn id="11" dur="500"/>
                                        <p:tgtEl>
                                          <p:spTgt spid="11">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wipe(left)">
                                      <p:cBhvr>
                                        <p:cTn id="15" dur="500"/>
                                        <p:tgtEl>
                                          <p:spTgt spid="11">
                                            <p:txEl>
                                              <p:pRg st="1" end="1"/>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animEffect transition="in" filter="wipe(left)">
                                      <p:cBhvr>
                                        <p:cTn id="19" dur="500"/>
                                        <p:tgtEl>
                                          <p:spTgt spid="11">
                                            <p:txEl>
                                              <p:pRg st="2" end="2"/>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animEffect transition="in" filter="wipe(left)">
                                      <p:cBhvr>
                                        <p:cTn id="23" dur="500"/>
                                        <p:tgtEl>
                                          <p:spTgt spid="11">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48648" y="1585961"/>
            <a:ext cx="2376264"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平凡子集</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10" name="Rectangle 2"/>
          <p:cNvSpPr txBox="1">
            <a:spLocks noChangeArrowheads="1"/>
          </p:cNvSpPr>
          <p:nvPr/>
        </p:nvSpPr>
        <p:spPr bwMode="auto">
          <a:xfrm>
            <a:off x="5159896" y="247802"/>
            <a:ext cx="6336704"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集合之间的关系</a:t>
            </a:r>
          </a:p>
        </p:txBody>
      </p:sp>
      <p:sp>
        <p:nvSpPr>
          <p:cNvPr id="11" name="文本框 10"/>
          <p:cNvSpPr txBox="1"/>
          <p:nvPr/>
        </p:nvSpPr>
        <p:spPr>
          <a:xfrm>
            <a:off x="2673152" y="1484755"/>
            <a:ext cx="7416822" cy="1398524"/>
          </a:xfrm>
          <a:prstGeom prst="rect">
            <a:avLst/>
          </a:prstGeom>
          <a:noFill/>
        </p:spPr>
        <p:txBody>
          <a:bodyPr wrap="square">
            <a:spAutoFit/>
          </a:bodyPr>
          <a:lstStyle/>
          <a:p>
            <a:pPr eaLnBrk="1" hangingPunct="1">
              <a:lnSpc>
                <a:spcPct val="150000"/>
              </a:lnSpc>
              <a:buFont typeface="Wingdings" panose="05000000000000000000" pitchFamily="2" charset="2"/>
              <a:buNone/>
              <a:defRPr/>
            </a:pPr>
            <a:r>
              <a:rPr lang="zh-CN" altLang="en-US" sz="2800" b="0" dirty="0">
                <a:solidFill>
                  <a:schemeClr val="bg1"/>
                </a:solidFill>
                <a:ea typeface="微软雅黑" panose="020B0503020204020204" pitchFamily="34" charset="-122"/>
                <a:cs typeface="Times New Roman" panose="02020603050405020304" pitchFamily="18" charset="0"/>
              </a:rPr>
              <a:t>任意集合</a:t>
            </a:r>
            <a:r>
              <a:rPr lang="en-US" altLang="zh-CN" sz="2800" i="1" dirty="0">
                <a:solidFill>
                  <a:schemeClr val="bg1"/>
                </a:solidFill>
                <a:ea typeface="微软雅黑" panose="020B0503020204020204" pitchFamily="34" charset="-122"/>
                <a:cs typeface="Times New Roman" panose="02020603050405020304" pitchFamily="18" charset="0"/>
              </a:rPr>
              <a:t>A</a:t>
            </a:r>
            <a:r>
              <a:rPr lang="zh-CN" altLang="en-US" sz="2800" b="0" dirty="0">
                <a:solidFill>
                  <a:schemeClr val="bg1"/>
                </a:solidFill>
                <a:ea typeface="微软雅黑" panose="020B0503020204020204" pitchFamily="34" charset="-122"/>
                <a:cs typeface="Times New Roman" panose="02020603050405020304" pitchFamily="18" charset="0"/>
              </a:rPr>
              <a:t>都有两个平凡子集：</a:t>
            </a:r>
            <a:r>
              <a:rPr lang="en-US" altLang="zh-CN" sz="2800" i="1" dirty="0">
                <a:solidFill>
                  <a:schemeClr val="bg1"/>
                </a:solidFill>
                <a:cs typeface="Times New Roman" panose="02020603050405020304" pitchFamily="18" charset="0"/>
              </a:rPr>
              <a:t>A</a:t>
            </a:r>
            <a:r>
              <a:rPr lang="zh-CN" altLang="en-US" sz="2800" b="0" dirty="0">
                <a:solidFill>
                  <a:schemeClr val="bg1"/>
                </a:solidFill>
                <a:ea typeface="微软雅黑" panose="020B0503020204020204" pitchFamily="34" charset="-122"/>
                <a:cs typeface="Times New Roman" panose="02020603050405020304" pitchFamily="18" charset="0"/>
              </a:rPr>
              <a:t>和</a:t>
            </a:r>
            <a:r>
              <a:rPr lang="zh-CN" altLang="en-US" sz="2800" i="1" dirty="0">
                <a:solidFill>
                  <a:schemeClr val="bg1"/>
                </a:solidFill>
                <a:cs typeface="Times New Roman" panose="02020603050405020304" pitchFamily="18" charset="0"/>
                <a:sym typeface="Symbol" panose="05050102010706020507" pitchFamily="18" charset="2"/>
              </a:rPr>
              <a:t></a:t>
            </a:r>
            <a:r>
              <a:rPr lang="zh-CN" altLang="en-US" sz="3200" b="0" dirty="0">
                <a:solidFill>
                  <a:schemeClr val="bg1"/>
                </a:solidFill>
                <a:ea typeface="微软雅黑" panose="020B0503020204020204" pitchFamily="34" charset="-122"/>
                <a:cs typeface="Times New Roman" panose="02020603050405020304" pitchFamily="18" charset="0"/>
              </a:rPr>
              <a:t> </a:t>
            </a:r>
          </a:p>
          <a:p>
            <a:pPr eaLnBrk="1" hangingPunct="1">
              <a:lnSpc>
                <a:spcPct val="150000"/>
              </a:lnSpc>
              <a:buFont typeface="Wingdings" panose="05000000000000000000" pitchFamily="2" charset="2"/>
              <a:buNone/>
              <a:defRPr/>
            </a:pPr>
            <a:r>
              <a:rPr lang="zh-CN" altLang="en-US" sz="2800" i="1" dirty="0">
                <a:solidFill>
                  <a:schemeClr val="bg1"/>
                </a:solidFill>
                <a:cs typeface="Times New Roman" panose="02020603050405020304" pitchFamily="18" charset="0"/>
              </a:rPr>
              <a:t>         </a:t>
            </a:r>
            <a:r>
              <a:rPr lang="zh-CN" altLang="en-US" sz="2800" i="1" dirty="0">
                <a:solidFill>
                  <a:schemeClr val="bg1"/>
                </a:solidFill>
                <a:cs typeface="Times New Roman" panose="02020603050405020304" pitchFamily="18" charset="0"/>
                <a:sym typeface="Symbol" panose="05050102010706020507" pitchFamily="18" charset="2"/>
              </a:rPr>
              <a:t></a:t>
            </a:r>
            <a:r>
              <a:rPr lang="zh-CN" altLang="en-US"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U</a:t>
            </a:r>
            <a:r>
              <a:rPr lang="en-US" altLang="zh-CN" sz="2800" b="0" dirty="0">
                <a:solidFill>
                  <a:schemeClr val="bg1"/>
                </a:solidFill>
                <a:ea typeface="微软雅黑" panose="020B0503020204020204" pitchFamily="34" charset="-122"/>
                <a:cs typeface="Times New Roman" panose="02020603050405020304" pitchFamily="18" charset="0"/>
              </a:rPr>
              <a:t> </a:t>
            </a:r>
          </a:p>
        </p:txBody>
      </p:sp>
      <p:sp>
        <p:nvSpPr>
          <p:cNvPr id="8" name="Rectangle 2"/>
          <p:cNvSpPr txBox="1">
            <a:spLocks noChangeArrowheads="1"/>
          </p:cNvSpPr>
          <p:nvPr/>
        </p:nvSpPr>
        <p:spPr bwMode="auto">
          <a:xfrm>
            <a:off x="316608" y="3323987"/>
            <a:ext cx="8640960"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文氏图可直观地表示集合之间的关系</a:t>
            </a:r>
          </a:p>
        </p:txBody>
      </p:sp>
      <p:sp>
        <p:nvSpPr>
          <p:cNvPr id="19" name="Rectangle 21"/>
          <p:cNvSpPr>
            <a:spLocks noChangeArrowheads="1"/>
          </p:cNvSpPr>
          <p:nvPr/>
        </p:nvSpPr>
        <p:spPr bwMode="auto">
          <a:xfrm>
            <a:off x="1633948" y="5945024"/>
            <a:ext cx="77724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762000" indent="-762000" algn="ctr">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62000" indent="-762000" algn="ctr">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762000" indent="-762000" algn="ctr">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762000" indent="-762000" algn="ctr">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762000" indent="-762000" algn="ctr">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1219200" indent="-7620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1676400" indent="-7620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2133600" indent="-7620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2590800" indent="-7620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algn="l" eaLnBrk="1" hangingPunct="1">
              <a:defRPr/>
            </a:pPr>
            <a:r>
              <a:rPr lang="en-US" altLang="zh-CN" sz="2400" b="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solidFill>
                  <a:schemeClr val="bg1"/>
                </a:solidFill>
                <a:latin typeface="Times New Roman" panose="02020603050405020304" pitchFamily="18" charset="0"/>
                <a:cs typeface="Times New Roman" panose="02020603050405020304" pitchFamily="18" charset="0"/>
              </a:rPr>
              <a:t>A</a:t>
            </a:r>
            <a:r>
              <a:rPr lang="en-US" altLang="zh-CN" sz="2400" b="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a:solidFill>
                  <a:schemeClr val="bg1"/>
                </a:solidFill>
                <a:latin typeface="Times New Roman" panose="02020603050405020304" pitchFamily="18" charset="0"/>
                <a:cs typeface="Times New Roman" panose="02020603050405020304" pitchFamily="18" charset="0"/>
              </a:rPr>
              <a:t>B </a:t>
            </a:r>
            <a:r>
              <a:rPr lang="en-US" altLang="zh-CN" sz="2400" b="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err="1">
                <a:solidFill>
                  <a:schemeClr val="bg1"/>
                </a:solidFill>
                <a:latin typeface="Times New Roman" panose="02020603050405020304" pitchFamily="18" charset="0"/>
                <a:cs typeface="Times New Roman" panose="02020603050405020304" pitchFamily="18" charset="0"/>
              </a:rPr>
              <a:t>A</a:t>
            </a:r>
            <a:r>
              <a:rPr lang="en-US" altLang="zh-CN" sz="2400" b="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err="1">
                <a:solidFill>
                  <a:schemeClr val="bg1"/>
                </a:solidFill>
                <a:latin typeface="Times New Roman" panose="02020603050405020304" pitchFamily="18" charset="0"/>
                <a:cs typeface="Times New Roman" panose="02020603050405020304" pitchFamily="18" charset="0"/>
              </a:rPr>
              <a:t>B</a:t>
            </a:r>
            <a:r>
              <a:rPr lang="zh-CN" altLang="en-US" sz="2400" b="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不成立</a:t>
            </a:r>
          </a:p>
        </p:txBody>
      </p:sp>
      <p:grpSp>
        <p:nvGrpSpPr>
          <p:cNvPr id="4" name="组合 3"/>
          <p:cNvGrpSpPr/>
          <p:nvPr/>
        </p:nvGrpSpPr>
        <p:grpSpPr>
          <a:xfrm>
            <a:off x="2941635" y="4341751"/>
            <a:ext cx="1440160" cy="1440160"/>
            <a:chOff x="3045936" y="4088402"/>
            <a:chExt cx="1440160" cy="1440160"/>
          </a:xfrm>
        </p:grpSpPr>
        <p:sp>
          <p:nvSpPr>
            <p:cNvPr id="2" name="椭圆 1"/>
            <p:cNvSpPr/>
            <p:nvPr/>
          </p:nvSpPr>
          <p:spPr bwMode="auto">
            <a:xfrm>
              <a:off x="3045936" y="4088402"/>
              <a:ext cx="1440160" cy="1440160"/>
            </a:xfrm>
            <a:prstGeom prst="ellipse">
              <a:avLst/>
            </a:prstGeom>
            <a:solidFill>
              <a:schemeClr val="bg1"/>
            </a:solidFill>
            <a:ln w="1905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defTabSz="914400" rtl="0" eaLnBrk="1" fontAlgn="base" latinLnBrk="0" hangingPunct="1">
                <a:lnSpc>
                  <a:spcPct val="100000"/>
                </a:lnSpc>
                <a:spcBef>
                  <a:spcPct val="50000"/>
                </a:spcBef>
                <a:spcAft>
                  <a:spcPct val="0"/>
                </a:spcAft>
                <a:buClrTx/>
                <a:buSzTx/>
                <a:buFontTx/>
                <a:buNone/>
              </a:pPr>
              <a:r>
                <a:rPr kumimoji="1" lang="en-US" altLang="zh-CN" sz="3200" b="1" i="1" u="none" strike="noStrike" cap="none" normalizeH="0" baseline="0" dirty="0">
                  <a:ln>
                    <a:noFill/>
                  </a:ln>
                  <a:solidFill>
                    <a:srgbClr val="7030A0"/>
                  </a:solidFill>
                  <a:effectLst/>
                  <a:latin typeface="Times New Roman" panose="02020603050405020304" pitchFamily="18" charset="0"/>
                  <a:ea typeface="宋体" panose="02010600030101010101" pitchFamily="2" charset="-122"/>
                </a:rPr>
                <a:t>B</a:t>
              </a:r>
              <a:endParaRPr kumimoji="1" lang="zh-CN" altLang="en-US" sz="3200" b="1" i="1" u="none" strike="noStrike" cap="none" normalizeH="0" baseline="0" dirty="0">
                <a:ln>
                  <a:noFill/>
                </a:ln>
                <a:solidFill>
                  <a:srgbClr val="7030A0"/>
                </a:solidFill>
                <a:effectLst/>
                <a:latin typeface="Times New Roman" panose="02020603050405020304" pitchFamily="18" charset="0"/>
                <a:ea typeface="宋体" panose="02010600030101010101" pitchFamily="2" charset="-122"/>
              </a:endParaRPr>
            </a:p>
          </p:txBody>
        </p:sp>
        <p:sp>
          <p:nvSpPr>
            <p:cNvPr id="3" name="椭圆 2"/>
            <p:cNvSpPr/>
            <p:nvPr/>
          </p:nvSpPr>
          <p:spPr bwMode="auto">
            <a:xfrm>
              <a:off x="3575720" y="4389298"/>
              <a:ext cx="838368" cy="838368"/>
            </a:xfrm>
            <a:prstGeom prst="ellipse">
              <a:avLst/>
            </a:prstGeom>
            <a:solidFill>
              <a:schemeClr val="bg1">
                <a:lumMod val="75000"/>
              </a:schemeClr>
            </a:solidFill>
            <a:ln w="1905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50000"/>
                </a:spcBef>
                <a:spcAft>
                  <a:spcPct val="0"/>
                </a:spcAft>
                <a:buClrTx/>
                <a:buSzTx/>
                <a:buFontTx/>
                <a:buNone/>
              </a:pPr>
              <a:r>
                <a:rPr kumimoji="1" lang="en-US" altLang="zh-CN" sz="2400" b="1" i="1" u="none" strike="noStrike" cap="none" normalizeH="0" baseline="0" dirty="0">
                  <a:ln>
                    <a:noFill/>
                  </a:ln>
                  <a:solidFill>
                    <a:srgbClr val="00B050"/>
                  </a:solidFill>
                  <a:effectLst/>
                  <a:latin typeface="Times New Roman" panose="02020603050405020304" pitchFamily="18" charset="0"/>
                  <a:ea typeface="宋体" panose="02010600030101010101" pitchFamily="2" charset="-122"/>
                </a:rPr>
                <a:t>A</a:t>
              </a:r>
              <a:endParaRPr kumimoji="1" lang="zh-CN" altLang="en-US" sz="2400" b="1" i="1" u="none" strike="noStrike" cap="none" normalizeH="0" baseline="0" dirty="0">
                <a:ln>
                  <a:noFill/>
                </a:ln>
                <a:solidFill>
                  <a:srgbClr val="00B050"/>
                </a:solidFill>
                <a:effectLst/>
                <a:latin typeface="Times New Roman" panose="02020603050405020304" pitchFamily="18" charset="0"/>
                <a:ea typeface="宋体" panose="02010600030101010101" pitchFamily="2" charset="-122"/>
              </a:endParaRPr>
            </a:p>
          </p:txBody>
        </p:sp>
      </p:grpSp>
      <p:grpSp>
        <p:nvGrpSpPr>
          <p:cNvPr id="22" name="组合 21"/>
          <p:cNvGrpSpPr/>
          <p:nvPr/>
        </p:nvGrpSpPr>
        <p:grpSpPr>
          <a:xfrm>
            <a:off x="6499409" y="4365104"/>
            <a:ext cx="1871465" cy="1330873"/>
            <a:chOff x="3577505" y="2924944"/>
            <a:chExt cx="1871465" cy="1330873"/>
          </a:xfrm>
        </p:grpSpPr>
        <p:grpSp>
          <p:nvGrpSpPr>
            <p:cNvPr id="23" name="组合 22"/>
            <p:cNvGrpSpPr/>
            <p:nvPr/>
          </p:nvGrpSpPr>
          <p:grpSpPr>
            <a:xfrm>
              <a:off x="3577505" y="2924944"/>
              <a:ext cx="1871465" cy="1330873"/>
              <a:chOff x="3639216" y="3362867"/>
              <a:chExt cx="1871465" cy="1330873"/>
            </a:xfrm>
          </p:grpSpPr>
          <p:sp>
            <p:nvSpPr>
              <p:cNvPr id="27" name="椭圆 26"/>
              <p:cNvSpPr/>
              <p:nvPr/>
            </p:nvSpPr>
            <p:spPr bwMode="auto">
              <a:xfrm>
                <a:off x="3639216" y="3362867"/>
                <a:ext cx="1330873" cy="1330873"/>
              </a:xfrm>
              <a:prstGeom prst="ellipse">
                <a:avLst/>
              </a:prstGeom>
              <a:solidFill>
                <a:schemeClr val="bg1"/>
              </a:solidFill>
              <a:ln w="1905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p:txBody>
          </p:sp>
          <p:sp>
            <p:nvSpPr>
              <p:cNvPr id="28" name="椭圆 27"/>
              <p:cNvSpPr/>
              <p:nvPr/>
            </p:nvSpPr>
            <p:spPr bwMode="auto">
              <a:xfrm>
                <a:off x="4476923" y="3525055"/>
                <a:ext cx="1033758" cy="1033758"/>
              </a:xfrm>
              <a:prstGeom prst="ellipse">
                <a:avLst/>
              </a:prstGeom>
              <a:solidFill>
                <a:schemeClr val="bg1">
                  <a:lumMod val="75000"/>
                </a:schemeClr>
              </a:solidFill>
              <a:ln w="19050"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
          <p:nvSpPr>
            <p:cNvPr id="24" name="文本框 23"/>
            <p:cNvSpPr txBox="1"/>
            <p:nvPr/>
          </p:nvSpPr>
          <p:spPr>
            <a:xfrm flipH="1">
              <a:off x="4008157" y="3280884"/>
              <a:ext cx="285328" cy="523220"/>
            </a:xfrm>
            <a:prstGeom prst="rect">
              <a:avLst/>
            </a:prstGeom>
            <a:noFill/>
          </p:spPr>
          <p:txBody>
            <a:bodyPr wrap="square" rtlCol="0">
              <a:spAutoFit/>
            </a:bodyPr>
            <a:lstStyle/>
            <a:p>
              <a:r>
                <a:rPr lang="en-US" altLang="zh-CN" sz="2800" i="1" dirty="0">
                  <a:solidFill>
                    <a:srgbClr val="7030A0"/>
                  </a:solidFill>
                </a:rPr>
                <a:t>A</a:t>
              </a:r>
              <a:endParaRPr lang="zh-CN" altLang="en-US" sz="2800" i="1" dirty="0">
                <a:solidFill>
                  <a:srgbClr val="7030A0"/>
                </a:solidFill>
              </a:endParaRPr>
            </a:p>
          </p:txBody>
        </p:sp>
        <p:sp>
          <p:nvSpPr>
            <p:cNvPr id="25" name="文本框 24"/>
            <p:cNvSpPr txBox="1"/>
            <p:nvPr/>
          </p:nvSpPr>
          <p:spPr>
            <a:xfrm flipH="1">
              <a:off x="4904072" y="3280884"/>
              <a:ext cx="285328" cy="523220"/>
            </a:xfrm>
            <a:prstGeom prst="rect">
              <a:avLst/>
            </a:prstGeom>
            <a:noFill/>
          </p:spPr>
          <p:txBody>
            <a:bodyPr wrap="square" rtlCol="0">
              <a:spAutoFit/>
            </a:bodyPr>
            <a:lstStyle/>
            <a:p>
              <a:r>
                <a:rPr lang="en-US" altLang="zh-CN" sz="2800" i="1" dirty="0">
                  <a:solidFill>
                    <a:srgbClr val="00B050"/>
                  </a:solidFill>
                </a:rPr>
                <a:t>B</a:t>
              </a:r>
              <a:endParaRPr lang="zh-CN" altLang="en-US" sz="2800" i="1" dirty="0">
                <a:solidFill>
                  <a:srgbClr val="00B050"/>
                </a:solidFill>
              </a:endParaRPr>
            </a:p>
          </p:txBody>
        </p:sp>
        <p:pic>
          <p:nvPicPr>
            <p:cNvPr id="26" name="图片 25"/>
            <p:cNvPicPr>
              <a:picLocks noChangeAspect="1"/>
            </p:cNvPicPr>
            <p:nvPr/>
          </p:nvPicPr>
          <p:blipFill>
            <a:blip r:embed="rId4"/>
            <a:stretch>
              <a:fillRect/>
            </a:stretch>
          </p:blipFill>
          <p:spPr>
            <a:xfrm>
              <a:off x="4401886" y="3131530"/>
              <a:ext cx="515513" cy="938970"/>
            </a:xfrm>
            <a:prstGeom prst="rect">
              <a:avLst/>
            </a:prstGeom>
          </p:spPr>
        </p:pic>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wipe(left)">
                                      <p:cBhvr>
                                        <p:cTn id="7" dur="500"/>
                                        <p:tgtEl>
                                          <p:spTgt spid="174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 calcmode="lin" valueType="num">
                                      <p:cBhvr>
                                        <p:cTn id="28" dur="500" fill="hold"/>
                                        <p:tgtEl>
                                          <p:spTgt spid="22"/>
                                        </p:tgtEl>
                                        <p:attrNameLst>
                                          <p:attrName>ppt_w</p:attrName>
                                        </p:attrNameLst>
                                      </p:cBhvr>
                                      <p:tavLst>
                                        <p:tav tm="0">
                                          <p:val>
                                            <p:fltVal val="0"/>
                                          </p:val>
                                        </p:tav>
                                        <p:tav tm="100000">
                                          <p:val>
                                            <p:strVal val="#ppt_w"/>
                                          </p:val>
                                        </p:tav>
                                      </p:tavLst>
                                    </p:anim>
                                    <p:anim calcmode="lin" valueType="num">
                                      <p:cBhvr>
                                        <p:cTn id="29" dur="500" fill="hold"/>
                                        <p:tgtEl>
                                          <p:spTgt spid="22"/>
                                        </p:tgtEl>
                                        <p:attrNameLst>
                                          <p:attrName>ppt_h</p:attrName>
                                        </p:attrNameLst>
                                      </p:cBhvr>
                                      <p:tavLst>
                                        <p:tav tm="0">
                                          <p:val>
                                            <p:fltVal val="0"/>
                                          </p:val>
                                        </p:tav>
                                        <p:tav tm="100000">
                                          <p:val>
                                            <p:strVal val="#ppt_h"/>
                                          </p:val>
                                        </p:tav>
                                      </p:tavLst>
                                    </p:anim>
                                    <p:animEffect transition="in" filter="fad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left)">
                                      <p:cBhvr>
                                        <p:cTn id="3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11" grpId="0"/>
      <p:bldP spid="8" grpId="0"/>
      <p:bldP spid="1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479376" y="1597377"/>
            <a:ext cx="4536504"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5.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集合关系的谓词表示</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10" name="Rectangle 2"/>
          <p:cNvSpPr txBox="1">
            <a:spLocks noChangeArrowheads="1"/>
          </p:cNvSpPr>
          <p:nvPr/>
        </p:nvSpPr>
        <p:spPr bwMode="auto">
          <a:xfrm>
            <a:off x="5159896" y="247802"/>
            <a:ext cx="6336704"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集合之间的关系</a:t>
            </a:r>
          </a:p>
        </p:txBody>
      </p:sp>
      <p:sp>
        <p:nvSpPr>
          <p:cNvPr id="11" name="文本框 10"/>
          <p:cNvSpPr txBox="1"/>
          <p:nvPr/>
        </p:nvSpPr>
        <p:spPr>
          <a:xfrm>
            <a:off x="815485" y="2354019"/>
            <a:ext cx="11089232" cy="1949508"/>
          </a:xfrm>
          <a:prstGeom prst="rect">
            <a:avLst/>
          </a:prstGeom>
          <a:noFill/>
        </p:spPr>
        <p:txBody>
          <a:bodyPr wrap="square">
            <a:spAutoFit/>
          </a:bodyPr>
          <a:lstStyle/>
          <a:p>
            <a:pPr eaLnBrk="1" hangingPunct="1">
              <a:lnSpc>
                <a:spcPct val="150000"/>
              </a:lnSpc>
              <a:defRPr/>
            </a:pPr>
            <a:r>
              <a:rPr lang="en-US" altLang="zh-CN" sz="2800" i="1" dirty="0">
                <a:solidFill>
                  <a:schemeClr val="bg1"/>
                </a:solidFill>
                <a:cs typeface="Times New Roman" panose="02020603050405020304" pitchFamily="18" charset="0"/>
              </a:rPr>
              <a:t>A</a:t>
            </a:r>
            <a:r>
              <a:rPr lang="en-US" altLang="zh-CN" sz="2800" dirty="0">
                <a:solidFill>
                  <a:schemeClr val="bg1"/>
                </a:solidFill>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B</a:t>
            </a:r>
            <a:r>
              <a:rPr lang="en-US" altLang="zh-CN" sz="2800" dirty="0">
                <a:solidFill>
                  <a:schemeClr val="bg1"/>
                </a:solidFill>
                <a:cs typeface="Times New Roman" panose="02020603050405020304" pitchFamily="18" charset="0"/>
              </a:rPr>
              <a:t> </a:t>
            </a:r>
            <a:r>
              <a:rPr lang="en-US" altLang="zh-CN" sz="2800" dirty="0">
                <a:solidFill>
                  <a:schemeClr val="bg1"/>
                </a:solidFill>
                <a:cs typeface="Times New Roman" panose="02020603050405020304" pitchFamily="18" charset="0"/>
                <a:sym typeface="Symbol" panose="05050102010706020507" pitchFamily="18" charset="2"/>
              </a:rPr>
              <a:t> </a:t>
            </a:r>
            <a:r>
              <a:rPr lang="en-US" altLang="zh-CN" sz="2800" i="1" dirty="0">
                <a:solidFill>
                  <a:schemeClr val="bg1"/>
                </a:solidFill>
                <a:cs typeface="Times New Roman" panose="02020603050405020304" pitchFamily="18" charset="0"/>
              </a:rPr>
              <a:t>x</a:t>
            </a:r>
            <a:r>
              <a:rPr lang="en-US" altLang="zh-CN" sz="2800" dirty="0">
                <a:solidFill>
                  <a:schemeClr val="bg1"/>
                </a:solidFill>
                <a:cs typeface="Times New Roman" panose="02020603050405020304" pitchFamily="18" charset="0"/>
              </a:rPr>
              <a:t>(</a:t>
            </a:r>
            <a:r>
              <a:rPr lang="en-US" altLang="zh-CN" sz="2800" i="1" dirty="0" err="1">
                <a:solidFill>
                  <a:schemeClr val="bg1"/>
                </a:solidFill>
                <a:cs typeface="Times New Roman" panose="02020603050405020304" pitchFamily="18" charset="0"/>
              </a:rPr>
              <a:t>x</a:t>
            </a:r>
            <a:r>
              <a:rPr lang="en-US" altLang="zh-CN" sz="2800" dirty="0" err="1">
                <a:solidFill>
                  <a:schemeClr val="bg1"/>
                </a:solidFill>
                <a:cs typeface="Times New Roman" panose="02020603050405020304" pitchFamily="18" charset="0"/>
                <a:sym typeface="Symbol" panose="05050102010706020507" pitchFamily="18" charset="2"/>
              </a:rPr>
              <a:t></a:t>
            </a:r>
            <a:r>
              <a:rPr lang="en-US" altLang="zh-CN" sz="2800" i="1" dirty="0" err="1">
                <a:solidFill>
                  <a:schemeClr val="bg1"/>
                </a:solidFill>
                <a:cs typeface="Times New Roman" panose="02020603050405020304" pitchFamily="18" charset="0"/>
              </a:rPr>
              <a:t>A</a:t>
            </a:r>
            <a:r>
              <a:rPr lang="en-US" altLang="zh-CN" sz="2800" dirty="0" err="1">
                <a:solidFill>
                  <a:schemeClr val="bg1"/>
                </a:solidFill>
                <a:cs typeface="Times New Roman" panose="02020603050405020304" pitchFamily="18" charset="0"/>
                <a:sym typeface="Symbol" panose="05050102010706020507" pitchFamily="18" charset="2"/>
              </a:rPr>
              <a:t></a:t>
            </a:r>
            <a:r>
              <a:rPr lang="en-US" altLang="zh-CN" sz="2800" i="1" dirty="0" err="1">
                <a:solidFill>
                  <a:schemeClr val="bg1"/>
                </a:solidFill>
                <a:cs typeface="Times New Roman" panose="02020603050405020304" pitchFamily="18" charset="0"/>
              </a:rPr>
              <a:t>x</a:t>
            </a:r>
            <a:r>
              <a:rPr lang="en-US" altLang="zh-CN" sz="2800" dirty="0" err="1">
                <a:solidFill>
                  <a:schemeClr val="bg1"/>
                </a:solidFill>
                <a:cs typeface="Times New Roman" panose="02020603050405020304" pitchFamily="18" charset="0"/>
                <a:sym typeface="Symbol" panose="05050102010706020507" pitchFamily="18" charset="2"/>
              </a:rPr>
              <a:t></a:t>
            </a:r>
            <a:r>
              <a:rPr lang="en-US" altLang="zh-CN" sz="2800" i="1" dirty="0" err="1">
                <a:solidFill>
                  <a:schemeClr val="bg1"/>
                </a:solidFill>
                <a:cs typeface="Times New Roman" panose="02020603050405020304" pitchFamily="18" charset="0"/>
              </a:rPr>
              <a:t>B</a:t>
            </a:r>
            <a:r>
              <a:rPr lang="en-US" altLang="zh-CN" sz="2800" dirty="0">
                <a:solidFill>
                  <a:schemeClr val="bg1"/>
                </a:solidFill>
                <a:cs typeface="Times New Roman" panose="02020603050405020304" pitchFamily="18" charset="0"/>
              </a:rPr>
              <a:t>)</a:t>
            </a:r>
          </a:p>
          <a:p>
            <a:pPr eaLnBrk="1" hangingPunct="1">
              <a:lnSpc>
                <a:spcPct val="150000"/>
              </a:lnSpc>
              <a:buFont typeface="Wingdings" panose="05000000000000000000" pitchFamily="2" charset="2"/>
              <a:buNone/>
              <a:defRPr/>
            </a:pPr>
            <a:r>
              <a:rPr lang="en-US" altLang="zh-CN" sz="2800" i="1" dirty="0">
                <a:solidFill>
                  <a:schemeClr val="bg1"/>
                </a:solidFill>
                <a:cs typeface="Times New Roman" panose="02020603050405020304" pitchFamily="18" charset="0"/>
              </a:rPr>
              <a:t>A</a:t>
            </a:r>
            <a:r>
              <a:rPr lang="en-US" altLang="zh-CN" sz="2800" dirty="0">
                <a:solidFill>
                  <a:schemeClr val="bg1"/>
                </a:solidFill>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B</a:t>
            </a:r>
            <a:r>
              <a:rPr lang="en-US" altLang="zh-CN" sz="2800" dirty="0">
                <a:solidFill>
                  <a:schemeClr val="bg1"/>
                </a:solidFill>
                <a:cs typeface="Times New Roman" panose="02020603050405020304" pitchFamily="18" charset="0"/>
              </a:rPr>
              <a:t> </a:t>
            </a:r>
            <a:r>
              <a:rPr lang="en-US" altLang="zh-CN" sz="2800" dirty="0">
                <a:solidFill>
                  <a:schemeClr val="bg1"/>
                </a:solidFill>
                <a:cs typeface="Times New Roman" panose="02020603050405020304" pitchFamily="18" charset="0"/>
                <a:sym typeface="Symbol" panose="05050102010706020507" pitchFamily="18" charset="2"/>
              </a:rPr>
              <a:t> </a:t>
            </a:r>
            <a:r>
              <a:rPr lang="en-US" altLang="zh-CN" sz="2800" i="1" dirty="0">
                <a:solidFill>
                  <a:schemeClr val="bg1"/>
                </a:solidFill>
                <a:cs typeface="Times New Roman" panose="02020603050405020304" pitchFamily="18" charset="0"/>
              </a:rPr>
              <a:t>x</a:t>
            </a:r>
            <a:r>
              <a:rPr lang="en-US" altLang="zh-CN" sz="2800" dirty="0">
                <a:solidFill>
                  <a:schemeClr val="bg1"/>
                </a:solidFill>
                <a:cs typeface="Times New Roman" panose="02020603050405020304" pitchFamily="18" charset="0"/>
              </a:rPr>
              <a:t>(</a:t>
            </a:r>
            <a:r>
              <a:rPr lang="en-US" altLang="zh-CN" sz="2800" i="1" dirty="0" err="1">
                <a:solidFill>
                  <a:schemeClr val="bg1"/>
                </a:solidFill>
                <a:cs typeface="Times New Roman" panose="02020603050405020304" pitchFamily="18" charset="0"/>
              </a:rPr>
              <a:t>x</a:t>
            </a:r>
            <a:r>
              <a:rPr lang="en-US" altLang="zh-CN" sz="2800" dirty="0" err="1">
                <a:solidFill>
                  <a:schemeClr val="bg1"/>
                </a:solidFill>
                <a:cs typeface="Times New Roman" panose="02020603050405020304" pitchFamily="18" charset="0"/>
                <a:sym typeface="Symbol" panose="05050102010706020507" pitchFamily="18" charset="2"/>
              </a:rPr>
              <a:t></a:t>
            </a:r>
            <a:r>
              <a:rPr lang="en-US" altLang="zh-CN" sz="2800" i="1" dirty="0" err="1">
                <a:solidFill>
                  <a:schemeClr val="bg1"/>
                </a:solidFill>
                <a:cs typeface="Times New Roman" panose="02020603050405020304" pitchFamily="18" charset="0"/>
              </a:rPr>
              <a:t>A</a:t>
            </a:r>
            <a:r>
              <a:rPr lang="en-US" altLang="zh-CN" sz="2800" dirty="0" err="1">
                <a:solidFill>
                  <a:schemeClr val="bg1"/>
                </a:solidFill>
                <a:cs typeface="Times New Roman" panose="02020603050405020304" pitchFamily="18" charset="0"/>
                <a:sym typeface="Symbol" panose="05050102010706020507" pitchFamily="18" charset="2"/>
              </a:rPr>
              <a:t></a:t>
            </a:r>
            <a:r>
              <a:rPr lang="en-US" altLang="zh-CN" sz="2800" i="1" dirty="0" err="1">
                <a:solidFill>
                  <a:schemeClr val="bg1"/>
                </a:solidFill>
                <a:cs typeface="Times New Roman" panose="02020603050405020304" pitchFamily="18" charset="0"/>
              </a:rPr>
              <a:t>x</a:t>
            </a:r>
            <a:r>
              <a:rPr lang="en-US" altLang="zh-CN" sz="2800" dirty="0" err="1">
                <a:solidFill>
                  <a:schemeClr val="bg1"/>
                </a:solidFill>
                <a:cs typeface="Times New Roman" panose="02020603050405020304" pitchFamily="18" charset="0"/>
                <a:sym typeface="Symbol" panose="05050102010706020507" pitchFamily="18" charset="2"/>
              </a:rPr>
              <a:t></a:t>
            </a:r>
            <a:r>
              <a:rPr lang="en-US" altLang="zh-CN" sz="2800" i="1" dirty="0" err="1">
                <a:solidFill>
                  <a:schemeClr val="bg1"/>
                </a:solidFill>
                <a:cs typeface="Times New Roman" panose="02020603050405020304" pitchFamily="18" charset="0"/>
              </a:rPr>
              <a:t>B</a:t>
            </a:r>
            <a:r>
              <a:rPr lang="en-US" altLang="zh-CN" sz="2800" dirty="0">
                <a:solidFill>
                  <a:schemeClr val="bg1"/>
                </a:solidFill>
                <a:cs typeface="Times New Roman" panose="02020603050405020304" pitchFamily="18" charset="0"/>
              </a:rPr>
              <a:t>)</a:t>
            </a:r>
            <a:r>
              <a:rPr lang="zh-CN" altLang="en-US" sz="2800" dirty="0">
                <a:solidFill>
                  <a:schemeClr val="bg1"/>
                </a:solidFill>
                <a:cs typeface="Times New Roman" panose="02020603050405020304" pitchFamily="18" charset="0"/>
              </a:rPr>
              <a:t>且</a:t>
            </a:r>
            <a:r>
              <a:rPr lang="zh-CN" altLang="en-US" sz="2800" dirty="0">
                <a:solidFill>
                  <a:schemeClr val="bg1"/>
                </a:solidFill>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x</a:t>
            </a:r>
            <a:r>
              <a:rPr lang="en-US" altLang="zh-CN" sz="2800" dirty="0">
                <a:solidFill>
                  <a:schemeClr val="bg1"/>
                </a:solidFill>
                <a:cs typeface="Times New Roman" panose="02020603050405020304" pitchFamily="18" charset="0"/>
              </a:rPr>
              <a:t>(</a:t>
            </a:r>
            <a:r>
              <a:rPr lang="en-US" altLang="zh-CN" sz="2800" i="1" dirty="0" err="1">
                <a:solidFill>
                  <a:schemeClr val="bg1"/>
                </a:solidFill>
                <a:cs typeface="Times New Roman" panose="02020603050405020304" pitchFamily="18" charset="0"/>
              </a:rPr>
              <a:t>x</a:t>
            </a:r>
            <a:r>
              <a:rPr lang="en-US" altLang="zh-CN" sz="2800" dirty="0" err="1">
                <a:solidFill>
                  <a:schemeClr val="bg1"/>
                </a:solidFill>
                <a:cs typeface="Times New Roman" panose="02020603050405020304" pitchFamily="18" charset="0"/>
                <a:sym typeface="Symbol" panose="05050102010706020507" pitchFamily="18" charset="2"/>
              </a:rPr>
              <a:t></a:t>
            </a:r>
            <a:r>
              <a:rPr lang="en-US" altLang="zh-CN" sz="2800" i="1" dirty="0" err="1">
                <a:solidFill>
                  <a:schemeClr val="bg1"/>
                </a:solidFill>
                <a:cs typeface="Times New Roman" panose="02020603050405020304" pitchFamily="18" charset="0"/>
              </a:rPr>
              <a:t>B</a:t>
            </a:r>
            <a:r>
              <a:rPr lang="en-US" altLang="zh-CN" sz="2800" dirty="0">
                <a:solidFill>
                  <a:schemeClr val="bg1"/>
                </a:solidFill>
                <a:cs typeface="Times New Roman" panose="02020603050405020304" pitchFamily="18" charset="0"/>
              </a:rPr>
              <a:t>, </a:t>
            </a:r>
            <a:r>
              <a:rPr lang="zh-CN" altLang="en-US" sz="2800" dirty="0">
                <a:solidFill>
                  <a:schemeClr val="bg1"/>
                </a:solidFill>
                <a:cs typeface="Times New Roman" panose="02020603050405020304" pitchFamily="18" charset="0"/>
              </a:rPr>
              <a:t>但</a:t>
            </a:r>
            <a:r>
              <a:rPr lang="en-US" altLang="zh-CN" sz="2800" i="1" dirty="0" err="1">
                <a:solidFill>
                  <a:schemeClr val="bg1"/>
                </a:solidFill>
                <a:cs typeface="Times New Roman" panose="02020603050405020304" pitchFamily="18" charset="0"/>
              </a:rPr>
              <a:t>x</a:t>
            </a:r>
            <a:r>
              <a:rPr lang="en-US" altLang="zh-CN" sz="2800" dirty="0" err="1">
                <a:solidFill>
                  <a:schemeClr val="bg1"/>
                </a:solidFill>
                <a:cs typeface="Times New Roman" panose="02020603050405020304" pitchFamily="18" charset="0"/>
                <a:sym typeface="Symbol" panose="05050102010706020507" pitchFamily="18" charset="2"/>
              </a:rPr>
              <a:t></a:t>
            </a:r>
            <a:r>
              <a:rPr lang="en-US" altLang="zh-CN" sz="2800" i="1" dirty="0" err="1">
                <a:solidFill>
                  <a:schemeClr val="bg1"/>
                </a:solidFill>
                <a:cs typeface="Times New Roman" panose="02020603050405020304" pitchFamily="18" charset="0"/>
              </a:rPr>
              <a:t>A</a:t>
            </a:r>
            <a:r>
              <a:rPr lang="en-US" altLang="zh-CN" sz="2800" dirty="0">
                <a:solidFill>
                  <a:schemeClr val="bg1"/>
                </a:solidFill>
                <a:cs typeface="Times New Roman" panose="02020603050405020304" pitchFamily="18" charset="0"/>
              </a:rPr>
              <a:t>)</a:t>
            </a:r>
          </a:p>
          <a:p>
            <a:pPr eaLnBrk="1" hangingPunct="1">
              <a:lnSpc>
                <a:spcPct val="150000"/>
              </a:lnSpc>
              <a:buFont typeface="Wingdings" panose="05000000000000000000" pitchFamily="2" charset="2"/>
              <a:buNone/>
              <a:defRPr/>
            </a:pPr>
            <a:r>
              <a:rPr lang="en-US" altLang="zh-CN" sz="2800" i="1" dirty="0">
                <a:solidFill>
                  <a:schemeClr val="bg1"/>
                </a:solidFill>
                <a:cs typeface="Times New Roman" panose="02020603050405020304" pitchFamily="18" charset="0"/>
              </a:rPr>
              <a:t>A</a:t>
            </a:r>
            <a:r>
              <a:rPr lang="en-US" altLang="zh-CN" sz="2800" dirty="0">
                <a:solidFill>
                  <a:schemeClr val="bg1"/>
                </a:solidFill>
                <a:cs typeface="Times New Roman" panose="02020603050405020304" pitchFamily="18" charset="0"/>
              </a:rPr>
              <a:t>=</a:t>
            </a:r>
            <a:r>
              <a:rPr lang="en-US" altLang="zh-CN" sz="2800" i="1" dirty="0">
                <a:solidFill>
                  <a:schemeClr val="bg1"/>
                </a:solidFill>
                <a:cs typeface="Times New Roman" panose="02020603050405020304" pitchFamily="18" charset="0"/>
              </a:rPr>
              <a:t>B</a:t>
            </a:r>
            <a:r>
              <a:rPr lang="en-US" altLang="zh-CN" sz="2800" dirty="0">
                <a:solidFill>
                  <a:schemeClr val="bg1"/>
                </a:solidFill>
                <a:cs typeface="Times New Roman" panose="02020603050405020304" pitchFamily="18" charset="0"/>
              </a:rPr>
              <a:t> </a:t>
            </a:r>
            <a:r>
              <a:rPr lang="en-US" altLang="zh-CN" sz="2800" dirty="0">
                <a:solidFill>
                  <a:schemeClr val="bg1"/>
                </a:solidFill>
                <a:cs typeface="Times New Roman" panose="02020603050405020304" pitchFamily="18" charset="0"/>
                <a:sym typeface="Symbol" panose="05050102010706020507" pitchFamily="18" charset="2"/>
              </a:rPr>
              <a:t> </a:t>
            </a:r>
            <a:r>
              <a:rPr lang="en-US" altLang="zh-CN" sz="2800" i="1" dirty="0">
                <a:solidFill>
                  <a:schemeClr val="bg1"/>
                </a:solidFill>
                <a:cs typeface="Times New Roman" panose="02020603050405020304" pitchFamily="18" charset="0"/>
              </a:rPr>
              <a:t>A</a:t>
            </a:r>
            <a:r>
              <a:rPr lang="en-US" altLang="zh-CN" sz="2800" dirty="0">
                <a:solidFill>
                  <a:schemeClr val="bg1"/>
                </a:solidFill>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B</a:t>
            </a:r>
            <a:r>
              <a:rPr lang="zh-CN" altLang="en-US" sz="2800" dirty="0">
                <a:solidFill>
                  <a:schemeClr val="bg1"/>
                </a:solidFill>
                <a:cs typeface="Times New Roman" panose="02020603050405020304" pitchFamily="18" charset="0"/>
              </a:rPr>
              <a:t>且</a:t>
            </a:r>
            <a:r>
              <a:rPr lang="en-US" altLang="zh-CN" sz="2800" i="1" dirty="0">
                <a:solidFill>
                  <a:schemeClr val="bg1"/>
                </a:solidFill>
                <a:cs typeface="Times New Roman" panose="02020603050405020304" pitchFamily="18" charset="0"/>
              </a:rPr>
              <a:t>B</a:t>
            </a:r>
            <a:r>
              <a:rPr lang="en-US" altLang="zh-CN" sz="2800" dirty="0">
                <a:solidFill>
                  <a:schemeClr val="bg1"/>
                </a:solidFill>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A</a:t>
            </a:r>
            <a:endParaRPr lang="zh-CN" altLang="en-US" sz="2800" i="1" dirty="0">
              <a:solidFill>
                <a:schemeClr val="bg1"/>
              </a:solidFill>
              <a:cs typeface="Times New Roman" panose="02020603050405020304" pitchFamily="18" charset="0"/>
              <a:sym typeface="Symbol" panose="05050102010706020507" pitchFamily="18" charset="2"/>
            </a:endParaRPr>
          </a:p>
        </p:txBody>
      </p:sp>
      <p:sp>
        <p:nvSpPr>
          <p:cNvPr id="2" name="文本框 1"/>
          <p:cNvSpPr txBox="1"/>
          <p:nvPr/>
        </p:nvSpPr>
        <p:spPr>
          <a:xfrm>
            <a:off x="827237" y="4730662"/>
            <a:ext cx="7770712" cy="1303177"/>
          </a:xfrm>
          <a:prstGeom prst="rect">
            <a:avLst/>
          </a:prstGeom>
          <a:noFill/>
        </p:spPr>
        <p:txBody>
          <a:bodyPr wrap="square">
            <a:spAutoFit/>
          </a:bodyPr>
          <a:lstStyle/>
          <a:p>
            <a:pPr eaLnBrk="1" hangingPunct="1">
              <a:lnSpc>
                <a:spcPct val="150000"/>
              </a:lnSpc>
              <a:defRPr/>
            </a:pPr>
            <a:r>
              <a:rPr lang="en-US" altLang="zh-CN" sz="2800" i="1" dirty="0">
                <a:solidFill>
                  <a:schemeClr val="bg1"/>
                </a:solidFill>
                <a:cs typeface="Times New Roman" panose="02020603050405020304" pitchFamily="18" charset="0"/>
              </a:rPr>
              <a:t>A</a:t>
            </a:r>
            <a:r>
              <a:rPr lang="en-US" altLang="zh-CN" sz="2800" dirty="0">
                <a:solidFill>
                  <a:schemeClr val="bg1"/>
                </a:solidFill>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B</a:t>
            </a:r>
            <a:r>
              <a:rPr lang="zh-CN" altLang="en-US" sz="2800" dirty="0">
                <a:solidFill>
                  <a:schemeClr val="bg1"/>
                </a:solidFill>
                <a:cs typeface="Times New Roman" panose="02020603050405020304" pitchFamily="18" charset="0"/>
              </a:rPr>
              <a:t>不成立 </a:t>
            </a:r>
            <a:r>
              <a:rPr lang="zh-CN" altLang="en-US" sz="2800" dirty="0">
                <a:solidFill>
                  <a:schemeClr val="bg1"/>
                </a:solidFill>
                <a:cs typeface="Times New Roman" panose="02020603050405020304" pitchFamily="18" charset="0"/>
                <a:sym typeface="Symbol" panose="05050102010706020507" pitchFamily="18" charset="2"/>
              </a:rPr>
              <a:t> ？</a:t>
            </a:r>
          </a:p>
          <a:p>
            <a:pPr eaLnBrk="1" hangingPunct="1">
              <a:lnSpc>
                <a:spcPct val="150000"/>
              </a:lnSpc>
              <a:buFont typeface="Wingdings" panose="05000000000000000000" pitchFamily="2" charset="2"/>
              <a:buNone/>
              <a:defRPr/>
            </a:pPr>
            <a:r>
              <a:rPr lang="en-US" altLang="zh-CN" sz="2800" i="1" dirty="0">
                <a:solidFill>
                  <a:schemeClr val="bg1"/>
                </a:solidFill>
                <a:cs typeface="Times New Roman" panose="02020603050405020304" pitchFamily="18" charset="0"/>
              </a:rPr>
              <a:t>A</a:t>
            </a:r>
            <a:r>
              <a:rPr lang="en-US" altLang="zh-CN" sz="2800" dirty="0">
                <a:solidFill>
                  <a:schemeClr val="bg1"/>
                </a:solidFill>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B</a:t>
            </a:r>
            <a:r>
              <a:rPr lang="zh-CN" altLang="en-US" sz="2800" dirty="0">
                <a:solidFill>
                  <a:schemeClr val="bg1"/>
                </a:solidFill>
                <a:cs typeface="Times New Roman" panose="02020603050405020304" pitchFamily="18" charset="0"/>
              </a:rPr>
              <a:t>不成立 </a:t>
            </a:r>
            <a:r>
              <a:rPr lang="zh-CN" altLang="en-US" sz="2800" dirty="0">
                <a:solidFill>
                  <a:schemeClr val="bg1"/>
                </a:solidFill>
                <a:cs typeface="Times New Roman" panose="02020603050405020304" pitchFamily="18" charset="0"/>
                <a:sym typeface="Symbol" panose="05050102010706020507" pitchFamily="18" charset="2"/>
              </a:rPr>
              <a:t> ？</a:t>
            </a:r>
          </a:p>
        </p:txBody>
      </p:sp>
      <p:sp>
        <p:nvSpPr>
          <p:cNvPr id="9" name="对话气泡: 圆角矩形 8"/>
          <p:cNvSpPr/>
          <p:nvPr/>
        </p:nvSpPr>
        <p:spPr bwMode="auto">
          <a:xfrm>
            <a:off x="5153781" y="2276872"/>
            <a:ext cx="6210982" cy="595271"/>
          </a:xfrm>
          <a:prstGeom prst="wedgeRoundRectCallout">
            <a:avLst>
              <a:gd name="adj1" fmla="val -58024"/>
              <a:gd name="adj2" fmla="val 41425"/>
              <a:gd name="adj3" fmla="val 16667"/>
            </a:avLst>
          </a:prstGeom>
          <a:solidFill>
            <a:schemeClr val="accent2">
              <a:lumMod val="20000"/>
              <a:lumOff val="80000"/>
            </a:schemeClr>
          </a:solidFill>
          <a:ln w="2857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t" anchorCtr="0" compatLnSpc="1"/>
          <a:lstStyle/>
          <a:p>
            <a:pPr algn="ctr">
              <a:lnSpc>
                <a:spcPct val="120000"/>
              </a:lnSpc>
              <a:spcBef>
                <a:spcPts val="600"/>
              </a:spcBef>
            </a:pPr>
            <a:r>
              <a:rPr lang="zh-CN" altLang="en-US" sz="2400" b="0" dirty="0">
                <a:solidFill>
                  <a:srgbClr val="7030A0"/>
                </a:solidFill>
                <a:latin typeface="微软雅黑" panose="020B0503020204020204" pitchFamily="34" charset="-122"/>
                <a:ea typeface="微软雅黑" panose="020B0503020204020204" pitchFamily="34" charset="-122"/>
              </a:rPr>
              <a:t>这样的表示有点抽象</a:t>
            </a:r>
            <a:r>
              <a:rPr lang="en-US" altLang="zh-CN" sz="2400" b="0" dirty="0">
                <a:solidFill>
                  <a:srgbClr val="7030A0"/>
                </a:solidFill>
                <a:latin typeface="微软雅黑" panose="020B0503020204020204" pitchFamily="34" charset="-122"/>
                <a:ea typeface="微软雅黑" panose="020B0503020204020204" pitchFamily="34" charset="-122"/>
              </a:rPr>
              <a:t>, </a:t>
            </a:r>
            <a:r>
              <a:rPr lang="zh-CN" altLang="en-US" sz="2400" b="0" dirty="0">
                <a:solidFill>
                  <a:srgbClr val="7030A0"/>
                </a:solidFill>
                <a:latin typeface="微软雅黑" panose="020B0503020204020204" pitchFamily="34" charset="-122"/>
                <a:ea typeface="微软雅黑" panose="020B0503020204020204" pitchFamily="34" charset="-122"/>
              </a:rPr>
              <a:t>但是不是很简洁？</a:t>
            </a:r>
            <a:endParaRPr kumimoji="1" lang="zh-CN" altLang="en-US" sz="2400" b="0" i="0" u="none" strike="noStrike" cap="none" normalizeH="0" baseline="0" dirty="0">
              <a:ln>
                <a:noFill/>
              </a:ln>
              <a:solidFill>
                <a:srgbClr val="7030A0"/>
              </a:solidFill>
              <a:effectLst/>
              <a:latin typeface="微软雅黑" panose="020B0503020204020204" pitchFamily="34" charset="-122"/>
              <a:ea typeface="微软雅黑" panose="020B0503020204020204" pitchFamily="34" charset="-122"/>
            </a:endParaRPr>
          </a:p>
        </p:txBody>
      </p:sp>
      <p:sp>
        <p:nvSpPr>
          <p:cNvPr id="12" name="对话气泡: 圆角矩形 11"/>
          <p:cNvSpPr/>
          <p:nvPr/>
        </p:nvSpPr>
        <p:spPr bwMode="auto">
          <a:xfrm>
            <a:off x="4014496" y="4916267"/>
            <a:ext cx="3449656" cy="595271"/>
          </a:xfrm>
          <a:prstGeom prst="wedgeRoundRectCallout">
            <a:avLst>
              <a:gd name="adj1" fmla="val -58024"/>
              <a:gd name="adj2" fmla="val 41425"/>
              <a:gd name="adj3" fmla="val 16667"/>
            </a:avLst>
          </a:prstGeom>
          <a:solidFill>
            <a:schemeClr val="accent2">
              <a:lumMod val="20000"/>
              <a:lumOff val="80000"/>
            </a:schemeClr>
          </a:solidFill>
          <a:ln w="2857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t" anchorCtr="0" compatLnSpc="1"/>
          <a:lstStyle/>
          <a:p>
            <a:pPr algn="ctr">
              <a:lnSpc>
                <a:spcPct val="120000"/>
              </a:lnSpc>
              <a:spcBef>
                <a:spcPts val="600"/>
              </a:spcBef>
            </a:pPr>
            <a:r>
              <a:rPr lang="zh-CN" altLang="en-US" sz="2400" b="0" dirty="0">
                <a:solidFill>
                  <a:srgbClr val="7030A0"/>
                </a:solidFill>
                <a:latin typeface="微软雅黑" panose="020B0503020204020204" pitchFamily="34" charset="-122"/>
                <a:ea typeface="微软雅黑" panose="020B0503020204020204" pitchFamily="34" charset="-122"/>
              </a:rPr>
              <a:t>请你也尝试一下吧！</a:t>
            </a:r>
            <a:endParaRPr kumimoji="1" lang="zh-CN" altLang="en-US" sz="2400" b="0" i="0" u="none" strike="noStrike" cap="none" normalizeH="0" baseline="0" dirty="0">
              <a:ln>
                <a:noFill/>
              </a:ln>
              <a:solidFill>
                <a:srgbClr val="7030A0"/>
              </a:solidFill>
              <a:effectLst/>
              <a:latin typeface="微软雅黑" panose="020B0503020204020204" pitchFamily="34" charset="-122"/>
              <a:ea typeface="微软雅黑" panose="020B0503020204020204" pitchFamily="34" charset="-122"/>
            </a:endParaRPr>
          </a:p>
        </p:txBody>
      </p:sp>
      <p:sp>
        <p:nvSpPr>
          <p:cNvPr id="13" name="对话气泡: 圆角矩形 12"/>
          <p:cNvSpPr/>
          <p:nvPr/>
        </p:nvSpPr>
        <p:spPr bwMode="auto">
          <a:xfrm rot="19105637">
            <a:off x="8721031" y="4808200"/>
            <a:ext cx="3449656" cy="595271"/>
          </a:xfrm>
          <a:prstGeom prst="wedgeRoundRectCallout">
            <a:avLst>
              <a:gd name="adj1" fmla="val -47256"/>
              <a:gd name="adj2" fmla="val 24624"/>
              <a:gd name="adj3" fmla="val 16667"/>
            </a:avLst>
          </a:prstGeom>
          <a:solidFill>
            <a:schemeClr val="accent1"/>
          </a:solidFill>
          <a:ln w="2857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t" anchorCtr="0" compatLnSpc="1"/>
          <a:lstStyle/>
          <a:p>
            <a:pPr algn="ctr">
              <a:lnSpc>
                <a:spcPct val="120000"/>
              </a:lnSpc>
              <a:spcBef>
                <a:spcPts val="600"/>
              </a:spcBef>
            </a:pPr>
            <a:r>
              <a:rPr lang="zh-CN" altLang="en-US" sz="2400" b="0" dirty="0">
                <a:solidFill>
                  <a:srgbClr val="0070C0"/>
                </a:solidFill>
                <a:latin typeface="微软雅黑" panose="020B0503020204020204" pitchFamily="34" charset="-122"/>
                <a:ea typeface="微软雅黑" panose="020B0503020204020204" pitchFamily="34" charset="-122"/>
              </a:rPr>
              <a:t>体会数学之美！</a:t>
            </a:r>
            <a:endParaRPr kumimoji="1" lang="zh-CN" altLang="en-US" sz="2400" b="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wipe(left)">
                                      <p:cBhvr>
                                        <p:cTn id="7" dur="500"/>
                                        <p:tgtEl>
                                          <p:spTgt spid="174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1000"/>
                                        <p:tgtEl>
                                          <p:spTgt spid="11">
                                            <p:txEl>
                                              <p:pRg st="0" end="0"/>
                                            </p:txEl>
                                          </p:spTgt>
                                        </p:tgtEl>
                                      </p:cBhvr>
                                    </p:animEffect>
                                    <p:anim calcmode="lin" valueType="num">
                                      <p:cBhvr>
                                        <p:cTn id="13"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1000"/>
                                        <p:tgtEl>
                                          <p:spTgt spid="11">
                                            <p:txEl>
                                              <p:pRg st="1" end="1"/>
                                            </p:txEl>
                                          </p:spTgt>
                                        </p:tgtEl>
                                      </p:cBhvr>
                                    </p:animEffect>
                                    <p:anim calcmode="lin" valueType="num">
                                      <p:cBhvr>
                                        <p:cTn id="19"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42" presetClass="entr" presetSubtype="0" fill="hold" nodeType="afterEffect">
                                  <p:stCondLst>
                                    <p:cond delay="0"/>
                                  </p:stCondLst>
                                  <p:childTnLst>
                                    <p:set>
                                      <p:cBhvr>
                                        <p:cTn id="23" dur="1" fill="hold">
                                          <p:stCondLst>
                                            <p:cond delay="0"/>
                                          </p:stCondLst>
                                        </p:cTn>
                                        <p:tgtEl>
                                          <p:spTgt spid="11">
                                            <p:txEl>
                                              <p:pRg st="2" end="2"/>
                                            </p:txEl>
                                          </p:spTgt>
                                        </p:tgtEl>
                                        <p:attrNameLst>
                                          <p:attrName>style.visibility</p:attrName>
                                        </p:attrNameLst>
                                      </p:cBhvr>
                                      <p:to>
                                        <p:strVal val="visible"/>
                                      </p:to>
                                    </p:set>
                                    <p:animEffect transition="in" filter="fade">
                                      <p:cBhvr>
                                        <p:cTn id="24" dur="1000"/>
                                        <p:tgtEl>
                                          <p:spTgt spid="11">
                                            <p:txEl>
                                              <p:pRg st="2" end="2"/>
                                            </p:txEl>
                                          </p:spTgt>
                                        </p:tgtEl>
                                      </p:cBhvr>
                                    </p:animEffect>
                                    <p:anim calcmode="lin" valueType="num">
                                      <p:cBhvr>
                                        <p:cTn id="25"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animEffect transition="in" filter="fade">
                                      <p:cBhvr>
                                        <p:cTn id="31" dur="1000"/>
                                        <p:tgtEl>
                                          <p:spTgt spid="2">
                                            <p:txEl>
                                              <p:pRg st="0" end="0"/>
                                            </p:txEl>
                                          </p:spTgt>
                                        </p:tgtEl>
                                      </p:cBhvr>
                                    </p:animEffect>
                                    <p:anim calcmode="lin" valueType="num">
                                      <p:cBhvr>
                                        <p:cTn id="3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42" presetClass="entr" presetSubtype="0" fill="hold" nodeType="after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fade">
                                      <p:cBhvr>
                                        <p:cTn id="37" dur="1000"/>
                                        <p:tgtEl>
                                          <p:spTgt spid="2">
                                            <p:txEl>
                                              <p:pRg st="1" end="1"/>
                                            </p:txEl>
                                          </p:spTgt>
                                        </p:tgtEl>
                                      </p:cBhvr>
                                    </p:animEffect>
                                    <p:anim calcmode="lin" valueType="num">
                                      <p:cBhvr>
                                        <p:cTn id="3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p:cTn id="44" dur="500" fill="hold"/>
                                        <p:tgtEl>
                                          <p:spTgt spid="9"/>
                                        </p:tgtEl>
                                        <p:attrNameLst>
                                          <p:attrName>ppt_w</p:attrName>
                                        </p:attrNameLst>
                                      </p:cBhvr>
                                      <p:tavLst>
                                        <p:tav tm="0">
                                          <p:val>
                                            <p:fltVal val="0"/>
                                          </p:val>
                                        </p:tav>
                                        <p:tav tm="100000">
                                          <p:val>
                                            <p:strVal val="#ppt_w"/>
                                          </p:val>
                                        </p:tav>
                                      </p:tavLst>
                                    </p:anim>
                                    <p:anim calcmode="lin" valueType="num">
                                      <p:cBhvr>
                                        <p:cTn id="45" dur="500" fill="hold"/>
                                        <p:tgtEl>
                                          <p:spTgt spid="9"/>
                                        </p:tgtEl>
                                        <p:attrNameLst>
                                          <p:attrName>ppt_h</p:attrName>
                                        </p:attrNameLst>
                                      </p:cBhvr>
                                      <p:tavLst>
                                        <p:tav tm="0">
                                          <p:val>
                                            <p:fltVal val="0"/>
                                          </p:val>
                                        </p:tav>
                                        <p:tav tm="100000">
                                          <p:val>
                                            <p:strVal val="#ppt_h"/>
                                          </p:val>
                                        </p:tav>
                                      </p:tavLst>
                                    </p:anim>
                                    <p:animEffect transition="in" filter="fade">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p:cTn id="51" dur="500" fill="hold"/>
                                        <p:tgtEl>
                                          <p:spTgt spid="12"/>
                                        </p:tgtEl>
                                        <p:attrNameLst>
                                          <p:attrName>ppt_w</p:attrName>
                                        </p:attrNameLst>
                                      </p:cBhvr>
                                      <p:tavLst>
                                        <p:tav tm="0">
                                          <p:val>
                                            <p:fltVal val="0"/>
                                          </p:val>
                                        </p:tav>
                                        <p:tav tm="100000">
                                          <p:val>
                                            <p:strVal val="#ppt_w"/>
                                          </p:val>
                                        </p:tav>
                                      </p:tavLst>
                                    </p:anim>
                                    <p:anim calcmode="lin" valueType="num">
                                      <p:cBhvr>
                                        <p:cTn id="52" dur="500" fill="hold"/>
                                        <p:tgtEl>
                                          <p:spTgt spid="12"/>
                                        </p:tgtEl>
                                        <p:attrNameLst>
                                          <p:attrName>ppt_h</p:attrName>
                                        </p:attrNameLst>
                                      </p:cBhvr>
                                      <p:tavLst>
                                        <p:tav tm="0">
                                          <p:val>
                                            <p:fltVal val="0"/>
                                          </p:val>
                                        </p:tav>
                                        <p:tav tm="100000">
                                          <p:val>
                                            <p:strVal val="#ppt_h"/>
                                          </p:val>
                                        </p:tav>
                                      </p:tavLst>
                                    </p:anim>
                                    <p:animEffect transition="in" filter="fade">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13"/>
                                        </p:tgtEl>
                                        <p:attrNameLst>
                                          <p:attrName>style.visibility</p:attrName>
                                        </p:attrNameLst>
                                      </p:cBhvr>
                                      <p:to>
                                        <p:strVal val="visible"/>
                                      </p:to>
                                    </p:set>
                                    <p:anim calcmode="lin" valueType="num">
                                      <p:cBhvr>
                                        <p:cTn id="58" dur="500" fill="hold"/>
                                        <p:tgtEl>
                                          <p:spTgt spid="13"/>
                                        </p:tgtEl>
                                        <p:attrNameLst>
                                          <p:attrName>ppt_w</p:attrName>
                                        </p:attrNameLst>
                                      </p:cBhvr>
                                      <p:tavLst>
                                        <p:tav tm="0">
                                          <p:val>
                                            <p:fltVal val="0"/>
                                          </p:val>
                                        </p:tav>
                                        <p:tav tm="100000">
                                          <p:val>
                                            <p:strVal val="#ppt_w"/>
                                          </p:val>
                                        </p:tav>
                                      </p:tavLst>
                                    </p:anim>
                                    <p:anim calcmode="lin" valueType="num">
                                      <p:cBhvr>
                                        <p:cTn id="59" dur="500" fill="hold"/>
                                        <p:tgtEl>
                                          <p:spTgt spid="13"/>
                                        </p:tgtEl>
                                        <p:attrNameLst>
                                          <p:attrName>ppt_h</p:attrName>
                                        </p:attrNameLst>
                                      </p:cBhvr>
                                      <p:tavLst>
                                        <p:tav tm="0">
                                          <p:val>
                                            <p:fltVal val="0"/>
                                          </p:val>
                                        </p:tav>
                                        <p:tav tm="100000">
                                          <p:val>
                                            <p:strVal val="#ppt_h"/>
                                          </p:val>
                                        </p:tav>
                                      </p:tavLst>
                                    </p:anim>
                                    <p:animEffect transition="in" filter="fade">
                                      <p:cBhvr>
                                        <p:cTn id="6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9" grpId="0" animBg="1"/>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63352" y="1585961"/>
            <a:ext cx="7488832"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6.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定理</a:t>
            </a: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1.1.1</a:t>
            </a:r>
            <a:r>
              <a:rPr lang="en-US" altLang="zh-CN"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集合包含关系的性质</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Rectangle 2"/>
          <p:cNvSpPr txBox="1">
            <a:spLocks noChangeArrowheads="1"/>
          </p:cNvSpPr>
          <p:nvPr/>
        </p:nvSpPr>
        <p:spPr bwMode="auto">
          <a:xfrm>
            <a:off x="5159896" y="247802"/>
            <a:ext cx="6336704"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集合之间的关系</a:t>
            </a:r>
          </a:p>
        </p:txBody>
      </p:sp>
      <p:sp>
        <p:nvSpPr>
          <p:cNvPr id="11" name="文本框 10"/>
          <p:cNvSpPr txBox="1"/>
          <p:nvPr/>
        </p:nvSpPr>
        <p:spPr>
          <a:xfrm>
            <a:off x="767410" y="2312673"/>
            <a:ext cx="11089232" cy="2599943"/>
          </a:xfrm>
          <a:prstGeom prst="rect">
            <a:avLst/>
          </a:prstGeom>
          <a:noFill/>
        </p:spPr>
        <p:txBody>
          <a:bodyPr wrap="square">
            <a:spAutoFit/>
          </a:bodyPr>
          <a:lstStyle/>
          <a:p>
            <a:pPr marL="0" indent="0" eaLnBrk="1" hangingPunct="1">
              <a:lnSpc>
                <a:spcPct val="150000"/>
              </a:lnSpc>
              <a:buFont typeface="Wingdings" panose="05000000000000000000" pitchFamily="2" charset="2"/>
              <a:buNone/>
              <a:defRPr/>
            </a:pPr>
            <a:r>
              <a:rPr lang="zh-CN" altLang="en-US"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 </a:t>
            </a:r>
            <a:r>
              <a:rPr lang="zh-CN" altLang="en-US" sz="2800" b="0" dirty="0">
                <a:solidFill>
                  <a:schemeClr val="bg1"/>
                </a:solidFill>
                <a:ea typeface="微软雅黑" panose="020B0503020204020204" pitchFamily="34" charset="-122"/>
                <a:cs typeface="Times New Roman" panose="02020603050405020304" pitchFamily="18" charset="0"/>
              </a:rPr>
              <a:t>集合</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B</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C</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有</a:t>
            </a:r>
          </a:p>
          <a:p>
            <a:pPr marL="0" indent="0" eaLnBrk="1" hangingPunct="1">
              <a:lnSpc>
                <a:spcPct val="150000"/>
              </a:lnSpc>
              <a:buFont typeface="Wingdings" panose="05000000000000000000" pitchFamily="2" charset="2"/>
              <a:buNone/>
              <a:defRPr/>
            </a:pPr>
            <a:r>
              <a:rPr lang="zh-CN" altLang="en-US" sz="2800" b="0" dirty="0">
                <a:solidFill>
                  <a:schemeClr val="bg1"/>
                </a:solidFill>
                <a:ea typeface="微软雅黑" panose="020B0503020204020204" pitchFamily="34" charset="-122"/>
                <a:cs typeface="Times New Roman" panose="02020603050405020304" pitchFamily="18" charset="0"/>
              </a:rPr>
              <a:t>  </a:t>
            </a:r>
            <a:r>
              <a:rPr lang="en-US" altLang="zh-CN" sz="2800" b="0" dirty="0">
                <a:solidFill>
                  <a:schemeClr val="bg1"/>
                </a:solidFill>
                <a:ea typeface="微软雅黑" panose="020B0503020204020204" pitchFamily="34" charset="-122"/>
                <a:cs typeface="Times New Roman" panose="02020603050405020304" pitchFamily="18" charset="0"/>
              </a:rPr>
              <a:t>(1)</a:t>
            </a:r>
            <a:r>
              <a:rPr lang="zh-CN" altLang="en-US" sz="2800" b="0" dirty="0">
                <a:solidFill>
                  <a:schemeClr val="bg1"/>
                </a:solidFill>
                <a:ea typeface="微软雅黑" panose="020B0503020204020204" pitchFamily="34" charset="-122"/>
                <a:cs typeface="Times New Roman" panose="02020603050405020304" pitchFamily="18" charset="0"/>
              </a:rPr>
              <a:t>自反性：</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A</a:t>
            </a:r>
          </a:p>
          <a:p>
            <a:pPr marL="0" indent="0" eaLnBrk="1" hangingPunct="1">
              <a:lnSpc>
                <a:spcPct val="150000"/>
              </a:lnSpc>
              <a:buFont typeface="Wingdings" panose="05000000000000000000" pitchFamily="2" charset="2"/>
              <a:buNone/>
              <a:defRPr/>
            </a:pPr>
            <a:r>
              <a:rPr lang="en-US" altLang="zh-CN" sz="2800" b="0" dirty="0">
                <a:solidFill>
                  <a:schemeClr val="bg1"/>
                </a:solidFill>
                <a:ea typeface="微软雅黑" panose="020B0503020204020204" pitchFamily="34" charset="-122"/>
                <a:cs typeface="Times New Roman" panose="02020603050405020304" pitchFamily="18" charset="0"/>
              </a:rPr>
              <a:t>  (2)</a:t>
            </a:r>
            <a:r>
              <a:rPr lang="zh-CN" altLang="en-US" sz="2800" b="0" dirty="0">
                <a:solidFill>
                  <a:schemeClr val="bg1"/>
                </a:solidFill>
                <a:ea typeface="微软雅黑" panose="020B0503020204020204" pitchFamily="34" charset="-122"/>
                <a:cs typeface="Times New Roman" panose="02020603050405020304" pitchFamily="18" charset="0"/>
              </a:rPr>
              <a:t>反对称性：</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B</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且</a:t>
            </a:r>
            <a:r>
              <a:rPr lang="en-US" altLang="zh-CN" sz="2800" i="1" dirty="0">
                <a:solidFill>
                  <a:schemeClr val="bg1"/>
                </a:solidFill>
                <a:cs typeface="Times New Roman" panose="02020603050405020304" pitchFamily="18" charset="0"/>
              </a:rPr>
              <a:t>B</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i="1" dirty="0">
                <a:solidFill>
                  <a:schemeClr val="bg1"/>
                </a:solidFill>
                <a:cs typeface="Times New Roman" panose="02020603050405020304" pitchFamily="18" charset="0"/>
              </a:rPr>
              <a:t>B</a:t>
            </a:r>
          </a:p>
          <a:p>
            <a:pPr marL="0" indent="0" eaLnBrk="1" hangingPunct="1">
              <a:lnSpc>
                <a:spcPct val="150000"/>
              </a:lnSpc>
              <a:buFont typeface="Wingdings" panose="05000000000000000000" pitchFamily="2" charset="2"/>
              <a:buNone/>
              <a:defRPr/>
            </a:pPr>
            <a:r>
              <a:rPr lang="en-US" altLang="zh-CN" sz="2800" b="0" dirty="0">
                <a:solidFill>
                  <a:schemeClr val="bg1"/>
                </a:solidFill>
                <a:ea typeface="微软雅黑" panose="020B0503020204020204" pitchFamily="34" charset="-122"/>
                <a:cs typeface="Times New Roman" panose="02020603050405020304" pitchFamily="18" charset="0"/>
              </a:rPr>
              <a:t>  (3)</a:t>
            </a:r>
            <a:r>
              <a:rPr lang="zh-CN" altLang="en-US" sz="2800" b="0" dirty="0">
                <a:solidFill>
                  <a:schemeClr val="bg1"/>
                </a:solidFill>
                <a:ea typeface="微软雅黑" panose="020B0503020204020204" pitchFamily="34" charset="-122"/>
                <a:cs typeface="Times New Roman" panose="02020603050405020304" pitchFamily="18" charset="0"/>
              </a:rPr>
              <a:t>传递性：</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B</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且</a:t>
            </a:r>
            <a:r>
              <a:rPr lang="en-US" altLang="zh-CN" sz="2800" i="1" dirty="0">
                <a:solidFill>
                  <a:schemeClr val="bg1"/>
                </a:solidFill>
                <a:cs typeface="Times New Roman" panose="02020603050405020304" pitchFamily="18" charset="0"/>
              </a:rPr>
              <a:t>B</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C </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A</a:t>
            </a:r>
            <a:r>
              <a:rPr lang="en-US" altLang="zh-CN" sz="28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i="1" dirty="0">
                <a:solidFill>
                  <a:schemeClr val="bg1"/>
                </a:solidFill>
                <a:cs typeface="Times New Roman" panose="02020603050405020304" pitchFamily="18" charset="0"/>
              </a:rPr>
              <a:t>C</a:t>
            </a:r>
          </a:p>
        </p:txBody>
      </p:sp>
      <p:sp>
        <p:nvSpPr>
          <p:cNvPr id="6" name="文本框 5"/>
          <p:cNvSpPr txBox="1"/>
          <p:nvPr/>
        </p:nvSpPr>
        <p:spPr>
          <a:xfrm>
            <a:off x="551384" y="5276584"/>
            <a:ext cx="10945216" cy="657872"/>
          </a:xfrm>
          <a:prstGeom prst="rect">
            <a:avLst/>
          </a:prstGeom>
          <a:noFill/>
        </p:spPr>
        <p:txBody>
          <a:bodyPr wrap="square">
            <a:spAutoFit/>
          </a:bodyPr>
          <a:lstStyle/>
          <a:p>
            <a:pPr eaLnBrk="1" hangingPunct="1">
              <a:lnSpc>
                <a:spcPct val="150000"/>
              </a:lnSpc>
              <a:buFont typeface="Wingdings" panose="05000000000000000000" pitchFamily="2" charset="2"/>
              <a:buNone/>
              <a:defRPr/>
            </a:pPr>
            <a:r>
              <a:rPr lang="zh-CN" altLang="en-US" sz="2800" dirty="0">
                <a:solidFill>
                  <a:srgbClr val="FFCCFF"/>
                </a:solidFill>
                <a:latin typeface="微软雅黑" panose="020B0503020204020204" pitchFamily="34" charset="-122"/>
                <a:ea typeface="微软雅黑" panose="020B0503020204020204" pitchFamily="34" charset="-122"/>
              </a:rPr>
              <a:t>证明：</a:t>
            </a:r>
            <a:r>
              <a:rPr lang="en-US" altLang="zh-CN" sz="2800" dirty="0"/>
              <a:t> </a:t>
            </a:r>
            <a:r>
              <a:rPr lang="zh-CN" altLang="en-US" sz="2800" b="0" dirty="0">
                <a:solidFill>
                  <a:schemeClr val="bg1"/>
                </a:solidFill>
                <a:latin typeface="微软雅黑" panose="020B0503020204020204" pitchFamily="34" charset="-122"/>
                <a:ea typeface="微软雅黑" panose="020B0503020204020204" pitchFamily="34" charset="-122"/>
              </a:rPr>
              <a:t>自学</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wipe(left)">
                                      <p:cBhvr>
                                        <p:cTn id="7" dur="500"/>
                                        <p:tgtEl>
                                          <p:spTgt spid="174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1000"/>
                                        <p:tgtEl>
                                          <p:spTgt spid="11">
                                            <p:txEl>
                                              <p:pRg st="0" end="0"/>
                                            </p:txEl>
                                          </p:spTgt>
                                        </p:tgtEl>
                                      </p:cBhvr>
                                    </p:animEffect>
                                    <p:anim calcmode="lin" valueType="num">
                                      <p:cBhvr>
                                        <p:cTn id="13"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1000"/>
                                        <p:tgtEl>
                                          <p:spTgt spid="11">
                                            <p:txEl>
                                              <p:pRg st="1" end="1"/>
                                            </p:txEl>
                                          </p:spTgt>
                                        </p:tgtEl>
                                      </p:cBhvr>
                                    </p:animEffect>
                                    <p:anim calcmode="lin" valueType="num">
                                      <p:cBhvr>
                                        <p:cTn id="19"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42" presetClass="entr" presetSubtype="0" fill="hold" nodeType="afterEffect">
                                  <p:stCondLst>
                                    <p:cond delay="0"/>
                                  </p:stCondLst>
                                  <p:childTnLst>
                                    <p:set>
                                      <p:cBhvr>
                                        <p:cTn id="23" dur="1" fill="hold">
                                          <p:stCondLst>
                                            <p:cond delay="0"/>
                                          </p:stCondLst>
                                        </p:cTn>
                                        <p:tgtEl>
                                          <p:spTgt spid="11">
                                            <p:txEl>
                                              <p:pRg st="2" end="2"/>
                                            </p:txEl>
                                          </p:spTgt>
                                        </p:tgtEl>
                                        <p:attrNameLst>
                                          <p:attrName>style.visibility</p:attrName>
                                        </p:attrNameLst>
                                      </p:cBhvr>
                                      <p:to>
                                        <p:strVal val="visible"/>
                                      </p:to>
                                    </p:set>
                                    <p:animEffect transition="in" filter="fade">
                                      <p:cBhvr>
                                        <p:cTn id="24" dur="1000"/>
                                        <p:tgtEl>
                                          <p:spTgt spid="11">
                                            <p:txEl>
                                              <p:pRg st="2" end="2"/>
                                            </p:txEl>
                                          </p:spTgt>
                                        </p:tgtEl>
                                      </p:cBhvr>
                                    </p:animEffect>
                                    <p:anim calcmode="lin" valueType="num">
                                      <p:cBhvr>
                                        <p:cTn id="25"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par>
                          <p:cTn id="27" fill="hold">
                            <p:stCondLst>
                              <p:cond delay="3000"/>
                            </p:stCondLst>
                            <p:childTnLst>
                              <p:par>
                                <p:cTn id="28" presetID="42" presetClass="entr" presetSubtype="0" fill="hold" nodeType="afterEffect">
                                  <p:stCondLst>
                                    <p:cond delay="0"/>
                                  </p:stCondLst>
                                  <p:childTnLst>
                                    <p:set>
                                      <p:cBhvr>
                                        <p:cTn id="29" dur="1" fill="hold">
                                          <p:stCondLst>
                                            <p:cond delay="0"/>
                                          </p:stCondLst>
                                        </p:cTn>
                                        <p:tgtEl>
                                          <p:spTgt spid="11">
                                            <p:txEl>
                                              <p:pRg st="3" end="3"/>
                                            </p:txEl>
                                          </p:spTgt>
                                        </p:tgtEl>
                                        <p:attrNameLst>
                                          <p:attrName>style.visibility</p:attrName>
                                        </p:attrNameLst>
                                      </p:cBhvr>
                                      <p:to>
                                        <p:strVal val="visible"/>
                                      </p:to>
                                    </p:set>
                                    <p:animEffect transition="in" filter="fade">
                                      <p:cBhvr>
                                        <p:cTn id="30" dur="1000"/>
                                        <p:tgtEl>
                                          <p:spTgt spid="11">
                                            <p:txEl>
                                              <p:pRg st="3" end="3"/>
                                            </p:txEl>
                                          </p:spTgt>
                                        </p:tgtEl>
                                      </p:cBhvr>
                                    </p:animEffect>
                                    <p:anim calcmode="lin" valueType="num">
                                      <p:cBhvr>
                                        <p:cTn id="31"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32"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63352" y="1585961"/>
            <a:ext cx="7488832" cy="79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6.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定理</a:t>
            </a: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1.1.1</a:t>
            </a:r>
            <a:r>
              <a:rPr lang="en-US" altLang="zh-CN"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b="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集合包含关系的性质</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10" name="Rectangle 2"/>
          <p:cNvSpPr txBox="1">
            <a:spLocks noChangeArrowheads="1"/>
          </p:cNvSpPr>
          <p:nvPr/>
        </p:nvSpPr>
        <p:spPr bwMode="auto">
          <a:xfrm>
            <a:off x="5159896" y="247802"/>
            <a:ext cx="6336704"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1.1.2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集合之间的关系</a:t>
            </a:r>
          </a:p>
        </p:txBody>
      </p:sp>
      <p:sp>
        <p:nvSpPr>
          <p:cNvPr id="6" name="文本框 5"/>
          <p:cNvSpPr txBox="1"/>
          <p:nvPr/>
        </p:nvSpPr>
        <p:spPr>
          <a:xfrm>
            <a:off x="335360" y="2358001"/>
            <a:ext cx="1584176" cy="657872"/>
          </a:xfrm>
          <a:prstGeom prst="rect">
            <a:avLst/>
          </a:prstGeom>
          <a:noFill/>
        </p:spPr>
        <p:txBody>
          <a:bodyPr wrap="square">
            <a:spAutoFit/>
          </a:bodyPr>
          <a:lstStyle/>
          <a:p>
            <a:pPr eaLnBrk="1" hangingPunct="1">
              <a:lnSpc>
                <a:spcPct val="150000"/>
              </a:lnSpc>
              <a:buFont typeface="Wingdings" panose="05000000000000000000" pitchFamily="2" charset="2"/>
              <a:buNone/>
              <a:defRPr/>
            </a:pPr>
            <a:r>
              <a:rPr lang="zh-CN" altLang="en-US" sz="2800" dirty="0">
                <a:solidFill>
                  <a:srgbClr val="FFCCFF"/>
                </a:solidFill>
                <a:latin typeface="微软雅黑" panose="020B0503020204020204" pitchFamily="34" charset="-122"/>
                <a:ea typeface="微软雅黑" panose="020B0503020204020204" pitchFamily="34" charset="-122"/>
              </a:rPr>
              <a:t>证明：</a:t>
            </a:r>
            <a:endParaRPr lang="zh-CN" altLang="en-US" sz="2800" dirty="0">
              <a:solidFill>
                <a:schemeClr val="bg1"/>
              </a:solidFill>
            </a:endParaRPr>
          </a:p>
        </p:txBody>
      </p:sp>
      <p:sp>
        <p:nvSpPr>
          <p:cNvPr id="8" name="文本框 7"/>
          <p:cNvSpPr txBox="1"/>
          <p:nvPr/>
        </p:nvSpPr>
        <p:spPr>
          <a:xfrm>
            <a:off x="1559496" y="2406656"/>
            <a:ext cx="10153128" cy="3349700"/>
          </a:xfrm>
          <a:prstGeom prst="rect">
            <a:avLst/>
          </a:prstGeom>
          <a:noFill/>
        </p:spPr>
        <p:txBody>
          <a:bodyPr wrap="square">
            <a:spAutoFit/>
          </a:bodyPr>
          <a:lstStyle/>
          <a:p>
            <a:pPr marL="0" indent="0" eaLnBrk="1" hangingPunct="1">
              <a:lnSpc>
                <a:spcPct val="150000"/>
              </a:lnSpc>
              <a:buFont typeface="Wingdings" panose="05000000000000000000" pitchFamily="2" charset="2"/>
              <a:buNone/>
              <a:defRPr/>
            </a:pPr>
            <a:r>
              <a:rPr lang="en-US" altLang="zh-CN" sz="2400" b="0" dirty="0">
                <a:solidFill>
                  <a:schemeClr val="bg1"/>
                </a:solidFill>
                <a:ea typeface="微软雅黑" panose="020B0503020204020204" pitchFamily="34" charset="-122"/>
                <a:cs typeface="Times New Roman" panose="02020603050405020304" pitchFamily="18" charset="0"/>
              </a:rPr>
              <a:t>(1) </a:t>
            </a:r>
            <a:r>
              <a:rPr lang="zh-CN" altLang="en-US" sz="2400" b="0" dirty="0">
                <a:solidFill>
                  <a:schemeClr val="bg1"/>
                </a:solidFill>
                <a:ea typeface="微软雅黑" panose="020B0503020204020204" pitchFamily="34" charset="-122"/>
                <a:cs typeface="Times New Roman" panose="02020603050405020304" pitchFamily="18" charset="0"/>
              </a:rPr>
              <a:t>任何</a:t>
            </a:r>
            <a:r>
              <a:rPr lang="en-US" altLang="zh-CN" sz="2400" i="1" dirty="0">
                <a:solidFill>
                  <a:schemeClr val="bg1"/>
                </a:solidFill>
                <a:cs typeface="Times New Roman" panose="02020603050405020304" pitchFamily="18" charset="0"/>
              </a:rPr>
              <a:t>A</a:t>
            </a:r>
            <a:r>
              <a:rPr lang="zh-CN" altLang="en-US" sz="2400" b="0" dirty="0">
                <a:solidFill>
                  <a:schemeClr val="bg1"/>
                </a:solidFill>
                <a:ea typeface="微软雅黑" panose="020B0503020204020204" pitchFamily="34" charset="-122"/>
                <a:cs typeface="Times New Roman" panose="02020603050405020304" pitchFamily="18" charset="0"/>
              </a:rPr>
              <a:t>中的元素它必属于自身</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自反性显然成立。</a:t>
            </a:r>
          </a:p>
          <a:p>
            <a:pPr marL="0" indent="0" eaLnBrk="1" hangingPunct="1">
              <a:lnSpc>
                <a:spcPct val="150000"/>
              </a:lnSpc>
              <a:buFont typeface="Wingdings" panose="05000000000000000000" pitchFamily="2" charset="2"/>
              <a:buNone/>
              <a:defRPr/>
            </a:pPr>
            <a:r>
              <a:rPr lang="en-US" altLang="zh-CN" sz="2400" b="0" dirty="0">
                <a:solidFill>
                  <a:schemeClr val="bg1"/>
                </a:solidFill>
                <a:ea typeface="微软雅黑" panose="020B0503020204020204" pitchFamily="34" charset="-122"/>
                <a:cs typeface="Times New Roman" panose="02020603050405020304" pitchFamily="18" charset="0"/>
              </a:rPr>
              <a:t>(2) </a:t>
            </a:r>
            <a:r>
              <a:rPr lang="zh-CN" altLang="en-US" sz="2400" b="0" dirty="0">
                <a:solidFill>
                  <a:schemeClr val="bg1"/>
                </a:solidFill>
                <a:ea typeface="微软雅黑" panose="020B0503020204020204" pitchFamily="34" charset="-122"/>
                <a:cs typeface="Times New Roman" panose="02020603050405020304" pitchFamily="18" charset="0"/>
              </a:rPr>
              <a:t>假设</a:t>
            </a:r>
            <a:r>
              <a:rPr lang="en-US" altLang="zh-CN" sz="2400" i="1" dirty="0">
                <a:solidFill>
                  <a:schemeClr val="bg1"/>
                </a:solidFill>
                <a:cs typeface="Times New Roman" panose="02020603050405020304" pitchFamily="18" charset="0"/>
              </a:rPr>
              <a:t>A</a:t>
            </a:r>
            <a:r>
              <a:rPr lang="en-US" altLang="zh-CN" sz="2400" b="0" dirty="0">
                <a:solidFill>
                  <a:schemeClr val="bg1"/>
                </a:solidFill>
                <a:ea typeface="微软雅黑" panose="020B0503020204020204" pitchFamily="34" charset="-122"/>
                <a:cs typeface="Times New Roman" panose="02020603050405020304" pitchFamily="18" charset="0"/>
              </a:rPr>
              <a:t>≠</a:t>
            </a:r>
            <a:r>
              <a:rPr lang="en-US" altLang="zh-CN" sz="2400" i="1" dirty="0">
                <a:solidFill>
                  <a:schemeClr val="bg1"/>
                </a:solidFill>
                <a:cs typeface="Times New Roman" panose="02020603050405020304" pitchFamily="18" charset="0"/>
              </a:rPr>
              <a:t>B</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则存在一个元素</a:t>
            </a:r>
            <a:r>
              <a:rPr lang="en-US" altLang="zh-CN" sz="2400" i="1" dirty="0">
                <a:solidFill>
                  <a:schemeClr val="bg1"/>
                </a:solidFill>
                <a:cs typeface="Times New Roman" panose="02020603050405020304" pitchFamily="18" charset="0"/>
              </a:rPr>
              <a:t>x</a:t>
            </a:r>
            <a:r>
              <a:rPr lang="en-US" altLang="zh-CN" sz="2400" b="0" dirty="0">
                <a:solidFill>
                  <a:schemeClr val="bg1"/>
                </a:solidFill>
                <a:ea typeface="微软雅黑" panose="020B0503020204020204" pitchFamily="34" charset="-122"/>
                <a:cs typeface="Times New Roman" panose="02020603050405020304" pitchFamily="18" charset="0"/>
              </a:rPr>
              <a:t>, </a:t>
            </a:r>
            <a:r>
              <a:rPr lang="en-US" altLang="zh-CN" sz="2400" i="1" dirty="0" err="1">
                <a:solidFill>
                  <a:schemeClr val="bg1"/>
                </a:solidFill>
                <a:cs typeface="Times New Roman" panose="02020603050405020304" pitchFamily="18" charset="0"/>
              </a:rPr>
              <a:t>x</a:t>
            </a:r>
            <a:r>
              <a:rPr lang="en-US" altLang="zh-CN" sz="2400" b="0" dirty="0" err="1">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err="1">
                <a:solidFill>
                  <a:schemeClr val="bg1"/>
                </a:solidFill>
                <a:cs typeface="Times New Roman" panose="02020603050405020304" pitchFamily="18" charset="0"/>
              </a:rPr>
              <a:t>A</a:t>
            </a:r>
            <a:r>
              <a:rPr lang="zh-CN" altLang="en-US" sz="2400" b="0" dirty="0">
                <a:solidFill>
                  <a:schemeClr val="bg1"/>
                </a:solidFill>
                <a:ea typeface="微软雅黑" panose="020B0503020204020204" pitchFamily="34" charset="-122"/>
                <a:cs typeface="Times New Roman" panose="02020603050405020304" pitchFamily="18" charset="0"/>
              </a:rPr>
              <a:t>但</a:t>
            </a:r>
            <a:r>
              <a:rPr lang="en-US" altLang="zh-CN" sz="2400" i="1" dirty="0" err="1">
                <a:solidFill>
                  <a:schemeClr val="bg1"/>
                </a:solidFill>
                <a:cs typeface="Times New Roman" panose="02020603050405020304" pitchFamily="18" charset="0"/>
              </a:rPr>
              <a:t>x</a:t>
            </a:r>
            <a:r>
              <a:rPr lang="en-US" altLang="zh-CN" sz="2400" b="0" dirty="0" err="1">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err="1">
                <a:solidFill>
                  <a:schemeClr val="bg1"/>
                </a:solidFill>
                <a:cs typeface="Times New Roman" panose="02020603050405020304" pitchFamily="18" charset="0"/>
              </a:rPr>
              <a:t>B</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或者</a:t>
            </a:r>
            <a:r>
              <a:rPr lang="en-US" altLang="zh-CN" sz="2400" i="1" dirty="0" err="1">
                <a:solidFill>
                  <a:schemeClr val="bg1"/>
                </a:solidFill>
                <a:cs typeface="Times New Roman" panose="02020603050405020304" pitchFamily="18" charset="0"/>
              </a:rPr>
              <a:t>x</a:t>
            </a:r>
            <a:r>
              <a:rPr lang="en-US" altLang="zh-CN" sz="2400" b="0" dirty="0" err="1">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err="1">
                <a:solidFill>
                  <a:schemeClr val="bg1"/>
                </a:solidFill>
                <a:cs typeface="Times New Roman" panose="02020603050405020304" pitchFamily="18" charset="0"/>
              </a:rPr>
              <a:t>A</a:t>
            </a:r>
            <a:r>
              <a:rPr lang="zh-CN" altLang="en-US" sz="2400" b="0" dirty="0">
                <a:solidFill>
                  <a:schemeClr val="bg1"/>
                </a:solidFill>
                <a:ea typeface="微软雅黑" panose="020B0503020204020204" pitchFamily="34" charset="-122"/>
                <a:cs typeface="Times New Roman" panose="02020603050405020304" pitchFamily="18" charset="0"/>
              </a:rPr>
              <a:t>但</a:t>
            </a:r>
            <a:r>
              <a:rPr lang="en-US" altLang="zh-CN" sz="2400" i="1" dirty="0" err="1">
                <a:solidFill>
                  <a:schemeClr val="bg1"/>
                </a:solidFill>
                <a:cs typeface="Times New Roman" panose="02020603050405020304" pitchFamily="18" charset="0"/>
              </a:rPr>
              <a:t>x</a:t>
            </a:r>
            <a:r>
              <a:rPr lang="en-US" altLang="zh-CN" sz="2400" b="0" dirty="0" err="1">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err="1">
                <a:solidFill>
                  <a:schemeClr val="bg1"/>
                </a:solidFill>
                <a:cs typeface="Times New Roman" panose="02020603050405020304" pitchFamily="18" charset="0"/>
              </a:rPr>
              <a:t>B</a:t>
            </a:r>
            <a:r>
              <a:rPr lang="en-US" altLang="zh-CN" sz="2400" b="0" dirty="0">
                <a:solidFill>
                  <a:schemeClr val="bg1"/>
                </a:solidFill>
                <a:ea typeface="微软雅黑" panose="020B0503020204020204" pitchFamily="34" charset="-122"/>
                <a:cs typeface="Times New Roman" panose="02020603050405020304" pitchFamily="18" charset="0"/>
              </a:rPr>
              <a:t> </a:t>
            </a:r>
          </a:p>
          <a:p>
            <a:pPr marL="0" indent="0" eaLnBrk="1" hangingPunct="1">
              <a:lnSpc>
                <a:spcPct val="150000"/>
              </a:lnSpc>
              <a:buFont typeface="Wingdings" panose="05000000000000000000" pitchFamily="2" charset="2"/>
              <a:buNone/>
              <a:defRPr/>
            </a:pP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前者与</a:t>
            </a:r>
            <a:r>
              <a:rPr lang="en-US" altLang="zh-CN" sz="2400" i="1" dirty="0">
                <a:solidFill>
                  <a:schemeClr val="bg1"/>
                </a:solidFill>
                <a:cs typeface="Times New Roman" panose="02020603050405020304" pitchFamily="18" charset="0"/>
              </a:rPr>
              <a:t>A</a:t>
            </a:r>
            <a:r>
              <a:rPr lang="en-US" altLang="zh-CN" sz="24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a:solidFill>
                  <a:schemeClr val="bg1"/>
                </a:solidFill>
                <a:cs typeface="Times New Roman" panose="02020603050405020304" pitchFamily="18" charset="0"/>
              </a:rPr>
              <a:t>B</a:t>
            </a:r>
            <a:r>
              <a:rPr lang="zh-CN" altLang="en-US" sz="2400" b="0" dirty="0">
                <a:solidFill>
                  <a:schemeClr val="bg1"/>
                </a:solidFill>
                <a:ea typeface="微软雅黑" panose="020B0503020204020204" pitchFamily="34" charset="-122"/>
                <a:cs typeface="Times New Roman" panose="02020603050405020304" pitchFamily="18" charset="0"/>
              </a:rPr>
              <a:t>矛盾</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后者与</a:t>
            </a:r>
            <a:r>
              <a:rPr lang="en-US" altLang="zh-CN" sz="2400" i="1" dirty="0">
                <a:solidFill>
                  <a:schemeClr val="bg1"/>
                </a:solidFill>
                <a:cs typeface="Times New Roman" panose="02020603050405020304" pitchFamily="18" charset="0"/>
              </a:rPr>
              <a:t>B</a:t>
            </a:r>
            <a:r>
              <a:rPr lang="en-US" altLang="zh-CN" sz="2400" b="0" dirty="0">
                <a:solidFill>
                  <a:schemeClr val="bg1"/>
                </a:solidFill>
                <a:ea typeface="微软雅黑" panose="020B0503020204020204" pitchFamily="34" charset="-122"/>
                <a:cs typeface="Times New Roman" panose="02020603050405020304" pitchFamily="18" charset="0"/>
              </a:rPr>
              <a:t> </a:t>
            </a:r>
            <a:r>
              <a:rPr lang="en-US" altLang="zh-CN" sz="24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b="0" dirty="0">
                <a:solidFill>
                  <a:schemeClr val="bg1"/>
                </a:solidFill>
                <a:ea typeface="微软雅黑" panose="020B0503020204020204" pitchFamily="34" charset="-122"/>
                <a:cs typeface="Times New Roman" panose="02020603050405020304" pitchFamily="18" charset="0"/>
              </a:rPr>
              <a:t> </a:t>
            </a:r>
            <a:r>
              <a:rPr lang="en-US" altLang="zh-CN" sz="2400" i="1" dirty="0">
                <a:solidFill>
                  <a:schemeClr val="bg1"/>
                </a:solidFill>
                <a:cs typeface="Times New Roman" panose="02020603050405020304" pitchFamily="18" charset="0"/>
              </a:rPr>
              <a:t>A</a:t>
            </a:r>
            <a:r>
              <a:rPr lang="zh-CN" altLang="en-US" sz="2400" b="0" dirty="0">
                <a:solidFill>
                  <a:schemeClr val="bg1"/>
                </a:solidFill>
                <a:ea typeface="微软雅黑" panose="020B0503020204020204" pitchFamily="34" charset="-122"/>
                <a:cs typeface="Times New Roman" panose="02020603050405020304" pitchFamily="18" charset="0"/>
              </a:rPr>
              <a:t>矛盾。</a:t>
            </a:r>
            <a:endParaRPr lang="en-US" altLang="zh-CN" sz="2400" b="0" dirty="0">
              <a:solidFill>
                <a:schemeClr val="bg1"/>
              </a:solidFill>
              <a:ea typeface="微软雅黑" panose="020B0503020204020204" pitchFamily="34" charset="-122"/>
              <a:cs typeface="Times New Roman" panose="02020603050405020304" pitchFamily="18" charset="0"/>
            </a:endParaRPr>
          </a:p>
          <a:p>
            <a:pPr marL="0" indent="0" eaLnBrk="1" hangingPunct="1">
              <a:lnSpc>
                <a:spcPct val="150000"/>
              </a:lnSpc>
              <a:buFont typeface="Wingdings" panose="05000000000000000000" pitchFamily="2" charset="2"/>
              <a:buNone/>
              <a:defRPr/>
            </a:pP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所以  </a:t>
            </a:r>
            <a:r>
              <a:rPr lang="en-US" altLang="zh-CN" sz="2400" i="1" dirty="0">
                <a:solidFill>
                  <a:schemeClr val="bg1"/>
                </a:solidFill>
                <a:cs typeface="Times New Roman" panose="02020603050405020304" pitchFamily="18" charset="0"/>
              </a:rPr>
              <a:t>A</a:t>
            </a:r>
            <a:r>
              <a:rPr lang="en-US" altLang="zh-CN" sz="2400" b="0" dirty="0">
                <a:solidFill>
                  <a:schemeClr val="bg1"/>
                </a:solidFill>
                <a:ea typeface="微软雅黑" panose="020B0503020204020204" pitchFamily="34" charset="-122"/>
                <a:cs typeface="Times New Roman" panose="02020603050405020304" pitchFamily="18" charset="0"/>
              </a:rPr>
              <a:t>=</a:t>
            </a:r>
            <a:r>
              <a:rPr lang="en-US" altLang="zh-CN" sz="2400" i="1" dirty="0">
                <a:solidFill>
                  <a:schemeClr val="bg1"/>
                </a:solidFill>
                <a:cs typeface="Times New Roman" panose="02020603050405020304" pitchFamily="18" charset="0"/>
              </a:rPr>
              <a:t>B</a:t>
            </a:r>
            <a:endParaRPr lang="zh-CN" altLang="en-US" sz="2400" b="0" dirty="0">
              <a:solidFill>
                <a:schemeClr val="bg1"/>
              </a:solidFill>
              <a:ea typeface="微软雅黑" panose="020B0503020204020204" pitchFamily="34" charset="-122"/>
              <a:cs typeface="Times New Roman" panose="02020603050405020304" pitchFamily="18" charset="0"/>
            </a:endParaRPr>
          </a:p>
          <a:p>
            <a:pPr marL="0" indent="0" eaLnBrk="1" hangingPunct="1">
              <a:lnSpc>
                <a:spcPct val="150000"/>
              </a:lnSpc>
              <a:buFont typeface="Wingdings" panose="05000000000000000000" pitchFamily="2" charset="2"/>
              <a:buNone/>
              <a:defRPr/>
            </a:pPr>
            <a:r>
              <a:rPr lang="zh-CN" altLang="en-US" sz="2400" b="0" dirty="0">
                <a:solidFill>
                  <a:schemeClr val="bg1"/>
                </a:solidFill>
                <a:ea typeface="微软雅黑" panose="020B0503020204020204" pitchFamily="34" charset="-122"/>
                <a:cs typeface="Times New Roman" panose="02020603050405020304" pitchFamily="18" charset="0"/>
              </a:rPr>
              <a:t> </a:t>
            </a:r>
            <a:r>
              <a:rPr lang="en-US" altLang="zh-CN" sz="2400" b="0" dirty="0">
                <a:solidFill>
                  <a:schemeClr val="bg1"/>
                </a:solidFill>
                <a:ea typeface="微软雅黑" panose="020B0503020204020204" pitchFamily="34" charset="-122"/>
                <a:cs typeface="Times New Roman" panose="02020603050405020304" pitchFamily="18" charset="0"/>
              </a:rPr>
              <a:t>(3)</a:t>
            </a:r>
            <a:r>
              <a:rPr lang="zh-CN" altLang="en-US" sz="2400" b="0" dirty="0">
                <a:solidFill>
                  <a:schemeClr val="bg1"/>
                </a:solidFill>
                <a:ea typeface="微软雅黑" panose="020B0503020204020204" pitchFamily="34" charset="-122"/>
                <a:cs typeface="Times New Roman" panose="02020603050405020304" pitchFamily="18" charset="0"/>
              </a:rPr>
              <a:t> 对于任意的</a:t>
            </a:r>
            <a:r>
              <a:rPr lang="en-US" altLang="zh-CN" sz="2400" i="1" dirty="0" err="1">
                <a:solidFill>
                  <a:schemeClr val="bg1"/>
                </a:solidFill>
                <a:cs typeface="Times New Roman" panose="02020603050405020304" pitchFamily="18" charset="0"/>
              </a:rPr>
              <a:t>a</a:t>
            </a:r>
            <a:r>
              <a:rPr lang="en-US" altLang="zh-CN" sz="2400" b="0" dirty="0" err="1">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err="1">
                <a:solidFill>
                  <a:schemeClr val="bg1"/>
                </a:solidFill>
                <a:cs typeface="Times New Roman" panose="02020603050405020304" pitchFamily="18" charset="0"/>
              </a:rPr>
              <a:t>A</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因为</a:t>
            </a:r>
            <a:r>
              <a:rPr lang="en-US" altLang="zh-CN" sz="2400" i="1" dirty="0">
                <a:solidFill>
                  <a:schemeClr val="bg1"/>
                </a:solidFill>
                <a:cs typeface="Times New Roman" panose="02020603050405020304" pitchFamily="18" charset="0"/>
              </a:rPr>
              <a:t>A</a:t>
            </a:r>
            <a:r>
              <a:rPr lang="en-US" altLang="zh-CN" sz="24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a:solidFill>
                  <a:schemeClr val="bg1"/>
                </a:solidFill>
                <a:cs typeface="Times New Roman" panose="02020603050405020304" pitchFamily="18" charset="0"/>
              </a:rPr>
              <a:t>B</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所以</a:t>
            </a:r>
            <a:r>
              <a:rPr lang="en-US" altLang="zh-CN" sz="2400" i="1" dirty="0" err="1">
                <a:solidFill>
                  <a:schemeClr val="bg1"/>
                </a:solidFill>
                <a:cs typeface="Times New Roman" panose="02020603050405020304" pitchFamily="18" charset="0"/>
              </a:rPr>
              <a:t>a</a:t>
            </a:r>
            <a:r>
              <a:rPr lang="en-US" altLang="zh-CN" sz="2400" b="0" dirty="0" err="1">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err="1">
                <a:solidFill>
                  <a:schemeClr val="bg1"/>
                </a:solidFill>
                <a:cs typeface="Times New Roman" panose="02020603050405020304" pitchFamily="18" charset="0"/>
              </a:rPr>
              <a:t>B</a:t>
            </a:r>
            <a:r>
              <a:rPr lang="zh-CN" altLang="en-US" sz="2400" b="0" dirty="0">
                <a:solidFill>
                  <a:schemeClr val="bg1"/>
                </a:solidFill>
                <a:ea typeface="微软雅黑" panose="020B0503020204020204" pitchFamily="34" charset="-122"/>
                <a:cs typeface="Times New Roman" panose="02020603050405020304" pitchFamily="18" charset="0"/>
              </a:rPr>
              <a:t>     而</a:t>
            </a:r>
            <a:r>
              <a:rPr lang="en-US" altLang="zh-CN" sz="2400" i="1" dirty="0">
                <a:solidFill>
                  <a:schemeClr val="bg1"/>
                </a:solidFill>
                <a:cs typeface="Times New Roman" panose="02020603050405020304" pitchFamily="18" charset="0"/>
              </a:rPr>
              <a:t>B</a:t>
            </a:r>
            <a:r>
              <a:rPr lang="en-US" altLang="zh-CN" sz="24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a:solidFill>
                  <a:schemeClr val="bg1"/>
                </a:solidFill>
                <a:cs typeface="Times New Roman" panose="02020603050405020304" pitchFamily="18" charset="0"/>
              </a:rPr>
              <a:t>C</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所以</a:t>
            </a:r>
            <a:r>
              <a:rPr lang="en-US" altLang="zh-CN" sz="2400" i="1" dirty="0" err="1">
                <a:solidFill>
                  <a:schemeClr val="bg1"/>
                </a:solidFill>
                <a:cs typeface="Times New Roman" panose="02020603050405020304" pitchFamily="18" charset="0"/>
              </a:rPr>
              <a:t>a</a:t>
            </a:r>
            <a:r>
              <a:rPr lang="en-US" altLang="zh-CN" sz="2400" b="0" dirty="0" err="1">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err="1">
                <a:solidFill>
                  <a:schemeClr val="bg1"/>
                </a:solidFill>
                <a:cs typeface="Times New Roman" panose="02020603050405020304" pitchFamily="18" charset="0"/>
              </a:rPr>
              <a:t>C</a:t>
            </a:r>
            <a:endParaRPr lang="en-US" altLang="zh-CN" sz="2400" b="0" dirty="0">
              <a:solidFill>
                <a:schemeClr val="bg1"/>
              </a:solidFill>
              <a:ea typeface="微软雅黑" panose="020B0503020204020204" pitchFamily="34" charset="-122"/>
              <a:cs typeface="Times New Roman" panose="02020603050405020304" pitchFamily="18" charset="0"/>
            </a:endParaRPr>
          </a:p>
          <a:p>
            <a:pPr marL="0" indent="0" eaLnBrk="1" hangingPunct="1">
              <a:lnSpc>
                <a:spcPct val="150000"/>
              </a:lnSpc>
              <a:buFont typeface="Wingdings" panose="05000000000000000000" pitchFamily="2" charset="2"/>
              <a:buNone/>
              <a:defRPr/>
            </a:pP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于是  </a:t>
            </a:r>
            <a:r>
              <a:rPr lang="en-US" altLang="zh-CN" sz="2400" i="1" dirty="0">
                <a:solidFill>
                  <a:schemeClr val="bg1"/>
                </a:solidFill>
                <a:cs typeface="Times New Roman" panose="02020603050405020304" pitchFamily="18" charset="0"/>
              </a:rPr>
              <a:t>A</a:t>
            </a:r>
            <a:r>
              <a:rPr lang="en-US" altLang="zh-CN" sz="24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a:solidFill>
                  <a:schemeClr val="bg1"/>
                </a:solidFill>
                <a:cs typeface="Times New Roman" panose="02020603050405020304" pitchFamily="18" charset="0"/>
              </a:rPr>
              <a:t>C</a:t>
            </a:r>
            <a:endParaRPr lang="zh-CN" altLang="en-US" sz="2400" b="0" dirty="0">
              <a:solidFill>
                <a:schemeClr val="bg1"/>
              </a:solidFill>
              <a:ea typeface="微软雅黑" panose="020B0503020204020204" pitchFamily="34" charset="-122"/>
              <a:cs typeface="Times New Roman" panose="02020603050405020304" pitchFamily="18" charset="0"/>
            </a:endParaRPr>
          </a:p>
        </p:txBody>
      </p:sp>
      <p:sp>
        <p:nvSpPr>
          <p:cNvPr id="12" name="文本框 11"/>
          <p:cNvSpPr txBox="1"/>
          <p:nvPr/>
        </p:nvSpPr>
        <p:spPr>
          <a:xfrm>
            <a:off x="5015880" y="5890903"/>
            <a:ext cx="6093618" cy="533288"/>
          </a:xfrm>
          <a:prstGeom prst="rect">
            <a:avLst/>
          </a:prstGeom>
          <a:noFill/>
        </p:spPr>
        <p:txBody>
          <a:bodyPr wrap="square">
            <a:spAutoFit/>
          </a:bodyPr>
          <a:lstStyle/>
          <a:p>
            <a:pPr marL="0" indent="0" algn="ctr" eaLnBrk="1" hangingPunct="1">
              <a:lnSpc>
                <a:spcPct val="110000"/>
              </a:lnSpc>
              <a:defRPr/>
            </a:pPr>
            <a:r>
              <a:rPr lang="zh-CN" altLang="en-US" sz="2800" b="1" dirty="0">
                <a:solidFill>
                  <a:srgbClr val="FF7C80"/>
                </a:solidFill>
                <a:latin typeface="微软雅黑" panose="020B0503020204020204" pitchFamily="34" charset="-122"/>
                <a:ea typeface="微软雅黑" panose="020B0503020204020204" pitchFamily="34" charset="-122"/>
              </a:rPr>
              <a:t>注意：反对称性与集合相等的关系</a:t>
            </a:r>
            <a:endParaRPr lang="zh-CN" altLang="en-US" sz="2800" dirty="0">
              <a:solidFill>
                <a:srgbClr val="FF7C80"/>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1000"/>
                                        <p:tgtEl>
                                          <p:spTgt spid="8">
                                            <p:txEl>
                                              <p:pRg st="1" end="1"/>
                                            </p:txEl>
                                          </p:spTgt>
                                        </p:tgtEl>
                                      </p:cBhvr>
                                    </p:animEffect>
                                    <p:anim calcmode="lin" valueType="num">
                                      <p:cBhvr>
                                        <p:cTn id="14"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Effect transition="in" filter="fade">
                                      <p:cBhvr>
                                        <p:cTn id="19" dur="1000"/>
                                        <p:tgtEl>
                                          <p:spTgt spid="8">
                                            <p:txEl>
                                              <p:pRg st="2" end="2"/>
                                            </p:txEl>
                                          </p:spTgt>
                                        </p:tgtEl>
                                      </p:cBhvr>
                                    </p:animEffect>
                                    <p:anim calcmode="lin" valueType="num">
                                      <p:cBhvr>
                                        <p:cTn id="20"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Effect transition="in" filter="fade">
                                      <p:cBhvr>
                                        <p:cTn id="25" dur="1000"/>
                                        <p:tgtEl>
                                          <p:spTgt spid="8">
                                            <p:txEl>
                                              <p:pRg st="3" end="3"/>
                                            </p:txEl>
                                          </p:spTgt>
                                        </p:tgtEl>
                                      </p:cBhvr>
                                    </p:animEffect>
                                    <p:anim calcmode="lin" valueType="num">
                                      <p:cBhvr>
                                        <p:cTn id="26"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Effect transition="in" filter="fade">
                                      <p:cBhvr>
                                        <p:cTn id="31" dur="1000"/>
                                        <p:tgtEl>
                                          <p:spTgt spid="8">
                                            <p:txEl>
                                              <p:pRg st="4" end="4"/>
                                            </p:txEl>
                                          </p:spTgt>
                                        </p:tgtEl>
                                      </p:cBhvr>
                                    </p:animEffect>
                                    <p:anim calcmode="lin" valueType="num">
                                      <p:cBhvr>
                                        <p:cTn id="3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nodeType="after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fade">
                                      <p:cBhvr>
                                        <p:cTn id="37" dur="1000"/>
                                        <p:tgtEl>
                                          <p:spTgt spid="8">
                                            <p:txEl>
                                              <p:pRg st="5" end="5"/>
                                            </p:txEl>
                                          </p:spTgt>
                                        </p:tgtEl>
                                      </p:cBhvr>
                                    </p:animEffect>
                                    <p:anim calcmode="lin" valueType="num">
                                      <p:cBhvr>
                                        <p:cTn id="3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p:cTn id="44" dur="1000" fill="hold"/>
                                        <p:tgtEl>
                                          <p:spTgt spid="12"/>
                                        </p:tgtEl>
                                        <p:attrNameLst>
                                          <p:attrName>ppt_w</p:attrName>
                                        </p:attrNameLst>
                                      </p:cBhvr>
                                      <p:tavLst>
                                        <p:tav tm="0">
                                          <p:val>
                                            <p:fltVal val="0"/>
                                          </p:val>
                                        </p:tav>
                                        <p:tav tm="100000">
                                          <p:val>
                                            <p:strVal val="#ppt_w"/>
                                          </p:val>
                                        </p:tav>
                                      </p:tavLst>
                                    </p:anim>
                                    <p:anim calcmode="lin" valueType="num">
                                      <p:cBhvr>
                                        <p:cTn id="45" dur="1000" fill="hold"/>
                                        <p:tgtEl>
                                          <p:spTgt spid="12"/>
                                        </p:tgtEl>
                                        <p:attrNameLst>
                                          <p:attrName>ppt_h</p:attrName>
                                        </p:attrNameLst>
                                      </p:cBhvr>
                                      <p:tavLst>
                                        <p:tav tm="0">
                                          <p:val>
                                            <p:fltVal val="0"/>
                                          </p:val>
                                        </p:tav>
                                        <p:tav tm="100000">
                                          <p:val>
                                            <p:strVal val="#ppt_h"/>
                                          </p:val>
                                        </p:tav>
                                      </p:tavLst>
                                    </p:anim>
                                    <p:anim calcmode="lin" valueType="num">
                                      <p:cBhvr>
                                        <p:cTn id="46" dur="1000" fill="hold"/>
                                        <p:tgtEl>
                                          <p:spTgt spid="12"/>
                                        </p:tgtEl>
                                        <p:attrNameLst>
                                          <p:attrName>style.rotation</p:attrName>
                                        </p:attrNameLst>
                                      </p:cBhvr>
                                      <p:tavLst>
                                        <p:tav tm="0">
                                          <p:val>
                                            <p:fltVal val="90"/>
                                          </p:val>
                                        </p:tav>
                                        <p:tav tm="100000">
                                          <p:val>
                                            <p:fltVal val="0"/>
                                          </p:val>
                                        </p:tav>
                                      </p:tavLst>
                                    </p:anim>
                                    <p:animEffect transition="in" filter="fade">
                                      <p:cBhvr>
                                        <p:cTn id="4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767408" y="1700808"/>
            <a:ext cx="9217024" cy="288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0" indent="0" eaLnBrk="1" hangingPunct="1">
              <a:lnSpc>
                <a:spcPct val="150000"/>
              </a:lnSpc>
              <a:buNone/>
              <a:defRPr/>
            </a:pP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集合中的元素没有限制</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可以是另一个集合。</a:t>
            </a:r>
            <a:endPar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50000"/>
              </a:lnSpc>
              <a:buNone/>
              <a:defRPr/>
            </a:pPr>
            <a:r>
              <a:rPr lang="zh-CN" altLang="en-US" sz="280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示例</a:t>
            </a:r>
          </a:p>
          <a:p>
            <a:pPr marL="0" indent="0" eaLnBrk="1" hangingPunct="1">
              <a:lnSpc>
                <a:spcPct val="150000"/>
              </a:lnSpc>
              <a:buFont typeface="Wingdings" panose="05000000000000000000" pitchFamily="2" charset="2"/>
              <a:buNone/>
              <a:defRPr/>
            </a:pP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a</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b</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en-US" sz="28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a</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b</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a</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b</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a</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b="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b</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0" eaLnBrk="1" hangingPunct="1">
              <a:lnSpc>
                <a:spcPct val="150000"/>
              </a:lnSpc>
              <a:buFont typeface="Wingdings" panose="05000000000000000000" pitchFamily="2" charset="2"/>
              <a:buNone/>
              <a:defRPr/>
            </a:pP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i="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10" name="Rectangle 2"/>
          <p:cNvSpPr txBox="1">
            <a:spLocks noChangeArrowheads="1"/>
          </p:cNvSpPr>
          <p:nvPr/>
        </p:nvSpPr>
        <p:spPr bwMode="auto">
          <a:xfrm>
            <a:off x="5159896" y="247802"/>
            <a:ext cx="6336704"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1.1.3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411">
                                            <p:txEl>
                                              <p:pRg st="0" end="0"/>
                                            </p:txEl>
                                          </p:spTgt>
                                        </p:tgtEl>
                                        <p:attrNameLst>
                                          <p:attrName>style.visibility</p:attrName>
                                        </p:attrNameLst>
                                      </p:cBhvr>
                                      <p:to>
                                        <p:strVal val="visible"/>
                                      </p:to>
                                    </p:set>
                                    <p:animEffect transition="in" filter="wipe(left)">
                                      <p:cBhvr>
                                        <p:cTn id="12" dur="500"/>
                                        <p:tgtEl>
                                          <p:spTgt spid="174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411">
                                            <p:txEl>
                                              <p:pRg st="1" end="1"/>
                                            </p:txEl>
                                          </p:spTgt>
                                        </p:tgtEl>
                                        <p:attrNameLst>
                                          <p:attrName>style.visibility</p:attrName>
                                        </p:attrNameLst>
                                      </p:cBhvr>
                                      <p:to>
                                        <p:strVal val="visible"/>
                                      </p:to>
                                    </p:set>
                                    <p:animEffect transition="in" filter="wipe(left)">
                                      <p:cBhvr>
                                        <p:cTn id="17" dur="500"/>
                                        <p:tgtEl>
                                          <p:spTgt spid="17411">
                                            <p:txEl>
                                              <p:pRg st="1" end="1"/>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7411">
                                            <p:txEl>
                                              <p:pRg st="2" end="2"/>
                                            </p:txEl>
                                          </p:spTgt>
                                        </p:tgtEl>
                                        <p:attrNameLst>
                                          <p:attrName>style.visibility</p:attrName>
                                        </p:attrNameLst>
                                      </p:cBhvr>
                                      <p:to>
                                        <p:strVal val="visible"/>
                                      </p:to>
                                    </p:set>
                                    <p:animEffect transition="in" filter="wipe(left)">
                                      <p:cBhvr>
                                        <p:cTn id="21" dur="500"/>
                                        <p:tgtEl>
                                          <p:spTgt spid="17411">
                                            <p:txEl>
                                              <p:pRg st="2" end="2"/>
                                            </p:txEl>
                                          </p:spTgt>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17411">
                                            <p:txEl>
                                              <p:pRg st="3" end="3"/>
                                            </p:txEl>
                                          </p:spTgt>
                                        </p:tgtEl>
                                        <p:attrNameLst>
                                          <p:attrName>style.visibility</p:attrName>
                                        </p:attrNameLst>
                                      </p:cBhvr>
                                      <p:to>
                                        <p:strVal val="visible"/>
                                      </p:to>
                                    </p:set>
                                    <p:animEffect transition="in" filter="wipe(left)">
                                      <p:cBhvr>
                                        <p:cTn id="25" dur="500"/>
                                        <p:tgtEl>
                                          <p:spTgt spid="174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63352" y="1585961"/>
            <a:ext cx="11449272" cy="867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0" indent="0" eaLnBrk="1" hangingPunct="1">
              <a:lnSpc>
                <a:spcPct val="90000"/>
              </a:lnSpc>
              <a:buNone/>
              <a:defRPr/>
            </a:pPr>
            <a:r>
              <a:rPr lang="en-US" altLang="zh-CN"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集合族：</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集合的集合</a:t>
            </a:r>
            <a:r>
              <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0" dirty="0">
                <a:latin typeface="Times New Roman" panose="02020603050405020304" pitchFamily="18" charset="0"/>
                <a:ea typeface="微软雅黑" panose="020B0503020204020204" pitchFamily="34" charset="-122"/>
                <a:cs typeface="Times New Roman" panose="02020603050405020304" pitchFamily="18" charset="0"/>
              </a:rPr>
              <a:t>集合中的每个元素都是集合。</a:t>
            </a:r>
            <a:endParaRPr lang="en-US" altLang="zh-CN" sz="2800" b="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8" name="文本框 7"/>
          <p:cNvSpPr txBox="1"/>
          <p:nvPr/>
        </p:nvSpPr>
        <p:spPr>
          <a:xfrm>
            <a:off x="248547" y="4028627"/>
            <a:ext cx="11449272" cy="2047292"/>
          </a:xfrm>
          <a:prstGeom prst="rect">
            <a:avLst/>
          </a:prstGeom>
          <a:noFill/>
        </p:spPr>
        <p:txBody>
          <a:bodyPr wrap="square">
            <a:spAutoFit/>
          </a:bodyPr>
          <a:lstStyle/>
          <a:p>
            <a:pPr marL="0" indent="0" eaLnBrk="1" hangingPunct="1">
              <a:lnSpc>
                <a:spcPct val="150000"/>
              </a:lnSpc>
              <a:defRPr/>
            </a:pPr>
            <a:r>
              <a:rPr lang="en-US" altLang="zh-CN" sz="32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2. </a:t>
            </a:r>
            <a:r>
              <a:rPr lang="zh-CN" altLang="en-US" sz="3200" b="0" dirty="0">
                <a:solidFill>
                  <a:srgbClr val="FFFF00"/>
                </a:solidFill>
                <a:ea typeface="微软雅黑" panose="020B0503020204020204" pitchFamily="34" charset="-122"/>
                <a:cs typeface="Times New Roman" panose="02020603050405020304" pitchFamily="18" charset="0"/>
              </a:rPr>
              <a:t>下标集：</a:t>
            </a:r>
            <a:r>
              <a:rPr lang="zh-CN" altLang="en-US" sz="2800" b="0" dirty="0">
                <a:solidFill>
                  <a:schemeClr val="bg1"/>
                </a:solidFill>
                <a:ea typeface="微软雅黑" panose="020B0503020204020204" pitchFamily="34" charset="-122"/>
                <a:cs typeface="Times New Roman" panose="02020603050405020304" pitchFamily="18" charset="0"/>
              </a:rPr>
              <a:t>集合族中的元素用带下标的字母表示</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所有下标组成的集合称为该集合族的下标集。</a:t>
            </a:r>
          </a:p>
          <a:p>
            <a:pPr marL="0" indent="0" eaLnBrk="1" hangingPunct="1">
              <a:lnSpc>
                <a:spcPct val="150000"/>
              </a:lnSpc>
              <a:buFont typeface="Wingdings" panose="05000000000000000000" pitchFamily="2" charset="2"/>
              <a:buNone/>
              <a:defRPr/>
            </a:pPr>
            <a:r>
              <a:rPr lang="zh-CN" altLang="en-US" sz="2800" b="0" dirty="0">
                <a:solidFill>
                  <a:srgbClr val="FFCCFF"/>
                </a:solidFill>
                <a:ea typeface="微软雅黑" panose="020B0503020204020204" pitchFamily="34" charset="-122"/>
                <a:cs typeface="Times New Roman" panose="02020603050405020304" pitchFamily="18" charset="0"/>
              </a:rPr>
              <a:t>     示例：</a:t>
            </a:r>
            <a:r>
              <a:rPr lang="zh-CN" altLang="en-US" sz="2800" b="0" dirty="0">
                <a:solidFill>
                  <a:schemeClr val="bg1"/>
                </a:solidFill>
                <a:ea typeface="微软雅黑" panose="020B0503020204020204" pitchFamily="34" charset="-122"/>
                <a:cs typeface="Times New Roman" panose="02020603050405020304" pitchFamily="18" charset="0"/>
              </a:rPr>
              <a:t>集合族</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i="1" dirty="0">
                <a:solidFill>
                  <a:schemeClr val="bg1"/>
                </a:solidFill>
                <a:cs typeface="Times New Roman" panose="02020603050405020304" pitchFamily="18" charset="0"/>
              </a:rPr>
              <a:t>A</a:t>
            </a:r>
            <a:r>
              <a:rPr lang="en-US" altLang="zh-CN" sz="2800" b="0" baseline="-25000" dirty="0">
                <a:solidFill>
                  <a:schemeClr val="bg1"/>
                </a:solidFill>
                <a:ea typeface="微软雅黑" panose="020B0503020204020204" pitchFamily="34" charset="-122"/>
                <a:cs typeface="Times New Roman" panose="02020603050405020304" pitchFamily="18" charset="0"/>
              </a:rPr>
              <a:t>1</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A</a:t>
            </a:r>
            <a:r>
              <a:rPr lang="en-US" altLang="zh-CN" sz="2800" b="0" baseline="-25000" dirty="0">
                <a:solidFill>
                  <a:schemeClr val="bg1"/>
                </a:solidFill>
                <a:ea typeface="微软雅黑" panose="020B0503020204020204" pitchFamily="34" charset="-122"/>
                <a:cs typeface="Times New Roman" panose="02020603050405020304" pitchFamily="18" charset="0"/>
              </a:rPr>
              <a:t>2</a:t>
            </a:r>
            <a:r>
              <a:rPr lang="en-US" altLang="zh-CN" sz="2800" b="0" dirty="0">
                <a:solidFill>
                  <a:schemeClr val="bg1"/>
                </a:solidFill>
                <a:ea typeface="微软雅黑" panose="020B0503020204020204" pitchFamily="34" charset="-122"/>
                <a:cs typeface="Times New Roman" panose="02020603050405020304" pitchFamily="18" charset="0"/>
              </a:rPr>
              <a:t>}</a:t>
            </a:r>
            <a:r>
              <a:rPr lang="zh-CN" altLang="en-US" sz="2800" b="0" dirty="0">
                <a:solidFill>
                  <a:schemeClr val="bg1"/>
                </a:solidFill>
                <a:ea typeface="微软雅黑" panose="020B0503020204020204" pitchFamily="34" charset="-122"/>
                <a:cs typeface="Times New Roman" panose="02020603050405020304" pitchFamily="18" charset="0"/>
              </a:rPr>
              <a:t>的下标集是</a:t>
            </a:r>
            <a:r>
              <a:rPr lang="en-US" altLang="zh-CN" sz="2800" b="0" dirty="0">
                <a:solidFill>
                  <a:schemeClr val="bg1"/>
                </a:solidFill>
                <a:ea typeface="微软雅黑" panose="020B0503020204020204" pitchFamily="34" charset="-122"/>
                <a:cs typeface="Times New Roman" panose="02020603050405020304" pitchFamily="18" charset="0"/>
              </a:rPr>
              <a:t>{1, 2}</a:t>
            </a:r>
            <a:endParaRPr lang="zh-CN" altLang="en-US" sz="2800" b="0" dirty="0">
              <a:solidFill>
                <a:schemeClr val="bg1"/>
              </a:solidFill>
              <a:ea typeface="微软雅黑" panose="020B0503020204020204" pitchFamily="34" charset="-122"/>
              <a:cs typeface="Times New Roman" panose="02020603050405020304" pitchFamily="18" charset="0"/>
            </a:endParaRPr>
          </a:p>
        </p:txBody>
      </p:sp>
      <p:sp>
        <p:nvSpPr>
          <p:cNvPr id="11" name="文本框 10"/>
          <p:cNvSpPr txBox="1"/>
          <p:nvPr/>
        </p:nvSpPr>
        <p:spPr>
          <a:xfrm>
            <a:off x="767408" y="2453892"/>
            <a:ext cx="9361040" cy="1308628"/>
          </a:xfrm>
          <a:prstGeom prst="rect">
            <a:avLst/>
          </a:prstGeom>
          <a:noFill/>
        </p:spPr>
        <p:txBody>
          <a:bodyPr wrap="square">
            <a:spAutoFit/>
          </a:bodyPr>
          <a:lstStyle/>
          <a:p>
            <a:pPr marL="0" indent="0" eaLnBrk="1" hangingPunct="1">
              <a:lnSpc>
                <a:spcPct val="150000"/>
              </a:lnSpc>
              <a:buFont typeface="Wingdings" panose="05000000000000000000" pitchFamily="2" charset="2"/>
              <a:buNone/>
              <a:defRPr/>
            </a:pPr>
            <a:r>
              <a:rPr lang="zh-CN" altLang="en-US" sz="2800" b="0" dirty="0">
                <a:solidFill>
                  <a:srgbClr val="FFCCFF"/>
                </a:solidFill>
                <a:ea typeface="微软雅黑" panose="020B0503020204020204" pitchFamily="34" charset="-122"/>
                <a:cs typeface="Times New Roman" panose="02020603050405020304" pitchFamily="18" charset="0"/>
              </a:rPr>
              <a:t>示例：</a:t>
            </a:r>
            <a:r>
              <a:rPr lang="en-US" altLang="zh-CN" sz="2800" b="0" dirty="0">
                <a:solidFill>
                  <a:schemeClr val="bg1"/>
                </a:solidFill>
                <a:ea typeface="微软雅黑" panose="020B0503020204020204" pitchFamily="34" charset="-122"/>
                <a:cs typeface="Times New Roman" panose="02020603050405020304" pitchFamily="18" charset="0"/>
              </a:rPr>
              <a:t>{{1}, {1, 2}}, {</a:t>
            </a:r>
            <a:r>
              <a:rPr lang="en-US" altLang="zh-CN" sz="2800" i="1" dirty="0">
                <a:solidFill>
                  <a:schemeClr val="bg1"/>
                </a:solidFill>
                <a:cs typeface="Times New Roman" panose="02020603050405020304" pitchFamily="18" charset="0"/>
                <a:sym typeface="Symbol" panose="05050102010706020507" pitchFamily="18" charset="2"/>
              </a:rPr>
              <a:t></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sym typeface="Symbol" panose="05050102010706020507" pitchFamily="18" charset="2"/>
              </a:rPr>
              <a:t></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b</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N, R</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Q</a:t>
            </a:r>
            <a:r>
              <a:rPr lang="en-US" altLang="zh-CN" sz="2800" b="0" dirty="0">
                <a:solidFill>
                  <a:schemeClr val="bg1"/>
                </a:solidFill>
                <a:ea typeface="微软雅黑" panose="020B0503020204020204" pitchFamily="34" charset="-122"/>
                <a:cs typeface="Times New Roman" panose="02020603050405020304" pitchFamily="18" charset="0"/>
              </a:rPr>
              <a:t>}</a:t>
            </a:r>
          </a:p>
          <a:p>
            <a:pPr marL="0" indent="0" eaLnBrk="1" hangingPunct="1">
              <a:lnSpc>
                <a:spcPct val="150000"/>
              </a:lnSpc>
              <a:buFont typeface="Wingdings" panose="05000000000000000000" pitchFamily="2" charset="2"/>
              <a:buNone/>
              <a:defRPr/>
            </a:pP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A</a:t>
            </a:r>
            <a:r>
              <a:rPr lang="en-US" altLang="zh-CN" sz="2800" b="0" baseline="-25000" dirty="0">
                <a:solidFill>
                  <a:schemeClr val="bg1"/>
                </a:solidFill>
                <a:ea typeface="微软雅黑" panose="020B0503020204020204" pitchFamily="34" charset="-122"/>
                <a:cs typeface="Times New Roman" panose="02020603050405020304" pitchFamily="18" charset="0"/>
              </a:rPr>
              <a:t>1</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A</a:t>
            </a:r>
            <a:r>
              <a:rPr lang="en-US" altLang="zh-CN" sz="2800" b="0" baseline="-25000" dirty="0">
                <a:solidFill>
                  <a:schemeClr val="bg1"/>
                </a:solidFill>
                <a:ea typeface="微软雅黑" panose="020B0503020204020204" pitchFamily="34" charset="-122"/>
                <a:cs typeface="Times New Roman" panose="02020603050405020304" pitchFamily="18" charset="0"/>
              </a:rPr>
              <a:t>2</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其中</a:t>
            </a:r>
            <a:r>
              <a:rPr lang="en-US" altLang="zh-CN" sz="2800" i="1" dirty="0">
                <a:solidFill>
                  <a:schemeClr val="bg1"/>
                </a:solidFill>
                <a:cs typeface="Times New Roman" panose="02020603050405020304" pitchFamily="18" charset="0"/>
              </a:rPr>
              <a:t>A</a:t>
            </a:r>
            <a:r>
              <a:rPr lang="en-US" altLang="zh-CN" sz="2800" b="0" baseline="-25000" dirty="0">
                <a:solidFill>
                  <a:schemeClr val="bg1"/>
                </a:solidFill>
                <a:ea typeface="微软雅黑" panose="020B0503020204020204" pitchFamily="34" charset="-122"/>
                <a:cs typeface="Times New Roman" panose="02020603050405020304" pitchFamily="18" charset="0"/>
              </a:rPr>
              <a:t>1</a:t>
            </a:r>
            <a:r>
              <a:rPr lang="en-US" altLang="zh-CN" sz="2800" b="0" dirty="0">
                <a:solidFill>
                  <a:schemeClr val="bg1"/>
                </a:solidFill>
                <a:ea typeface="微软雅黑" panose="020B0503020204020204" pitchFamily="34" charset="-122"/>
                <a:cs typeface="Times New Roman" panose="02020603050405020304" pitchFamily="18" charset="0"/>
              </a:rPr>
              <a:t>={1,  2}, </a:t>
            </a:r>
            <a:r>
              <a:rPr lang="en-US" altLang="zh-CN" sz="2800" i="1" dirty="0">
                <a:solidFill>
                  <a:schemeClr val="bg1"/>
                </a:solidFill>
                <a:cs typeface="Times New Roman" panose="02020603050405020304" pitchFamily="18" charset="0"/>
              </a:rPr>
              <a:t>A</a:t>
            </a:r>
            <a:r>
              <a:rPr lang="en-US" altLang="zh-CN" sz="2800" b="0" baseline="-25000" dirty="0">
                <a:solidFill>
                  <a:schemeClr val="bg1"/>
                </a:solidFill>
                <a:ea typeface="微软雅黑" panose="020B0503020204020204" pitchFamily="34" charset="-122"/>
                <a:cs typeface="Times New Roman" panose="02020603050405020304" pitchFamily="18" charset="0"/>
              </a:rPr>
              <a:t>2</a:t>
            </a:r>
            <a:r>
              <a:rPr lang="en-US" altLang="zh-CN" sz="2800" b="0" dirty="0">
                <a:solidFill>
                  <a:schemeClr val="bg1"/>
                </a:solidFill>
                <a:ea typeface="微软雅黑" panose="020B0503020204020204" pitchFamily="34" charset="-122"/>
                <a:cs typeface="Times New Roman" panose="02020603050405020304" pitchFamily="18" charset="0"/>
              </a:rPr>
              <a:t>={{1},  2}</a:t>
            </a:r>
          </a:p>
        </p:txBody>
      </p:sp>
      <p:sp>
        <p:nvSpPr>
          <p:cNvPr id="9" name="Rectangle 2"/>
          <p:cNvSpPr txBox="1">
            <a:spLocks noChangeArrowheads="1"/>
          </p:cNvSpPr>
          <p:nvPr/>
        </p:nvSpPr>
        <p:spPr bwMode="auto">
          <a:xfrm>
            <a:off x="5159896" y="247802"/>
            <a:ext cx="6336704"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1.1.3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fade">
                                      <p:cBhvr>
                                        <p:cTn id="7" dur="1000"/>
                                        <p:tgtEl>
                                          <p:spTgt spid="17411"/>
                                        </p:tgtEl>
                                      </p:cBhvr>
                                    </p:animEffect>
                                    <p:anim calcmode="lin" valueType="num">
                                      <p:cBhvr>
                                        <p:cTn id="8" dur="1000" fill="hold"/>
                                        <p:tgtEl>
                                          <p:spTgt spid="17411"/>
                                        </p:tgtEl>
                                        <p:attrNameLst>
                                          <p:attrName>ppt_x</p:attrName>
                                        </p:attrNameLst>
                                      </p:cBhvr>
                                      <p:tavLst>
                                        <p:tav tm="0">
                                          <p:val>
                                            <p:strVal val="#ppt_x"/>
                                          </p:val>
                                        </p:tav>
                                        <p:tav tm="100000">
                                          <p:val>
                                            <p:strVal val="#ppt_x"/>
                                          </p:val>
                                        </p:tav>
                                      </p:tavLst>
                                    </p:anim>
                                    <p:anim calcmode="lin" valueType="num">
                                      <p:cBhvr>
                                        <p:cTn id="9" dur="1000" fill="hold"/>
                                        <p:tgtEl>
                                          <p:spTgt spid="174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Effect transition="in" filter="fade">
                                      <p:cBhvr>
                                        <p:cTn id="21" dur="1000"/>
                                        <p:tgtEl>
                                          <p:spTgt spid="8">
                                            <p:txEl>
                                              <p:pRg st="0" end="0"/>
                                            </p:txEl>
                                          </p:spTgt>
                                        </p:tgtEl>
                                      </p:cBhvr>
                                    </p:animEffect>
                                    <p:anim calcmode="lin" valueType="num">
                                      <p:cBhvr>
                                        <p:cTn id="22"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1" end="1"/>
                                            </p:txEl>
                                          </p:spTgt>
                                        </p:tgtEl>
                                        <p:attrNameLst>
                                          <p:attrName>style.visibility</p:attrName>
                                        </p:attrNameLst>
                                      </p:cBhvr>
                                      <p:to>
                                        <p:strVal val="visible"/>
                                      </p:to>
                                    </p:set>
                                    <p:animEffect transition="in" filter="fade">
                                      <p:cBhvr>
                                        <p:cTn id="28" dur="1000"/>
                                        <p:tgtEl>
                                          <p:spTgt spid="8">
                                            <p:txEl>
                                              <p:pRg st="1" end="1"/>
                                            </p:txEl>
                                          </p:spTgt>
                                        </p:tgtEl>
                                      </p:cBhvr>
                                    </p:animEffect>
                                    <p:anim calcmode="lin" valueType="num">
                                      <p:cBhvr>
                                        <p:cTn id="29"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a:spLocks noChangeArrowheads="1"/>
          </p:cNvSpPr>
          <p:nvPr/>
        </p:nvSpPr>
        <p:spPr bwMode="auto">
          <a:xfrm>
            <a:off x="263352" y="1585961"/>
            <a:ext cx="1368152" cy="867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0" indent="0" eaLnBrk="1" hangingPunct="1">
              <a:lnSpc>
                <a:spcPct val="90000"/>
              </a:lnSpc>
              <a:buNone/>
              <a:defRPr/>
            </a:pPr>
            <a:r>
              <a:rPr lang="zh-CN" altLang="en-US" sz="280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示例</a:t>
            </a:r>
            <a:endParaRPr lang="en-US" altLang="zh-CN" sz="280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文本框 10"/>
              <p:cNvSpPr txBox="1"/>
              <p:nvPr/>
            </p:nvSpPr>
            <p:spPr>
              <a:xfrm>
                <a:off x="767408" y="2453892"/>
                <a:ext cx="9361040" cy="932050"/>
              </a:xfrm>
              <a:prstGeom prst="rect">
                <a:avLst/>
              </a:prstGeom>
              <a:noFill/>
            </p:spPr>
            <p:txBody>
              <a:bodyPr wrap="square">
                <a:spAutoFit/>
              </a:bodyPr>
              <a:lstStyle/>
              <a:p>
                <a:pPr marL="0" indent="0" eaLnBrk="1" hangingPunct="1">
                  <a:lnSpc>
                    <a:spcPct val="150000"/>
                  </a:lnSpc>
                  <a:buFont typeface="Wingdings" panose="05000000000000000000" pitchFamily="2" charset="2"/>
                  <a:buNone/>
                  <a:defRPr/>
                </a:pPr>
                <a:r>
                  <a:rPr lang="en-US" altLang="zh-CN" sz="2800" b="0" dirty="0">
                    <a:solidFill>
                      <a:schemeClr val="bg1"/>
                    </a:solidFill>
                    <a:ea typeface="微软雅黑" panose="020B0503020204020204" pitchFamily="34" charset="-122"/>
                    <a:cs typeface="Times New Roman" panose="02020603050405020304" pitchFamily="18" charset="0"/>
                  </a:rPr>
                  <a:t>(1)</a:t>
                </a:r>
                <a:r>
                  <a:rPr lang="en-US" altLang="zh-CN" sz="2800" i="1" dirty="0">
                    <a:solidFill>
                      <a:schemeClr val="bg1"/>
                    </a:solidFill>
                    <a:cs typeface="Times New Roman" panose="02020603050405020304" pitchFamily="18" charset="0"/>
                  </a:rPr>
                  <a:t>A</a:t>
                </a:r>
                <a:r>
                  <a:rPr lang="en-US" altLang="zh-CN" sz="2800" b="0" i="1" baseline="-25000" dirty="0">
                    <a:solidFill>
                      <a:schemeClr val="bg1"/>
                    </a:solidFill>
                    <a:ea typeface="微软雅黑" panose="020B0503020204020204" pitchFamily="34" charset="-122"/>
                    <a:cs typeface="Times New Roman" panose="02020603050405020304" pitchFamily="18" charset="0"/>
                  </a:rPr>
                  <a:t>n</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i="1" dirty="0">
                    <a:solidFill>
                      <a:schemeClr val="bg1"/>
                    </a:solidFill>
                    <a:cs typeface="Times New Roman" panose="02020603050405020304" pitchFamily="18" charset="0"/>
                  </a:rPr>
                  <a:t>x</a:t>
                </a:r>
                <a:r>
                  <a:rPr lang="en-US" altLang="zh-CN" sz="2800" b="0" dirty="0">
                    <a:solidFill>
                      <a:schemeClr val="bg1"/>
                    </a:solidFill>
                    <a:ea typeface="微软雅黑" panose="020B0503020204020204" pitchFamily="34" charset="-122"/>
                    <a:cs typeface="Times New Roman" panose="02020603050405020304" pitchFamily="18" charset="0"/>
                  </a:rPr>
                  <a:t>|0&lt;</a:t>
                </a:r>
                <a:r>
                  <a:rPr lang="en-US" altLang="zh-CN" sz="2800" i="1" dirty="0">
                    <a:solidFill>
                      <a:schemeClr val="bg1"/>
                    </a:solidFill>
                    <a:cs typeface="Times New Roman" panose="02020603050405020304" pitchFamily="18" charset="0"/>
                  </a:rPr>
                  <a:t>x</a:t>
                </a:r>
                <a:r>
                  <a:rPr lang="en-US" altLang="zh-CN" sz="2800" b="0" dirty="0">
                    <a:solidFill>
                      <a:schemeClr val="bg1"/>
                    </a:solidFill>
                    <a:ea typeface="微软雅黑" panose="020B0503020204020204" pitchFamily="34" charset="-122"/>
                    <a:cs typeface="Times New Roman" panose="02020603050405020304" pitchFamily="18" charset="0"/>
                  </a:rPr>
                  <a:t>&lt;1+</a:t>
                </a:r>
                <a14:m>
                  <m:oMath xmlns:m="http://schemas.openxmlformats.org/officeDocument/2006/math">
                    <m:f>
                      <m:fPr>
                        <m:ctrlPr>
                          <a:rPr lang="en-US" altLang="zh-CN" sz="2800"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800" b="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sz="2800"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𝑛</m:t>
                        </m:r>
                      </m:den>
                    </m:f>
                  </m:oMath>
                </a14:m>
                <a:r>
                  <a:rPr lang="en-US" altLang="zh-CN" sz="2800" b="0" dirty="0">
                    <a:solidFill>
                      <a:schemeClr val="bg1"/>
                    </a:solidFill>
                    <a:ea typeface="微软雅黑" panose="020B0503020204020204" pitchFamily="34" charset="-122"/>
                    <a:cs typeface="Times New Roman" panose="02020603050405020304" pitchFamily="18" charset="0"/>
                  </a:rPr>
                  <a:t>  }, </a:t>
                </a:r>
                <a:r>
                  <a:rPr lang="zh-CN" altLang="en-US" sz="2800" b="0" dirty="0">
                    <a:solidFill>
                      <a:schemeClr val="bg1"/>
                    </a:solidFill>
                    <a:ea typeface="微软雅黑" panose="020B0503020204020204" pitchFamily="34" charset="-122"/>
                    <a:cs typeface="Times New Roman" panose="02020603050405020304" pitchFamily="18" charset="0"/>
                  </a:rPr>
                  <a:t>集合族</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i="1" dirty="0">
                    <a:solidFill>
                      <a:schemeClr val="bg1"/>
                    </a:solidFill>
                    <a:cs typeface="Times New Roman" panose="02020603050405020304" pitchFamily="18" charset="0"/>
                  </a:rPr>
                  <a:t>A</a:t>
                </a:r>
                <a:r>
                  <a:rPr lang="en-US" altLang="zh-CN" sz="2800" b="0" baseline="-25000" dirty="0">
                    <a:solidFill>
                      <a:schemeClr val="bg1"/>
                    </a:solidFill>
                    <a:ea typeface="微软雅黑" panose="020B0503020204020204" pitchFamily="34" charset="-122"/>
                    <a:cs typeface="Times New Roman" panose="02020603050405020304" pitchFamily="18" charset="0"/>
                  </a:rPr>
                  <a:t>1</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A</a:t>
                </a:r>
                <a:r>
                  <a:rPr lang="en-US" altLang="zh-CN" sz="2800" b="0" baseline="-25000" dirty="0">
                    <a:solidFill>
                      <a:schemeClr val="bg1"/>
                    </a:solidFill>
                    <a:ea typeface="微软雅黑" panose="020B0503020204020204" pitchFamily="34" charset="-122"/>
                    <a:cs typeface="Times New Roman" panose="02020603050405020304" pitchFamily="18" charset="0"/>
                  </a:rPr>
                  <a:t>2</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A</a:t>
                </a:r>
                <a:r>
                  <a:rPr lang="en-US" altLang="zh-CN" sz="2800" b="0" baseline="-25000" dirty="0">
                    <a:solidFill>
                      <a:schemeClr val="bg1"/>
                    </a:solidFill>
                    <a:ea typeface="微软雅黑" panose="020B0503020204020204" pitchFamily="34" charset="-122"/>
                    <a:cs typeface="Times New Roman" panose="02020603050405020304" pitchFamily="18" charset="0"/>
                  </a:rPr>
                  <a:t>3</a:t>
                </a:r>
                <a:r>
                  <a:rPr lang="en-US" altLang="zh-CN" sz="2800" b="0" dirty="0">
                    <a:solidFill>
                      <a:schemeClr val="bg1"/>
                    </a:solidFill>
                    <a:ea typeface="微软雅黑" panose="020B0503020204020204" pitchFamily="34" charset="-122"/>
                    <a:cs typeface="Times New Roman" panose="02020603050405020304" pitchFamily="18" charset="0"/>
                  </a:rPr>
                  <a:t>, …}</a:t>
                </a:r>
                <a:r>
                  <a:rPr lang="zh-CN" altLang="en-US" sz="2800" b="0" dirty="0">
                    <a:solidFill>
                      <a:schemeClr val="bg1"/>
                    </a:solidFill>
                    <a:ea typeface="微软雅黑" panose="020B0503020204020204" pitchFamily="34" charset="-122"/>
                    <a:cs typeface="Times New Roman" panose="02020603050405020304" pitchFamily="18" charset="0"/>
                  </a:rPr>
                  <a:t>的下标集是</a:t>
                </a:r>
                <a:r>
                  <a:rPr lang="en-US" altLang="zh-CN" sz="2800" b="0" i="1"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Z</a:t>
                </a:r>
                <a:r>
                  <a:rPr lang="en-US" altLang="zh-CN" sz="2800" b="0" baseline="-2500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endParaRPr lang="en-US" altLang="zh-CN" sz="2800" i="1" dirty="0">
                  <a:solidFill>
                    <a:schemeClr val="bg1"/>
                  </a:solidFill>
                  <a:cs typeface="Times New Roman" panose="020206030504050203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767408" y="2453892"/>
                <a:ext cx="9361040" cy="932050"/>
              </a:xfrm>
              <a:prstGeom prst="rect">
                <a:avLst/>
              </a:prstGeom>
              <a:blipFill>
                <a:blip r:embed="rId4"/>
                <a:stretch>
                  <a:fillRect l="-1368" b="-7895"/>
                </a:stretch>
              </a:blipFill>
            </p:spPr>
            <p:txBody>
              <a:bodyPr/>
              <a:lstStyle/>
              <a:p>
                <a:r>
                  <a:rPr lang="zh-CN" altLang="en-US">
                    <a:noFill/>
                  </a:rPr>
                  <a:t> </a:t>
                </a:r>
              </a:p>
            </p:txBody>
          </p:sp>
        </mc:Fallback>
      </mc:AlternateContent>
      <p:sp>
        <p:nvSpPr>
          <p:cNvPr id="9" name="文本框 8"/>
          <p:cNvSpPr txBox="1"/>
          <p:nvPr/>
        </p:nvSpPr>
        <p:spPr>
          <a:xfrm>
            <a:off x="767408" y="3518470"/>
            <a:ext cx="9361040" cy="657872"/>
          </a:xfrm>
          <a:prstGeom prst="rect">
            <a:avLst/>
          </a:prstGeom>
          <a:noFill/>
        </p:spPr>
        <p:txBody>
          <a:bodyPr wrap="square">
            <a:spAutoFit/>
          </a:bodyPr>
          <a:lstStyle/>
          <a:p>
            <a:pPr marL="0" indent="0" eaLnBrk="1" hangingPunct="1">
              <a:lnSpc>
                <a:spcPct val="150000"/>
              </a:lnSpc>
              <a:buFont typeface="Wingdings" panose="05000000000000000000" pitchFamily="2" charset="2"/>
              <a:buNone/>
              <a:defRPr/>
            </a:pPr>
            <a:r>
              <a:rPr lang="en-US" altLang="zh-CN" sz="2800" b="0" dirty="0">
                <a:solidFill>
                  <a:schemeClr val="bg1"/>
                </a:solidFill>
                <a:ea typeface="微软雅黑" panose="020B0503020204020204" pitchFamily="34" charset="-122"/>
                <a:cs typeface="Times New Roman" panose="02020603050405020304" pitchFamily="18" charset="0"/>
              </a:rPr>
              <a:t>(2)</a:t>
            </a:r>
            <a:r>
              <a:rPr lang="zh-CN" altLang="en-US" sz="2800" b="0" dirty="0">
                <a:solidFill>
                  <a:schemeClr val="bg1"/>
                </a:solidFill>
                <a:ea typeface="微软雅黑" panose="020B0503020204020204" pitchFamily="34" charset="-122"/>
                <a:cs typeface="Times New Roman" panose="02020603050405020304" pitchFamily="18" charset="0"/>
              </a:rPr>
              <a:t>集合族</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i="1" dirty="0" err="1">
                <a:solidFill>
                  <a:schemeClr val="bg1"/>
                </a:solidFill>
                <a:cs typeface="Times New Roman" panose="02020603050405020304" pitchFamily="18" charset="0"/>
              </a:rPr>
              <a:t>A</a:t>
            </a:r>
            <a:r>
              <a:rPr lang="en-US" altLang="zh-CN" sz="2800" b="0" i="1" baseline="-25000" dirty="0" err="1">
                <a:solidFill>
                  <a:schemeClr val="bg1"/>
                </a:solidFill>
                <a:ea typeface="微软雅黑" panose="020B0503020204020204" pitchFamily="34" charset="-122"/>
                <a:cs typeface="Times New Roman" panose="02020603050405020304" pitchFamily="18" charset="0"/>
              </a:rPr>
              <a:t>x</a:t>
            </a:r>
            <a:r>
              <a:rPr lang="en-US" altLang="zh-CN" sz="2800" b="0" dirty="0" err="1">
                <a:solidFill>
                  <a:schemeClr val="bg1"/>
                </a:solidFill>
                <a:ea typeface="微软雅黑" panose="020B0503020204020204" pitchFamily="34" charset="-122"/>
                <a:cs typeface="Times New Roman" panose="02020603050405020304" pitchFamily="18" charset="0"/>
              </a:rPr>
              <a:t>|</a:t>
            </a:r>
            <a:r>
              <a:rPr lang="en-US" altLang="zh-CN" sz="2800" i="1" dirty="0" err="1">
                <a:solidFill>
                  <a:schemeClr val="bg1"/>
                </a:solidFill>
                <a:cs typeface="Times New Roman" panose="02020603050405020304" pitchFamily="18" charset="0"/>
              </a:rPr>
              <a:t>x</a:t>
            </a:r>
            <a:r>
              <a:rPr lang="en-US" altLang="zh-CN" sz="2800" b="0" dirty="0" err="1">
                <a:solidFill>
                  <a:schemeClr val="bg1"/>
                </a:solidFill>
                <a:ea typeface="微软雅黑" panose="020B0503020204020204" pitchFamily="34" charset="-122"/>
                <a:cs typeface="Times New Roman" panose="02020603050405020304" pitchFamily="18" charset="0"/>
              </a:rPr>
              <a:t>∈</a:t>
            </a:r>
            <a:r>
              <a:rPr lang="en-US" altLang="zh-CN" sz="2800" b="0" i="1" dirty="0" err="1">
                <a:solidFill>
                  <a:schemeClr val="bg1"/>
                </a:solidFill>
                <a:ea typeface="微软雅黑" panose="020B0503020204020204" pitchFamily="34" charset="-122"/>
                <a:cs typeface="Times New Roman" panose="02020603050405020304" pitchFamily="18" charset="0"/>
              </a:rPr>
              <a:t>R</a:t>
            </a:r>
            <a:r>
              <a:rPr lang="en-US" altLang="zh-CN" sz="2800" b="0" dirty="0">
                <a:solidFill>
                  <a:schemeClr val="bg1"/>
                </a:solidFill>
                <a:ea typeface="微软雅黑" panose="020B0503020204020204" pitchFamily="34" charset="-122"/>
                <a:cs typeface="Times New Roman" panose="02020603050405020304" pitchFamily="18" charset="0"/>
              </a:rPr>
              <a:t>, </a:t>
            </a:r>
            <a:r>
              <a:rPr lang="en-US" altLang="zh-CN" sz="2800" i="1" dirty="0">
                <a:solidFill>
                  <a:schemeClr val="bg1"/>
                </a:solidFill>
                <a:cs typeface="Times New Roman" panose="02020603050405020304" pitchFamily="18" charset="0"/>
              </a:rPr>
              <a:t>A</a:t>
            </a:r>
            <a:r>
              <a:rPr lang="en-US" altLang="zh-CN" sz="2800" b="0" i="1" baseline="-25000" dirty="0">
                <a:solidFill>
                  <a:schemeClr val="bg1"/>
                </a:solidFill>
                <a:ea typeface="微软雅黑" panose="020B0503020204020204" pitchFamily="34" charset="-122"/>
                <a:cs typeface="Times New Roman" panose="02020603050405020304" pitchFamily="18" charset="0"/>
              </a:rPr>
              <a:t>x</a:t>
            </a:r>
            <a:r>
              <a:rPr lang="en-US" altLang="zh-CN" sz="2800" b="0" dirty="0">
                <a:solidFill>
                  <a:schemeClr val="bg1"/>
                </a:solidFill>
                <a:ea typeface="微软雅黑" panose="020B0503020204020204" pitchFamily="34" charset="-122"/>
                <a:cs typeface="Times New Roman" panose="02020603050405020304" pitchFamily="18" charset="0"/>
              </a:rPr>
              <a:t>={</a:t>
            </a:r>
            <a:r>
              <a:rPr lang="en-US" altLang="zh-CN" sz="2800" i="1" dirty="0">
                <a:solidFill>
                  <a:schemeClr val="bg1"/>
                </a:solidFill>
                <a:cs typeface="Times New Roman" panose="02020603050405020304" pitchFamily="18" charset="0"/>
              </a:rPr>
              <a:t>x</a:t>
            </a:r>
            <a:r>
              <a:rPr lang="en-US" altLang="zh-CN" sz="2800" b="0" dirty="0">
                <a:solidFill>
                  <a:schemeClr val="bg1"/>
                </a:solidFill>
                <a:ea typeface="微软雅黑" panose="020B0503020204020204" pitchFamily="34" charset="-122"/>
                <a:cs typeface="Times New Roman" panose="02020603050405020304" pitchFamily="18" charset="0"/>
              </a:rPr>
              <a:t>}}</a:t>
            </a:r>
            <a:r>
              <a:rPr lang="zh-CN" altLang="en-US" sz="2800" b="0" dirty="0">
                <a:solidFill>
                  <a:schemeClr val="bg1"/>
                </a:solidFill>
                <a:ea typeface="微软雅黑" panose="020B0503020204020204" pitchFamily="34" charset="-122"/>
                <a:cs typeface="Times New Roman" panose="02020603050405020304" pitchFamily="18" charset="0"/>
              </a:rPr>
              <a:t>的下标集是？</a:t>
            </a:r>
          </a:p>
        </p:txBody>
      </p:sp>
      <p:sp>
        <p:nvSpPr>
          <p:cNvPr id="8" name="Rectangle 2"/>
          <p:cNvSpPr txBox="1">
            <a:spLocks noChangeArrowheads="1"/>
          </p:cNvSpPr>
          <p:nvPr/>
        </p:nvSpPr>
        <p:spPr bwMode="auto">
          <a:xfrm>
            <a:off x="5159896" y="247802"/>
            <a:ext cx="6336704" cy="102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1.1.3  </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集合族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wipe(left)">
                                      <p:cBhvr>
                                        <p:cTn id="7" dur="500"/>
                                        <p:tgtEl>
                                          <p:spTgt spid="17411"/>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anim calcmode="lin" valueType="num">
                                      <p:cBhvr>
                                        <p:cTn id="12" dur="1000" fill="hold"/>
                                        <p:tgtEl>
                                          <p:spTgt spid="11"/>
                                        </p:tgtEl>
                                        <p:attrNameLst>
                                          <p:attrName>ppt_x</p:attrName>
                                        </p:attrNameLst>
                                      </p:cBhvr>
                                      <p:tavLst>
                                        <p:tav tm="0">
                                          <p:val>
                                            <p:strVal val="#ppt_x"/>
                                          </p:val>
                                        </p:tav>
                                        <p:tav tm="100000">
                                          <p:val>
                                            <p:strVal val="#ppt_x"/>
                                          </p:val>
                                        </p:tav>
                                      </p:tavLst>
                                    </p:anim>
                                    <p:anim calcmode="lin" valueType="num">
                                      <p:cBhvr>
                                        <p:cTn id="13" dur="1000" fill="hold"/>
                                        <p:tgtEl>
                                          <p:spTgt spid="11"/>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11"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txBox="1">
            <a:spLocks noChangeArrowheads="1"/>
          </p:cNvSpPr>
          <p:nvPr/>
        </p:nvSpPr>
        <p:spPr bwMode="auto">
          <a:xfrm>
            <a:off x="5159896" y="116632"/>
            <a:ext cx="403244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4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作业</a:t>
            </a:r>
            <a:endParaRPr lang="en-US" altLang="zh-CN" sz="4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sz="4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4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4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17</a:t>
            </a:r>
            <a:r>
              <a:rPr lang="zh-CN" altLang="en-US" sz="4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4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1~3</a:t>
            </a:r>
            <a:endParaRPr lang="zh-CN" altLang="en-US" sz="4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9" name="文本框 8"/>
          <p:cNvSpPr txBox="1"/>
          <p:nvPr/>
        </p:nvSpPr>
        <p:spPr>
          <a:xfrm>
            <a:off x="551383" y="1782395"/>
            <a:ext cx="5328593" cy="3884205"/>
          </a:xfrm>
          <a:prstGeom prst="rect">
            <a:avLst/>
          </a:prstGeom>
          <a:noFill/>
        </p:spPr>
        <p:txBody>
          <a:bodyPr wrap="square">
            <a:spAutoFit/>
          </a:bodyPr>
          <a:lstStyle/>
          <a:p>
            <a:pPr marL="609600" indent="-609600" eaLnBrk="1" hangingPunct="1">
              <a:lnSpc>
                <a:spcPct val="150000"/>
              </a:lnSpc>
              <a:buFont typeface="Wingdings" panose="05000000000000000000" pitchFamily="2" charset="2"/>
              <a:buNone/>
              <a:defRPr/>
            </a:pPr>
            <a:r>
              <a:rPr lang="en-US" altLang="zh-CN" sz="2000" b="0" dirty="0">
                <a:solidFill>
                  <a:schemeClr val="bg1"/>
                </a:solidFill>
                <a:ea typeface="微软雅黑" panose="020B0503020204020204" pitchFamily="34" charset="-122"/>
                <a:cs typeface="Times New Roman" panose="02020603050405020304" pitchFamily="18" charset="0"/>
              </a:rPr>
              <a:t>1. </a:t>
            </a:r>
            <a:r>
              <a:rPr lang="zh-CN" altLang="en-US" sz="2000" b="0" dirty="0">
                <a:solidFill>
                  <a:schemeClr val="bg1"/>
                </a:solidFill>
                <a:ea typeface="微软雅黑" panose="020B0503020204020204" pitchFamily="34" charset="-122"/>
                <a:cs typeface="Times New Roman" panose="02020603050405020304" pitchFamily="18" charset="0"/>
              </a:rPr>
              <a:t>给出集合</a:t>
            </a:r>
            <a:r>
              <a:rPr lang="en-US" altLang="zh-CN" sz="2000" b="0" dirty="0">
                <a:solidFill>
                  <a:schemeClr val="bg1"/>
                </a:solidFill>
                <a:ea typeface="微软雅黑" panose="020B0503020204020204" pitchFamily="34" charset="-122"/>
                <a:cs typeface="Times New Roman" panose="02020603050405020304" pitchFamily="18" charset="0"/>
              </a:rPr>
              <a:t>{-3, -2, -1, 0, 1, 2, 3}</a:t>
            </a:r>
            <a:r>
              <a:rPr lang="zh-CN" altLang="en-US" sz="2000" b="0" dirty="0">
                <a:solidFill>
                  <a:schemeClr val="bg1"/>
                </a:solidFill>
                <a:ea typeface="微软雅黑" panose="020B0503020204020204" pitchFamily="34" charset="-122"/>
                <a:cs typeface="Times New Roman" panose="02020603050405020304" pitchFamily="18" charset="0"/>
              </a:rPr>
              <a:t>的谓词表示法。</a:t>
            </a:r>
          </a:p>
          <a:p>
            <a:pPr marL="609600" indent="-609600" eaLnBrk="1" hangingPunct="1">
              <a:lnSpc>
                <a:spcPct val="150000"/>
              </a:lnSpc>
              <a:spcBef>
                <a:spcPts val="1200"/>
              </a:spcBef>
              <a:buFont typeface="Wingdings" panose="05000000000000000000" pitchFamily="2" charset="2"/>
              <a:buNone/>
              <a:defRPr/>
            </a:pPr>
            <a:r>
              <a:rPr lang="en-US" altLang="zh-CN" sz="2000" b="0" dirty="0">
                <a:solidFill>
                  <a:schemeClr val="bg1"/>
                </a:solidFill>
                <a:ea typeface="微软雅黑" panose="020B0503020204020204" pitchFamily="34" charset="-122"/>
                <a:cs typeface="Times New Roman" panose="02020603050405020304" pitchFamily="18" charset="0"/>
              </a:rPr>
              <a:t>2. </a:t>
            </a:r>
            <a:r>
              <a:rPr lang="zh-CN" altLang="en-US" sz="2000" b="0" dirty="0">
                <a:solidFill>
                  <a:schemeClr val="bg1"/>
                </a:solidFill>
                <a:ea typeface="微软雅黑" panose="020B0503020204020204" pitchFamily="34" charset="-122"/>
                <a:cs typeface="Times New Roman" panose="02020603050405020304" pitchFamily="18" charset="0"/>
              </a:rPr>
              <a:t>判断</a:t>
            </a:r>
            <a:r>
              <a:rPr lang="en-US" altLang="zh-CN" sz="2000" b="0" dirty="0">
                <a:solidFill>
                  <a:schemeClr val="bg1"/>
                </a:solidFill>
                <a:ea typeface="微软雅黑" panose="020B0503020204020204" pitchFamily="34" charset="-122"/>
                <a:cs typeface="Times New Roman" panose="02020603050405020304" pitchFamily="18" charset="0"/>
              </a:rPr>
              <a:t>2</a:t>
            </a:r>
            <a:r>
              <a:rPr lang="zh-CN" altLang="en-US" sz="2000" b="0" dirty="0">
                <a:solidFill>
                  <a:schemeClr val="bg1"/>
                </a:solidFill>
                <a:ea typeface="微软雅黑" panose="020B0503020204020204" pitchFamily="34" charset="-122"/>
                <a:cs typeface="Times New Roman" panose="02020603050405020304" pitchFamily="18" charset="0"/>
              </a:rPr>
              <a:t>和</a:t>
            </a:r>
            <a:r>
              <a:rPr lang="en-US" altLang="zh-CN" sz="2000" b="0" dirty="0">
                <a:solidFill>
                  <a:schemeClr val="bg1"/>
                </a:solidFill>
                <a:ea typeface="微软雅黑" panose="020B0503020204020204" pitchFamily="34" charset="-122"/>
                <a:cs typeface="Times New Roman" panose="02020603050405020304" pitchFamily="18" charset="0"/>
              </a:rPr>
              <a:t>{2}</a:t>
            </a:r>
            <a:r>
              <a:rPr lang="zh-CN" altLang="en-US" sz="2000" b="0" dirty="0">
                <a:solidFill>
                  <a:schemeClr val="bg1"/>
                </a:solidFill>
                <a:ea typeface="微软雅黑" panose="020B0503020204020204" pitchFamily="34" charset="-122"/>
                <a:cs typeface="Times New Roman" panose="02020603050405020304" pitchFamily="18" charset="0"/>
              </a:rPr>
              <a:t>是否下列集合的元素。</a:t>
            </a:r>
          </a:p>
          <a:p>
            <a:pPr marL="609600" indent="-609600" eaLnBrk="1" hangingPunct="1">
              <a:lnSpc>
                <a:spcPct val="150000"/>
              </a:lnSpc>
              <a:buFont typeface="Wingdings" panose="05000000000000000000" pitchFamily="2" charset="2"/>
              <a:buNone/>
              <a:defRPr/>
            </a:pPr>
            <a:r>
              <a:rPr lang="en-US" altLang="zh-CN" sz="2000" b="0" dirty="0">
                <a:solidFill>
                  <a:schemeClr val="bg1"/>
                </a:solidFill>
                <a:ea typeface="微软雅黑" panose="020B0503020204020204" pitchFamily="34" charset="-122"/>
                <a:cs typeface="Times New Roman" panose="02020603050405020304" pitchFamily="18" charset="0"/>
              </a:rPr>
              <a:t>    (1)  {</a:t>
            </a:r>
            <a:r>
              <a:rPr lang="en-US" altLang="zh-CN" sz="2000" i="1" dirty="0" err="1">
                <a:solidFill>
                  <a:schemeClr val="bg1"/>
                </a:solidFill>
                <a:cs typeface="Times New Roman" panose="02020603050405020304" pitchFamily="18" charset="0"/>
              </a:rPr>
              <a:t>x</a:t>
            </a:r>
            <a:r>
              <a:rPr lang="en-US" altLang="zh-CN" sz="2000" b="0" dirty="0" err="1">
                <a:solidFill>
                  <a:schemeClr val="bg1"/>
                </a:solidFill>
                <a:ea typeface="微软雅黑" panose="020B0503020204020204" pitchFamily="34" charset="-122"/>
                <a:cs typeface="Times New Roman" panose="02020603050405020304" pitchFamily="18" charset="0"/>
              </a:rPr>
              <a:t>|</a:t>
            </a:r>
            <a:r>
              <a:rPr lang="en-US" altLang="zh-CN" sz="2000" i="1" dirty="0" err="1">
                <a:solidFill>
                  <a:schemeClr val="bg1"/>
                </a:solidFill>
                <a:cs typeface="Times New Roman" panose="02020603050405020304" pitchFamily="18" charset="0"/>
              </a:rPr>
              <a:t>x</a:t>
            </a:r>
            <a:r>
              <a:rPr lang="zh-CN" altLang="en-US" sz="2000" b="0" dirty="0">
                <a:solidFill>
                  <a:schemeClr val="bg1"/>
                </a:solidFill>
                <a:ea typeface="微软雅黑" panose="020B0503020204020204" pitchFamily="34" charset="-122"/>
                <a:cs typeface="Times New Roman" panose="02020603050405020304" pitchFamily="18" charset="0"/>
              </a:rPr>
              <a:t>是大于</a:t>
            </a:r>
            <a:r>
              <a:rPr lang="en-US" altLang="zh-CN" sz="2000" b="0" dirty="0">
                <a:solidFill>
                  <a:schemeClr val="bg1"/>
                </a:solidFill>
                <a:ea typeface="微软雅黑" panose="020B0503020204020204" pitchFamily="34" charset="-122"/>
                <a:cs typeface="Times New Roman" panose="02020603050405020304" pitchFamily="18" charset="0"/>
              </a:rPr>
              <a:t>1</a:t>
            </a:r>
            <a:r>
              <a:rPr lang="zh-CN" altLang="en-US" sz="2000" b="0" dirty="0">
                <a:solidFill>
                  <a:schemeClr val="bg1"/>
                </a:solidFill>
                <a:ea typeface="微软雅黑" panose="020B0503020204020204" pitchFamily="34" charset="-122"/>
                <a:cs typeface="Times New Roman" panose="02020603050405020304" pitchFamily="18" charset="0"/>
              </a:rPr>
              <a:t>的整数</a:t>
            </a:r>
            <a:r>
              <a:rPr lang="en-US" altLang="zh-CN" sz="2000" b="0" dirty="0">
                <a:solidFill>
                  <a:schemeClr val="bg1"/>
                </a:solidFill>
                <a:ea typeface="微软雅黑" panose="020B0503020204020204" pitchFamily="34" charset="-122"/>
                <a:cs typeface="Times New Roman" panose="02020603050405020304" pitchFamily="18" charset="0"/>
              </a:rPr>
              <a:t>}</a:t>
            </a:r>
          </a:p>
          <a:p>
            <a:pPr marL="609600" indent="-609600" eaLnBrk="1" hangingPunct="1">
              <a:lnSpc>
                <a:spcPct val="150000"/>
              </a:lnSpc>
              <a:buFont typeface="Wingdings" panose="05000000000000000000" pitchFamily="2" charset="2"/>
              <a:buNone/>
              <a:defRPr/>
            </a:pPr>
            <a:r>
              <a:rPr lang="en-US" altLang="zh-CN" sz="2000" b="0" dirty="0">
                <a:solidFill>
                  <a:schemeClr val="bg1"/>
                </a:solidFill>
                <a:ea typeface="微软雅黑" panose="020B0503020204020204" pitchFamily="34" charset="-122"/>
                <a:cs typeface="Times New Roman" panose="02020603050405020304" pitchFamily="18" charset="0"/>
              </a:rPr>
              <a:t>    (2)  {</a:t>
            </a:r>
            <a:r>
              <a:rPr lang="en-US" altLang="zh-CN" sz="2000" i="1" dirty="0" err="1">
                <a:solidFill>
                  <a:schemeClr val="bg1"/>
                </a:solidFill>
                <a:cs typeface="Times New Roman" panose="02020603050405020304" pitchFamily="18" charset="0"/>
              </a:rPr>
              <a:t>x</a:t>
            </a:r>
            <a:r>
              <a:rPr lang="en-US" altLang="zh-CN" sz="2000" b="0" dirty="0" err="1">
                <a:solidFill>
                  <a:schemeClr val="bg1"/>
                </a:solidFill>
                <a:ea typeface="微软雅黑" panose="020B0503020204020204" pitchFamily="34" charset="-122"/>
                <a:cs typeface="Times New Roman" panose="02020603050405020304" pitchFamily="18" charset="0"/>
              </a:rPr>
              <a:t>|</a:t>
            </a:r>
            <a:r>
              <a:rPr lang="en-US" altLang="zh-CN" sz="2000" i="1" dirty="0" err="1">
                <a:solidFill>
                  <a:schemeClr val="bg1"/>
                </a:solidFill>
                <a:cs typeface="Times New Roman" panose="02020603050405020304" pitchFamily="18" charset="0"/>
              </a:rPr>
              <a:t>x</a:t>
            </a:r>
            <a:r>
              <a:rPr lang="zh-CN" altLang="en-US" sz="2000" b="0" dirty="0">
                <a:solidFill>
                  <a:schemeClr val="bg1"/>
                </a:solidFill>
                <a:ea typeface="微软雅黑" panose="020B0503020204020204" pitchFamily="34" charset="-122"/>
                <a:cs typeface="Times New Roman" panose="02020603050405020304" pitchFamily="18" charset="0"/>
              </a:rPr>
              <a:t>是某整数的平方</a:t>
            </a:r>
            <a:r>
              <a:rPr lang="en-US" altLang="zh-CN" sz="2000" b="0" dirty="0">
                <a:solidFill>
                  <a:schemeClr val="bg1"/>
                </a:solidFill>
                <a:ea typeface="微软雅黑" panose="020B0503020204020204" pitchFamily="34" charset="-122"/>
                <a:cs typeface="Times New Roman" panose="02020603050405020304" pitchFamily="18" charset="0"/>
              </a:rPr>
              <a:t>}</a:t>
            </a:r>
          </a:p>
          <a:p>
            <a:pPr marL="609600" indent="-609600" eaLnBrk="1" hangingPunct="1">
              <a:lnSpc>
                <a:spcPct val="150000"/>
              </a:lnSpc>
              <a:buFont typeface="Wingdings" panose="05000000000000000000" pitchFamily="2" charset="2"/>
              <a:buNone/>
              <a:defRPr/>
            </a:pPr>
            <a:r>
              <a:rPr lang="en-US" altLang="zh-CN" sz="2000" b="0" dirty="0">
                <a:solidFill>
                  <a:schemeClr val="bg1"/>
                </a:solidFill>
                <a:ea typeface="微软雅黑" panose="020B0503020204020204" pitchFamily="34" charset="-122"/>
                <a:cs typeface="Times New Roman" panose="02020603050405020304" pitchFamily="18" charset="0"/>
              </a:rPr>
              <a:t>    (3)  {2, {2}}</a:t>
            </a:r>
          </a:p>
          <a:p>
            <a:pPr marL="609600" indent="-609600" eaLnBrk="1" hangingPunct="1">
              <a:lnSpc>
                <a:spcPct val="150000"/>
              </a:lnSpc>
              <a:buFont typeface="Wingdings" panose="05000000000000000000" pitchFamily="2" charset="2"/>
              <a:buNone/>
              <a:defRPr/>
            </a:pPr>
            <a:r>
              <a:rPr lang="en-US" altLang="zh-CN" sz="2000" b="0" dirty="0">
                <a:solidFill>
                  <a:schemeClr val="bg1"/>
                </a:solidFill>
                <a:ea typeface="微软雅黑" panose="020B0503020204020204" pitchFamily="34" charset="-122"/>
                <a:cs typeface="Times New Roman" panose="02020603050405020304" pitchFamily="18" charset="0"/>
              </a:rPr>
              <a:t>    (4)  {{2}, {{2}}}</a:t>
            </a:r>
          </a:p>
          <a:p>
            <a:pPr marL="609600" indent="-609600" eaLnBrk="1" hangingPunct="1">
              <a:lnSpc>
                <a:spcPct val="150000"/>
              </a:lnSpc>
              <a:buFont typeface="Wingdings" panose="05000000000000000000" pitchFamily="2" charset="2"/>
              <a:buNone/>
              <a:defRPr/>
            </a:pPr>
            <a:r>
              <a:rPr lang="en-US" altLang="zh-CN" sz="2000" b="0" dirty="0">
                <a:solidFill>
                  <a:schemeClr val="bg1"/>
                </a:solidFill>
                <a:ea typeface="微软雅黑" panose="020B0503020204020204" pitchFamily="34" charset="-122"/>
                <a:cs typeface="Times New Roman" panose="02020603050405020304" pitchFamily="18" charset="0"/>
              </a:rPr>
              <a:t>    (5)  {{2}, {2, {2}}}</a:t>
            </a:r>
          </a:p>
          <a:p>
            <a:pPr marL="609600" indent="-609600" eaLnBrk="1" hangingPunct="1">
              <a:lnSpc>
                <a:spcPct val="150000"/>
              </a:lnSpc>
              <a:buFont typeface="Wingdings" panose="05000000000000000000" pitchFamily="2" charset="2"/>
              <a:buNone/>
              <a:defRPr/>
            </a:pPr>
            <a:r>
              <a:rPr lang="en-US" altLang="zh-CN" sz="2000" b="0" dirty="0">
                <a:solidFill>
                  <a:schemeClr val="bg1"/>
                </a:solidFill>
                <a:ea typeface="微软雅黑" panose="020B0503020204020204" pitchFamily="34" charset="-122"/>
                <a:cs typeface="Times New Roman" panose="02020603050405020304" pitchFamily="18" charset="0"/>
              </a:rPr>
              <a:t>    (6)  {{{2}}}</a:t>
            </a:r>
          </a:p>
        </p:txBody>
      </p:sp>
      <p:sp>
        <p:nvSpPr>
          <p:cNvPr id="3" name="文本框 2"/>
          <p:cNvSpPr txBox="1"/>
          <p:nvPr/>
        </p:nvSpPr>
        <p:spPr>
          <a:xfrm>
            <a:off x="5951984" y="1782395"/>
            <a:ext cx="5760640" cy="2344360"/>
          </a:xfrm>
          <a:prstGeom prst="rect">
            <a:avLst/>
          </a:prstGeom>
          <a:noFill/>
        </p:spPr>
        <p:txBody>
          <a:bodyPr wrap="square">
            <a:spAutoFit/>
          </a:bodyPr>
          <a:lstStyle/>
          <a:p>
            <a:pPr marL="609600" indent="-609600" eaLnBrk="1" hangingPunct="1">
              <a:lnSpc>
                <a:spcPct val="150000"/>
              </a:lnSpc>
              <a:buFont typeface="Wingdings" panose="05000000000000000000" pitchFamily="2" charset="2"/>
              <a:buNone/>
              <a:defRPr/>
            </a:pPr>
            <a:r>
              <a:rPr lang="en-US" altLang="zh-CN" sz="2000" b="0" dirty="0">
                <a:solidFill>
                  <a:schemeClr val="bg1"/>
                </a:solidFill>
                <a:ea typeface="微软雅黑" panose="020B0503020204020204" pitchFamily="34" charset="-122"/>
                <a:cs typeface="Times New Roman" panose="02020603050405020304" pitchFamily="18" charset="0"/>
              </a:rPr>
              <a:t>3. </a:t>
            </a:r>
            <a:r>
              <a:rPr lang="zh-CN" altLang="en-US" sz="2000" b="0" dirty="0">
                <a:solidFill>
                  <a:schemeClr val="bg1"/>
                </a:solidFill>
                <a:ea typeface="微软雅黑" panose="020B0503020204020204" pitchFamily="34" charset="-122"/>
                <a:cs typeface="Times New Roman" panose="02020603050405020304" pitchFamily="18" charset="0"/>
              </a:rPr>
              <a:t>下列哪些命题成立？哪些不成立？为什么？</a:t>
            </a:r>
            <a:endParaRPr lang="zh-CN" altLang="en-US" sz="2000" b="0" dirty="0">
              <a:solidFill>
                <a:schemeClr val="bg1"/>
              </a:solidFill>
              <a:ea typeface="微软雅黑" panose="020B0503020204020204" pitchFamily="34" charset="-122"/>
              <a:cs typeface="Times New Roman" panose="02020603050405020304" pitchFamily="18" charset="0"/>
              <a:sym typeface="Symbol" panose="05050102010706020507" pitchFamily="18" charset="2"/>
            </a:endParaRPr>
          </a:p>
          <a:p>
            <a:pPr marL="609600" indent="-609600" eaLnBrk="1" hangingPunct="1">
              <a:lnSpc>
                <a:spcPct val="150000"/>
              </a:lnSpc>
              <a:buFont typeface="Wingdings" panose="05000000000000000000" pitchFamily="2" charset="2"/>
              <a:buNone/>
              <a:defRPr/>
            </a:pPr>
            <a:r>
              <a:rPr lang="en-US" altLang="zh-CN" sz="20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    (1)  </a:t>
            </a:r>
            <a:r>
              <a:rPr lang="zh-CN" altLang="en-US" sz="2000" i="1" dirty="0">
                <a:solidFill>
                  <a:schemeClr val="bg1"/>
                </a:solidFill>
                <a:cs typeface="Times New Roman" panose="02020603050405020304" pitchFamily="18" charset="0"/>
                <a:sym typeface="Symbol" panose="05050102010706020507" pitchFamily="18" charset="2"/>
              </a:rPr>
              <a:t></a:t>
            </a:r>
            <a:r>
              <a:rPr lang="zh-CN" altLang="en-US" sz="20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000" b="0" dirty="0">
                <a:solidFill>
                  <a:schemeClr val="bg1"/>
                </a:solidFill>
                <a:ea typeface="微软雅黑" panose="020B0503020204020204" pitchFamily="34" charset="-122"/>
                <a:cs typeface="Times New Roman" panose="02020603050405020304" pitchFamily="18" charset="0"/>
              </a:rPr>
              <a:t>{</a:t>
            </a:r>
            <a:r>
              <a:rPr lang="en-US" altLang="zh-CN" sz="2000" i="1" dirty="0">
                <a:solidFill>
                  <a:schemeClr val="bg1"/>
                </a:solidFill>
                <a:cs typeface="Times New Roman" panose="02020603050405020304" pitchFamily="18" charset="0"/>
                <a:sym typeface="Symbol" panose="05050102010706020507" pitchFamily="18" charset="2"/>
              </a:rPr>
              <a:t></a:t>
            </a:r>
            <a:r>
              <a:rPr lang="en-US" altLang="zh-CN" sz="2000" b="0" dirty="0">
                <a:solidFill>
                  <a:schemeClr val="bg1"/>
                </a:solidFill>
                <a:ea typeface="微软雅黑" panose="020B0503020204020204" pitchFamily="34" charset="-122"/>
                <a:cs typeface="Times New Roman" panose="02020603050405020304" pitchFamily="18" charset="0"/>
              </a:rPr>
              <a:t>, {</a:t>
            </a:r>
            <a:r>
              <a:rPr lang="en-US" altLang="zh-CN" sz="2000" i="1" dirty="0">
                <a:solidFill>
                  <a:schemeClr val="bg1"/>
                </a:solidFill>
                <a:cs typeface="Times New Roman" panose="02020603050405020304" pitchFamily="18" charset="0"/>
                <a:sym typeface="Symbol" panose="05050102010706020507" pitchFamily="18" charset="2"/>
              </a:rPr>
              <a:t></a:t>
            </a:r>
            <a:r>
              <a:rPr lang="en-US" altLang="zh-CN" sz="2000" b="0" dirty="0">
                <a:solidFill>
                  <a:schemeClr val="bg1"/>
                </a:solidFill>
                <a:ea typeface="微软雅黑" panose="020B0503020204020204" pitchFamily="34" charset="-122"/>
                <a:cs typeface="Times New Roman" panose="02020603050405020304" pitchFamily="18" charset="0"/>
              </a:rPr>
              <a:t>}}</a:t>
            </a:r>
            <a:endParaRPr lang="en-US" altLang="zh-CN" sz="2000" b="0" dirty="0">
              <a:solidFill>
                <a:schemeClr val="bg1"/>
              </a:solidFill>
              <a:ea typeface="微软雅黑" panose="020B0503020204020204" pitchFamily="34" charset="-122"/>
              <a:cs typeface="Times New Roman" panose="02020603050405020304" pitchFamily="18" charset="0"/>
              <a:sym typeface="Symbol" panose="05050102010706020507" pitchFamily="18" charset="2"/>
            </a:endParaRPr>
          </a:p>
          <a:p>
            <a:pPr marL="609600" indent="-609600" eaLnBrk="1" hangingPunct="1">
              <a:lnSpc>
                <a:spcPct val="150000"/>
              </a:lnSpc>
              <a:buFont typeface="Wingdings" panose="05000000000000000000" pitchFamily="2" charset="2"/>
              <a:buNone/>
              <a:defRPr/>
            </a:pPr>
            <a:r>
              <a:rPr lang="en-US" altLang="zh-CN" sz="20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    (2)  </a:t>
            </a:r>
            <a:r>
              <a:rPr lang="zh-CN" altLang="en-US" sz="2000" i="1" dirty="0">
                <a:solidFill>
                  <a:schemeClr val="bg1"/>
                </a:solidFill>
                <a:cs typeface="Times New Roman" panose="02020603050405020304" pitchFamily="18" charset="0"/>
                <a:sym typeface="Symbol" panose="05050102010706020507" pitchFamily="18" charset="2"/>
              </a:rPr>
              <a:t></a:t>
            </a:r>
            <a:r>
              <a:rPr lang="zh-CN" altLang="en-US" sz="20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 </a:t>
            </a:r>
            <a:r>
              <a:rPr lang="en-US" altLang="zh-CN" sz="2000" b="0" dirty="0">
                <a:solidFill>
                  <a:schemeClr val="bg1"/>
                </a:solidFill>
                <a:ea typeface="微软雅黑" panose="020B0503020204020204" pitchFamily="34" charset="-122"/>
                <a:cs typeface="Times New Roman" panose="02020603050405020304" pitchFamily="18" charset="0"/>
              </a:rPr>
              <a:t>{</a:t>
            </a:r>
            <a:r>
              <a:rPr lang="en-US" altLang="zh-CN" sz="2000" i="1" dirty="0">
                <a:solidFill>
                  <a:schemeClr val="bg1"/>
                </a:solidFill>
                <a:cs typeface="Times New Roman" panose="02020603050405020304" pitchFamily="18" charset="0"/>
                <a:sym typeface="Symbol" panose="05050102010706020507" pitchFamily="18" charset="2"/>
              </a:rPr>
              <a:t></a:t>
            </a:r>
            <a:r>
              <a:rPr lang="en-US" altLang="zh-CN" sz="2000" b="0" dirty="0">
                <a:solidFill>
                  <a:schemeClr val="bg1"/>
                </a:solidFill>
                <a:ea typeface="微软雅黑" panose="020B0503020204020204" pitchFamily="34" charset="-122"/>
                <a:cs typeface="Times New Roman" panose="02020603050405020304" pitchFamily="18" charset="0"/>
              </a:rPr>
              <a:t>, {</a:t>
            </a:r>
            <a:r>
              <a:rPr lang="en-US" altLang="zh-CN" sz="2000" i="1" dirty="0">
                <a:solidFill>
                  <a:schemeClr val="bg1"/>
                </a:solidFill>
                <a:cs typeface="Times New Roman" panose="02020603050405020304" pitchFamily="18" charset="0"/>
                <a:sym typeface="Symbol" panose="05050102010706020507" pitchFamily="18" charset="2"/>
              </a:rPr>
              <a:t></a:t>
            </a:r>
            <a:r>
              <a:rPr lang="en-US" altLang="zh-CN" sz="2000" b="0" dirty="0">
                <a:solidFill>
                  <a:schemeClr val="bg1"/>
                </a:solidFill>
                <a:ea typeface="微软雅黑" panose="020B0503020204020204" pitchFamily="34" charset="-122"/>
                <a:cs typeface="Times New Roman" panose="02020603050405020304" pitchFamily="18" charset="0"/>
              </a:rPr>
              <a:t>}}</a:t>
            </a:r>
          </a:p>
          <a:p>
            <a:pPr marL="609600" indent="-609600" eaLnBrk="1" hangingPunct="1">
              <a:lnSpc>
                <a:spcPct val="150000"/>
              </a:lnSpc>
              <a:buFont typeface="Wingdings" panose="05000000000000000000" pitchFamily="2" charset="2"/>
              <a:buNone/>
              <a:defRPr/>
            </a:pPr>
            <a:r>
              <a:rPr lang="en-US" altLang="zh-CN" sz="2000" b="0" dirty="0">
                <a:solidFill>
                  <a:schemeClr val="bg1"/>
                </a:solidFill>
                <a:ea typeface="微软雅黑" panose="020B0503020204020204" pitchFamily="34" charset="-122"/>
                <a:cs typeface="Times New Roman" panose="02020603050405020304" pitchFamily="18" charset="0"/>
              </a:rPr>
              <a:t>    (3)  {</a:t>
            </a:r>
            <a:r>
              <a:rPr lang="en-US" altLang="zh-CN" sz="2000" i="1" dirty="0">
                <a:solidFill>
                  <a:schemeClr val="bg1"/>
                </a:solidFill>
                <a:cs typeface="Times New Roman" panose="02020603050405020304" pitchFamily="18" charset="0"/>
                <a:sym typeface="Symbol" panose="05050102010706020507" pitchFamily="18" charset="2"/>
              </a:rPr>
              <a:t></a:t>
            </a:r>
            <a:r>
              <a:rPr lang="en-US" altLang="zh-CN" sz="2000" b="0" dirty="0">
                <a:solidFill>
                  <a:schemeClr val="bg1"/>
                </a:solidFill>
                <a:ea typeface="微软雅黑" panose="020B0503020204020204" pitchFamily="34" charset="-122"/>
                <a:cs typeface="Times New Roman" panose="02020603050405020304" pitchFamily="18" charset="0"/>
              </a:rPr>
              <a:t>}</a:t>
            </a:r>
            <a:r>
              <a:rPr lang="en-US" altLang="zh-CN" sz="20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000" b="0" dirty="0">
                <a:solidFill>
                  <a:schemeClr val="bg1"/>
                </a:solidFill>
                <a:ea typeface="微软雅黑" panose="020B0503020204020204" pitchFamily="34" charset="-122"/>
                <a:cs typeface="Times New Roman" panose="02020603050405020304" pitchFamily="18" charset="0"/>
              </a:rPr>
              <a:t>{</a:t>
            </a:r>
            <a:r>
              <a:rPr lang="en-US" altLang="zh-CN" sz="2000" i="1" dirty="0">
                <a:solidFill>
                  <a:schemeClr val="bg1"/>
                </a:solidFill>
                <a:cs typeface="Times New Roman" panose="02020603050405020304" pitchFamily="18" charset="0"/>
                <a:sym typeface="Symbol" panose="05050102010706020507" pitchFamily="18" charset="2"/>
              </a:rPr>
              <a:t></a:t>
            </a:r>
            <a:r>
              <a:rPr lang="en-US" altLang="zh-CN" sz="2000" b="0" dirty="0">
                <a:solidFill>
                  <a:schemeClr val="bg1"/>
                </a:solidFill>
                <a:ea typeface="微软雅黑" panose="020B0503020204020204" pitchFamily="34" charset="-122"/>
                <a:cs typeface="Times New Roman" panose="02020603050405020304" pitchFamily="18" charset="0"/>
              </a:rPr>
              <a:t>, {</a:t>
            </a:r>
            <a:r>
              <a:rPr lang="en-US" altLang="zh-CN" sz="2000" i="1" dirty="0">
                <a:solidFill>
                  <a:schemeClr val="bg1"/>
                </a:solidFill>
                <a:cs typeface="Times New Roman" panose="02020603050405020304" pitchFamily="18" charset="0"/>
                <a:sym typeface="Symbol" panose="05050102010706020507" pitchFamily="18" charset="2"/>
              </a:rPr>
              <a:t></a:t>
            </a:r>
            <a:r>
              <a:rPr lang="en-US" altLang="zh-CN" sz="2000" b="0" dirty="0">
                <a:solidFill>
                  <a:schemeClr val="bg1"/>
                </a:solidFill>
                <a:ea typeface="微软雅黑" panose="020B0503020204020204" pitchFamily="34" charset="-122"/>
                <a:cs typeface="Times New Roman" panose="02020603050405020304" pitchFamily="18" charset="0"/>
              </a:rPr>
              <a:t>}}</a:t>
            </a:r>
          </a:p>
          <a:p>
            <a:pPr marL="609600" indent="-609600" eaLnBrk="1" hangingPunct="1">
              <a:lnSpc>
                <a:spcPct val="150000"/>
              </a:lnSpc>
              <a:buFont typeface="Wingdings" panose="05000000000000000000" pitchFamily="2" charset="2"/>
              <a:buNone/>
              <a:defRPr/>
            </a:pPr>
            <a:r>
              <a:rPr lang="en-US" altLang="zh-CN" sz="2000" b="0" dirty="0">
                <a:solidFill>
                  <a:schemeClr val="bg1"/>
                </a:solidFill>
                <a:ea typeface="微软雅黑" panose="020B0503020204020204" pitchFamily="34" charset="-122"/>
                <a:cs typeface="Times New Roman" panose="02020603050405020304" pitchFamily="18" charset="0"/>
              </a:rPr>
              <a:t>    (4)  {{</a:t>
            </a:r>
            <a:r>
              <a:rPr lang="en-US" altLang="zh-CN" sz="2000" i="1" dirty="0">
                <a:solidFill>
                  <a:schemeClr val="bg1"/>
                </a:solidFill>
                <a:cs typeface="Times New Roman" panose="02020603050405020304" pitchFamily="18" charset="0"/>
                <a:sym typeface="Symbol" panose="05050102010706020507" pitchFamily="18" charset="2"/>
              </a:rPr>
              <a:t></a:t>
            </a:r>
            <a:r>
              <a:rPr lang="en-US" altLang="zh-CN" sz="2000" b="0" dirty="0">
                <a:solidFill>
                  <a:schemeClr val="bg1"/>
                </a:solidFill>
                <a:ea typeface="微软雅黑" panose="020B0503020204020204" pitchFamily="34" charset="-122"/>
                <a:cs typeface="Times New Roman" panose="02020603050405020304" pitchFamily="18" charset="0"/>
              </a:rPr>
              <a:t>}}</a:t>
            </a:r>
            <a:r>
              <a:rPr lang="en-US" altLang="zh-CN" sz="2000" b="0" dirty="0">
                <a:solidFill>
                  <a:schemeClr val="bg1"/>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000" b="0" dirty="0">
                <a:solidFill>
                  <a:schemeClr val="bg1"/>
                </a:solidFill>
                <a:ea typeface="微软雅黑" panose="020B0503020204020204" pitchFamily="34" charset="-122"/>
                <a:cs typeface="Times New Roman" panose="02020603050405020304" pitchFamily="18" charset="0"/>
              </a:rPr>
              <a:t>{</a:t>
            </a:r>
            <a:r>
              <a:rPr lang="en-US" altLang="zh-CN" sz="2000" i="1" dirty="0">
                <a:solidFill>
                  <a:schemeClr val="bg1"/>
                </a:solidFill>
                <a:cs typeface="Times New Roman" panose="02020603050405020304" pitchFamily="18" charset="0"/>
                <a:sym typeface="Symbol" panose="05050102010706020507" pitchFamily="18" charset="2"/>
              </a:rPr>
              <a:t></a:t>
            </a:r>
            <a:r>
              <a:rPr lang="en-US" altLang="zh-CN" sz="2000" b="0" dirty="0">
                <a:solidFill>
                  <a:schemeClr val="bg1"/>
                </a:solidFill>
                <a:ea typeface="微软雅黑" panose="020B0503020204020204" pitchFamily="34" charset="-122"/>
                <a:cs typeface="Times New Roman" panose="02020603050405020304" pitchFamily="18" charset="0"/>
              </a:rPr>
              <a:t>, {</a:t>
            </a:r>
            <a:r>
              <a:rPr lang="en-US" altLang="zh-CN" sz="2000" i="1" dirty="0">
                <a:solidFill>
                  <a:schemeClr val="bg1"/>
                </a:solidFill>
                <a:cs typeface="Times New Roman" panose="02020603050405020304" pitchFamily="18" charset="0"/>
                <a:sym typeface="Symbol" panose="05050102010706020507" pitchFamily="18" charset="2"/>
              </a:rPr>
              <a:t> </a:t>
            </a:r>
            <a:r>
              <a:rPr lang="en-US" altLang="zh-CN" sz="2000" dirty="0">
                <a:solidFill>
                  <a:schemeClr val="bg1"/>
                </a:solidFill>
                <a:cs typeface="Times New Roman" panose="02020603050405020304" pitchFamily="18" charset="0"/>
                <a:sym typeface="Symbol" panose="05050102010706020507" pitchFamily="18" charset="2"/>
              </a:rPr>
              <a:t>}}</a:t>
            </a:r>
            <a:endParaRPr lang="zh-CN" altLang="en-US" sz="2000" dirty="0">
              <a:solidFill>
                <a:schemeClr val="bg1"/>
              </a:solidFill>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anim calcmode="lin" valueType="num">
                                      <p:cBhvr>
                                        <p:cTn id="7" dur="1000" fill="hold"/>
                                        <p:tgtEl>
                                          <p:spTgt spid="37892"/>
                                        </p:tgtEl>
                                        <p:attrNameLst>
                                          <p:attrName>ppt_w</p:attrName>
                                        </p:attrNameLst>
                                      </p:cBhvr>
                                      <p:tavLst>
                                        <p:tav tm="0">
                                          <p:val>
                                            <p:fltVal val="0"/>
                                          </p:val>
                                        </p:tav>
                                        <p:tav tm="100000">
                                          <p:val>
                                            <p:strVal val="#ppt_w"/>
                                          </p:val>
                                        </p:tav>
                                      </p:tavLst>
                                    </p:anim>
                                    <p:anim calcmode="lin" valueType="num">
                                      <p:cBhvr>
                                        <p:cTn id="8" dur="1000" fill="hold"/>
                                        <p:tgtEl>
                                          <p:spTgt spid="37892"/>
                                        </p:tgtEl>
                                        <p:attrNameLst>
                                          <p:attrName>ppt_h</p:attrName>
                                        </p:attrNameLst>
                                      </p:cBhvr>
                                      <p:tavLst>
                                        <p:tav tm="0">
                                          <p:val>
                                            <p:fltVal val="0"/>
                                          </p:val>
                                        </p:tav>
                                        <p:tav tm="100000">
                                          <p:val>
                                            <p:strVal val="#ppt_h"/>
                                          </p:val>
                                        </p:tav>
                                      </p:tavLst>
                                    </p:anim>
                                    <p:anim calcmode="lin" valueType="num">
                                      <p:cBhvr>
                                        <p:cTn id="9" dur="1000" fill="hold"/>
                                        <p:tgtEl>
                                          <p:spTgt spid="37892"/>
                                        </p:tgtEl>
                                        <p:attrNameLst>
                                          <p:attrName>style.rotation</p:attrName>
                                        </p:attrNameLst>
                                      </p:cBhvr>
                                      <p:tavLst>
                                        <p:tav tm="0">
                                          <p:val>
                                            <p:fltVal val="90"/>
                                          </p:val>
                                        </p:tav>
                                        <p:tav tm="100000">
                                          <p:val>
                                            <p:fltVal val="0"/>
                                          </p:val>
                                        </p:tav>
                                      </p:tavLst>
                                    </p:anim>
                                    <p:animEffect transition="in" filter="fade">
                                      <p:cBhvr>
                                        <p:cTn id="10" dur="1000"/>
                                        <p:tgtEl>
                                          <p:spTgt spid="37892"/>
                                        </p:tgtEl>
                                      </p:cBhvr>
                                    </p:animEffect>
                                  </p:childTnLst>
                                </p:cTn>
                              </p:par>
                            </p:childTnLst>
                          </p:cTn>
                        </p:par>
                        <p:par>
                          <p:cTn id="11" fill="hold">
                            <p:stCondLst>
                              <p:cond delay="1000"/>
                            </p:stCondLst>
                            <p:childTnLst>
                              <p:par>
                                <p:cTn id="12" presetID="31"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fltVal val="0"/>
                                          </p:val>
                                        </p:tav>
                                        <p:tav tm="100000">
                                          <p:val>
                                            <p:strVal val="#ppt_w"/>
                                          </p:val>
                                        </p:tav>
                                      </p:tavLst>
                                    </p:anim>
                                    <p:anim calcmode="lin" valueType="num">
                                      <p:cBhvr>
                                        <p:cTn id="15" dur="1000" fill="hold"/>
                                        <p:tgtEl>
                                          <p:spTgt spid="9"/>
                                        </p:tgtEl>
                                        <p:attrNameLst>
                                          <p:attrName>ppt_h</p:attrName>
                                        </p:attrNameLst>
                                      </p:cBhvr>
                                      <p:tavLst>
                                        <p:tav tm="0">
                                          <p:val>
                                            <p:fltVal val="0"/>
                                          </p:val>
                                        </p:tav>
                                        <p:tav tm="100000">
                                          <p:val>
                                            <p:strVal val="#ppt_h"/>
                                          </p:val>
                                        </p:tav>
                                      </p:tavLst>
                                    </p:anim>
                                    <p:anim calcmode="lin" valueType="num">
                                      <p:cBhvr>
                                        <p:cTn id="16" dur="1000" fill="hold"/>
                                        <p:tgtEl>
                                          <p:spTgt spid="9"/>
                                        </p:tgtEl>
                                        <p:attrNameLst>
                                          <p:attrName>style.rotation</p:attrName>
                                        </p:attrNameLst>
                                      </p:cBhvr>
                                      <p:tavLst>
                                        <p:tav tm="0">
                                          <p:val>
                                            <p:fltVal val="90"/>
                                          </p:val>
                                        </p:tav>
                                        <p:tav tm="100000">
                                          <p:val>
                                            <p:fltVal val="0"/>
                                          </p:val>
                                        </p:tav>
                                      </p:tavLst>
                                    </p:anim>
                                    <p:animEffect transition="in" filter="fade">
                                      <p:cBhvr>
                                        <p:cTn id="17" dur="1000"/>
                                        <p:tgtEl>
                                          <p:spTgt spid="9"/>
                                        </p:tgtEl>
                                      </p:cBhvr>
                                    </p:animEffect>
                                  </p:childTnLst>
                                </p:cTn>
                              </p:par>
                            </p:childTnLst>
                          </p:cTn>
                        </p:par>
                        <p:par>
                          <p:cTn id="18" fill="hold">
                            <p:stCondLst>
                              <p:cond delay="2000"/>
                            </p:stCondLst>
                            <p:childTnLst>
                              <p:par>
                                <p:cTn id="19" presetID="31" presetClass="entr" presetSubtype="0" fill="hold" grpId="0" nodeType="after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1000" fill="hold"/>
                                        <p:tgtEl>
                                          <p:spTgt spid="3"/>
                                        </p:tgtEl>
                                        <p:attrNameLst>
                                          <p:attrName>ppt_w</p:attrName>
                                        </p:attrNameLst>
                                      </p:cBhvr>
                                      <p:tavLst>
                                        <p:tav tm="0">
                                          <p:val>
                                            <p:fltVal val="0"/>
                                          </p:val>
                                        </p:tav>
                                        <p:tav tm="100000">
                                          <p:val>
                                            <p:strVal val="#ppt_w"/>
                                          </p:val>
                                        </p:tav>
                                      </p:tavLst>
                                    </p:anim>
                                    <p:anim calcmode="lin" valueType="num">
                                      <p:cBhvr>
                                        <p:cTn id="22" dur="1000" fill="hold"/>
                                        <p:tgtEl>
                                          <p:spTgt spid="3"/>
                                        </p:tgtEl>
                                        <p:attrNameLst>
                                          <p:attrName>ppt_h</p:attrName>
                                        </p:attrNameLst>
                                      </p:cBhvr>
                                      <p:tavLst>
                                        <p:tav tm="0">
                                          <p:val>
                                            <p:fltVal val="0"/>
                                          </p:val>
                                        </p:tav>
                                        <p:tav tm="100000">
                                          <p:val>
                                            <p:strVal val="#ppt_h"/>
                                          </p:val>
                                        </p:tav>
                                      </p:tavLst>
                                    </p:anim>
                                    <p:anim calcmode="lin" valueType="num">
                                      <p:cBhvr>
                                        <p:cTn id="23" dur="1000" fill="hold"/>
                                        <p:tgtEl>
                                          <p:spTgt spid="3"/>
                                        </p:tgtEl>
                                        <p:attrNameLst>
                                          <p:attrName>style.rotation</p:attrName>
                                        </p:attrNameLst>
                                      </p:cBhvr>
                                      <p:tavLst>
                                        <p:tav tm="0">
                                          <p:val>
                                            <p:fltVal val="90"/>
                                          </p:val>
                                        </p:tav>
                                        <p:tav tm="100000">
                                          <p:val>
                                            <p:fltVal val="0"/>
                                          </p:val>
                                        </p:tav>
                                      </p:tavLst>
                                    </p:anim>
                                    <p:animEffect transition="in" filter="fade">
                                      <p:cBhvr>
                                        <p:cTn id="2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p:bldP spid="9" grpId="0"/>
      <p:bldP spid="3"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UxMDZlMWMxNThhZTg1OTc1ODg1MTk0MzVmZTYzZTEifQ=="/>
</p:tagLst>
</file>

<file path=ppt/tags/tag2.xml><?xml version="1.0" encoding="utf-8"?>
<p:tagLst xmlns:a="http://schemas.openxmlformats.org/drawingml/2006/main" xmlns:r="http://schemas.openxmlformats.org/officeDocument/2006/relationships" xmlns:p="http://schemas.openxmlformats.org/presentationml/2006/main">
  <p:tag name="TIMING" val="|1.6|8.6|1.5|3.5|3.1|3.7|5.1|2.8|4.3|3.9|3.6"/>
</p:tagLst>
</file>

<file path=ppt/tags/tag3.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4.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5.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6.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7.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8.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9.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10.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11.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12.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13.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14.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15.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16.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17.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18.xml><?xml version="1.0" encoding="utf-8"?>
<p:tagLst xmlns:a="http://schemas.openxmlformats.org/drawingml/2006/main" xmlns:r="http://schemas.openxmlformats.org/officeDocument/2006/relationships" xmlns:p="http://schemas.openxmlformats.org/presentationml/2006/main">
  <p:tag name="TIMING" val="|19.1|3.1|2.7|5.6|5.9|4.4|3.1|2.4|3.5|5.8|10.6"/>
</p:tagLst>
</file>

<file path=ppt/tags/tag19.xml><?xml version="1.0" encoding="utf-8"?>
<p:tagLst xmlns:a="http://schemas.openxmlformats.org/drawingml/2006/main" xmlns:r="http://schemas.openxmlformats.org/officeDocument/2006/relationships" xmlns:p="http://schemas.openxmlformats.org/presentationml/2006/main">
  <p:tag name="TIMING" val="|1.6"/>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2370</Words>
  <Application>Microsoft Office PowerPoint</Application>
  <PresentationFormat>宽屏</PresentationFormat>
  <Paragraphs>234</Paragraphs>
  <Slides>26</Slides>
  <Notes>19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26</vt:i4>
      </vt:variant>
    </vt:vector>
  </HeadingPairs>
  <TitlesOfParts>
    <vt:vector size="36" baseType="lpstr">
      <vt:lpstr>楷体_GB2312</vt:lpstr>
      <vt:lpstr>宋体</vt:lpstr>
      <vt:lpstr>微软雅黑</vt:lpstr>
      <vt:lpstr>Arial</vt:lpstr>
      <vt:lpstr>Calibri</vt:lpstr>
      <vt:lpstr>Cambria Math</vt:lpstr>
      <vt:lpstr>Symbol</vt:lpstr>
      <vt:lpstr>Times New Roman</vt:lpstr>
      <vt:lpstr>Wingdings</vt:lpstr>
      <vt:lpstr>默认设计模板</vt:lpstr>
      <vt:lpstr>PowerPoint 演示文稿</vt:lpstr>
      <vt:lpstr>本章导读</vt:lpstr>
      <vt:lpstr>      集合论发展史</vt:lpstr>
      <vt:lpstr>康托尔: 集合论的奠基人</vt:lpstr>
      <vt:lpstr>康托尔: 集合论的奠基人</vt:lpstr>
      <vt:lpstr>      集合论发展史（继续）</vt:lpstr>
      <vt:lpstr>      集合论发展史（继续）</vt:lpstr>
      <vt:lpstr>1.1 集合的概念和术语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番茄花园</dc:creator>
  <cp:lastModifiedBy>86186</cp:lastModifiedBy>
  <cp:revision>692</cp:revision>
  <dcterms:created xsi:type="dcterms:W3CDTF">2008-05-09T05:16:00Z</dcterms:created>
  <dcterms:modified xsi:type="dcterms:W3CDTF">2026-03-02T03:35:17Z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66DB6E9B2A1C47CDB32FF01B59808BCB_13</vt:lpwstr>
  </property>
  <property fmtid="{D5CDD505-2E9C-101B-9397-08002B2CF9AE}" pid="3" name="KSOProductBuildVer">
    <vt:lpwstr>2052-12.1.0.16388</vt:lpwstr>
  </property>
</Properties>
</file>