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7" r:id="rId2"/>
    <p:sldId id="377" r:id="rId3"/>
    <p:sldId id="338" r:id="rId4"/>
    <p:sldId id="404" r:id="rId5"/>
    <p:sldId id="469" r:id="rId6"/>
    <p:sldId id="470" r:id="rId7"/>
    <p:sldId id="438" r:id="rId8"/>
    <p:sldId id="441" r:id="rId9"/>
    <p:sldId id="442" r:id="rId10"/>
    <p:sldId id="468" r:id="rId11"/>
    <p:sldId id="471" r:id="rId12"/>
    <p:sldId id="472" r:id="rId13"/>
    <p:sldId id="473" r:id="rId14"/>
    <p:sldId id="474" r:id="rId15"/>
    <p:sldId id="475" r:id="rId16"/>
    <p:sldId id="476" r:id="rId17"/>
    <p:sldId id="477" r:id="rId18"/>
    <p:sldId id="356" r:id="rId19"/>
    <p:sldId id="357" r:id="rId20"/>
    <p:sldId id="359" r:id="rId21"/>
    <p:sldId id="358" r:id="rId22"/>
    <p:sldId id="460" r:id="rId23"/>
    <p:sldId id="451" r:id="rId24"/>
    <p:sldId id="452" r:id="rId25"/>
    <p:sldId id="454" r:id="rId26"/>
    <p:sldId id="479" r:id="rId27"/>
    <p:sldId id="457" r:id="rId28"/>
    <p:sldId id="458" r:id="rId29"/>
    <p:sldId id="399" r:id="rId30"/>
  </p:sldIdLst>
  <p:sldSz cx="12192000" cy="6858000"/>
  <p:notesSz cx="6858000" cy="9144000"/>
  <p:custDataLst>
    <p:tags r:id="rId3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FF"/>
    <a:srgbClr val="FF7C80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8" autoAdjust="0"/>
    <p:restoredTop sz="86003" autoAdjust="0"/>
  </p:normalViewPr>
  <p:slideViewPr>
    <p:cSldViewPr showGuides="1">
      <p:cViewPr varScale="1">
        <p:scale>
          <a:sx n="79" d="100"/>
          <a:sy n="79" d="100"/>
        </p:scale>
        <p:origin x="264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168F48A-54EC-4B65-9277-C89D30F74D7D}" type="slidenum">
              <a:rPr lang="en-US" altLang="zh-CN"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50195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128448" y="11309"/>
            <a:ext cx="20177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命题逻辑</a:t>
            </a:r>
            <a:endParaRPr lang="en-US" altLang="zh-CN" sz="20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2441E45-CAA9-4BAB-8C4B-B6C38E87B5A1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第三章 命题逻辑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423592" y="4221088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551384" y="1772816"/>
            <a:ext cx="51125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关于逻辑推理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43871" y="299120"/>
            <a:ext cx="597666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</a:t>
            </a:r>
            <a:r>
              <a:rPr lang="en-US" altLang="zh-CN" sz="3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命题逻辑的推理理论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75520" y="2348880"/>
            <a:ext cx="3672408" cy="16888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200000"/>
              </a:lnSpc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什么是推理模型？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有哪些推理规则？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有哪些推理方法？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551384" y="4090584"/>
            <a:ext cx="11017224" cy="499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是指从一些已知的命题公式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zh-CN" altLang="en-US" sz="20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应用</a:t>
            </a:r>
            <a:r>
              <a:rPr lang="zh-CN" altLang="en-US" sz="20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推理规则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推演出另一些命题公式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zh-CN" altLang="en-US" sz="20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的过程。</a:t>
            </a:r>
          </a:p>
        </p:txBody>
      </p:sp>
      <p:sp>
        <p:nvSpPr>
          <p:cNvPr id="3" name="椭圆 2"/>
          <p:cNvSpPr/>
          <p:nvPr/>
        </p:nvSpPr>
        <p:spPr bwMode="auto">
          <a:xfrm>
            <a:off x="4799855" y="4090584"/>
            <a:ext cx="550461" cy="499432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10056440" y="4090584"/>
            <a:ext cx="576064" cy="499432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: 圆角 5"/>
          <p:cNvSpPr/>
          <p:nvPr/>
        </p:nvSpPr>
        <p:spPr bwMode="auto">
          <a:xfrm>
            <a:off x="5879976" y="4090584"/>
            <a:ext cx="1080120" cy="499432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8" grpId="0"/>
      <p:bldP spid="3" grpId="0" animBg="1"/>
      <p:bldP spid="4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48245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本节内容要点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072366" y="2298869"/>
            <a:ext cx="36823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逻辑推理的基本模型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604448" y="4256361"/>
            <a:ext cx="22257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3.3.2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推理方法</a:t>
            </a:r>
          </a:p>
        </p:txBody>
      </p:sp>
      <p:sp>
        <p:nvSpPr>
          <p:cNvPr id="4" name="AutoShape 6"/>
          <p:cNvSpPr/>
          <p:nvPr/>
        </p:nvSpPr>
        <p:spPr bwMode="auto">
          <a:xfrm>
            <a:off x="4673973" y="1931064"/>
            <a:ext cx="339725" cy="1219200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013698" y="1747395"/>
            <a:ext cx="194639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数学模型</a:t>
            </a: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推理规则</a:t>
            </a: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形式证明</a:t>
            </a:r>
          </a:p>
        </p:txBody>
      </p:sp>
      <p:sp>
        <p:nvSpPr>
          <p:cNvPr id="6" name="AutoShape 8"/>
          <p:cNvSpPr/>
          <p:nvPr/>
        </p:nvSpPr>
        <p:spPr bwMode="auto">
          <a:xfrm>
            <a:off x="4709834" y="4092476"/>
            <a:ext cx="256909" cy="789438"/>
          </a:xfrm>
          <a:prstGeom prst="leftBrace">
            <a:avLst>
              <a:gd name="adj1" fmla="val 32163"/>
              <a:gd name="adj2" fmla="val 47751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5013698" y="3979363"/>
            <a:ext cx="362071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附加条件</a:t>
            </a: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归谬法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7365069" y="3581099"/>
            <a:ext cx="40595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核心：形式证明</a:t>
            </a:r>
            <a:r>
              <a:rPr lang="en-US" altLang="zh-CN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24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推理规则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 animBg="1"/>
      <p:bldP spid="5" grpId="0"/>
      <p:bldP spid="6" grpId="0" animBg="1"/>
      <p:bldP spid="12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6" name="Text Box 8"/>
          <p:cNvSpPr txBox="1">
            <a:spLocks noChangeArrowheads="1"/>
          </p:cNvSpPr>
          <p:nvPr/>
        </p:nvSpPr>
        <p:spPr bwMode="auto">
          <a:xfrm>
            <a:off x="623392" y="4418703"/>
            <a:ext cx="9657333" cy="1114664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buSzPct val="100000"/>
              <a:buNone/>
              <a:defRPr/>
            </a:pPr>
            <a:r>
              <a:rPr lang="zh-CN" altLang="en-US" sz="22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解析：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的推理正确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结构相同：</a:t>
            </a:r>
            <a:r>
              <a:rPr lang="en-US" altLang="zh-CN" sz="22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2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  <a:p>
            <a:pPr marL="0" indent="0" algn="just" eaLnBrk="1" hangingPunct="1">
              <a:lnSpc>
                <a:spcPct val="150000"/>
              </a:lnSpc>
              <a:buSzPct val="100000"/>
              <a:buNone/>
              <a:defRPr/>
            </a:pP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(3)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的推理不正确： </a:t>
            </a:r>
            <a:r>
              <a:rPr lang="en-US" altLang="zh-CN" sz="22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2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2" name="Rectangle 7"/>
          <p:cNvSpPr txBox="1">
            <a:spLocks noChangeArrowheads="1"/>
          </p:cNvSpPr>
          <p:nvPr/>
        </p:nvSpPr>
        <p:spPr bwMode="auto">
          <a:xfrm>
            <a:off x="5159376" y="44450"/>
            <a:ext cx="55086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</a:t>
            </a: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逻辑推理的基本模型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79376" y="1772816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逻辑推理的实例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67408" y="2457612"/>
            <a:ext cx="10657184" cy="1818959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 algn="just" eaLnBrk="1" hangingPunct="1">
              <a:lnSpc>
                <a:spcPct val="115000"/>
              </a:lnSpc>
              <a:spcBef>
                <a:spcPct val="25000"/>
              </a:spcBef>
              <a:buClr>
                <a:srgbClr val="FF7C80"/>
              </a:buClr>
              <a:buSzPct val="80000"/>
              <a:buFont typeface="Wingdings" panose="05000000000000000000" pitchFamily="2" charset="2"/>
              <a:buChar char="l"/>
              <a:defRPr sz="24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en-US" altLang="zh-CN" sz="2200" dirty="0"/>
              <a:t>(1) </a:t>
            </a:r>
            <a:r>
              <a:rPr lang="zh-CN" altLang="en-US" sz="2200" dirty="0"/>
              <a:t>如果天气热</a:t>
            </a:r>
            <a:r>
              <a:rPr lang="en-US" altLang="zh-CN" sz="2200" dirty="0"/>
              <a:t>(</a:t>
            </a:r>
            <a:r>
              <a:rPr lang="en-US" altLang="zh-CN" sz="2200" i="1" dirty="0"/>
              <a:t>p</a:t>
            </a:r>
            <a:r>
              <a:rPr lang="en-US" altLang="zh-CN" sz="2200" dirty="0"/>
              <a:t>), </a:t>
            </a:r>
            <a:r>
              <a:rPr lang="zh-CN" altLang="en-US" sz="2200" dirty="0"/>
              <a:t>我就去游泳</a:t>
            </a:r>
            <a:r>
              <a:rPr lang="en-US" altLang="zh-CN" sz="2200" dirty="0"/>
              <a:t>(</a:t>
            </a:r>
            <a:r>
              <a:rPr lang="en-US" altLang="zh-CN" sz="2200" i="1" dirty="0"/>
              <a:t>q</a:t>
            </a:r>
            <a:r>
              <a:rPr lang="en-US" altLang="zh-CN" sz="2200" dirty="0"/>
              <a:t>)</a:t>
            </a:r>
            <a:r>
              <a:rPr lang="zh-CN" altLang="en-US" sz="2200" dirty="0"/>
              <a:t>。</a:t>
            </a:r>
            <a:r>
              <a:rPr lang="zh-CN" altLang="en-US" sz="2200" dirty="0">
                <a:solidFill>
                  <a:srgbClr val="92D050"/>
                </a:solidFill>
              </a:rPr>
              <a:t>天气热</a:t>
            </a:r>
            <a:r>
              <a:rPr lang="en-US" altLang="zh-CN" sz="2200" dirty="0">
                <a:solidFill>
                  <a:srgbClr val="92D050"/>
                </a:solidFill>
              </a:rPr>
              <a:t>(</a:t>
            </a:r>
            <a:r>
              <a:rPr lang="en-US" altLang="zh-CN" sz="2200" i="1" dirty="0">
                <a:solidFill>
                  <a:srgbClr val="92D050"/>
                </a:solidFill>
              </a:rPr>
              <a:t>p</a:t>
            </a:r>
            <a:r>
              <a:rPr lang="en-US" altLang="zh-CN" sz="2200" dirty="0">
                <a:solidFill>
                  <a:srgbClr val="92D050"/>
                </a:solidFill>
              </a:rPr>
              <a:t>), </a:t>
            </a:r>
            <a:r>
              <a:rPr lang="zh-CN" altLang="en-US" sz="2200" dirty="0">
                <a:solidFill>
                  <a:srgbClr val="92D050"/>
                </a:solidFill>
              </a:rPr>
              <a:t>所以我去游泳</a:t>
            </a:r>
            <a:r>
              <a:rPr lang="en-US" altLang="zh-CN" sz="2200" dirty="0">
                <a:solidFill>
                  <a:srgbClr val="92D050"/>
                </a:solidFill>
              </a:rPr>
              <a:t>(</a:t>
            </a:r>
            <a:r>
              <a:rPr lang="en-US" altLang="zh-CN" sz="2200" i="1" dirty="0">
                <a:solidFill>
                  <a:srgbClr val="92D050"/>
                </a:solidFill>
              </a:rPr>
              <a:t>q</a:t>
            </a:r>
            <a:r>
              <a:rPr lang="en-US" altLang="zh-CN" sz="2200" dirty="0">
                <a:solidFill>
                  <a:srgbClr val="92D050"/>
                </a:solidFill>
              </a:rPr>
              <a:t>)</a:t>
            </a:r>
            <a:r>
              <a:rPr lang="zh-CN" altLang="en-US" sz="2200" dirty="0">
                <a:solidFill>
                  <a:srgbClr val="92D050"/>
                </a:solidFill>
              </a:rPr>
              <a:t>。</a:t>
            </a:r>
          </a:p>
          <a:p>
            <a:pPr marL="0" indent="0">
              <a:buNone/>
            </a:pPr>
            <a:r>
              <a:rPr lang="en-US" altLang="zh-CN" sz="2200" dirty="0"/>
              <a:t>(2) </a:t>
            </a:r>
            <a:r>
              <a:rPr lang="zh-CN" altLang="en-US" sz="2200" dirty="0"/>
              <a:t>如果两个三角形全等</a:t>
            </a:r>
            <a:r>
              <a:rPr lang="en-US" altLang="zh-CN" sz="2200" dirty="0"/>
              <a:t>(</a:t>
            </a:r>
            <a:r>
              <a:rPr lang="en-US" altLang="zh-CN" sz="2200" i="1" dirty="0"/>
              <a:t>p</a:t>
            </a:r>
            <a:r>
              <a:rPr lang="en-US" altLang="zh-CN" sz="2200" dirty="0"/>
              <a:t>), </a:t>
            </a:r>
            <a:r>
              <a:rPr lang="zh-CN" altLang="en-US" sz="2200" dirty="0"/>
              <a:t>那么它们的对应角相等</a:t>
            </a:r>
            <a:r>
              <a:rPr lang="en-US" altLang="zh-CN" sz="2200" dirty="0"/>
              <a:t>(</a:t>
            </a:r>
            <a:r>
              <a:rPr lang="en-US" altLang="zh-CN" sz="2200" i="1" dirty="0"/>
              <a:t>q</a:t>
            </a:r>
            <a:r>
              <a:rPr lang="en-US" altLang="zh-CN" sz="2200" dirty="0"/>
              <a:t>)</a:t>
            </a:r>
            <a:r>
              <a:rPr lang="zh-CN" altLang="en-US" sz="2200" dirty="0"/>
              <a:t>。</a:t>
            </a:r>
            <a:r>
              <a:rPr lang="zh-CN" altLang="en-US" sz="2200" dirty="0">
                <a:solidFill>
                  <a:srgbClr val="92D050"/>
                </a:solidFill>
              </a:rPr>
              <a:t>两个三角形全等</a:t>
            </a:r>
            <a:r>
              <a:rPr lang="en-US" altLang="zh-CN" sz="2200" dirty="0">
                <a:solidFill>
                  <a:srgbClr val="92D050"/>
                </a:solidFill>
              </a:rPr>
              <a:t>(</a:t>
            </a:r>
            <a:r>
              <a:rPr lang="en-US" altLang="zh-CN" sz="2200" i="1" dirty="0">
                <a:solidFill>
                  <a:srgbClr val="92D050"/>
                </a:solidFill>
              </a:rPr>
              <a:t>p</a:t>
            </a:r>
            <a:r>
              <a:rPr lang="en-US" altLang="zh-CN" sz="2200" dirty="0">
                <a:solidFill>
                  <a:srgbClr val="92D050"/>
                </a:solidFill>
              </a:rPr>
              <a:t>), </a:t>
            </a:r>
            <a:r>
              <a:rPr lang="zh-CN" altLang="en-US" sz="2200" dirty="0">
                <a:solidFill>
                  <a:srgbClr val="92D050"/>
                </a:solidFill>
              </a:rPr>
              <a:t>所以它们的对应角相等</a:t>
            </a:r>
            <a:r>
              <a:rPr lang="en-US" altLang="zh-CN" sz="2200" dirty="0">
                <a:solidFill>
                  <a:srgbClr val="92D050"/>
                </a:solidFill>
              </a:rPr>
              <a:t>(</a:t>
            </a:r>
            <a:r>
              <a:rPr lang="en-US" altLang="zh-CN" sz="2200" i="1" dirty="0">
                <a:solidFill>
                  <a:srgbClr val="92D050"/>
                </a:solidFill>
              </a:rPr>
              <a:t>q</a:t>
            </a:r>
            <a:r>
              <a:rPr lang="en-US" altLang="zh-CN" sz="2200" dirty="0">
                <a:solidFill>
                  <a:srgbClr val="92D050"/>
                </a:solidFill>
              </a:rPr>
              <a:t>)</a:t>
            </a:r>
            <a:r>
              <a:rPr lang="zh-CN" altLang="en-US" sz="2200" dirty="0">
                <a:solidFill>
                  <a:srgbClr val="92D050"/>
                </a:solidFill>
              </a:rPr>
              <a:t>。</a:t>
            </a:r>
          </a:p>
          <a:p>
            <a:pPr marL="0" indent="0">
              <a:buNone/>
            </a:pPr>
            <a:r>
              <a:rPr lang="en-US" altLang="zh-CN" sz="2200" dirty="0"/>
              <a:t>(3) </a:t>
            </a:r>
            <a:r>
              <a:rPr lang="zh-CN" altLang="en-US" sz="2200" dirty="0"/>
              <a:t>如果天气热</a:t>
            </a:r>
            <a:r>
              <a:rPr lang="en-US" altLang="zh-CN" sz="2200" dirty="0"/>
              <a:t>(</a:t>
            </a:r>
            <a:r>
              <a:rPr lang="en-US" altLang="zh-CN" sz="2200" i="1" dirty="0"/>
              <a:t>p</a:t>
            </a:r>
            <a:r>
              <a:rPr lang="en-US" altLang="zh-CN" sz="2200" dirty="0"/>
              <a:t>),  </a:t>
            </a:r>
            <a:r>
              <a:rPr lang="zh-CN" altLang="en-US" sz="2200" dirty="0"/>
              <a:t>我就去游泳</a:t>
            </a:r>
            <a:r>
              <a:rPr lang="en-US" altLang="zh-CN" sz="2200" dirty="0"/>
              <a:t>(</a:t>
            </a:r>
            <a:r>
              <a:rPr lang="en-US" altLang="zh-CN" sz="2200" i="1" dirty="0"/>
              <a:t>q</a:t>
            </a:r>
            <a:r>
              <a:rPr lang="en-US" altLang="zh-CN" sz="2200" dirty="0"/>
              <a:t>)</a:t>
            </a:r>
            <a:r>
              <a:rPr lang="zh-CN" altLang="en-US" sz="2200" dirty="0"/>
              <a:t>。</a:t>
            </a:r>
            <a:r>
              <a:rPr lang="zh-CN" altLang="en-US" sz="2200" dirty="0">
                <a:solidFill>
                  <a:srgbClr val="92D050"/>
                </a:solidFill>
              </a:rPr>
              <a:t>我去游泳</a:t>
            </a:r>
            <a:r>
              <a:rPr lang="en-US" altLang="zh-CN" sz="2200" dirty="0">
                <a:solidFill>
                  <a:srgbClr val="92D050"/>
                </a:solidFill>
              </a:rPr>
              <a:t>(</a:t>
            </a:r>
            <a:r>
              <a:rPr lang="en-US" altLang="zh-CN" sz="2200" i="1" dirty="0">
                <a:solidFill>
                  <a:srgbClr val="92D050"/>
                </a:solidFill>
              </a:rPr>
              <a:t>q</a:t>
            </a:r>
            <a:r>
              <a:rPr lang="en-US" altLang="zh-CN" sz="2200" dirty="0">
                <a:solidFill>
                  <a:srgbClr val="92D050"/>
                </a:solidFill>
              </a:rPr>
              <a:t>),  </a:t>
            </a:r>
            <a:r>
              <a:rPr lang="zh-CN" altLang="en-US" sz="2200" dirty="0">
                <a:solidFill>
                  <a:srgbClr val="92D050"/>
                </a:solidFill>
              </a:rPr>
              <a:t>所以天气热</a:t>
            </a:r>
            <a:r>
              <a:rPr lang="en-US" altLang="zh-CN" sz="2200" dirty="0">
                <a:solidFill>
                  <a:srgbClr val="92D050"/>
                </a:solidFill>
              </a:rPr>
              <a:t>(</a:t>
            </a:r>
            <a:r>
              <a:rPr lang="en-US" altLang="zh-CN" sz="2200" i="1" dirty="0">
                <a:solidFill>
                  <a:srgbClr val="92D050"/>
                </a:solidFill>
              </a:rPr>
              <a:t>p</a:t>
            </a:r>
            <a:r>
              <a:rPr lang="en-US" altLang="zh-CN" sz="2200" dirty="0">
                <a:solidFill>
                  <a:srgbClr val="92D050"/>
                </a:solidFill>
              </a:rPr>
              <a:t>)</a:t>
            </a:r>
            <a:r>
              <a:rPr lang="zh-CN" altLang="en-US" sz="2200" dirty="0">
                <a:solidFill>
                  <a:srgbClr val="92D050"/>
                </a:solidFill>
              </a:rPr>
              <a:t>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089313" y="5259455"/>
            <a:ext cx="3816424" cy="461665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0" indent="0" algn="just" eaLnBrk="1" hangingPunct="1">
              <a:buSzPct val="100000"/>
              <a:buNone/>
              <a:defRPr/>
            </a:pPr>
            <a:r>
              <a:rPr lang="en-US" altLang="zh-CN" sz="2400" b="0" dirty="0"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dirty="0" err="1"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0" i="1" dirty="0" err="1"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 err="1"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dirty="0" err="1"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ea typeface="微软雅黑" panose="020B0503020204020204" pitchFamily="34" charset="-122"/>
                <a:cs typeface="Times New Roman" panose="02020603050405020304" pitchFamily="18" charset="0"/>
              </a:rPr>
              <a:t>不是永真公式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104112" y="4653136"/>
            <a:ext cx="3384376" cy="461665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marL="0" indent="0" algn="just" eaLnBrk="1" hangingPunct="1">
              <a:buSzPct val="100000"/>
              <a:buNone/>
              <a:defRPr/>
            </a:pPr>
            <a:r>
              <a:rPr lang="en-US" altLang="zh-CN" sz="2400" b="0" dirty="0"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dirty="0" err="1"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0" i="1" dirty="0" err="1"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dirty="0" err="1"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ea typeface="微软雅黑" panose="020B0503020204020204" pitchFamily="34" charset="-122"/>
                <a:cs typeface="Times New Roman" panose="02020603050405020304" pitchFamily="18" charset="0"/>
              </a:rPr>
              <a:t>是永真公式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6" grpId="0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1">
            <a:spLocks noChangeArrowheads="1"/>
          </p:cNvSpPr>
          <p:nvPr/>
        </p:nvSpPr>
        <p:spPr bwMode="auto">
          <a:xfrm>
            <a:off x="5159376" y="44450"/>
            <a:ext cx="55086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</a:t>
            </a: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逻辑推理的基本模型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79376" y="1772816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 eaLnBrk="1" hangingPunct="1">
              <a:buSzPct val="100000"/>
              <a:defRPr/>
            </a:pPr>
            <a:r>
              <a:rPr lang="zh-CN" altLang="en-US" sz="2800" dirty="0">
                <a:latin typeface="Times New Roman" panose="02020603050405020304" pitchFamily="18" charset="0"/>
              </a:rPr>
              <a:t>  观察、总结、分析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67408" y="2457612"/>
            <a:ext cx="11017224" cy="2123658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 algn="just" eaLnBrk="1" hangingPunct="1">
              <a:lnSpc>
                <a:spcPct val="115000"/>
              </a:lnSpc>
              <a:spcBef>
                <a:spcPct val="25000"/>
              </a:spcBef>
              <a:buClr>
                <a:srgbClr val="FF7C80"/>
              </a:buClr>
              <a:buSzPct val="80000"/>
              <a:buFont typeface="Wingdings" panose="05000000000000000000" pitchFamily="2" charset="2"/>
              <a:buChar char="l"/>
              <a:defRPr sz="24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-457200" algn="just" eaLnBrk="1" hangingPunct="1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lang="en-US" altLang="zh-CN" sz="2200" dirty="0"/>
              <a:t>(1)  </a:t>
            </a:r>
            <a:r>
              <a:rPr lang="zh-CN" altLang="en-US" sz="2200" dirty="0"/>
              <a:t>逻辑推理就是从若干前提</a:t>
            </a:r>
            <a:r>
              <a:rPr lang="en-US" altLang="zh-CN" sz="2200" dirty="0"/>
              <a:t>(</a:t>
            </a:r>
            <a:r>
              <a:rPr lang="zh-CN" altLang="en-US" sz="2200" dirty="0"/>
              <a:t>命题</a:t>
            </a:r>
            <a:r>
              <a:rPr lang="en-US" altLang="zh-CN" sz="2200" dirty="0"/>
              <a:t>)</a:t>
            </a:r>
            <a:r>
              <a:rPr lang="zh-CN" altLang="en-US" sz="2200" dirty="0"/>
              <a:t>依据一些推理规则推出一个结论</a:t>
            </a:r>
            <a:r>
              <a:rPr lang="en-US" altLang="zh-CN" sz="2200" dirty="0"/>
              <a:t>(</a:t>
            </a:r>
            <a:r>
              <a:rPr lang="zh-CN" altLang="en-US" sz="2200" dirty="0"/>
              <a:t>命题</a:t>
            </a:r>
            <a:r>
              <a:rPr lang="en-US" altLang="zh-CN" sz="2200" dirty="0"/>
              <a:t>);</a:t>
            </a:r>
          </a:p>
          <a:p>
            <a:pPr marL="0" indent="-457200" algn="just" eaLnBrk="1" hangingPunct="1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lang="en-US" altLang="zh-CN" sz="2200" dirty="0"/>
              <a:t>(2)  </a:t>
            </a:r>
            <a:r>
              <a:rPr lang="zh-CN" altLang="en-US" sz="2200" dirty="0"/>
              <a:t>逻辑推理的正确性取决于前提和结论的构成形式</a:t>
            </a:r>
            <a:r>
              <a:rPr lang="en-US" altLang="zh-CN" sz="2200" dirty="0"/>
              <a:t>, </a:t>
            </a:r>
            <a:r>
              <a:rPr lang="zh-CN" altLang="en-US" sz="2200" dirty="0"/>
              <a:t>与具体内容无关</a:t>
            </a:r>
            <a:r>
              <a:rPr lang="en-US" altLang="zh-CN" sz="2200" dirty="0"/>
              <a:t>;</a:t>
            </a:r>
          </a:p>
          <a:p>
            <a:pPr marL="0" indent="-457200" algn="just" eaLnBrk="1" hangingPunct="1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lang="en-US" altLang="zh-CN" sz="2200" dirty="0"/>
              <a:t>(3) </a:t>
            </a:r>
            <a:r>
              <a:rPr lang="zh-CN" altLang="en-US" sz="2200" dirty="0"/>
              <a:t>数理逻辑将日常推理中的结构</a:t>
            </a:r>
            <a:r>
              <a:rPr lang="en-US" altLang="zh-CN" sz="2200" dirty="0"/>
              <a:t>(</a:t>
            </a:r>
            <a:r>
              <a:rPr lang="zh-CN" altLang="en-US" sz="2200" dirty="0"/>
              <a:t>形式</a:t>
            </a:r>
            <a:r>
              <a:rPr lang="en-US" altLang="zh-CN" sz="2200" dirty="0"/>
              <a:t>)</a:t>
            </a:r>
            <a:r>
              <a:rPr lang="zh-CN" altLang="en-US" sz="2200" dirty="0"/>
              <a:t>抽取出来建立数学模型</a:t>
            </a:r>
            <a:r>
              <a:rPr lang="en-US" altLang="zh-CN" sz="2200" dirty="0"/>
              <a:t>, </a:t>
            </a:r>
            <a:r>
              <a:rPr lang="zh-CN" altLang="en-US" sz="2200" dirty="0"/>
              <a:t>这个模型适用于所有学科</a:t>
            </a:r>
            <a:r>
              <a:rPr lang="en-US" altLang="zh-CN" sz="2200" dirty="0"/>
              <a:t>;</a:t>
            </a:r>
            <a:endParaRPr lang="zh-CN" altLang="en-US" sz="2200" dirty="0"/>
          </a:p>
          <a:p>
            <a:pPr marL="0" indent="-457200" algn="just" eaLnBrk="1" hangingPunct="1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lang="en-US" altLang="zh-CN" sz="2200" dirty="0"/>
              <a:t>(4)  </a:t>
            </a:r>
            <a:r>
              <a:rPr lang="zh-CN" altLang="en-US" sz="2200" dirty="0"/>
              <a:t>正确的推理形式对应于一个永真的蕴含式</a:t>
            </a:r>
            <a:r>
              <a:rPr lang="en-US" altLang="zh-CN" sz="2200" dirty="0"/>
              <a:t>, </a:t>
            </a:r>
            <a:r>
              <a:rPr lang="zh-CN" altLang="en-US" sz="2200" dirty="0"/>
              <a:t>其前件是所有前提的合取</a:t>
            </a:r>
            <a:r>
              <a:rPr lang="en-US" altLang="zh-CN" sz="2200" dirty="0"/>
              <a:t>, </a:t>
            </a:r>
            <a:r>
              <a:rPr lang="zh-CN" altLang="en-US" sz="2200" dirty="0"/>
              <a:t>其后件是结论。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1">
            <a:spLocks noChangeArrowheads="1"/>
          </p:cNvSpPr>
          <p:nvPr/>
        </p:nvSpPr>
        <p:spPr bwMode="auto">
          <a:xfrm>
            <a:off x="5159376" y="44450"/>
            <a:ext cx="55086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</a:t>
            </a: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逻辑推理的基本模型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88435" y="1605549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>
              <a:buSzPct val="100000"/>
              <a:defRPr/>
            </a:pPr>
            <a:r>
              <a:rPr lang="zh-CN" altLang="en-US" sz="2800" dirty="0">
                <a:latin typeface="Times New Roman" panose="02020603050405020304" pitchFamily="18" charset="0"/>
              </a:rPr>
              <a:t>  定义</a:t>
            </a:r>
            <a:r>
              <a:rPr lang="en-US" altLang="zh-CN" sz="2800" dirty="0">
                <a:latin typeface="Times New Roman" panose="02020603050405020304" pitchFamily="18" charset="0"/>
              </a:rPr>
              <a:t>3.4.1 ——</a:t>
            </a:r>
            <a:r>
              <a:rPr lang="zh-CN" altLang="en-US" sz="2800" dirty="0">
                <a:latin typeface="Times New Roman" panose="02020603050405020304" pitchFamily="18" charset="0"/>
              </a:rPr>
              <a:t>推理的数学模型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11424" y="2153421"/>
            <a:ext cx="7992888" cy="2796856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 algn="just" eaLnBrk="1" hangingPunct="1">
              <a:lnSpc>
                <a:spcPct val="115000"/>
              </a:lnSpc>
              <a:spcBef>
                <a:spcPct val="25000"/>
              </a:spcBef>
              <a:buClr>
                <a:srgbClr val="FF7C80"/>
              </a:buClr>
              <a:buSzPct val="80000"/>
              <a:buFont typeface="Wingdings" panose="05000000000000000000" pitchFamily="2" charset="2"/>
              <a:buChar char="l"/>
              <a:defRPr sz="24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lang="en-US" altLang="zh-CN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zh-CN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…, </a:t>
            </a:r>
            <a:r>
              <a:rPr lang="en-US" altLang="zh-CN" b="1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b="1" i="1" baseline="-25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dirty="0"/>
              <a:t>, </a:t>
            </a:r>
            <a:r>
              <a:rPr lang="en-US" altLang="zh-CN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zh-CN" altLang="en-US" dirty="0"/>
              <a:t>命题公式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lang="en-US" altLang="zh-CN" dirty="0"/>
              <a:t>(1) </a:t>
            </a:r>
            <a:r>
              <a:rPr lang="en-US" altLang="zh-CN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zh-CN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…, </a:t>
            </a:r>
            <a:r>
              <a:rPr lang="en-US" altLang="zh-CN" b="1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b="1" i="1" baseline="-25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zh-CN" altLang="en-US" dirty="0"/>
              <a:t>推出结论</a:t>
            </a:r>
            <a:r>
              <a:rPr lang="en-US" altLang="zh-CN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zh-CN" altLang="en-US" dirty="0"/>
              <a:t>的推理正确</a:t>
            </a:r>
            <a:r>
              <a:rPr lang="en-US" altLang="zh-CN" dirty="0"/>
              <a:t>(</a:t>
            </a:r>
            <a:r>
              <a:rPr lang="zh-CN" altLang="en-US" dirty="0"/>
              <a:t>有效</a:t>
            </a:r>
            <a:r>
              <a:rPr lang="en-US" altLang="zh-CN" dirty="0"/>
              <a:t>) 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lang="en-US" altLang="zh-CN" dirty="0"/>
              <a:t>         </a:t>
            </a:r>
            <a:r>
              <a:rPr lang="en-US" altLang="zh-CN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zh-CN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…, </a:t>
            </a:r>
            <a:r>
              <a:rPr lang="en-US" altLang="zh-CN" b="1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b="1" i="1" baseline="-25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dirty="0" err="1">
                <a:sym typeface="Symbol" panose="05050102010706020507" pitchFamily="18" charset="2"/>
              </a:rPr>
              <a:t></a:t>
            </a:r>
            <a:r>
              <a:rPr lang="en-US" altLang="zh-CN" b="1" i="1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en-US" altLang="zh-CN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</a:t>
            </a:r>
            <a:r>
              <a:rPr lang="en-US" altLang="zh-CN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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b="1" i="1" baseline="-25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dirty="0">
                <a:solidFill>
                  <a:srgbClr val="FFC000"/>
                </a:solidFill>
              </a:rPr>
              <a:t>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zh-CN" altLang="en-US" dirty="0"/>
              <a:t>是永真公式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lang="en-US" altLang="zh-CN" dirty="0"/>
              <a:t>(2) </a:t>
            </a:r>
            <a:r>
              <a:rPr lang="zh-CN" altLang="en-US" dirty="0"/>
              <a:t>前提：</a:t>
            </a:r>
            <a:r>
              <a:rPr lang="en-US" altLang="zh-CN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zh-CN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…, </a:t>
            </a:r>
            <a:r>
              <a:rPr lang="en-US" altLang="zh-CN" b="1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b="1" i="1" baseline="-25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endParaRPr lang="en-US" altLang="zh-CN" b="1" i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lang="en-US" altLang="zh-CN" dirty="0"/>
              <a:t>      </a:t>
            </a:r>
            <a:r>
              <a:rPr lang="zh-CN" altLang="en-US" dirty="0"/>
              <a:t>有效</a:t>
            </a:r>
            <a:r>
              <a:rPr lang="en-US" altLang="zh-CN" dirty="0"/>
              <a:t>(</a:t>
            </a:r>
            <a:r>
              <a:rPr lang="zh-CN" altLang="en-US" dirty="0"/>
              <a:t>逻辑</a:t>
            </a:r>
            <a:r>
              <a:rPr lang="en-US" altLang="zh-CN" dirty="0"/>
              <a:t>)</a:t>
            </a:r>
            <a:r>
              <a:rPr lang="zh-CN" altLang="en-US" dirty="0"/>
              <a:t>结论：</a:t>
            </a:r>
            <a:r>
              <a:rPr lang="en-US" altLang="zh-CN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3392" y="5162321"/>
            <a:ext cx="7128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 eaLnBrk="1" hangingPunct="1">
              <a:buSzPct val="100000"/>
              <a:defRPr/>
            </a:pPr>
            <a:r>
              <a:rPr lang="zh-CN" altLang="en-US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例  </a:t>
            </a:r>
            <a:r>
              <a:rPr lang="en-US" altLang="zh-CN" sz="2400" b="0" i="1" dirty="0" err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dirty="0" err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推出结论</a:t>
            </a:r>
            <a:r>
              <a:rPr lang="en-US" altLang="zh-CN" sz="2400" b="0" i="1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的推理正确。</a:t>
            </a:r>
            <a:r>
              <a:rPr lang="en-US" altLang="zh-CN" sz="2400" b="0" i="1" dirty="0" err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dirty="0" err="1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0" i="1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8" name="文本框 7"/>
          <p:cNvSpPr txBox="1"/>
          <p:nvPr/>
        </p:nvSpPr>
        <p:spPr>
          <a:xfrm rot="20014173">
            <a:off x="8532215" y="5285818"/>
            <a:ext cx="3312368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20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</a:t>
            </a:r>
            <a:r>
              <a:rPr lang="zh-CN" altLang="en-US" sz="20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在课程中的不同含义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10" name="Text Box 6"/>
          <p:cNvSpPr txBox="1">
            <a:spLocks noChangeArrowheads="1"/>
          </p:cNvSpPr>
          <p:nvPr/>
        </p:nvSpPr>
        <p:spPr bwMode="auto">
          <a:xfrm>
            <a:off x="551384" y="1772816"/>
            <a:ext cx="10747423" cy="2766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5000"/>
              </a:lnSpc>
              <a:spcBef>
                <a:spcPct val="50000"/>
              </a:spcBef>
              <a:buFontTx/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、设命题公式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…, 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="0" i="1" baseline="-30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中共有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个命题量。对于任一组赋值</a:t>
            </a:r>
            <a:r>
              <a:rPr lang="zh-CN" altLang="en-US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2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…,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i="1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200" b="0" i="1" baseline="-30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取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1, 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2, … , n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前提和结论的取值情况有如下四种：</a:t>
            </a:r>
          </a:p>
          <a:p>
            <a:pPr lvl="1" algn="just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 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∧… ∧ 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="0" i="1" baseline="-30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0,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pPr lvl="1" algn="just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∧… ∧ 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="0" i="1" baseline="-30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0,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lvl="1" algn="just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∧… ∧ 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="0" i="1" baseline="-30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1,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pPr lvl="1" algn="just" eaLnBrk="1" hangingPunct="1">
              <a:lnSpc>
                <a:spcPct val="115000"/>
              </a:lnSpc>
              <a:spcBef>
                <a:spcPct val="25000"/>
              </a:spcBef>
              <a:buFontTx/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 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∧… ∧ 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="0" i="1" baseline="-30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1,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      </a:t>
            </a:r>
          </a:p>
        </p:txBody>
      </p:sp>
      <p:sp>
        <p:nvSpPr>
          <p:cNvPr id="149512" name="Rectangle 8"/>
          <p:cNvSpPr>
            <a:spLocks noChangeArrowheads="1"/>
          </p:cNvSpPr>
          <p:nvPr/>
        </p:nvSpPr>
        <p:spPr bwMode="auto">
          <a:xfrm>
            <a:off x="659396" y="4653136"/>
            <a:ext cx="10873208" cy="840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60680" indent="-36068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85850" indent="-45720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722755" indent="-4572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2359025" indent="-4572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995930" indent="-4572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5313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91033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436753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82473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按照定义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只要不出现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(3), 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推理就是正确的。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因而判断一个推理正确与否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只需判断是否会出现情况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即可。</a:t>
            </a:r>
          </a:p>
        </p:txBody>
      </p:sp>
      <p:sp>
        <p:nvSpPr>
          <p:cNvPr id="149516" name="Rectangle 12"/>
          <p:cNvSpPr>
            <a:spLocks noChangeArrowheads="1"/>
          </p:cNvSpPr>
          <p:nvPr/>
        </p:nvSpPr>
        <p:spPr bwMode="auto">
          <a:xfrm>
            <a:off x="695400" y="5733256"/>
            <a:ext cx="10747423" cy="451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60680" indent="-36068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85850" indent="-45720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722755" indent="-4572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2359025" indent="-4572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995930" indent="-4572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45313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91033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436753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82473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推理正确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并不能保证结论</a:t>
            </a:r>
            <a:r>
              <a:rPr lang="en-US" altLang="zh-CN" sz="22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一定为真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。因为前提可能是假的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情况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(1))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5591944" y="600763"/>
            <a:ext cx="5356282" cy="719138"/>
          </a:xfrm>
          <a:prstGeom prst="cloudCallout">
            <a:avLst>
              <a:gd name="adj1" fmla="val -54328"/>
              <a:gd name="adj2" fmla="val -53840"/>
            </a:avLst>
          </a:prstGeom>
          <a:noFill/>
          <a:ln w="9525">
            <a:solidFill>
              <a:schemeClr val="bg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b="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∧…∧</a:t>
            </a:r>
            <a:r>
              <a:rPr lang="en-US" altLang="zh-CN" sz="24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b="0" i="1" baseline="-25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永真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1055440" y="3573016"/>
            <a:ext cx="3888432" cy="432048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9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9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9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9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9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95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9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9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2" grpId="0"/>
      <p:bldP spid="149516" grpId="0"/>
      <p:bldP spid="8" grpId="0" animBg="1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2" name="Text Box 6"/>
          <p:cNvSpPr txBox="1">
            <a:spLocks noChangeArrowheads="1"/>
          </p:cNvSpPr>
          <p:nvPr/>
        </p:nvSpPr>
        <p:spPr bwMode="auto">
          <a:xfrm>
            <a:off x="681593" y="1995472"/>
            <a:ext cx="11059628" cy="1976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 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整除。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所以 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整除。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下午马芳或去看电影或去游泳。她没去看电影</a:t>
            </a:r>
            <a:r>
              <a:rPr lang="en-US" altLang="zh-CN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所以她去游泳了。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若下午气温超过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30℃,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则王小燕必去游泳。若她去游泳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她就不去看电影了。所以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若王小燕没去看电影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下午气温必超过了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30℃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4579" name="Rectangle 7"/>
          <p:cNvSpPr>
            <a:spLocks noChangeArrowheads="1"/>
          </p:cNvSpPr>
          <p:nvPr/>
        </p:nvSpPr>
        <p:spPr bwMode="auto">
          <a:xfrm>
            <a:off x="436971" y="1660525"/>
            <a:ext cx="4968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  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判断下列推理是否正确。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415281" y="3874148"/>
            <a:ext cx="5904656" cy="2434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(1)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前提：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 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结论：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推理的形式结构：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en-US" altLang="zh-CN" sz="2000" b="0" i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由前例知道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此推理正确。即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Rectangle 7"/>
          <p:cNvSpPr txBox="1">
            <a:spLocks noChangeArrowheads="1"/>
          </p:cNvSpPr>
          <p:nvPr/>
        </p:nvSpPr>
        <p:spPr bwMode="auto">
          <a:xfrm>
            <a:off x="5159376" y="44450"/>
            <a:ext cx="55086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ts val="0"/>
              </a:spcBef>
              <a:buFontTx/>
              <a:buNone/>
            </a:pPr>
            <a:r>
              <a:rPr lang="en-US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 </a:t>
            </a: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逻辑推理的基本模型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2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2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2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6" name="Text Box 6"/>
          <p:cNvSpPr txBox="1">
            <a:spLocks noChangeArrowheads="1"/>
          </p:cNvSpPr>
          <p:nvPr/>
        </p:nvSpPr>
        <p:spPr bwMode="auto">
          <a:xfrm>
            <a:off x="623392" y="1628800"/>
            <a:ext cx="8534400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  </a:t>
            </a: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 </a:t>
            </a:r>
            <a:r>
              <a:rPr lang="en-US" altLang="zh-CN" sz="2000" b="0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马芳下午去看电影</a:t>
            </a:r>
            <a:r>
              <a:rPr lang="en-US" altLang="zh-CN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：马芳下午去游泳。</a:t>
            </a:r>
          </a:p>
          <a:p>
            <a:pPr lvl="1" algn="just" eaLnBrk="1" hangingPunct="1">
              <a:lnSpc>
                <a:spcPct val="90000"/>
              </a:lnSpc>
              <a:spcBef>
                <a:spcPct val="70000"/>
              </a:spcBef>
              <a:buFontTx/>
              <a:buNone/>
            </a:pP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前提：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┐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</a:p>
          <a:p>
            <a:pPr lvl="1" algn="just" eaLnBrk="1" hangingPunct="1">
              <a:lnSpc>
                <a:spcPct val="90000"/>
              </a:lnSpc>
              <a:spcBef>
                <a:spcPct val="70000"/>
              </a:spcBef>
              <a:buFontTx/>
              <a:buNone/>
            </a:pP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结论：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  <a:p>
            <a:pPr lvl="1" algn="just" eaLnBrk="1" hangingPunct="1">
              <a:lnSpc>
                <a:spcPct val="90000"/>
              </a:lnSpc>
              <a:spcBef>
                <a:spcPct val="70000"/>
              </a:spcBef>
              <a:buFontTx/>
              <a:buNone/>
            </a:pP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推理的形式结构：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)∧┐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23392" y="3724835"/>
            <a:ext cx="85344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lnSpc>
                <a:spcPct val="90000"/>
              </a:lnSpc>
              <a:spcBef>
                <a:spcPct val="70000"/>
              </a:spcBef>
              <a:buFontTx/>
              <a:buNone/>
            </a:pPr>
            <a:r>
              <a:rPr lang="zh-CN" altLang="en-US" sz="20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我们用等值演算来检验该蕴含式是否为重言式。</a:t>
            </a:r>
          </a:p>
          <a:p>
            <a:pPr algn="just" eaLnBrk="1" hangingPunct="1">
              <a:lnSpc>
                <a:spcPct val="90000"/>
              </a:lnSpc>
              <a:spcBef>
                <a:spcPct val="7000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┐((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  <a:p>
            <a:pPr algn="just" eaLnBrk="1" hangingPunct="1">
              <a:lnSpc>
                <a:spcPct val="90000"/>
              </a:lnSpc>
              <a:spcBef>
                <a:spcPct val="7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  <a:p>
            <a:pPr algn="just" eaLnBrk="1" hangingPunct="1">
              <a:lnSpc>
                <a:spcPct val="90000"/>
              </a:lnSpc>
              <a:spcBef>
                <a:spcPct val="4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((┐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)∧(┐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))∨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algn="just" eaLnBrk="1" hangingPunct="1">
              <a:lnSpc>
                <a:spcPct val="90000"/>
              </a:lnSpc>
              <a:spcBef>
                <a:spcPct val="4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┐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1</a:t>
            </a:r>
          </a:p>
          <a:p>
            <a:pPr algn="just" eaLnBrk="1" hangingPunct="1">
              <a:lnSpc>
                <a:spcPct val="90000"/>
              </a:lnSpc>
              <a:spcBef>
                <a:spcPct val="4000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可见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是重言式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故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推理正确。</a:t>
            </a:r>
          </a:p>
        </p:txBody>
      </p:sp>
      <p:sp>
        <p:nvSpPr>
          <p:cNvPr id="2" name="Rectangle 7"/>
          <p:cNvSpPr txBox="1">
            <a:spLocks noChangeArrowheads="1"/>
          </p:cNvSpPr>
          <p:nvPr/>
        </p:nvSpPr>
        <p:spPr bwMode="auto">
          <a:xfrm>
            <a:off x="5159376" y="44450"/>
            <a:ext cx="55086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</a:t>
            </a: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逻辑推理的基本模型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36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36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36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9" name="Text Box 5"/>
          <p:cNvSpPr txBox="1">
            <a:spLocks noChangeArrowheads="1"/>
          </p:cNvSpPr>
          <p:nvPr/>
        </p:nvSpPr>
        <p:spPr bwMode="auto">
          <a:xfrm>
            <a:off x="4871864" y="1700808"/>
            <a:ext cx="7560840" cy="420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我们用主析取式法检验该蕴含式是否为重言式。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)∧(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 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))→(┐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┐((┐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∧(┐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 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))∨( 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q)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∨(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endParaRPr lang="en-US" altLang="zh-CN" sz="20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   (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两次吸收律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 (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)∨(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)∨(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)∨(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∨(┐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∨(┐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)∨(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)∨(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可见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主析取范式中少两个极小项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en-US" sz="20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baseline="-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从而推理不正确。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35360" y="1700808"/>
            <a:ext cx="3960440" cy="3265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下午超过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30℃; 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q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：王小燕去游泳</a:t>
            </a: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lang="en-US" altLang="zh-CN" sz="20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0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：王小燕去看电影。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前提：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 ┐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结论：┐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endParaRPr lang="en-US" altLang="zh-CN" sz="2000" b="0" i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推理形式结构：</a:t>
            </a:r>
            <a:endParaRPr lang="en-US" altLang="zh-CN" sz="2000" b="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)∧(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 ┐</a:t>
            </a:r>
            <a:r>
              <a:rPr lang="en-US" altLang="zh-CN" sz="2000" b="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))→(┐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Rectangle 7"/>
          <p:cNvSpPr txBox="1">
            <a:spLocks noChangeArrowheads="1"/>
          </p:cNvSpPr>
          <p:nvPr/>
        </p:nvSpPr>
        <p:spPr bwMode="auto">
          <a:xfrm>
            <a:off x="5159376" y="44450"/>
            <a:ext cx="55086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</a:t>
            </a: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逻辑推理的基本模型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4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54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4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54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54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54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54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546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546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1">
            <a:spLocks noChangeArrowheads="1"/>
          </p:cNvSpPr>
          <p:nvPr/>
        </p:nvSpPr>
        <p:spPr bwMode="auto">
          <a:xfrm>
            <a:off x="5159376" y="44450"/>
            <a:ext cx="55086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</a:t>
            </a: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逻辑推理的基本模型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95400" y="1628800"/>
            <a:ext cx="11089232" cy="4550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0" indent="0" algn="just" eaLnBrk="1" hangingPunct="1">
              <a:spcBef>
                <a:spcPct val="50000"/>
              </a:spcBef>
              <a:buClr>
                <a:srgbClr val="FFC000"/>
              </a:buClr>
              <a:buSzPct val="10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/>
              <a:t>  </a:t>
            </a:r>
            <a:r>
              <a:rPr lang="zh-CN" altLang="en-US" dirty="0"/>
              <a:t>判断推理正确性的方法</a:t>
            </a:r>
          </a:p>
          <a:p>
            <a:pPr marL="914400" lvl="1" indent="-457200" algn="l">
              <a:lnSpc>
                <a:spcPct val="150000"/>
              </a:lnSpc>
              <a:buAutoNum type="arabicParenBoth"/>
            </a:pP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验证蕴含式是否永真公式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实用性较差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914400" lvl="1" indent="-457200" algn="l">
              <a:lnSpc>
                <a:spcPct val="150000"/>
              </a:lnSpc>
              <a:buAutoNum type="arabicParenBoth"/>
            </a:pP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 algn="l">
              <a:lnSpc>
                <a:spcPct val="150000"/>
              </a:lnSpc>
              <a:buAutoNum type="arabicParenBoth"/>
            </a:pP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</a:pP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 algn="l">
              <a:lnSpc>
                <a:spcPct val="150000"/>
              </a:lnSpc>
              <a:buAutoNum type="arabicParenBoth" startAt="2"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给出从前提推出结论的</a:t>
            </a:r>
            <a:r>
              <a:rPr lang="zh-CN" altLang="en-US" sz="24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形式证明</a:t>
            </a:r>
            <a:endParaRPr lang="en-US" altLang="zh-CN" sz="2400" b="0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</a:pP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日常数学证明的构成：</a:t>
            </a:r>
            <a:r>
              <a:rPr lang="zh-CN" altLang="en-US" sz="2200" b="0" dirty="0">
                <a:ea typeface="微软雅黑" panose="020B0503020204020204" pitchFamily="34" charset="-122"/>
                <a:cs typeface="Times New Roman" panose="02020603050405020304" pitchFamily="18" charset="0"/>
              </a:rPr>
              <a:t>一系列命题的罗列</a:t>
            </a:r>
            <a:r>
              <a:rPr lang="en-US" altLang="zh-CN" sz="2200" b="0" dirty="0"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ea typeface="微软雅黑" panose="020B0503020204020204" pitchFamily="34" charset="-122"/>
                <a:cs typeface="Times New Roman" panose="02020603050405020304" pitchFamily="18" charset="0"/>
              </a:rPr>
              <a:t>其中的命题要么是前提</a:t>
            </a:r>
            <a:r>
              <a:rPr lang="en-US" altLang="zh-CN" sz="2200" b="0" dirty="0"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ea typeface="微软雅黑" panose="020B0503020204020204" pitchFamily="34" charset="-122"/>
                <a:cs typeface="Times New Roman" panose="02020603050405020304" pitchFamily="18" charset="0"/>
              </a:rPr>
              <a:t>要么相互之间通过推理规则得出，直到最后得到结论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476089" y="2824043"/>
            <a:ext cx="2880320" cy="1685077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真值表法   </a:t>
            </a:r>
            <a:endParaRPr lang="en-US" altLang="zh-CN" sz="2400" b="0" dirty="0">
              <a:solidFill>
                <a:srgbClr val="FF7C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等值演算法</a:t>
            </a:r>
            <a:endParaRPr lang="en-US" altLang="zh-CN" sz="2400" b="0" dirty="0">
              <a:solidFill>
                <a:srgbClr val="FF7C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主析取范式法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1">
            <a:spLocks noChangeArrowheads="1"/>
          </p:cNvSpPr>
          <p:nvPr/>
        </p:nvSpPr>
        <p:spPr bwMode="auto">
          <a:xfrm>
            <a:off x="5236148" y="215500"/>
            <a:ext cx="55086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</a:t>
            </a: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逻辑推理的基本模型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88434" y="1605549"/>
            <a:ext cx="77957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>
              <a:buSzPct val="100000"/>
              <a:defRPr/>
            </a:pPr>
            <a:r>
              <a:rPr lang="zh-CN" altLang="en-US" sz="2800" dirty="0">
                <a:latin typeface="Times New Roman" panose="02020603050405020304" pitchFamily="18" charset="0"/>
              </a:rPr>
              <a:t>  定义</a:t>
            </a:r>
            <a:r>
              <a:rPr lang="en-US" altLang="zh-CN" sz="2800" dirty="0">
                <a:latin typeface="Times New Roman" panose="02020603050405020304" pitchFamily="18" charset="0"/>
              </a:rPr>
              <a:t>3.4.2 ——</a:t>
            </a:r>
            <a:r>
              <a:rPr lang="zh-CN" altLang="en-US" sz="2800" dirty="0">
                <a:latin typeface="Times New Roman" panose="02020603050405020304" pitchFamily="18" charset="0"/>
              </a:rPr>
              <a:t>证明的数学模型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</a:rPr>
              <a:t>形式证明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95400" y="2071631"/>
            <a:ext cx="10507253" cy="2123658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 algn="just" eaLnBrk="1" hangingPunct="1">
              <a:lnSpc>
                <a:spcPct val="115000"/>
              </a:lnSpc>
              <a:spcBef>
                <a:spcPct val="25000"/>
              </a:spcBef>
              <a:buClr>
                <a:srgbClr val="FF7C80"/>
              </a:buClr>
              <a:buSzPct val="80000"/>
              <a:buFont typeface="Wingdings" panose="05000000000000000000" pitchFamily="2" charset="2"/>
              <a:buChar char="l"/>
              <a:defRPr sz="24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lang="en-US" altLang="zh-CN" sz="22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200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2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zh-CN" sz="22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200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… , </a:t>
            </a:r>
            <a:r>
              <a:rPr lang="en-US" altLang="zh-CN" sz="2200" b="1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200" b="1" i="1" baseline="-25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zh-CN" sz="2200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zh-CN" altLang="en-US" sz="2200" dirty="0"/>
              <a:t>命题公式</a:t>
            </a:r>
            <a:endParaRPr lang="en-US" altLang="zh-CN" sz="22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lang="en-US" altLang="zh-CN" sz="22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200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2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zh-CN" sz="22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200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… , </a:t>
            </a:r>
            <a:r>
              <a:rPr lang="en-US" altLang="zh-CN" sz="2200" b="1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200" b="1" i="1" baseline="-25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zh-CN" altLang="en-US" sz="2200" dirty="0"/>
              <a:t>推出结论</a:t>
            </a:r>
            <a:r>
              <a:rPr lang="en-US" altLang="zh-CN" sz="2200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zh-CN" altLang="en-US" sz="2200" dirty="0"/>
              <a:t>的形式证明：</a:t>
            </a:r>
            <a:r>
              <a:rPr lang="zh-CN" altLang="en-US" sz="2200" dirty="0">
                <a:latin typeface="Times New Roman" panose="02020603050405020304" pitchFamily="18" charset="0"/>
              </a:rPr>
              <a:t>公式的序列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2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2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… , </a:t>
            </a:r>
            <a:r>
              <a:rPr lang="en-US" altLang="zh-CN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</a:t>
            </a:r>
            <a:r>
              <a:rPr lang="en-US" altLang="zh-CN" sz="22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m</a:t>
            </a:r>
            <a:r>
              <a:rPr lang="en-US" altLang="zh-CN" sz="2200" dirty="0">
                <a:latin typeface="Times New Roman" panose="02020603050405020304" pitchFamily="18" charset="0"/>
              </a:rPr>
              <a:t>, </a:t>
            </a:r>
            <a:r>
              <a:rPr lang="zh-CN" altLang="en-US" sz="2200" dirty="0">
                <a:latin typeface="Times New Roman" panose="02020603050405020304" pitchFamily="18" charset="0"/>
              </a:rPr>
              <a:t>其中</a:t>
            </a:r>
            <a:r>
              <a:rPr lang="en-US" altLang="zh-CN" sz="2200" dirty="0">
                <a:latin typeface="Times New Roman" panose="02020603050405020304" pitchFamily="18" charset="0"/>
              </a:rPr>
              <a:t>,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 marL="400050" lvl="1" indent="0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en-US" altLang="zh-CN" sz="2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200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恰为公式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400050" lvl="1" indent="0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</a:t>
            </a: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2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{</a:t>
            </a:r>
            <a:r>
              <a:rPr lang="en-US" altLang="zh-CN" sz="220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… , </a:t>
            </a:r>
            <a:r>
              <a:rPr lang="en-US" altLang="zh-CN" sz="220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i="1" baseline="-25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}, 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或可由其前面的公式根据</a:t>
            </a:r>
            <a:r>
              <a:rPr lang="zh-CN" altLang="en-US" sz="2200" b="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推理规则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推出</a:t>
            </a:r>
            <a:endParaRPr lang="en-US" altLang="zh-CN" sz="2200" b="0" i="1" dirty="0">
              <a:solidFill>
                <a:srgbClr val="FFC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27448" y="4865937"/>
            <a:ext cx="8280920" cy="600164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 eaLnBrk="1" hangingPunct="1">
              <a:lnSpc>
                <a:spcPct val="150000"/>
              </a:lnSpc>
              <a:spcBef>
                <a:spcPts val="0"/>
              </a:spcBef>
              <a:buClr>
                <a:srgbClr val="FF7C80"/>
              </a:buClr>
              <a:buSzPct val="100000"/>
              <a:buFont typeface="Wingdings" panose="05000000000000000000" pitchFamily="2" charset="2"/>
              <a:buNone/>
              <a:defRPr sz="2200" b="0" i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400050" lvl="1" indent="0">
              <a:lnSpc>
                <a:spcPct val="150000"/>
              </a:lnSpc>
              <a:spcBef>
                <a:spcPts val="0"/>
              </a:spcBef>
              <a:buSzPct val="100000"/>
              <a:buNone/>
              <a:defRPr sz="22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2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200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2200" b="1" i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altLang="zh-CN" sz="2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2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200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200" b="1" i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altLang="zh-CN" sz="2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 </a:t>
            </a:r>
            <a:r>
              <a:rPr lang="en-US" altLang="zh-CN" sz="2200" b="1" i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zh-CN" sz="2200" b="1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200" b="1" i="1" baseline="-25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zh-CN" altLang="en-US" sz="2200" i="0" dirty="0">
                <a:solidFill>
                  <a:schemeClr val="bg1"/>
                </a:solidFill>
              </a:rPr>
              <a:t>推出结论</a:t>
            </a:r>
            <a:r>
              <a:rPr lang="en-US" altLang="zh-CN" sz="2200" b="1" i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zh-CN" altLang="en-US" sz="2200" i="0" dirty="0">
                <a:solidFill>
                  <a:schemeClr val="bg1"/>
                </a:solidFill>
              </a:rPr>
              <a:t>的形式证明</a:t>
            </a:r>
            <a:r>
              <a:rPr lang="zh-CN" altLang="en-US" i="0" dirty="0">
                <a:solidFill>
                  <a:schemeClr val="bg1"/>
                </a:solidFill>
              </a:rPr>
              <a:t>存在</a:t>
            </a:r>
            <a:r>
              <a:rPr lang="zh-CN" altLang="en-US" i="0" dirty="0"/>
              <a:t> </a:t>
            </a:r>
            <a:r>
              <a:rPr lang="zh-CN" altLang="en-US" i="0" dirty="0">
                <a:sym typeface="Symbol" panose="05050102010706020507" pitchFamily="18" charset="2"/>
              </a:rPr>
              <a:t> </a:t>
            </a:r>
            <a:r>
              <a:rPr lang="en-US" altLang="zh-CN" sz="22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200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2200" b="1" i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altLang="zh-CN" sz="2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2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200" b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200" b="1" i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altLang="zh-CN" sz="2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 </a:t>
            </a:r>
            <a:r>
              <a:rPr lang="en-US" altLang="zh-CN" sz="2200" b="1" i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zh-CN" sz="2200" b="1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2200" b="1" i="1" baseline="-25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sz="2200" b="1" i="1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 </a:t>
            </a:r>
            <a:r>
              <a:rPr lang="en-US" altLang="zh-CN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endParaRPr lang="en-US" altLang="zh-CN" b="1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Symbol" panose="05050102010706020507" pitchFamily="18" charset="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9376" y="4373494"/>
            <a:ext cx="609452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0" indent="0" algn="just" eaLnBrk="1" hangingPunct="1">
              <a:spcBef>
                <a:spcPct val="50000"/>
              </a:spcBef>
              <a:buClr>
                <a:srgbClr val="FFC000"/>
              </a:buClr>
              <a:buSzPct val="10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600" dirty="0"/>
              <a:t>  形式证明的有效性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39416" y="5688321"/>
            <a:ext cx="6094520" cy="387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zh-CN" altLang="en-US" sz="24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严格证明略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1">
            <a:spLocks noChangeArrowheads="1"/>
          </p:cNvSpPr>
          <p:nvPr/>
        </p:nvSpPr>
        <p:spPr bwMode="auto">
          <a:xfrm>
            <a:off x="5159376" y="44450"/>
            <a:ext cx="55086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</a:t>
            </a: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逻辑推理的基本模型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79376" y="1772816"/>
            <a:ext cx="6094520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 eaLnBrk="1" hangingPunct="1">
              <a:lnSpc>
                <a:spcPct val="80000"/>
              </a:lnSpc>
              <a:buSzPct val="100000"/>
              <a:defRPr/>
            </a:pPr>
            <a:r>
              <a:rPr lang="zh-CN" altLang="en-US" sz="2800" dirty="0">
                <a:latin typeface="Times New Roman" panose="02020603050405020304" pitchFamily="18" charset="0"/>
              </a:rPr>
              <a:t>  命题逻辑的常用推理规则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51384" y="2277102"/>
            <a:ext cx="54006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置换规则：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假言推理规则：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附加规则：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en-US" altLang="zh-CN" sz="2000" b="0" i="1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化简规则：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(5)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拒取式规则：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06136" y="2276517"/>
            <a:ext cx="609452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(6)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假言三段论规则：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000" b="0" i="1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(7)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析取三段论规则：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(8)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构造性二难推理规则：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endParaRPr lang="en-US" altLang="zh-CN" sz="2000" b="0" i="1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(9)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破坏性二难推理规则：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(10)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合取引入规则：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en-US" altLang="zh-CN" sz="2000" b="0" i="1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3198" y="5229200"/>
            <a:ext cx="6094520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0" indent="0" algn="just" eaLnBrk="1" hangingPunct="1">
              <a:lnSpc>
                <a:spcPct val="80000"/>
              </a:lnSpc>
              <a:spcBef>
                <a:spcPct val="50000"/>
              </a:spcBef>
              <a:buClr>
                <a:srgbClr val="FFC000"/>
              </a:buClr>
              <a:buSzPct val="10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dirty="0"/>
              <a:t>  推理规则的合理性      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95400" y="5796492"/>
            <a:ext cx="6696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合取前提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再蕴含结论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所得到的命题公式是永真公式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5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5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1">
            <a:spLocks noChangeArrowheads="1"/>
          </p:cNvSpPr>
          <p:nvPr/>
        </p:nvSpPr>
        <p:spPr bwMode="auto">
          <a:xfrm>
            <a:off x="5159376" y="44450"/>
            <a:ext cx="55086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</a:t>
            </a: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逻辑推理的基本模型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79376" y="1742038"/>
            <a:ext cx="66967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>
              <a:buSzPct val="100000"/>
              <a:buNone/>
              <a:defRPr/>
            </a:pPr>
            <a:r>
              <a:rPr lang="zh-CN" altLang="en-US" dirty="0">
                <a:solidFill>
                  <a:srgbClr val="FFCCFF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FFCCFF"/>
                </a:solidFill>
                <a:latin typeface="Times New Roman" panose="02020603050405020304" pitchFamily="18" charset="0"/>
              </a:rPr>
              <a:t>3.4.3</a:t>
            </a:r>
            <a:r>
              <a:rPr lang="zh-CN" altLang="en-US" sz="3200" b="1" dirty="0">
                <a:solidFill>
                  <a:srgbClr val="FFCC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rgbClr val="FFCCFF"/>
                </a:solidFill>
                <a:latin typeface="Times New Roman" panose="02020603050405020304" pitchFamily="18" charset="0"/>
              </a:rPr>
              <a:t>构造 </a:t>
            </a:r>
            <a:r>
              <a:rPr lang="en-US" altLang="zh-CN" sz="2800" i="1" dirty="0">
                <a:solidFill>
                  <a:srgbClr val="FFCCFF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FFCC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solidFill>
                  <a:srgbClr val="FFCCFF"/>
                </a:solidFill>
              </a:rPr>
              <a:t>p</a:t>
            </a:r>
            <a:r>
              <a:rPr lang="en-US" altLang="zh-CN" sz="2800" dirty="0" err="1">
                <a:solidFill>
                  <a:srgbClr val="FFCC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solidFill>
                  <a:srgbClr val="FFCCFF"/>
                </a:solidFill>
              </a:rPr>
              <a:t>q</a:t>
            </a:r>
            <a:r>
              <a:rPr lang="en-US" altLang="zh-CN" sz="2800" dirty="0">
                <a:solidFill>
                  <a:srgbClr val="FFCC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solidFill>
                  <a:srgbClr val="FFCCFF"/>
                </a:solidFill>
              </a:rPr>
              <a:t>q</a:t>
            </a:r>
            <a:r>
              <a:rPr lang="en-US" altLang="zh-CN" sz="2800" dirty="0" err="1">
                <a:solidFill>
                  <a:srgbClr val="FFCC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solidFill>
                  <a:srgbClr val="FFCCFF"/>
                </a:solidFill>
              </a:rPr>
              <a:t>r</a:t>
            </a:r>
            <a:r>
              <a:rPr lang="en-US" altLang="zh-CN" i="1" dirty="0">
                <a:solidFill>
                  <a:srgbClr val="FFCCFF"/>
                </a:solidFill>
              </a:rPr>
              <a:t> </a:t>
            </a:r>
            <a:r>
              <a:rPr lang="en-US" altLang="zh-CN" sz="2800" dirty="0">
                <a:solidFill>
                  <a:srgbClr val="FFCC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i="1" dirty="0">
                <a:solidFill>
                  <a:srgbClr val="FFCCFF"/>
                </a:solidFill>
              </a:rPr>
              <a:t>r </a:t>
            </a:r>
            <a:r>
              <a:rPr lang="zh-CN" altLang="en-US" sz="2800" dirty="0">
                <a:solidFill>
                  <a:srgbClr val="FFCCFF"/>
                </a:solidFill>
                <a:latin typeface="Times New Roman" panose="02020603050405020304" pitchFamily="18" charset="0"/>
              </a:rPr>
              <a:t>的形式证明。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15480" y="2564904"/>
            <a:ext cx="4752528" cy="28655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</a:t>
            </a:r>
            <a:r>
              <a:rPr kumimoji="0" lang="en-US" altLang="zh-CN" sz="24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4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①②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假言推理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④ </a:t>
            </a:r>
            <a:r>
              <a:rPr kumimoji="0" lang="en-US" altLang="zh-CN" sz="24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400" b="0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marL="0" indent="0" algn="just" eaLnBrk="1" hangingPunct="1">
              <a:lnSpc>
                <a:spcPct val="150000"/>
              </a:lnSpc>
              <a:spcBef>
                <a:spcPts val="0"/>
              </a:spcBef>
              <a:buSzPct val="100000"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 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③④</a:t>
            </a:r>
            <a:r>
              <a:rPr kumimoji="0" lang="zh-CN" altLang="en-US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假言推理</a:t>
            </a:r>
            <a:endParaRPr kumimoji="0" lang="en-US" altLang="zh-CN" sz="2800" b="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1384" y="2564904"/>
            <a:ext cx="1008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indent="-533400" algn="just" eaLnBrk="1" hangingPunct="1">
              <a:buSzPct val="100000"/>
              <a:buFontTx/>
              <a:buNone/>
              <a:defRPr/>
            </a:pPr>
            <a:r>
              <a:rPr kumimoji="0" lang="zh-CN" altLang="en-US" sz="2800" b="0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1">
            <a:spLocks noChangeArrowheads="1"/>
          </p:cNvSpPr>
          <p:nvPr/>
        </p:nvSpPr>
        <p:spPr bwMode="auto">
          <a:xfrm>
            <a:off x="5159376" y="44450"/>
            <a:ext cx="55086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</a:t>
            </a: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逻辑推理的基本模型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79376" y="1772815"/>
            <a:ext cx="81369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 eaLnBrk="1" hangingPunct="1">
              <a:buSzPct val="100000"/>
              <a:buNone/>
              <a:defRPr/>
            </a:pPr>
            <a:r>
              <a:rPr lang="zh-CN" altLang="en-US" dirty="0">
                <a:solidFill>
                  <a:srgbClr val="FFCCFF"/>
                </a:solidFill>
                <a:latin typeface="Times New Roman" panose="02020603050405020304" pitchFamily="18" charset="0"/>
              </a:rPr>
              <a:t>例 </a:t>
            </a:r>
            <a:r>
              <a:rPr lang="en-US" altLang="zh-CN" dirty="0">
                <a:solidFill>
                  <a:srgbClr val="FFCCFF"/>
                </a:solidFill>
                <a:latin typeface="Times New Roman" panose="02020603050405020304" pitchFamily="18" charset="0"/>
              </a:rPr>
              <a:t>3.4.4</a:t>
            </a:r>
            <a:r>
              <a:rPr lang="zh-CN" altLang="en-US" dirty="0">
                <a:solidFill>
                  <a:srgbClr val="FFCCFF"/>
                </a:solidFill>
                <a:latin typeface="Times New Roman" panose="02020603050405020304" pitchFamily="18" charset="0"/>
              </a:rPr>
              <a:t> 构造</a:t>
            </a:r>
            <a:r>
              <a:rPr lang="en-US" altLang="zh-CN" i="1" dirty="0" err="1">
                <a:solidFill>
                  <a:srgbClr val="FFCCFF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solidFill>
                  <a:srgbClr val="FFCC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solidFill>
                  <a:srgbClr val="FFCCFF"/>
                </a:solidFill>
              </a:rPr>
              <a:t>q</a:t>
            </a:r>
            <a:r>
              <a:rPr lang="en-US" altLang="zh-CN" dirty="0">
                <a:solidFill>
                  <a:srgbClr val="FFCC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solidFill>
                  <a:srgbClr val="FFCCFF"/>
                </a:solidFill>
              </a:rPr>
              <a:t>p</a:t>
            </a:r>
            <a:r>
              <a:rPr lang="en-US" altLang="zh-CN" dirty="0" err="1">
                <a:solidFill>
                  <a:srgbClr val="FFCC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solidFill>
                  <a:srgbClr val="FFCCFF"/>
                </a:solidFill>
              </a:rPr>
              <a:t>r</a:t>
            </a:r>
            <a:r>
              <a:rPr lang="en-US" altLang="zh-CN" dirty="0">
                <a:solidFill>
                  <a:srgbClr val="FFCC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solidFill>
                  <a:srgbClr val="FFCCFF"/>
                </a:solidFill>
              </a:rPr>
              <a:t>q</a:t>
            </a:r>
            <a:r>
              <a:rPr lang="en-US" altLang="zh-CN" dirty="0" err="1">
                <a:solidFill>
                  <a:srgbClr val="FFCC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solidFill>
                  <a:srgbClr val="FFCCFF"/>
                </a:solidFill>
              </a:rPr>
              <a:t>s</a:t>
            </a:r>
            <a:r>
              <a:rPr lang="en-US" altLang="zh-CN" dirty="0" err="1">
                <a:solidFill>
                  <a:srgbClr val="FFCC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i="1" dirty="0" err="1">
                <a:solidFill>
                  <a:srgbClr val="FFCCFF"/>
                </a:solidFill>
              </a:rPr>
              <a:t>s</a:t>
            </a:r>
            <a:r>
              <a:rPr lang="en-US" altLang="zh-CN" dirty="0" err="1">
                <a:solidFill>
                  <a:srgbClr val="FFCC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solidFill>
                  <a:srgbClr val="FFCCFF"/>
                </a:solidFill>
              </a:rPr>
              <a:t>r</a:t>
            </a:r>
            <a:r>
              <a:rPr lang="zh-CN" altLang="en-US" dirty="0">
                <a:solidFill>
                  <a:srgbClr val="FFCCFF"/>
                </a:solidFill>
                <a:latin typeface="Times New Roman" panose="02020603050405020304" pitchFamily="18" charset="0"/>
              </a:rPr>
              <a:t>的形式证明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15480" y="2564904"/>
            <a:ext cx="4752528" cy="358559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algn="just" eaLnBrk="1" hangingPunct="1">
              <a:buSzPct val="100000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marL="0" indent="0" algn="just" eaLnBrk="1" hangingPunct="1">
              <a:buSzPct val="100000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①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置换</a:t>
            </a:r>
          </a:p>
          <a:p>
            <a:pPr marL="0" indent="0" algn="just" eaLnBrk="1" hangingPunct="1">
              <a:buSzPct val="100000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marL="0" indent="0" algn="just" eaLnBrk="1" hangingPunct="1">
              <a:buSzPct val="100000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④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②③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假言三段论</a:t>
            </a:r>
          </a:p>
          <a:p>
            <a:pPr marL="0" indent="0" algn="just" eaLnBrk="1" hangingPunct="1">
              <a:buSzPct val="100000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④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置换</a:t>
            </a:r>
          </a:p>
          <a:p>
            <a:pPr marL="0" indent="0" algn="just" eaLnBrk="1" hangingPunct="1">
              <a:buSzPct val="100000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⑥ 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marL="0" indent="0" algn="just" eaLnBrk="1" hangingPunct="1">
              <a:buSzPct val="100000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⑦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⑤⑥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假言三段论</a:t>
            </a:r>
          </a:p>
          <a:p>
            <a:pPr marL="0" indent="0" algn="just" eaLnBrk="1" hangingPunct="1">
              <a:buSzPct val="100000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⑧ 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⑦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置换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1384" y="2564904"/>
            <a:ext cx="1080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indent="-533400" algn="just" eaLnBrk="1" hangingPunct="1">
              <a:buSzPct val="100000"/>
              <a:buFontTx/>
              <a:buNone/>
              <a:defRPr/>
            </a:pPr>
            <a:r>
              <a:rPr kumimoji="0" lang="zh-CN" altLang="en-US" sz="2800" b="0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1">
            <a:spLocks noChangeArrowheads="1"/>
          </p:cNvSpPr>
          <p:nvPr/>
        </p:nvSpPr>
        <p:spPr bwMode="auto">
          <a:xfrm>
            <a:off x="5159376" y="44450"/>
            <a:ext cx="55086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</a:t>
            </a: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逻辑推理的基本模型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79376" y="1772815"/>
            <a:ext cx="66967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>
              <a:buSzPct val="100000"/>
              <a:buNone/>
              <a:defRPr/>
            </a:pPr>
            <a:r>
              <a:rPr lang="zh-CN" altLang="en-US" dirty="0">
                <a:solidFill>
                  <a:srgbClr val="FFCCFF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FFCCFF"/>
                </a:solidFill>
                <a:latin typeface="Times New Roman" panose="02020603050405020304" pitchFamily="18" charset="0"/>
              </a:rPr>
              <a:t>3.4.5</a:t>
            </a:r>
            <a:r>
              <a:rPr lang="zh-CN" altLang="en-US" dirty="0">
                <a:solidFill>
                  <a:srgbClr val="FFCC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rgbClr val="FFCCFF"/>
                </a:solidFill>
                <a:latin typeface="Times New Roman" panose="02020603050405020304" pitchFamily="18" charset="0"/>
              </a:rPr>
              <a:t>证明下列推理的正确性。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33632" y="3501008"/>
            <a:ext cx="953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indent="-533400" algn="just" eaLnBrk="1" hangingPunct="1">
              <a:buSzPct val="100000"/>
              <a:buFontTx/>
              <a:buNone/>
              <a:defRPr/>
            </a:pPr>
            <a:r>
              <a:rPr kumimoji="0" lang="zh-CN" altLang="en-US" sz="2800" b="0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42616" y="2286000"/>
            <a:ext cx="10009112" cy="1143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533400" indent="-533400" algn="just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AutoNum type="circleNumDbPlain"/>
              <a:defRPr sz="24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如果他是工科学生那么他必学好物理</a:t>
            </a:r>
            <a:r>
              <a:rPr lang="en-US" altLang="zh-CN" dirty="0"/>
              <a:t>, </a:t>
            </a:r>
            <a:r>
              <a:rPr lang="zh-CN" altLang="en-US" dirty="0"/>
              <a:t>如果他不是理科学生那么他必是工科学生。他没学好物理</a:t>
            </a:r>
            <a:r>
              <a:rPr lang="en-US" altLang="zh-CN" dirty="0"/>
              <a:t>, </a:t>
            </a:r>
            <a:r>
              <a:rPr lang="zh-CN" altLang="en-US" dirty="0"/>
              <a:t>所以他是理科学生。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271464" y="3501008"/>
            <a:ext cx="3672408" cy="271324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algn="just" eaLnBrk="1" hangingPunct="1">
              <a:lnSpc>
                <a:spcPct val="15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None/>
              <a:defRPr sz="24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200" dirty="0"/>
              <a:t>(1) </a:t>
            </a:r>
            <a:r>
              <a:rPr lang="zh-CN" altLang="en-US" sz="2200" dirty="0"/>
              <a:t>符号化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200" dirty="0"/>
              <a:t>      </a:t>
            </a:r>
            <a:r>
              <a:rPr lang="en-US" altLang="zh-CN" sz="2200" i="1" dirty="0"/>
              <a:t>p</a:t>
            </a:r>
            <a:r>
              <a:rPr lang="zh-CN" altLang="en-US" sz="2200" dirty="0"/>
              <a:t>：他是工科学生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200" dirty="0"/>
              <a:t>      </a:t>
            </a:r>
            <a:r>
              <a:rPr lang="en-US" altLang="zh-CN" sz="2200" i="1" dirty="0"/>
              <a:t>q</a:t>
            </a:r>
            <a:r>
              <a:rPr lang="zh-CN" altLang="en-US" sz="2200" dirty="0"/>
              <a:t>：他学好物理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200" dirty="0"/>
              <a:t>       </a:t>
            </a:r>
            <a:r>
              <a:rPr lang="en-US" altLang="zh-CN" sz="2200" i="1" dirty="0"/>
              <a:t>r</a:t>
            </a:r>
            <a:r>
              <a:rPr lang="zh-CN" altLang="en-US" sz="2200" dirty="0"/>
              <a:t>：他是理科学生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200" dirty="0"/>
              <a:t>前提：</a:t>
            </a:r>
            <a:r>
              <a:rPr lang="en-US" altLang="zh-CN" sz="2200" i="1" dirty="0" err="1"/>
              <a:t>p</a:t>
            </a:r>
            <a:r>
              <a:rPr lang="en-US" altLang="zh-CN" sz="2200" dirty="0" err="1">
                <a:sym typeface="Symbol" panose="05050102010706020507" pitchFamily="18" charset="2"/>
              </a:rPr>
              <a:t></a:t>
            </a:r>
            <a:r>
              <a:rPr lang="en-US" altLang="zh-CN" sz="2200" i="1" dirty="0" err="1"/>
              <a:t>q</a:t>
            </a:r>
            <a:r>
              <a:rPr lang="en-US" altLang="zh-CN" sz="2200" dirty="0"/>
              <a:t>,</a:t>
            </a:r>
            <a:r>
              <a:rPr lang="en-US" altLang="zh-CN" sz="2200" dirty="0">
                <a:sym typeface="Symbol" panose="05050102010706020507" pitchFamily="18" charset="2"/>
              </a:rPr>
              <a:t></a:t>
            </a:r>
            <a:r>
              <a:rPr lang="en-US" altLang="zh-CN" sz="2200" i="1" dirty="0" err="1"/>
              <a:t>r</a:t>
            </a:r>
            <a:r>
              <a:rPr lang="en-US" altLang="zh-CN" sz="2200" dirty="0" err="1">
                <a:sym typeface="Symbol" panose="05050102010706020507" pitchFamily="18" charset="2"/>
              </a:rPr>
              <a:t></a:t>
            </a:r>
            <a:r>
              <a:rPr lang="en-US" altLang="zh-CN" sz="2200" i="1" dirty="0" err="1"/>
              <a:t>p</a:t>
            </a:r>
            <a:r>
              <a:rPr lang="en-US" altLang="zh-CN" sz="2200" dirty="0"/>
              <a:t>,</a:t>
            </a:r>
            <a:r>
              <a:rPr lang="en-US" altLang="zh-CN" sz="2200" dirty="0">
                <a:sym typeface="Symbol" panose="05050102010706020507" pitchFamily="18" charset="2"/>
              </a:rPr>
              <a:t></a:t>
            </a:r>
            <a:r>
              <a:rPr lang="en-US" altLang="zh-CN" sz="2200" i="1" dirty="0"/>
              <a:t>q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200" dirty="0"/>
              <a:t>结论：</a:t>
            </a:r>
            <a:r>
              <a:rPr lang="en-US" altLang="zh-CN" sz="2200" i="1" dirty="0"/>
              <a:t>r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447928" y="3501008"/>
            <a:ext cx="6214368" cy="291473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533400" indent="-533400" algn="just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AutoNum type="circleNumDbPlain"/>
              <a:defRPr sz="24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(2)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构造 </a:t>
            </a:r>
            <a:r>
              <a:rPr lang="en-US" altLang="zh-CN" sz="2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</a:t>
            </a:r>
            <a:r>
              <a:rPr lang="en-US" altLang="zh-CN" sz="2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</a:t>
            </a:r>
            <a:r>
              <a:rPr lang="en-US" altLang="zh-CN" sz="2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</a:t>
            </a:r>
            <a:r>
              <a:rPr lang="en-US" altLang="zh-CN" sz="2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</a:t>
            </a:r>
            <a:r>
              <a:rPr lang="en-US" altLang="zh-CN" sz="2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</a:t>
            </a:r>
            <a:r>
              <a:rPr lang="en-US" altLang="zh-CN" sz="2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zh-CN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的形式证明</a:t>
            </a:r>
          </a:p>
          <a:p>
            <a:pPr marL="457200" lvl="1" indent="0"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① 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</a:p>
          <a:p>
            <a:pPr marL="457200" lvl="1" indent="0"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②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</a:p>
          <a:p>
            <a:pPr marL="457200" lvl="1" indent="0"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③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①②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拒取式</a:t>
            </a:r>
          </a:p>
          <a:p>
            <a:pPr marL="457200" lvl="1" indent="0"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④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</a:p>
          <a:p>
            <a:pPr marL="457200" lvl="1" indent="0"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⑤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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③④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拒取式</a:t>
            </a:r>
          </a:p>
          <a:p>
            <a:pPr marL="457200" lvl="1" indent="0">
              <a:buNone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⑥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⑤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置换</a:t>
            </a:r>
            <a:endParaRPr lang="zh-CN" altLang="en-US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000"/>
                            </p:stCondLst>
                            <p:childTnLst>
                              <p:par>
                                <p:cTn id="7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000"/>
                            </p:stCondLst>
                            <p:childTnLst>
                              <p:par>
                                <p:cTn id="9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1">
            <a:spLocks noChangeArrowheads="1"/>
          </p:cNvSpPr>
          <p:nvPr/>
        </p:nvSpPr>
        <p:spPr bwMode="auto">
          <a:xfrm>
            <a:off x="5159376" y="44450"/>
            <a:ext cx="55086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</a:t>
            </a: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逻辑推理的基本模型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07368" y="1772816"/>
            <a:ext cx="6094520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80000"/>
              </a:lnSpc>
              <a:buSzPct val="100000"/>
              <a:defRPr/>
            </a:pPr>
            <a:r>
              <a:rPr lang="zh-CN" altLang="en-US" sz="2800" dirty="0">
                <a:latin typeface="Times New Roman" panose="02020603050405020304" pitchFamily="18" charset="0"/>
              </a:rPr>
              <a:t>  常用推理规则相互不独立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3392" y="2420888"/>
            <a:ext cx="60945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置换规则：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命题公式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(5)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拒取式规则：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23392" y="3362154"/>
            <a:ext cx="60945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(7) 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析取三段论规则：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07368" y="4481838"/>
            <a:ext cx="609452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0" indent="0" algn="just" eaLnBrk="1" hangingPunct="1">
              <a:lnSpc>
                <a:spcPct val="80000"/>
              </a:lnSpc>
              <a:spcBef>
                <a:spcPct val="50000"/>
              </a:spcBef>
              <a:buClr>
                <a:srgbClr val="FFC000"/>
              </a:buClr>
              <a:buSzPct val="100000"/>
              <a:buFont typeface="Wingdings" panose="05000000000000000000" pitchFamily="2" charset="2"/>
              <a:buChar char="n"/>
              <a:defRPr sz="24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/>
              <a:t>  消解法</a:t>
            </a:r>
            <a:r>
              <a:rPr lang="en-US" altLang="zh-CN" dirty="0"/>
              <a:t>*</a:t>
            </a:r>
            <a:r>
              <a:rPr lang="zh-CN" altLang="en-US" dirty="0"/>
              <a:t>： </a:t>
            </a:r>
            <a:r>
              <a:rPr lang="en-US" altLang="zh-CN" i="1" dirty="0" err="1"/>
              <a:t>p</a:t>
            </a:r>
            <a:r>
              <a:rPr lang="en-US" altLang="zh-CN" dirty="0" err="1">
                <a:sym typeface="Symbol" panose="05050102010706020507" pitchFamily="18" charset="2"/>
              </a:rPr>
              <a:t></a:t>
            </a:r>
            <a:r>
              <a:rPr lang="en-US" altLang="zh-CN" i="1" dirty="0" err="1"/>
              <a:t>q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i="1" dirty="0" err="1"/>
              <a:t>p</a:t>
            </a:r>
            <a:r>
              <a:rPr lang="en-US" altLang="zh-CN" dirty="0" err="1"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sym typeface="Symbol" panose="05050102010706020507" pitchFamily="18" charset="2"/>
              </a:rPr>
              <a:t>r</a:t>
            </a:r>
            <a:r>
              <a:rPr lang="en-US" altLang="zh-CN" sz="2400" b="0" dirty="0">
                <a:solidFill>
                  <a:srgbClr val="FFCCFF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i="1" dirty="0" err="1"/>
              <a:t>q</a:t>
            </a:r>
            <a:r>
              <a:rPr lang="en-US" altLang="zh-CN" dirty="0" err="1"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sym typeface="Symbol" panose="05050102010706020507" pitchFamily="18" charset="2"/>
              </a:rPr>
              <a:t>r</a:t>
            </a:r>
            <a:endParaRPr lang="en-US" altLang="zh-CN" i="1" dirty="0">
              <a:sym typeface="Symbol" panose="05050102010706020507" pitchFamily="18" charset="2"/>
            </a:endParaRPr>
          </a:p>
          <a:p>
            <a:pPr marL="360045" lvl="1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消解法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置换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是完备的</a:t>
            </a:r>
          </a:p>
          <a:p>
            <a:pPr marL="360045" lvl="1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消解法与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Prolog</a:t>
            </a:r>
          </a:p>
        </p:txBody>
      </p:sp>
      <p:sp>
        <p:nvSpPr>
          <p:cNvPr id="13" name="文本框 12"/>
          <p:cNvSpPr txBox="1"/>
          <p:nvPr/>
        </p:nvSpPr>
        <p:spPr>
          <a:xfrm rot="20141914">
            <a:off x="5709304" y="3076048"/>
            <a:ext cx="2460002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 eaLnBrk="1" hangingPunct="1">
              <a:buNone/>
              <a:defRPr/>
            </a:pPr>
            <a:r>
              <a:rPr lang="en-US" altLang="zh-CN" sz="20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(5)</a:t>
            </a:r>
            <a:r>
              <a:rPr lang="zh-CN" altLang="en-US" sz="20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可由</a:t>
            </a:r>
            <a:r>
              <a:rPr lang="en-US" altLang="zh-CN" sz="20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0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(7)</a:t>
            </a:r>
            <a:r>
              <a:rPr lang="zh-CN" altLang="en-US" sz="2000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导出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911424" y="2319461"/>
            <a:ext cx="8713787" cy="523221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altLang="zh-CN" sz="240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… , </a:t>
            </a:r>
            <a:r>
              <a:rPr lang="en-US" altLang="zh-CN" sz="240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i="1" baseline="-25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pt-BR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… , </a:t>
            </a:r>
            <a:r>
              <a:rPr lang="en-US" altLang="zh-CN" sz="2400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i="1" baseline="-25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4943872" y="116632"/>
            <a:ext cx="4488532" cy="1143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eaLnBrk="1" fontAlgn="t" hangingPunct="1">
              <a:spcBef>
                <a:spcPct val="50000"/>
              </a:spcBef>
            </a:pPr>
            <a:r>
              <a:rPr kumimoji="1" lang="en-US" altLang="zh-CN" sz="360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3.4.2  </a:t>
            </a:r>
            <a:r>
              <a:rPr kumimoji="1" lang="zh-CN" altLang="en-US" sz="3600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推理方法</a:t>
            </a:r>
            <a:endParaRPr kumimoji="1" lang="en-US" altLang="zh-CN" sz="3600" kern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5887" y="1658742"/>
            <a:ext cx="61300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0" indent="0" algn="just" eaLnBrk="1" hangingPunct="1">
              <a:spcBef>
                <a:spcPct val="50000"/>
              </a:spcBef>
              <a:buClr>
                <a:srgbClr val="FFC000"/>
              </a:buClr>
              <a:buSzPct val="10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  定理</a:t>
            </a:r>
            <a:r>
              <a:rPr lang="en-US" altLang="zh-CN" dirty="0"/>
              <a:t>3.4.1——</a:t>
            </a:r>
            <a:r>
              <a:rPr lang="zh-CN" altLang="en-US" dirty="0"/>
              <a:t>附加前提证明法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19546" y="4152819"/>
            <a:ext cx="61300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0" indent="0" algn="just" eaLnBrk="1" hangingPunct="1">
              <a:spcBef>
                <a:spcPct val="50000"/>
              </a:spcBef>
              <a:buClr>
                <a:srgbClr val="FFC000"/>
              </a:buClr>
              <a:buSzPct val="10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  附加前提证明法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5400" y="4995892"/>
            <a:ext cx="102251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证明</a:t>
            </a:r>
            <a:r>
              <a:rPr kumimoji="0" lang="en-US" altLang="zh-CN" sz="2400" b="0" i="1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H</a:t>
            </a:r>
            <a:r>
              <a:rPr kumimoji="0" lang="en-US" altLang="zh-CN" sz="2400" b="0" kern="0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1</a:t>
            </a:r>
            <a:r>
              <a:rPr kumimoji="0" lang="en-US" altLang="zh-CN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H</a:t>
            </a:r>
            <a:r>
              <a:rPr kumimoji="0" lang="en-US" altLang="zh-CN" sz="2400" b="0" kern="0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2</a:t>
            </a:r>
            <a:r>
              <a:rPr kumimoji="0" lang="en-US" altLang="zh-CN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, … , </a:t>
            </a:r>
            <a:r>
              <a:rPr kumimoji="0" lang="en-US" altLang="zh-CN" sz="2400" b="0" i="1" kern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H</a:t>
            </a:r>
            <a:r>
              <a:rPr kumimoji="0" lang="en-US" altLang="zh-CN" sz="2400" b="0" i="1" kern="0" baseline="-25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1" kern="0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的问题转化为证明</a:t>
            </a:r>
            <a:r>
              <a:rPr kumimoji="0" lang="en-US" altLang="zh-CN" sz="2400" b="0" i="1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H</a:t>
            </a:r>
            <a:r>
              <a:rPr kumimoji="0" lang="en-US" altLang="zh-CN" sz="2400" b="0" kern="0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1</a:t>
            </a:r>
            <a:r>
              <a:rPr kumimoji="0" lang="en-US" altLang="zh-CN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H</a:t>
            </a:r>
            <a:r>
              <a:rPr kumimoji="0" lang="en-US" altLang="zh-CN" sz="2400" b="0" kern="0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2</a:t>
            </a:r>
            <a:r>
              <a:rPr kumimoji="0" lang="en-US" altLang="zh-CN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, …, </a:t>
            </a:r>
            <a:r>
              <a:rPr kumimoji="0" lang="en-US" altLang="zh-CN" sz="2400" b="0" i="1" kern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H</a:t>
            </a:r>
            <a:r>
              <a:rPr kumimoji="0" lang="en-US" altLang="zh-CN" sz="2400" b="0" i="1" kern="0" baseline="-25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的问题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称为附加前提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911423" y="3069246"/>
            <a:ext cx="94330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  <a:defRPr/>
            </a:pPr>
            <a:r>
              <a:rPr kumimoji="0" lang="zh-CN" altLang="en-US" sz="2800" b="0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证明： </a:t>
            </a:r>
            <a:r>
              <a:rPr kumimoji="0" lang="en-US" altLang="zh-CN" sz="2400" b="0" i="1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0" lang="en-US" altLang="zh-CN" sz="2400" b="0" kern="0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0" lang="en-US" altLang="zh-CN" sz="2400" b="0" kern="0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… , </a:t>
            </a:r>
            <a:r>
              <a:rPr kumimoji="0" lang="en-US" altLang="zh-CN" sz="2400" b="0" i="1" kern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0" lang="en-US" altLang="zh-CN" sz="2400" b="0" i="1" kern="0" baseline="-25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(</a:t>
            </a:r>
            <a:r>
              <a:rPr kumimoji="0" lang="pt-BR" altLang="zh-CN" sz="2400" b="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kumimoji="0" lang="en-US" altLang="zh-CN" sz="24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0" lang="en-US" altLang="zh-CN" sz="2400" b="0" kern="0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i="1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0" lang="en-US" altLang="zh-CN" sz="2400" b="0" kern="0" baseline="-25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… , </a:t>
            </a:r>
            <a:r>
              <a:rPr kumimoji="0" lang="en-US" altLang="zh-CN" sz="2400" b="0" i="1" kern="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0" lang="en-US" altLang="zh-CN" sz="2400" b="0" i="1" kern="0" baseline="-25000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400" b="0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kumimoji="0"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9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6" grpId="0" build="p"/>
      <p:bldP spid="149507" grpId="0"/>
      <p:bldP spid="5" grpId="0"/>
      <p:bldP spid="7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999657" y="2708920"/>
            <a:ext cx="5184576" cy="3231540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SzPct val="100000"/>
              <a:buNone/>
              <a:defRPr/>
            </a:pP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pt-BR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pt-BR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</a:t>
            </a:r>
            <a:r>
              <a:rPr lang="zh-CN" altLang="pt-BR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SzPct val="100000"/>
              <a:buNone/>
              <a:defRPr/>
            </a:pP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</a:t>
            </a:r>
            <a:r>
              <a:rPr lang="pt-BR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</a:t>
            </a:r>
            <a:r>
              <a:rPr lang="zh-CN" altLang="pt-BR" sz="240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附加前提引入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SzPct val="100000"/>
              <a:buNone/>
              <a:defRPr/>
            </a:pP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</a:t>
            </a:r>
            <a:r>
              <a:rPr lang="pt-BR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①②</a:t>
            </a:r>
            <a:r>
              <a:rPr lang="zh-CN" altLang="pt-BR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析取三段论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SzPct val="100000"/>
              <a:buNone/>
              <a:defRPr/>
            </a:pP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④ </a:t>
            </a:r>
            <a:r>
              <a:rPr lang="pt-BR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pt-BR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    </a:t>
            </a:r>
            <a:r>
              <a:rPr lang="zh-CN" altLang="pt-BR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SzPct val="100000"/>
              <a:buNone/>
              <a:defRPr/>
            </a:pPr>
            <a:r>
              <a:rPr lang="zh-CN" altLang="pt-BR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 </a:t>
            </a:r>
            <a:r>
              <a:rPr lang="pt-BR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pt-BR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③④</a:t>
            </a:r>
            <a:r>
              <a:rPr lang="zh-CN" altLang="pt-BR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假言推理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SzPct val="100000"/>
              <a:buNone/>
              <a:defRPr/>
            </a:pPr>
            <a:r>
              <a:rPr lang="zh-CN" altLang="pt-BR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⑥ </a:t>
            </a:r>
            <a:r>
              <a:rPr lang="pt-BR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</a:t>
            </a:r>
            <a:r>
              <a:rPr lang="zh-CN" altLang="pt-BR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SzPct val="100000"/>
              <a:buNone/>
              <a:defRPr/>
            </a:pP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⑦ </a:t>
            </a:r>
            <a:r>
              <a:rPr lang="pt-BR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</a:t>
            </a:r>
            <a:r>
              <a:rPr lang="zh-CN" altLang="pt-BR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⑤⑥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假言推理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1384" y="1695872"/>
            <a:ext cx="88810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0" indent="0" algn="just" eaLnBrk="1" hangingPunct="1">
              <a:spcBef>
                <a:spcPct val="50000"/>
              </a:spcBef>
              <a:buClr>
                <a:srgbClr val="FFC000"/>
              </a:buClr>
              <a:buSzPct val="100000"/>
              <a:buFont typeface="Wingdings" panose="05000000000000000000" pitchFamily="2" charset="2"/>
              <a:buNone/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例</a:t>
            </a:r>
            <a:r>
              <a:rPr lang="en-US" altLang="zh-CN" dirty="0"/>
              <a:t>3.4.6</a:t>
            </a:r>
            <a:r>
              <a:rPr lang="zh-CN" altLang="en-US" dirty="0"/>
              <a:t>  证明</a:t>
            </a:r>
            <a:r>
              <a:rPr lang="pt-BR" altLang="zh-CN" i="1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pt-BR" altLang="zh-CN" dirty="0"/>
              <a:t>(</a:t>
            </a:r>
            <a:r>
              <a:rPr lang="pt-BR" altLang="zh-CN" i="1" dirty="0"/>
              <a:t>q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pt-BR" altLang="zh-CN" i="1" dirty="0"/>
              <a:t>r</a:t>
            </a:r>
            <a:r>
              <a:rPr lang="pt-BR" altLang="zh-CN" dirty="0"/>
              <a:t>),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pt-BR" altLang="zh-CN" i="1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</a:t>
            </a:r>
            <a:r>
              <a:rPr lang="pt-BR" altLang="zh-CN" i="1" dirty="0"/>
              <a:t>p</a:t>
            </a:r>
            <a:r>
              <a:rPr lang="pt-BR" altLang="zh-CN" dirty="0"/>
              <a:t>, </a:t>
            </a:r>
            <a:r>
              <a:rPr lang="pt-BR" altLang="zh-CN" i="1" dirty="0"/>
              <a:t>q </a:t>
            </a:r>
            <a:r>
              <a:rPr lang="en-US" altLang="zh-CN" dirty="0">
                <a:sym typeface="Symbol" panose="05050102010706020507" pitchFamily="18" charset="2"/>
              </a:rPr>
              <a:t> </a:t>
            </a:r>
            <a:r>
              <a:rPr lang="pt-BR" altLang="zh-CN" i="1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pt-BR" altLang="zh-CN" i="1" dirty="0"/>
              <a:t>r</a:t>
            </a:r>
            <a:endParaRPr lang="zh-CN" altLang="pt-BR" i="1" dirty="0"/>
          </a:p>
        </p:txBody>
      </p:sp>
      <p:sp>
        <p:nvSpPr>
          <p:cNvPr id="8" name="文本框 7"/>
          <p:cNvSpPr txBox="1"/>
          <p:nvPr/>
        </p:nvSpPr>
        <p:spPr>
          <a:xfrm>
            <a:off x="1667918" y="2636912"/>
            <a:ext cx="9302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buNone/>
              <a:defRPr/>
            </a:pPr>
            <a:r>
              <a:rPr lang="zh-CN" altLang="pt-BR" sz="24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943872" y="116632"/>
            <a:ext cx="448853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</a:pPr>
            <a:r>
              <a:rPr kumimoji="1" lang="en-US" altLang="zh-CN" sz="3600" b="0" kern="12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3.4.2  </a:t>
            </a:r>
            <a:r>
              <a:rPr kumimoji="1" lang="zh-CN" altLang="en-US" sz="3600" b="0" kern="12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推理方法</a:t>
            </a:r>
            <a:endParaRPr kumimoji="1" lang="en-US" altLang="zh-CN" sz="3600" b="0" kern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0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0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0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0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0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0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0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0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0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0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0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0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499462" y="2854013"/>
            <a:ext cx="9649072" cy="502265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公式</a:t>
            </a:r>
            <a:r>
              <a:rPr kumimoji="1" lang="en-US" altLang="zh-CN" sz="24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满足</a:t>
            </a:r>
            <a:r>
              <a:rPr kumimoji="1" lang="en-US" altLang="zh-CN" sz="24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kumimoji="1" lang="en-US" altLang="zh-CN" sz="24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24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kumimoji="1" lang="en-US" altLang="zh-CN" sz="24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FF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kumimoji="1" lang="en-US" altLang="zh-CN" sz="24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4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kumimoji="1" lang="en-US" altLang="zh-CN" sz="24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是永真公式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3352" y="4949172"/>
            <a:ext cx="61344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0" indent="0" algn="just" eaLnBrk="1" hangingPunct="1">
              <a:spcBef>
                <a:spcPct val="50000"/>
              </a:spcBef>
              <a:buClr>
                <a:srgbClr val="FFC000"/>
              </a:buClr>
              <a:buSzPct val="10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  归谬证明法</a:t>
            </a:r>
            <a:r>
              <a:rPr lang="en-US" altLang="zh-CN" dirty="0"/>
              <a:t>(</a:t>
            </a:r>
            <a:r>
              <a:rPr lang="zh-CN" altLang="en-US" dirty="0"/>
              <a:t>又称反证法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199456" y="5619369"/>
            <a:ext cx="72387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buNone/>
              <a:defRPr sz="24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 欲证明</a:t>
            </a:r>
            <a:r>
              <a:rPr lang="en-US" altLang="zh-CN" i="1" dirty="0"/>
              <a:t>H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i="1" dirty="0"/>
              <a:t>C</a:t>
            </a:r>
            <a:r>
              <a:rPr lang="en-US" altLang="zh-CN" dirty="0"/>
              <a:t>, </a:t>
            </a:r>
            <a:r>
              <a:rPr lang="zh-CN" altLang="en-US" dirty="0"/>
              <a:t>只需找到公式</a:t>
            </a:r>
            <a:r>
              <a:rPr lang="en-US" altLang="zh-CN" i="1" dirty="0"/>
              <a:t>B</a:t>
            </a:r>
            <a:r>
              <a:rPr lang="zh-CN" altLang="en-US" dirty="0"/>
              <a:t>并证明</a:t>
            </a:r>
            <a:r>
              <a:rPr lang="en-US" altLang="zh-CN" i="1" dirty="0"/>
              <a:t>H</a:t>
            </a:r>
            <a:r>
              <a:rPr lang="en-US" altLang="zh-CN" dirty="0">
                <a:sym typeface="Symbol" panose="05050102010706020507" pitchFamily="18" charset="2"/>
              </a:rPr>
              <a:t></a:t>
            </a:r>
            <a:r>
              <a:rPr lang="en-US" altLang="zh-CN" i="1" dirty="0"/>
              <a:t>C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</a:t>
            </a:r>
            <a:r>
              <a:rPr lang="en-US" altLang="zh-CN" i="1" dirty="0"/>
              <a:t>B</a:t>
            </a:r>
            <a:endParaRPr lang="zh-CN" altLang="en-US" i="1" dirty="0"/>
          </a:p>
        </p:txBody>
      </p:sp>
      <p:sp>
        <p:nvSpPr>
          <p:cNvPr id="10" name="文本框 9"/>
          <p:cNvSpPr txBox="1"/>
          <p:nvPr/>
        </p:nvSpPr>
        <p:spPr>
          <a:xfrm>
            <a:off x="335360" y="1647218"/>
            <a:ext cx="61344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0" indent="0" algn="just" eaLnBrk="1" hangingPunct="1">
              <a:spcBef>
                <a:spcPct val="50000"/>
              </a:spcBef>
              <a:buClr>
                <a:srgbClr val="FFC000"/>
              </a:buClr>
              <a:buSzPct val="10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  定理</a:t>
            </a:r>
            <a:r>
              <a:rPr lang="en-US" altLang="zh-CN" dirty="0"/>
              <a:t>3.4.2 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983432" y="2181611"/>
            <a:ext cx="6289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若存在公式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使得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41663" y="2839415"/>
            <a:ext cx="11577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None/>
              <a:defRPr sz="2400" b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证明</a:t>
            </a:r>
            <a:r>
              <a:rPr lang="en-US" altLang="zh-CN" dirty="0"/>
              <a:t>*</a:t>
            </a:r>
            <a:r>
              <a:rPr lang="zh-CN" altLang="en-US" dirty="0"/>
              <a:t>：</a:t>
            </a: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4655840" y="3285955"/>
            <a:ext cx="5472608" cy="165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FontTx/>
              <a:buNone/>
              <a:defRPr/>
            </a:pPr>
            <a:r>
              <a:rPr kumimoji="0" lang="zh-CN" altLang="en-US" sz="2200" b="0" kern="0" dirty="0">
                <a:solidFill>
                  <a:srgbClr val="FF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=0(</a:t>
            </a:r>
            <a:r>
              <a:rPr kumimoji="0" lang="zh-CN" altLang="en-US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∵ 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=0 )</a:t>
            </a:r>
          </a:p>
          <a:p>
            <a:pPr marL="0" indent="0" eaLnBrk="1" hangingPunct="1">
              <a:buFontTx/>
              <a:buNone/>
              <a:defRPr/>
            </a:pPr>
            <a:r>
              <a:rPr kumimoji="0" lang="zh-CN" altLang="en-US" sz="2200" b="0" kern="0" dirty="0">
                <a:solidFill>
                  <a:srgbClr val="FF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0" lang="zh-CN" altLang="en-US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</a:t>
            </a: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是永真公式 </a:t>
            </a:r>
            <a:endParaRPr kumimoji="0" lang="en-US" altLang="zh-CN" sz="2200" b="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0" lang="zh-CN" altLang="en-US" sz="2200" b="0" kern="0" dirty="0">
                <a:solidFill>
                  <a:srgbClr val="FF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是永真公式</a:t>
            </a: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zh-CN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∵</a:t>
            </a:r>
            <a:r>
              <a:rPr kumimoji="0" lang="zh-CN" altLang="en-US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 eaLnBrk="1" hangingPunct="1">
              <a:buFontTx/>
              <a:buNone/>
              <a:defRPr/>
            </a:pPr>
            <a:r>
              <a:rPr kumimoji="0" lang="zh-CN" altLang="en-US" sz="2200" b="0" kern="0" dirty="0">
                <a:solidFill>
                  <a:srgbClr val="FF33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0" lang="zh-CN" altLang="en-US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2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200" b="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 </a:t>
            </a:r>
          </a:p>
          <a:p>
            <a:pPr marL="0" indent="0" eaLnBrk="1" hangingPunct="1">
              <a:buFontTx/>
              <a:buNone/>
              <a:defRPr/>
            </a:pPr>
            <a:endParaRPr kumimoji="0" lang="zh-CN" altLang="en-US" sz="2200" b="0" kern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4943872" y="116632"/>
            <a:ext cx="448853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</a:pPr>
            <a:r>
              <a:rPr kumimoji="1" lang="en-US" altLang="zh-CN" sz="3600" b="0" kern="12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3.4.2  </a:t>
            </a:r>
            <a:r>
              <a:rPr kumimoji="1" lang="zh-CN" altLang="en-US" sz="3600" b="0" kern="12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推理方法</a:t>
            </a:r>
            <a:endParaRPr kumimoji="1" lang="en-US" altLang="zh-CN" sz="3600" b="0" kern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8" grpId="0" build="p"/>
      <p:bldP spid="6" grpId="0"/>
      <p:bldP spid="8" grpId="0"/>
      <p:bldP spid="10" grpId="0"/>
      <p:bldP spid="12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207568" y="2276872"/>
            <a:ext cx="4850035" cy="403244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SzPct val="100000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          </a:t>
            </a:r>
            <a:r>
              <a:rPr lang="zh-CN" altLang="en-US" sz="240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引入否定结论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SzPct val="100000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①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置换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SzPct val="100000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②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化简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SzPct val="100000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④ (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SzPct val="100000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          ③④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拒取式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SzPct val="100000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⑥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⑤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置换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SzPct val="100000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⑦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⑥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化简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SzPct val="100000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⑧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②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化简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0"/>
              </a:spcBef>
              <a:buSzPct val="100000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⑨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⑦⑧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合取引入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1384" y="1645189"/>
            <a:ext cx="61310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defPPr>
              <a:defRPr lang="zh-CN"/>
            </a:defPPr>
            <a:lvl1pPr marL="0" indent="0" algn="just" eaLnBrk="1" hangingPunct="1">
              <a:spcBef>
                <a:spcPct val="50000"/>
              </a:spcBef>
              <a:buClr>
                <a:srgbClr val="FFC000"/>
              </a:buClr>
              <a:buSzPct val="100000"/>
              <a:buFont typeface="Wingdings" panose="05000000000000000000" pitchFamily="2" charset="2"/>
              <a:buNone/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例</a:t>
            </a:r>
            <a:r>
              <a:rPr lang="en-US" altLang="zh-CN" dirty="0"/>
              <a:t>3.4.7</a:t>
            </a:r>
            <a:r>
              <a:rPr lang="zh-CN" altLang="en-US" dirty="0"/>
              <a:t>  证明</a:t>
            </a:r>
            <a:r>
              <a:rPr lang="en-US" altLang="zh-CN" dirty="0"/>
              <a:t>(</a:t>
            </a:r>
            <a:r>
              <a:rPr lang="en-US" altLang="zh-CN" i="1" dirty="0" err="1"/>
              <a:t>p</a:t>
            </a:r>
            <a:r>
              <a:rPr lang="en-US" altLang="zh-CN" dirty="0" err="1">
                <a:sym typeface="Symbol" panose="05050102010706020507" pitchFamily="18" charset="2"/>
              </a:rPr>
              <a:t></a:t>
            </a:r>
            <a:r>
              <a:rPr lang="en-US" altLang="zh-CN" i="1" dirty="0" err="1"/>
              <a:t>q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 err="1"/>
              <a:t>q</a:t>
            </a:r>
            <a:r>
              <a:rPr lang="en-US" altLang="zh-CN" dirty="0" err="1">
                <a:sym typeface="Symbol" panose="05050102010706020507" pitchFamily="18" charset="2"/>
              </a:rPr>
              <a:t></a:t>
            </a:r>
            <a:r>
              <a:rPr lang="en-US" altLang="zh-CN" i="1" dirty="0" err="1"/>
              <a:t>p</a:t>
            </a:r>
            <a:r>
              <a:rPr lang="en-US" altLang="zh-CN" dirty="0" err="1">
                <a:sym typeface="Symbol" panose="05050102010706020507" pitchFamily="18" charset="2"/>
              </a:rPr>
              <a:t></a:t>
            </a:r>
            <a:r>
              <a:rPr lang="en-US" altLang="zh-CN" i="1" dirty="0" err="1"/>
              <a:t>q</a:t>
            </a:r>
            <a:endParaRPr lang="zh-CN" altLang="pt-BR" i="1" dirty="0"/>
          </a:p>
        </p:txBody>
      </p:sp>
      <p:sp>
        <p:nvSpPr>
          <p:cNvPr id="4" name="文本框 3"/>
          <p:cNvSpPr txBox="1"/>
          <p:nvPr/>
        </p:nvSpPr>
        <p:spPr>
          <a:xfrm>
            <a:off x="1127448" y="2276872"/>
            <a:ext cx="9302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buNone/>
              <a:defRPr/>
            </a:pPr>
            <a:r>
              <a:rPr lang="zh-CN" altLang="pt-BR" sz="24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943872" y="116632"/>
            <a:ext cx="448853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</a:pPr>
            <a:r>
              <a:rPr kumimoji="1" lang="en-US" altLang="zh-CN" sz="3600" b="0" kern="12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3.4.2  </a:t>
            </a:r>
            <a:r>
              <a:rPr kumimoji="1" lang="zh-CN" altLang="en-US" sz="3600" b="0" kern="12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推理方法</a:t>
            </a:r>
            <a:endParaRPr kumimoji="1" lang="en-US" altLang="zh-CN" sz="3600" b="0" kern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1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1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1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1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1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1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1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1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1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1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1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1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1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1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1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1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1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1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1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1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1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1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1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1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1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1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1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ChangeArrowheads="1"/>
          </p:cNvSpPr>
          <p:nvPr/>
        </p:nvSpPr>
        <p:spPr bwMode="auto">
          <a:xfrm>
            <a:off x="407368" y="1477824"/>
            <a:ext cx="1087320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3.4.8 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构造下面推理的证明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:(1) 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┐</a:t>
            </a:r>
            <a:r>
              <a:rPr lang="en-US" altLang="zh-CN" sz="24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en-US" altLang="zh-CN" sz="24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∧(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9752" name="Rectangle 8"/>
          <p:cNvSpPr>
            <a:spLocks noChangeArrowheads="1"/>
          </p:cNvSpPr>
          <p:nvPr/>
        </p:nvSpPr>
        <p:spPr bwMode="auto">
          <a:xfrm>
            <a:off x="767408" y="2636912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0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9753" name="Rectangle 9"/>
          <p:cNvSpPr>
            <a:spLocks noChangeArrowheads="1"/>
          </p:cNvSpPr>
          <p:nvPr/>
        </p:nvSpPr>
        <p:spPr bwMode="auto">
          <a:xfrm>
            <a:off x="1858020" y="5696023"/>
            <a:ext cx="12234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∧(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9754" name="Rectangle 10"/>
          <p:cNvSpPr>
            <a:spLocks noChangeArrowheads="1"/>
          </p:cNvSpPr>
          <p:nvPr/>
        </p:nvSpPr>
        <p:spPr bwMode="auto">
          <a:xfrm>
            <a:off x="3070871" y="2636912"/>
            <a:ext cx="792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59755" name="Rectangle 11"/>
          <p:cNvSpPr>
            <a:spLocks noChangeArrowheads="1"/>
          </p:cNvSpPr>
          <p:nvPr/>
        </p:nvSpPr>
        <p:spPr bwMode="auto">
          <a:xfrm>
            <a:off x="3858270" y="2636912"/>
            <a:ext cx="9413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en-US" altLang="zh-CN" sz="20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9756" name="Rectangle 12"/>
          <p:cNvSpPr>
            <a:spLocks noChangeArrowheads="1"/>
          </p:cNvSpPr>
          <p:nvPr/>
        </p:nvSpPr>
        <p:spPr bwMode="auto">
          <a:xfrm>
            <a:off x="1919933" y="2636912"/>
            <a:ext cx="863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endParaRPr lang="en-US" altLang="zh-CN" sz="20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9757" name="Rectangle 13"/>
          <p:cNvSpPr>
            <a:spLocks noChangeArrowheads="1"/>
          </p:cNvSpPr>
          <p:nvPr/>
        </p:nvSpPr>
        <p:spPr bwMode="auto">
          <a:xfrm>
            <a:off x="2854971" y="4938787"/>
            <a:ext cx="936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en-US" altLang="zh-CN" sz="20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9758" name="Rectangle 14"/>
          <p:cNvSpPr>
            <a:spLocks noChangeArrowheads="1"/>
          </p:cNvSpPr>
          <p:nvPr/>
        </p:nvSpPr>
        <p:spPr bwMode="auto">
          <a:xfrm>
            <a:off x="1486545" y="4903861"/>
            <a:ext cx="2840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</p:txBody>
      </p:sp>
      <p:grpSp>
        <p:nvGrpSpPr>
          <p:cNvPr id="159777" name="Group 33"/>
          <p:cNvGrpSpPr/>
          <p:nvPr/>
        </p:nvGrpSpPr>
        <p:grpSpPr bwMode="auto">
          <a:xfrm>
            <a:off x="1631008" y="5264223"/>
            <a:ext cx="1655762" cy="503238"/>
            <a:chOff x="1882" y="2681"/>
            <a:chExt cx="1043" cy="317"/>
          </a:xfrm>
        </p:grpSpPr>
        <p:sp>
          <p:nvSpPr>
            <p:cNvPr id="35875" name="Line 15"/>
            <p:cNvSpPr>
              <a:spLocks noChangeShapeType="1"/>
            </p:cNvSpPr>
            <p:nvPr/>
          </p:nvSpPr>
          <p:spPr bwMode="auto">
            <a:xfrm>
              <a:off x="2336" y="2862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76" name="Line 16"/>
            <p:cNvSpPr>
              <a:spLocks noChangeShapeType="1"/>
            </p:cNvSpPr>
            <p:nvPr/>
          </p:nvSpPr>
          <p:spPr bwMode="auto">
            <a:xfrm>
              <a:off x="1882" y="2862"/>
              <a:ext cx="1043" cy="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77" name="Line 17"/>
            <p:cNvSpPr>
              <a:spLocks noChangeShapeType="1"/>
            </p:cNvSpPr>
            <p:nvPr/>
          </p:nvSpPr>
          <p:spPr bwMode="auto">
            <a:xfrm>
              <a:off x="1882" y="2681"/>
              <a:ext cx="0" cy="181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78" name="Line 18"/>
            <p:cNvSpPr>
              <a:spLocks noChangeShapeType="1"/>
            </p:cNvSpPr>
            <p:nvPr/>
          </p:nvSpPr>
          <p:spPr bwMode="auto">
            <a:xfrm>
              <a:off x="2925" y="2681"/>
              <a:ext cx="0" cy="181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9778" name="Group 34"/>
          <p:cNvGrpSpPr/>
          <p:nvPr/>
        </p:nvGrpSpPr>
        <p:grpSpPr bwMode="auto">
          <a:xfrm>
            <a:off x="2278709" y="2997273"/>
            <a:ext cx="1081087" cy="431800"/>
            <a:chOff x="2290" y="1253"/>
            <a:chExt cx="681" cy="272"/>
          </a:xfrm>
        </p:grpSpPr>
        <p:sp>
          <p:nvSpPr>
            <p:cNvPr id="35871" name="Line 19"/>
            <p:cNvSpPr>
              <a:spLocks noChangeShapeType="1"/>
            </p:cNvSpPr>
            <p:nvPr/>
          </p:nvSpPr>
          <p:spPr bwMode="auto">
            <a:xfrm>
              <a:off x="2290" y="1253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72" name="Line 20"/>
            <p:cNvSpPr>
              <a:spLocks noChangeShapeType="1"/>
            </p:cNvSpPr>
            <p:nvPr/>
          </p:nvSpPr>
          <p:spPr bwMode="auto">
            <a:xfrm>
              <a:off x="2971" y="1253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73" name="Line 21"/>
            <p:cNvSpPr>
              <a:spLocks noChangeShapeType="1"/>
            </p:cNvSpPr>
            <p:nvPr/>
          </p:nvSpPr>
          <p:spPr bwMode="auto">
            <a:xfrm>
              <a:off x="2290" y="1389"/>
              <a:ext cx="681" cy="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74" name="Line 22"/>
            <p:cNvSpPr>
              <a:spLocks noChangeShapeType="1"/>
            </p:cNvSpPr>
            <p:nvPr/>
          </p:nvSpPr>
          <p:spPr bwMode="auto">
            <a:xfrm>
              <a:off x="2608" y="1389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9767" name="Rectangle 23"/>
          <p:cNvSpPr>
            <a:spLocks noChangeArrowheads="1"/>
          </p:cNvSpPr>
          <p:nvPr/>
        </p:nvSpPr>
        <p:spPr bwMode="auto">
          <a:xfrm>
            <a:off x="2567634" y="3357637"/>
            <a:ext cx="719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</p:txBody>
      </p:sp>
      <p:grpSp>
        <p:nvGrpSpPr>
          <p:cNvPr id="159780" name="Group 36"/>
          <p:cNvGrpSpPr/>
          <p:nvPr/>
        </p:nvGrpSpPr>
        <p:grpSpPr bwMode="auto">
          <a:xfrm>
            <a:off x="2783533" y="2997274"/>
            <a:ext cx="1439862" cy="1223963"/>
            <a:chOff x="2608" y="1253"/>
            <a:chExt cx="907" cy="771"/>
          </a:xfrm>
        </p:grpSpPr>
        <p:grpSp>
          <p:nvGrpSpPr>
            <p:cNvPr id="35866" name="Group 35"/>
            <p:cNvGrpSpPr/>
            <p:nvPr/>
          </p:nvGrpSpPr>
          <p:grpSpPr bwMode="auto">
            <a:xfrm>
              <a:off x="2608" y="1253"/>
              <a:ext cx="907" cy="635"/>
              <a:chOff x="2608" y="1253"/>
              <a:chExt cx="907" cy="635"/>
            </a:xfrm>
          </p:grpSpPr>
          <p:sp>
            <p:nvSpPr>
              <p:cNvPr id="35868" name="Line 24"/>
              <p:cNvSpPr>
                <a:spLocks noChangeShapeType="1"/>
              </p:cNvSpPr>
              <p:nvPr/>
            </p:nvSpPr>
            <p:spPr bwMode="auto">
              <a:xfrm>
                <a:off x="2608" y="1752"/>
                <a:ext cx="0" cy="136"/>
              </a:xfrm>
              <a:prstGeom prst="line">
                <a:avLst/>
              </a:prstGeom>
              <a:noFill/>
              <a:ln w="9525">
                <a:solidFill>
                  <a:srgbClr val="FFC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000" b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869" name="Line 25"/>
              <p:cNvSpPr>
                <a:spLocks noChangeShapeType="1"/>
              </p:cNvSpPr>
              <p:nvPr/>
            </p:nvSpPr>
            <p:spPr bwMode="auto">
              <a:xfrm flipH="1">
                <a:off x="3515" y="1253"/>
                <a:ext cx="0" cy="635"/>
              </a:xfrm>
              <a:prstGeom prst="line">
                <a:avLst/>
              </a:prstGeom>
              <a:noFill/>
              <a:ln w="9525">
                <a:solidFill>
                  <a:srgbClr val="FFC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000" b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870" name="Line 26"/>
              <p:cNvSpPr>
                <a:spLocks noChangeShapeType="1"/>
              </p:cNvSpPr>
              <p:nvPr/>
            </p:nvSpPr>
            <p:spPr bwMode="auto">
              <a:xfrm>
                <a:off x="2608" y="1888"/>
                <a:ext cx="907" cy="0"/>
              </a:xfrm>
              <a:prstGeom prst="line">
                <a:avLst/>
              </a:prstGeom>
              <a:noFill/>
              <a:ln w="9525">
                <a:solidFill>
                  <a:srgbClr val="FFC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000" b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5867" name="Line 27"/>
            <p:cNvSpPr>
              <a:spLocks noChangeShapeType="1"/>
            </p:cNvSpPr>
            <p:nvPr/>
          </p:nvSpPr>
          <p:spPr bwMode="auto">
            <a:xfrm>
              <a:off x="2971" y="1888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9772" name="Rectangle 28"/>
          <p:cNvSpPr>
            <a:spLocks noChangeArrowheads="1"/>
          </p:cNvSpPr>
          <p:nvPr/>
        </p:nvSpPr>
        <p:spPr bwMode="auto">
          <a:xfrm>
            <a:off x="3215334" y="4111698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</p:txBody>
      </p:sp>
      <p:grpSp>
        <p:nvGrpSpPr>
          <p:cNvPr id="159781" name="Group 37"/>
          <p:cNvGrpSpPr/>
          <p:nvPr/>
        </p:nvGrpSpPr>
        <p:grpSpPr bwMode="auto">
          <a:xfrm>
            <a:off x="1127771" y="2997273"/>
            <a:ext cx="2232025" cy="2014538"/>
            <a:chOff x="1565" y="1253"/>
            <a:chExt cx="1406" cy="1269"/>
          </a:xfrm>
        </p:grpSpPr>
        <p:sp>
          <p:nvSpPr>
            <p:cNvPr id="35862" name="Line 29"/>
            <p:cNvSpPr>
              <a:spLocks noChangeShapeType="1"/>
            </p:cNvSpPr>
            <p:nvPr/>
          </p:nvSpPr>
          <p:spPr bwMode="auto">
            <a:xfrm flipH="1">
              <a:off x="1565" y="1253"/>
              <a:ext cx="0" cy="1088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63" name="Line 30"/>
            <p:cNvSpPr>
              <a:spLocks noChangeShapeType="1"/>
            </p:cNvSpPr>
            <p:nvPr/>
          </p:nvSpPr>
          <p:spPr bwMode="auto">
            <a:xfrm>
              <a:off x="2971" y="2205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64" name="Line 31"/>
            <p:cNvSpPr>
              <a:spLocks noChangeShapeType="1"/>
            </p:cNvSpPr>
            <p:nvPr/>
          </p:nvSpPr>
          <p:spPr bwMode="auto">
            <a:xfrm>
              <a:off x="1565" y="2341"/>
              <a:ext cx="1406" cy="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5865" name="Line 32"/>
            <p:cNvSpPr>
              <a:spLocks noChangeShapeType="1"/>
            </p:cNvSpPr>
            <p:nvPr/>
          </p:nvSpPr>
          <p:spPr bwMode="auto">
            <a:xfrm>
              <a:off x="1882" y="2341"/>
              <a:ext cx="0" cy="181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9783" name="Rectangle 39"/>
          <p:cNvSpPr>
            <a:spLocks noChangeArrowheads="1"/>
          </p:cNvSpPr>
          <p:nvPr/>
        </p:nvSpPr>
        <p:spPr bwMode="auto">
          <a:xfrm>
            <a:off x="2084318" y="5178629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合取</a:t>
            </a:r>
          </a:p>
        </p:txBody>
      </p:sp>
      <p:sp>
        <p:nvSpPr>
          <p:cNvPr id="159784" name="Rectangle 40"/>
          <p:cNvSpPr>
            <a:spLocks noChangeArrowheads="1"/>
          </p:cNvSpPr>
          <p:nvPr/>
        </p:nvSpPr>
        <p:spPr bwMode="auto">
          <a:xfrm>
            <a:off x="1139935" y="4363287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假言推理</a:t>
            </a:r>
          </a:p>
        </p:txBody>
      </p:sp>
      <p:sp>
        <p:nvSpPr>
          <p:cNvPr id="159785" name="Rectangle 41"/>
          <p:cNvSpPr>
            <a:spLocks noChangeArrowheads="1"/>
          </p:cNvSpPr>
          <p:nvPr/>
        </p:nvSpPr>
        <p:spPr bwMode="auto">
          <a:xfrm>
            <a:off x="2360435" y="2870247"/>
            <a:ext cx="9541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拒取式</a:t>
            </a:r>
          </a:p>
        </p:txBody>
      </p:sp>
      <p:sp>
        <p:nvSpPr>
          <p:cNvPr id="159786" name="Rectangle 42"/>
          <p:cNvSpPr>
            <a:spLocks noChangeArrowheads="1"/>
          </p:cNvSpPr>
          <p:nvPr/>
        </p:nvSpPr>
        <p:spPr bwMode="auto">
          <a:xfrm>
            <a:off x="2819252" y="3656249"/>
            <a:ext cx="15574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析取三段论</a:t>
            </a:r>
          </a:p>
        </p:txBody>
      </p:sp>
      <p:sp>
        <p:nvSpPr>
          <p:cNvPr id="38" name="Text Box 5"/>
          <p:cNvSpPr txBox="1">
            <a:spLocks noChangeArrowheads="1"/>
          </p:cNvSpPr>
          <p:nvPr/>
        </p:nvSpPr>
        <p:spPr bwMode="auto">
          <a:xfrm>
            <a:off x="6492453" y="4589475"/>
            <a:ext cx="1798637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⑥ 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0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⑦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⑧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∧(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auto">
          <a:xfrm>
            <a:off x="6060652" y="2573350"/>
            <a:ext cx="2025650" cy="198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   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   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   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④   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40" name="Text Box 43"/>
          <p:cNvSpPr txBox="1">
            <a:spLocks noChangeArrowheads="1"/>
          </p:cNvSpPr>
          <p:nvPr/>
        </p:nvSpPr>
        <p:spPr bwMode="auto">
          <a:xfrm>
            <a:off x="7932315" y="2573350"/>
            <a:ext cx="2519363" cy="198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endParaRPr lang="en-US" altLang="zh-CN" sz="2000" b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         </a:t>
            </a: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①②拒取式</a:t>
            </a: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</p:txBody>
      </p:sp>
      <p:sp>
        <p:nvSpPr>
          <p:cNvPr id="41" name="Text Box 44"/>
          <p:cNvSpPr txBox="1">
            <a:spLocks noChangeArrowheads="1"/>
          </p:cNvSpPr>
          <p:nvPr/>
        </p:nvSpPr>
        <p:spPr bwMode="auto">
          <a:xfrm>
            <a:off x="8364114" y="4662500"/>
            <a:ext cx="2160588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③④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析取三段论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⑤⑥假言推理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⑦④合取</a:t>
            </a: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4943872" y="116632"/>
            <a:ext cx="448853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</a:pP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补充例题</a:t>
            </a:r>
            <a:endParaRPr kumimoji="1" lang="en-US" altLang="zh-CN" sz="3600" b="0" kern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5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9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9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9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59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59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5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5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59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59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59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  <p:bldP spid="159752" grpId="0"/>
      <p:bldP spid="159753" grpId="0"/>
      <p:bldP spid="159754" grpId="0"/>
      <p:bldP spid="159755" grpId="0"/>
      <p:bldP spid="159756" grpId="0"/>
      <p:bldP spid="159757" grpId="0"/>
      <p:bldP spid="159758" grpId="0"/>
      <p:bldP spid="159767" grpId="0"/>
      <p:bldP spid="159772" grpId="0"/>
      <p:bldP spid="159783" grpId="0"/>
      <p:bldP spid="159784" grpId="0"/>
      <p:bldP spid="159785" grpId="0"/>
      <p:bldP spid="15978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6" name="Text Box 4"/>
          <p:cNvSpPr txBox="1">
            <a:spLocks noChangeArrowheads="1"/>
          </p:cNvSpPr>
          <p:nvPr/>
        </p:nvSpPr>
        <p:spPr bwMode="auto">
          <a:xfrm>
            <a:off x="426915" y="1874629"/>
            <a:ext cx="109452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70000"/>
              </a:spcBef>
              <a:defRPr/>
            </a:pP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3.4.8 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构造下面推理的证明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:  (2)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前提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: ┐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∨┐</a:t>
            </a:r>
            <a:r>
              <a:rPr lang="en-US" altLang="zh-CN" sz="24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="0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;  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结论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endParaRPr lang="en-US" altLang="zh-CN" sz="2400" b="0" i="1" dirty="0">
              <a:solidFill>
                <a:srgbClr val="FF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6922" name="Rectangle 10"/>
          <p:cNvSpPr>
            <a:spLocks noChangeArrowheads="1"/>
          </p:cNvSpPr>
          <p:nvPr/>
        </p:nvSpPr>
        <p:spPr bwMode="auto">
          <a:xfrm>
            <a:off x="2058832" y="4497715"/>
            <a:ext cx="91973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0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66923" name="Group 11"/>
          <p:cNvGrpSpPr/>
          <p:nvPr/>
        </p:nvGrpSpPr>
        <p:grpSpPr bwMode="auto">
          <a:xfrm>
            <a:off x="2422280" y="4948496"/>
            <a:ext cx="1655762" cy="503237"/>
            <a:chOff x="1882" y="2681"/>
            <a:chExt cx="1043" cy="317"/>
          </a:xfrm>
        </p:grpSpPr>
        <p:sp>
          <p:nvSpPr>
            <p:cNvPr id="37912" name="Line 12"/>
            <p:cNvSpPr>
              <a:spLocks noChangeShapeType="1"/>
            </p:cNvSpPr>
            <p:nvPr/>
          </p:nvSpPr>
          <p:spPr bwMode="auto">
            <a:xfrm>
              <a:off x="2336" y="2862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7913" name="Line 13"/>
            <p:cNvSpPr>
              <a:spLocks noChangeShapeType="1"/>
            </p:cNvSpPr>
            <p:nvPr/>
          </p:nvSpPr>
          <p:spPr bwMode="auto">
            <a:xfrm>
              <a:off x="1882" y="2862"/>
              <a:ext cx="1043" cy="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7914" name="Line 14"/>
            <p:cNvSpPr>
              <a:spLocks noChangeShapeType="1"/>
            </p:cNvSpPr>
            <p:nvPr/>
          </p:nvSpPr>
          <p:spPr bwMode="auto">
            <a:xfrm>
              <a:off x="1882" y="2681"/>
              <a:ext cx="0" cy="181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7915" name="Line 15"/>
            <p:cNvSpPr>
              <a:spLocks noChangeShapeType="1"/>
            </p:cNvSpPr>
            <p:nvPr/>
          </p:nvSpPr>
          <p:spPr bwMode="auto">
            <a:xfrm>
              <a:off x="2925" y="2681"/>
              <a:ext cx="0" cy="181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66946" name="Rectangle 34"/>
          <p:cNvSpPr>
            <a:spLocks noChangeArrowheads="1"/>
          </p:cNvSpPr>
          <p:nvPr/>
        </p:nvSpPr>
        <p:spPr bwMode="auto">
          <a:xfrm>
            <a:off x="2638180" y="4940558"/>
            <a:ext cx="12192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假言三段论</a:t>
            </a:r>
          </a:p>
        </p:txBody>
      </p:sp>
      <p:sp>
        <p:nvSpPr>
          <p:cNvPr id="166950" name="Rectangle 38"/>
          <p:cNvSpPr>
            <a:spLocks noChangeArrowheads="1"/>
          </p:cNvSpPr>
          <p:nvPr/>
        </p:nvSpPr>
        <p:spPr bwMode="auto">
          <a:xfrm>
            <a:off x="839416" y="2974181"/>
            <a:ext cx="909638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en-US" altLang="zh-CN" sz="20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6951" name="Rectangle 39"/>
          <p:cNvSpPr>
            <a:spLocks noChangeArrowheads="1"/>
          </p:cNvSpPr>
          <p:nvPr/>
        </p:nvSpPr>
        <p:spPr bwMode="auto">
          <a:xfrm>
            <a:off x="2819029" y="2974181"/>
            <a:ext cx="8499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∨┐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166953" name="Rectangle 41"/>
          <p:cNvSpPr>
            <a:spLocks noChangeArrowheads="1"/>
          </p:cNvSpPr>
          <p:nvPr/>
        </p:nvSpPr>
        <p:spPr bwMode="auto">
          <a:xfrm>
            <a:off x="2782643" y="5345371"/>
            <a:ext cx="683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endParaRPr lang="en-US" altLang="zh-CN" sz="20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6954" name="Rectangle 42"/>
          <p:cNvSpPr>
            <a:spLocks noChangeArrowheads="1"/>
          </p:cNvSpPr>
          <p:nvPr/>
        </p:nvSpPr>
        <p:spPr bwMode="auto">
          <a:xfrm>
            <a:off x="3790705" y="4588132"/>
            <a:ext cx="6399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endParaRPr lang="en-US" altLang="zh-CN" sz="20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6955" name="Rectangle 43"/>
          <p:cNvSpPr>
            <a:spLocks noChangeArrowheads="1"/>
          </p:cNvSpPr>
          <p:nvPr/>
        </p:nvSpPr>
        <p:spPr bwMode="auto">
          <a:xfrm>
            <a:off x="1090242" y="3766345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en-US" altLang="zh-CN" sz="20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6956" name="Rectangle 44"/>
          <p:cNvSpPr>
            <a:spLocks noChangeArrowheads="1"/>
          </p:cNvSpPr>
          <p:nvPr/>
        </p:nvSpPr>
        <p:spPr bwMode="auto">
          <a:xfrm>
            <a:off x="2819029" y="3766345"/>
            <a:ext cx="6687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0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6957" name="Line 45"/>
          <p:cNvSpPr>
            <a:spLocks noChangeShapeType="1"/>
          </p:cNvSpPr>
          <p:nvPr/>
        </p:nvSpPr>
        <p:spPr bwMode="auto">
          <a:xfrm>
            <a:off x="1450604" y="3334545"/>
            <a:ext cx="0" cy="503237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b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6958" name="Line 46"/>
          <p:cNvSpPr>
            <a:spLocks noChangeShapeType="1"/>
          </p:cNvSpPr>
          <p:nvPr/>
        </p:nvSpPr>
        <p:spPr bwMode="auto">
          <a:xfrm>
            <a:off x="3177804" y="3334545"/>
            <a:ext cx="0" cy="503237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b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522042" y="4126706"/>
            <a:ext cx="1655763" cy="498634"/>
            <a:chOff x="1522042" y="4126706"/>
            <a:chExt cx="1655763" cy="498634"/>
          </a:xfrm>
        </p:grpSpPr>
        <p:sp>
          <p:nvSpPr>
            <p:cNvPr id="37908" name="Line 48"/>
            <p:cNvSpPr>
              <a:spLocks noChangeShapeType="1"/>
            </p:cNvSpPr>
            <p:nvPr/>
          </p:nvSpPr>
          <p:spPr bwMode="auto">
            <a:xfrm>
              <a:off x="2392891" y="4409440"/>
              <a:ext cx="0" cy="21590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7909" name="Line 49"/>
            <p:cNvSpPr>
              <a:spLocks noChangeShapeType="1"/>
            </p:cNvSpPr>
            <p:nvPr/>
          </p:nvSpPr>
          <p:spPr bwMode="auto">
            <a:xfrm>
              <a:off x="1524000" y="4414044"/>
              <a:ext cx="1653805" cy="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7910" name="Line 50"/>
            <p:cNvSpPr>
              <a:spLocks noChangeShapeType="1"/>
            </p:cNvSpPr>
            <p:nvPr/>
          </p:nvSpPr>
          <p:spPr bwMode="auto">
            <a:xfrm>
              <a:off x="1522042" y="4126706"/>
              <a:ext cx="0" cy="287338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7911" name="Line 51"/>
            <p:cNvSpPr>
              <a:spLocks noChangeShapeType="1"/>
            </p:cNvSpPr>
            <p:nvPr/>
          </p:nvSpPr>
          <p:spPr bwMode="auto">
            <a:xfrm>
              <a:off x="3177805" y="4126706"/>
              <a:ext cx="0" cy="287338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66965" name="Rectangle 53"/>
          <p:cNvSpPr>
            <a:spLocks noChangeArrowheads="1"/>
          </p:cNvSpPr>
          <p:nvPr/>
        </p:nvSpPr>
        <p:spPr bwMode="auto">
          <a:xfrm>
            <a:off x="1478394" y="3406272"/>
            <a:ext cx="598488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置换</a:t>
            </a:r>
          </a:p>
        </p:txBody>
      </p:sp>
      <p:sp>
        <p:nvSpPr>
          <p:cNvPr id="166966" name="Rectangle 54"/>
          <p:cNvSpPr>
            <a:spLocks noChangeArrowheads="1"/>
          </p:cNvSpPr>
          <p:nvPr/>
        </p:nvSpPr>
        <p:spPr bwMode="auto">
          <a:xfrm>
            <a:off x="3170315" y="3436938"/>
            <a:ext cx="598488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置换</a:t>
            </a:r>
          </a:p>
        </p:txBody>
      </p:sp>
      <p:sp>
        <p:nvSpPr>
          <p:cNvPr id="166967" name="Rectangle 55"/>
          <p:cNvSpPr>
            <a:spLocks noChangeArrowheads="1"/>
          </p:cNvSpPr>
          <p:nvPr/>
        </p:nvSpPr>
        <p:spPr bwMode="auto">
          <a:xfrm>
            <a:off x="1737941" y="4087020"/>
            <a:ext cx="12192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假言三段论</a:t>
            </a:r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5936034" y="2542381"/>
            <a:ext cx="2052638" cy="198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 ┐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en-US" altLang="zh-CN" sz="20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 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en-US" altLang="zh-CN" sz="20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④ 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0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5899523" y="4591844"/>
            <a:ext cx="1944687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  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0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⑥  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endParaRPr lang="en-US" altLang="zh-CN" sz="20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⑦ 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endParaRPr lang="en-US" altLang="zh-CN" sz="20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56"/>
          <p:cNvSpPr txBox="1">
            <a:spLocks noChangeArrowheads="1"/>
          </p:cNvSpPr>
          <p:nvPr/>
        </p:nvSpPr>
        <p:spPr bwMode="auto">
          <a:xfrm>
            <a:off x="7861673" y="2574131"/>
            <a:ext cx="2085975" cy="198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endParaRPr lang="en-US" altLang="zh-CN" sz="2000" b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①置换</a:t>
            </a: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③置换 </a:t>
            </a:r>
          </a:p>
        </p:txBody>
      </p:sp>
      <p:sp>
        <p:nvSpPr>
          <p:cNvPr id="30" name="Text Box 57"/>
          <p:cNvSpPr txBox="1">
            <a:spLocks noChangeArrowheads="1"/>
          </p:cNvSpPr>
          <p:nvPr/>
        </p:nvSpPr>
        <p:spPr bwMode="auto">
          <a:xfrm>
            <a:off x="7844209" y="4558506"/>
            <a:ext cx="3024188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en-US" altLang="zh-CN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②④</a:t>
            </a:r>
            <a:r>
              <a: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假言三段论</a:t>
            </a: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⑤⑥假言三段论</a:t>
            </a: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4943872" y="116632"/>
            <a:ext cx="448853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</a:pP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补充例题</a:t>
            </a:r>
            <a:endParaRPr kumimoji="1" lang="en-US" altLang="zh-CN" sz="3600" b="0" kern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6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6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6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6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66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6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66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6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6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66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66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66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6" grpId="0"/>
      <p:bldP spid="166922" grpId="0"/>
      <p:bldP spid="166946" grpId="0"/>
      <p:bldP spid="166950" grpId="0"/>
      <p:bldP spid="166951" grpId="0"/>
      <p:bldP spid="166953" grpId="0"/>
      <p:bldP spid="166954" grpId="0"/>
      <p:bldP spid="166955" grpId="0"/>
      <p:bldP spid="166956" grpId="0"/>
      <p:bldP spid="166957" grpId="0" animBg="1"/>
      <p:bldP spid="166958" grpId="0" animBg="1"/>
      <p:bldP spid="166965" grpId="0"/>
      <p:bldP spid="166966" grpId="0"/>
      <p:bldP spid="16696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ChangeArrowheads="1"/>
          </p:cNvSpPr>
          <p:nvPr/>
        </p:nvSpPr>
        <p:spPr bwMode="auto">
          <a:xfrm>
            <a:off x="443209" y="1636408"/>
            <a:ext cx="7524999" cy="1515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3.4.9 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构造下面推理的证明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若数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是实数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则它不是有理数就是无理数。若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不能表示成分数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则它不是有理数。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是实数且它不能表示成分数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所以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是无理数。</a:t>
            </a:r>
            <a:endParaRPr lang="en-US" altLang="zh-CN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939" name="Rectangle 8"/>
          <p:cNvSpPr>
            <a:spLocks noChangeArrowheads="1"/>
          </p:cNvSpPr>
          <p:nvPr/>
        </p:nvSpPr>
        <p:spPr bwMode="auto">
          <a:xfrm>
            <a:off x="2135188" y="1268413"/>
            <a:ext cx="8532812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92D050"/>
                </a:solidFill>
                <a:latin typeface="Times New Roman" panose="02020603050405020304" pitchFamily="18" charset="0"/>
              </a:rPr>
              <a:t>      </a:t>
            </a:r>
            <a:endParaRPr lang="zh-CN" altLang="en-US" sz="2000">
              <a:solidFill>
                <a:srgbClr val="92D05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0777" name="Text Box 9"/>
          <p:cNvSpPr txBox="1">
            <a:spLocks noChangeArrowheads="1"/>
          </p:cNvSpPr>
          <p:nvPr/>
        </p:nvSpPr>
        <p:spPr bwMode="auto">
          <a:xfrm>
            <a:off x="426067" y="3046730"/>
            <a:ext cx="379270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是实数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是有理数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是无理数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能表示成分数。</a:t>
            </a:r>
            <a:endParaRPr lang="en-US" altLang="zh-CN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→(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  ┑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 ┑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 ┑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160779" name="Rectangle 11"/>
          <p:cNvSpPr>
            <a:spLocks noChangeArrowheads="1"/>
          </p:cNvSpPr>
          <p:nvPr/>
        </p:nvSpPr>
        <p:spPr bwMode="auto">
          <a:xfrm>
            <a:off x="3141478" y="3279092"/>
            <a:ext cx="12234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→(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0780" name="Rectangle 12"/>
          <p:cNvSpPr>
            <a:spLocks noChangeArrowheads="1"/>
          </p:cNvSpPr>
          <p:nvPr/>
        </p:nvSpPr>
        <p:spPr bwMode="auto">
          <a:xfrm>
            <a:off x="5084577" y="3279093"/>
            <a:ext cx="12458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┑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 ┑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160781" name="Rectangle 13"/>
          <p:cNvSpPr>
            <a:spLocks noChangeArrowheads="1"/>
          </p:cNvSpPr>
          <p:nvPr/>
        </p:nvSpPr>
        <p:spPr bwMode="auto">
          <a:xfrm>
            <a:off x="6895916" y="3293380"/>
            <a:ext cx="10699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┑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60782" name="Rectangle 14"/>
          <p:cNvSpPr>
            <a:spLocks noChangeArrowheads="1"/>
          </p:cNvSpPr>
          <p:nvPr/>
        </p:nvSpPr>
        <p:spPr bwMode="auto">
          <a:xfrm>
            <a:off x="5500914" y="5589587"/>
            <a:ext cx="2840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160783" name="Rectangle 15"/>
          <p:cNvSpPr>
            <a:spLocks noChangeArrowheads="1"/>
          </p:cNvSpPr>
          <p:nvPr/>
        </p:nvSpPr>
        <p:spPr bwMode="auto">
          <a:xfrm>
            <a:off x="6092640" y="4718955"/>
            <a:ext cx="5693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┑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160784" name="Rectangle 16"/>
          <p:cNvSpPr>
            <a:spLocks noChangeArrowheads="1"/>
          </p:cNvSpPr>
          <p:nvPr/>
        </p:nvSpPr>
        <p:spPr bwMode="auto">
          <a:xfrm>
            <a:off x="7664384" y="3920661"/>
            <a:ext cx="2873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60785" name="Rectangle 17"/>
          <p:cNvSpPr>
            <a:spLocks noChangeArrowheads="1"/>
          </p:cNvSpPr>
          <p:nvPr/>
        </p:nvSpPr>
        <p:spPr bwMode="auto">
          <a:xfrm>
            <a:off x="6597465" y="3926793"/>
            <a:ext cx="79216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┑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60786" name="Rectangle 18"/>
          <p:cNvSpPr>
            <a:spLocks noChangeArrowheads="1"/>
          </p:cNvSpPr>
          <p:nvPr/>
        </p:nvSpPr>
        <p:spPr bwMode="auto">
          <a:xfrm>
            <a:off x="4436878" y="4718955"/>
            <a:ext cx="6687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0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60808" name="Group 40"/>
          <p:cNvGrpSpPr/>
          <p:nvPr/>
        </p:nvGrpSpPr>
        <p:grpSpPr bwMode="auto">
          <a:xfrm>
            <a:off x="4725803" y="5079317"/>
            <a:ext cx="1655763" cy="576262"/>
            <a:chOff x="2200" y="2659"/>
            <a:chExt cx="1043" cy="363"/>
          </a:xfrm>
        </p:grpSpPr>
        <p:sp>
          <p:nvSpPr>
            <p:cNvPr id="39970" name="Line 19"/>
            <p:cNvSpPr>
              <a:spLocks noChangeShapeType="1"/>
            </p:cNvSpPr>
            <p:nvPr/>
          </p:nvSpPr>
          <p:spPr bwMode="auto">
            <a:xfrm>
              <a:off x="2200" y="2659"/>
              <a:ext cx="0" cy="181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9971" name="Line 20"/>
            <p:cNvSpPr>
              <a:spLocks noChangeShapeType="1"/>
            </p:cNvSpPr>
            <p:nvPr/>
          </p:nvSpPr>
          <p:spPr bwMode="auto">
            <a:xfrm>
              <a:off x="3243" y="2659"/>
              <a:ext cx="0" cy="181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9972" name="Line 21"/>
            <p:cNvSpPr>
              <a:spLocks noChangeShapeType="1"/>
            </p:cNvSpPr>
            <p:nvPr/>
          </p:nvSpPr>
          <p:spPr bwMode="auto">
            <a:xfrm>
              <a:off x="2200" y="2840"/>
              <a:ext cx="1043" cy="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9973" name="Line 22"/>
            <p:cNvSpPr>
              <a:spLocks noChangeShapeType="1"/>
            </p:cNvSpPr>
            <p:nvPr/>
          </p:nvSpPr>
          <p:spPr bwMode="auto">
            <a:xfrm>
              <a:off x="2789" y="2840"/>
              <a:ext cx="0" cy="182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60791" name="Rectangle 23"/>
          <p:cNvSpPr>
            <a:spLocks noChangeArrowheads="1"/>
          </p:cNvSpPr>
          <p:nvPr/>
        </p:nvSpPr>
        <p:spPr bwMode="auto">
          <a:xfrm>
            <a:off x="4889212" y="5004264"/>
            <a:ext cx="14670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析取三段论</a:t>
            </a:r>
          </a:p>
        </p:txBody>
      </p:sp>
      <p:grpSp>
        <p:nvGrpSpPr>
          <p:cNvPr id="160809" name="Group 41"/>
          <p:cNvGrpSpPr/>
          <p:nvPr/>
        </p:nvGrpSpPr>
        <p:grpSpPr bwMode="auto">
          <a:xfrm>
            <a:off x="5589402" y="3566429"/>
            <a:ext cx="1295400" cy="1225550"/>
            <a:chOff x="2744" y="1706"/>
            <a:chExt cx="816" cy="772"/>
          </a:xfrm>
        </p:grpSpPr>
        <p:sp>
          <p:nvSpPr>
            <p:cNvPr id="39966" name="Line 24"/>
            <p:cNvSpPr>
              <a:spLocks noChangeShapeType="1"/>
            </p:cNvSpPr>
            <p:nvPr/>
          </p:nvSpPr>
          <p:spPr bwMode="auto">
            <a:xfrm>
              <a:off x="2744" y="1706"/>
              <a:ext cx="0" cy="59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9967" name="Line 25"/>
            <p:cNvSpPr>
              <a:spLocks noChangeShapeType="1"/>
            </p:cNvSpPr>
            <p:nvPr/>
          </p:nvSpPr>
          <p:spPr bwMode="auto">
            <a:xfrm>
              <a:off x="3560" y="2160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9968" name="Line 26"/>
            <p:cNvSpPr>
              <a:spLocks noChangeShapeType="1"/>
            </p:cNvSpPr>
            <p:nvPr/>
          </p:nvSpPr>
          <p:spPr bwMode="auto">
            <a:xfrm>
              <a:off x="2744" y="2296"/>
              <a:ext cx="816" cy="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9969" name="Line 27"/>
            <p:cNvSpPr>
              <a:spLocks noChangeShapeType="1"/>
            </p:cNvSpPr>
            <p:nvPr/>
          </p:nvSpPr>
          <p:spPr bwMode="auto">
            <a:xfrm>
              <a:off x="3243" y="2296"/>
              <a:ext cx="0" cy="182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60796" name="Rectangle 28"/>
          <p:cNvSpPr>
            <a:spLocks noChangeArrowheads="1"/>
          </p:cNvSpPr>
          <p:nvPr/>
        </p:nvSpPr>
        <p:spPr bwMode="auto">
          <a:xfrm>
            <a:off x="5683874" y="4120716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假言推理</a:t>
            </a:r>
          </a:p>
        </p:txBody>
      </p:sp>
      <p:sp>
        <p:nvSpPr>
          <p:cNvPr id="160797" name="Line 29"/>
          <p:cNvSpPr>
            <a:spLocks noChangeShapeType="1"/>
          </p:cNvSpPr>
          <p:nvPr/>
        </p:nvSpPr>
        <p:spPr bwMode="auto">
          <a:xfrm>
            <a:off x="7245165" y="3639455"/>
            <a:ext cx="0" cy="142875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0798" name="Line 30"/>
          <p:cNvSpPr>
            <a:spLocks noChangeShapeType="1"/>
          </p:cNvSpPr>
          <p:nvPr/>
        </p:nvSpPr>
        <p:spPr bwMode="auto">
          <a:xfrm>
            <a:off x="6813366" y="3782329"/>
            <a:ext cx="936625" cy="0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0799" name="Line 31"/>
          <p:cNvSpPr>
            <a:spLocks noChangeShapeType="1"/>
          </p:cNvSpPr>
          <p:nvPr/>
        </p:nvSpPr>
        <p:spPr bwMode="auto">
          <a:xfrm>
            <a:off x="6813365" y="3782329"/>
            <a:ext cx="0" cy="217488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0800" name="Line 32"/>
          <p:cNvSpPr>
            <a:spLocks noChangeShapeType="1"/>
          </p:cNvSpPr>
          <p:nvPr/>
        </p:nvSpPr>
        <p:spPr bwMode="auto">
          <a:xfrm>
            <a:off x="7749990" y="3782329"/>
            <a:ext cx="0" cy="217488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0801" name="Rectangle 33"/>
          <p:cNvSpPr>
            <a:spLocks noChangeArrowheads="1"/>
          </p:cNvSpPr>
          <p:nvPr/>
        </p:nvSpPr>
        <p:spPr bwMode="auto">
          <a:xfrm>
            <a:off x="4941702" y="3999818"/>
            <a:ext cx="2873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357377" y="3639454"/>
            <a:ext cx="1727200" cy="935038"/>
            <a:chOff x="3357377" y="3639454"/>
            <a:chExt cx="1727200" cy="935038"/>
          </a:xfrm>
        </p:grpSpPr>
        <p:sp>
          <p:nvSpPr>
            <p:cNvPr id="160802" name="Line 34"/>
            <p:cNvSpPr>
              <a:spLocks noChangeShapeType="1"/>
            </p:cNvSpPr>
            <p:nvPr/>
          </p:nvSpPr>
          <p:spPr bwMode="auto">
            <a:xfrm>
              <a:off x="3357377" y="3639454"/>
              <a:ext cx="0" cy="935038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0803" name="Line 35"/>
            <p:cNvSpPr>
              <a:spLocks noChangeShapeType="1"/>
            </p:cNvSpPr>
            <p:nvPr/>
          </p:nvSpPr>
          <p:spPr bwMode="auto">
            <a:xfrm>
              <a:off x="3357377" y="4574492"/>
              <a:ext cx="1727200" cy="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0804" name="Line 36"/>
            <p:cNvSpPr>
              <a:spLocks noChangeShapeType="1"/>
            </p:cNvSpPr>
            <p:nvPr/>
          </p:nvSpPr>
          <p:spPr bwMode="auto">
            <a:xfrm flipV="1">
              <a:off x="5084577" y="4358592"/>
              <a:ext cx="0" cy="21590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60805" name="Line 37"/>
          <p:cNvSpPr>
            <a:spLocks noChangeShapeType="1"/>
          </p:cNvSpPr>
          <p:nvPr/>
        </p:nvSpPr>
        <p:spPr bwMode="auto">
          <a:xfrm>
            <a:off x="4725802" y="4574493"/>
            <a:ext cx="0" cy="217487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0806" name="Rectangle 38"/>
          <p:cNvSpPr>
            <a:spLocks noChangeArrowheads="1"/>
          </p:cNvSpPr>
          <p:nvPr/>
        </p:nvSpPr>
        <p:spPr bwMode="auto">
          <a:xfrm>
            <a:off x="6918560" y="3782329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化简</a:t>
            </a:r>
          </a:p>
        </p:txBody>
      </p:sp>
      <p:sp>
        <p:nvSpPr>
          <p:cNvPr id="160807" name="Rectangle 39"/>
          <p:cNvSpPr>
            <a:spLocks noChangeArrowheads="1"/>
          </p:cNvSpPr>
          <p:nvPr/>
        </p:nvSpPr>
        <p:spPr bwMode="auto">
          <a:xfrm>
            <a:off x="3599232" y="4158234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假言推理</a:t>
            </a:r>
          </a:p>
        </p:txBody>
      </p:sp>
      <p:sp>
        <p:nvSpPr>
          <p:cNvPr id="37" name="Text Box 6"/>
          <p:cNvSpPr txBox="1">
            <a:spLocks noChangeArrowheads="1"/>
          </p:cNvSpPr>
          <p:nvPr/>
        </p:nvSpPr>
        <p:spPr bwMode="auto">
          <a:xfrm>
            <a:off x="8102011" y="2363708"/>
            <a:ext cx="2160588" cy="2130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</a:t>
            </a:r>
          </a:p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∧┑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</a:p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┑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</a:t>
            </a:r>
          </a:p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④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→(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</a:t>
            </a:r>
          </a:p>
        </p:txBody>
      </p:sp>
      <p:sp>
        <p:nvSpPr>
          <p:cNvPr id="38" name="Text Box 10"/>
          <p:cNvSpPr txBox="1">
            <a:spLocks noChangeArrowheads="1"/>
          </p:cNvSpPr>
          <p:nvPr/>
        </p:nvSpPr>
        <p:spPr bwMode="auto">
          <a:xfrm>
            <a:off x="8106575" y="4494291"/>
            <a:ext cx="1745840" cy="1653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 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0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⑥  ┑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 ┑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⑦ ┑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⑧ 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39" name="Text Box 42"/>
          <p:cNvSpPr txBox="1">
            <a:spLocks noChangeArrowheads="1"/>
          </p:cNvSpPr>
          <p:nvPr/>
        </p:nvSpPr>
        <p:spPr bwMode="auto">
          <a:xfrm>
            <a:off x="9698274" y="2466583"/>
            <a:ext cx="1894197" cy="2053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endParaRPr lang="en-US" altLang="zh-CN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①化简 </a:t>
            </a:r>
          </a:p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①化简               </a:t>
            </a:r>
          </a:p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</p:txBody>
      </p:sp>
      <p:sp>
        <p:nvSpPr>
          <p:cNvPr id="40" name="Text Box 43"/>
          <p:cNvSpPr txBox="1">
            <a:spLocks noChangeArrowheads="1"/>
          </p:cNvSpPr>
          <p:nvPr/>
        </p:nvSpPr>
        <p:spPr bwMode="auto">
          <a:xfrm>
            <a:off x="9703908" y="4481293"/>
            <a:ext cx="2140428" cy="1653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②④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假言推理</a:t>
            </a:r>
          </a:p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③⑥假言推理</a:t>
            </a:r>
          </a:p>
          <a:p>
            <a:pPr marL="0"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⑤⑦析取三段论</a:t>
            </a: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4943872" y="116632"/>
            <a:ext cx="448853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</a:pP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补充例题</a:t>
            </a:r>
            <a:endParaRPr kumimoji="1" lang="en-US" altLang="zh-CN" sz="3600" b="0" kern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0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07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07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607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07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07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6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6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6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6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6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60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6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60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60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60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60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60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60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60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60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60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60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60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160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60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"/>
                            </p:stCondLst>
                            <p:childTnLst>
                              <p:par>
                                <p:cTn id="19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9" grpId="0"/>
      <p:bldP spid="160780" grpId="0"/>
      <p:bldP spid="160781" grpId="0"/>
      <p:bldP spid="160782" grpId="0"/>
      <p:bldP spid="160783" grpId="0"/>
      <p:bldP spid="160784" grpId="0"/>
      <p:bldP spid="160786" grpId="0"/>
      <p:bldP spid="160791" grpId="0"/>
      <p:bldP spid="160796" grpId="0"/>
      <p:bldP spid="160801" grpId="0"/>
      <p:bldP spid="160806" grpId="0"/>
      <p:bldP spid="16080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5"/>
          <p:cNvSpPr txBox="1">
            <a:spLocks noChangeArrowheads="1"/>
          </p:cNvSpPr>
          <p:nvPr/>
        </p:nvSpPr>
        <p:spPr bwMode="auto">
          <a:xfrm>
            <a:off x="367152" y="1539000"/>
            <a:ext cx="11198720" cy="1242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3.4.10 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构造下面推理的证明</a:t>
            </a:r>
            <a:r>
              <a:rPr lang="zh-CN" altLang="en-US" sz="20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如果小张和小王去看电影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则小李也去看电影。小赵不去看电影或小张去看电影。小王去看电影。所以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当小赵去看电影时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小李必定也去。</a:t>
            </a:r>
          </a:p>
        </p:txBody>
      </p:sp>
      <p:sp>
        <p:nvSpPr>
          <p:cNvPr id="162822" name="Text Box 6"/>
          <p:cNvSpPr txBox="1">
            <a:spLocks noChangeArrowheads="1"/>
          </p:cNvSpPr>
          <p:nvPr/>
        </p:nvSpPr>
        <p:spPr bwMode="auto">
          <a:xfrm>
            <a:off x="353083" y="2735658"/>
            <a:ext cx="10043750" cy="87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小张去看电影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小王去看电影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小李去看电影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小赵去看电影。</a:t>
            </a:r>
          </a:p>
          <a:p>
            <a:pPr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前提：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→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 ┐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 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结论：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0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4943872" y="116632"/>
            <a:ext cx="448853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</a:pP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补充例题</a:t>
            </a:r>
            <a:endParaRPr kumimoji="1" lang="en-US" altLang="zh-CN" sz="3600" b="0" kern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Rectangle 8">
            <a:extLst>
              <a:ext uri="{FF2B5EF4-FFF2-40B4-BE49-F238E27FC236}">
                <a16:creationId xmlns:a16="http://schemas.microsoft.com/office/drawing/2014/main" id="{2A513CB3-9E20-4544-B6E7-4286C7210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283" y="6378163"/>
            <a:ext cx="7040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 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31" name="Rectangle 9">
            <a:extLst>
              <a:ext uri="{FF2B5EF4-FFF2-40B4-BE49-F238E27FC236}">
                <a16:creationId xmlns:a16="http://schemas.microsoft.com/office/drawing/2014/main" id="{3F62803F-7DA3-45EB-80AA-AE77396BD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188" y="3679414"/>
            <a:ext cx="1822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→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C5960BAA-B569-4E06-9CEE-10A44E1B7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7275" y="3644489"/>
            <a:ext cx="1030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endParaRPr lang="en-US" altLang="zh-CN" sz="20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Rectangle 11">
            <a:extLst>
              <a:ext uri="{FF2B5EF4-FFF2-40B4-BE49-F238E27FC236}">
                <a16:creationId xmlns:a16="http://schemas.microsoft.com/office/drawing/2014/main" id="{303547BE-6B42-4318-9B98-6FA685C97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775" y="3606389"/>
            <a:ext cx="312906" cy="42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</p:txBody>
      </p:sp>
      <p:grpSp>
        <p:nvGrpSpPr>
          <p:cNvPr id="34" name="Group 38">
            <a:extLst>
              <a:ext uri="{FF2B5EF4-FFF2-40B4-BE49-F238E27FC236}">
                <a16:creationId xmlns:a16="http://schemas.microsoft.com/office/drawing/2014/main" id="{0C91CF5D-7370-4825-8039-3271F5F39013}"/>
              </a:ext>
            </a:extLst>
          </p:cNvPr>
          <p:cNvGrpSpPr/>
          <p:nvPr/>
        </p:nvGrpSpPr>
        <p:grpSpPr bwMode="auto">
          <a:xfrm>
            <a:off x="1841300" y="5622513"/>
            <a:ext cx="1728788" cy="863600"/>
            <a:chOff x="2517" y="2296"/>
            <a:chExt cx="1089" cy="544"/>
          </a:xfrm>
        </p:grpSpPr>
        <p:sp>
          <p:nvSpPr>
            <p:cNvPr id="35" name="Line 14">
              <a:extLst>
                <a:ext uri="{FF2B5EF4-FFF2-40B4-BE49-F238E27FC236}">
                  <a16:creationId xmlns:a16="http://schemas.microsoft.com/office/drawing/2014/main" id="{9F2E2A75-F4F0-4D69-A728-B38BD77491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6" y="2704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Line 15">
              <a:extLst>
                <a:ext uri="{FF2B5EF4-FFF2-40B4-BE49-F238E27FC236}">
                  <a16:creationId xmlns:a16="http://schemas.microsoft.com/office/drawing/2014/main" id="{282AAB51-000C-4681-B287-4EE64A3AB5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2704"/>
              <a:ext cx="1089" cy="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Line 16">
              <a:extLst>
                <a:ext uri="{FF2B5EF4-FFF2-40B4-BE49-F238E27FC236}">
                  <a16:creationId xmlns:a16="http://schemas.microsoft.com/office/drawing/2014/main" id="{E4398E86-726F-4F26-8F05-33A72B7A61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6" y="2341"/>
              <a:ext cx="0" cy="363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Line 17">
              <a:extLst>
                <a:ext uri="{FF2B5EF4-FFF2-40B4-BE49-F238E27FC236}">
                  <a16:creationId xmlns:a16="http://schemas.microsoft.com/office/drawing/2014/main" id="{5AA7FFA7-13A1-458D-8A87-5DAAD3EB87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7" y="2296"/>
              <a:ext cx="0" cy="408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Rectangle 32">
            <a:extLst>
              <a:ext uri="{FF2B5EF4-FFF2-40B4-BE49-F238E27FC236}">
                <a16:creationId xmlns:a16="http://schemas.microsoft.com/office/drawing/2014/main" id="{7EB5BE75-6B5D-46E7-8068-87FF800D7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0475" y="4686682"/>
            <a:ext cx="14670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析取三段论</a:t>
            </a:r>
          </a:p>
        </p:txBody>
      </p:sp>
      <p:sp>
        <p:nvSpPr>
          <p:cNvPr id="40" name="Rectangle 35">
            <a:extLst>
              <a:ext uri="{FF2B5EF4-FFF2-40B4-BE49-F238E27FC236}">
                <a16:creationId xmlns:a16="http://schemas.microsoft.com/office/drawing/2014/main" id="{7A8B0C7D-28F3-445C-844F-7C62D67E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3963" y="5262152"/>
            <a:ext cx="7473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 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41" name="Line 36">
            <a:extLst>
              <a:ext uri="{FF2B5EF4-FFF2-40B4-BE49-F238E27FC236}">
                <a16:creationId xmlns:a16="http://schemas.microsoft.com/office/drawing/2014/main" id="{F3870420-AC06-41A2-844B-3D1EDBC5ED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1300" y="4038188"/>
            <a:ext cx="0" cy="1296988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 b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" name="Rectangle 37">
            <a:extLst>
              <a:ext uri="{FF2B5EF4-FFF2-40B4-BE49-F238E27FC236}">
                <a16:creationId xmlns:a16="http://schemas.microsoft.com/office/drawing/2014/main" id="{F1CF2A85-76DB-4EFD-A760-6A8C839A0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9725" y="5335177"/>
            <a:ext cx="7328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 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43" name="Line 39">
            <a:extLst>
              <a:ext uri="{FF2B5EF4-FFF2-40B4-BE49-F238E27FC236}">
                <a16:creationId xmlns:a16="http://schemas.microsoft.com/office/drawing/2014/main" id="{D8631BC1-78D6-4331-9319-EE96B09587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0450" y="4038189"/>
            <a:ext cx="0" cy="358775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 b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" name="Rectangle 41">
            <a:extLst>
              <a:ext uri="{FF2B5EF4-FFF2-40B4-BE49-F238E27FC236}">
                <a16:creationId xmlns:a16="http://schemas.microsoft.com/office/drawing/2014/main" id="{FB8AD58E-BCF2-47E9-BF53-C442E1D28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1164" y="4327114"/>
            <a:ext cx="1800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∨┐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0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5" name="Group 49">
            <a:extLst>
              <a:ext uri="{FF2B5EF4-FFF2-40B4-BE49-F238E27FC236}">
                <a16:creationId xmlns:a16="http://schemas.microsoft.com/office/drawing/2014/main" id="{BB826F1B-685D-46B7-B5A3-8F89EB8D317E}"/>
              </a:ext>
            </a:extLst>
          </p:cNvPr>
          <p:cNvGrpSpPr/>
          <p:nvPr/>
        </p:nvGrpSpPr>
        <p:grpSpPr bwMode="auto">
          <a:xfrm>
            <a:off x="2633464" y="4111213"/>
            <a:ext cx="1296987" cy="1366838"/>
            <a:chOff x="3016" y="1344"/>
            <a:chExt cx="817" cy="861"/>
          </a:xfrm>
        </p:grpSpPr>
        <p:sp>
          <p:nvSpPr>
            <p:cNvPr id="46" name="Line 42">
              <a:extLst>
                <a:ext uri="{FF2B5EF4-FFF2-40B4-BE49-F238E27FC236}">
                  <a16:creationId xmlns:a16="http://schemas.microsoft.com/office/drawing/2014/main" id="{4DEC4E7A-8137-4812-996C-095326008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" y="1344"/>
              <a:ext cx="0" cy="589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Line 43">
              <a:extLst>
                <a:ext uri="{FF2B5EF4-FFF2-40B4-BE49-F238E27FC236}">
                  <a16:creationId xmlns:a16="http://schemas.microsoft.com/office/drawing/2014/main" id="{774A8285-7F37-4E77-989E-C60A10E8F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" y="1933"/>
              <a:ext cx="817" cy="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Line 44">
              <a:extLst>
                <a:ext uri="{FF2B5EF4-FFF2-40B4-BE49-F238E27FC236}">
                  <a16:creationId xmlns:a16="http://schemas.microsoft.com/office/drawing/2014/main" id="{7A7545D0-E423-4532-8B19-0D0927F0E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1706"/>
              <a:ext cx="0" cy="227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Line 45">
              <a:extLst>
                <a:ext uri="{FF2B5EF4-FFF2-40B4-BE49-F238E27FC236}">
                  <a16:creationId xmlns:a16="http://schemas.microsoft.com/office/drawing/2014/main" id="{42497C7B-8BC8-4956-A5CF-19B1FD59E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933"/>
              <a:ext cx="0" cy="272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Rectangle 46">
            <a:extLst>
              <a:ext uri="{FF2B5EF4-FFF2-40B4-BE49-F238E27FC236}">
                <a16:creationId xmlns:a16="http://schemas.microsoft.com/office/drawing/2014/main" id="{0FE68A83-1460-4020-99D1-49D98C90C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5149" y="4422437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置换</a:t>
            </a:r>
          </a:p>
        </p:txBody>
      </p:sp>
      <p:sp>
        <p:nvSpPr>
          <p:cNvPr id="51" name="Rectangle 47">
            <a:extLst>
              <a:ext uri="{FF2B5EF4-FFF2-40B4-BE49-F238E27FC236}">
                <a16:creationId xmlns:a16="http://schemas.microsoft.com/office/drawing/2014/main" id="{BFA02760-141C-47D3-857A-3B3370D3C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580" y="4028995"/>
            <a:ext cx="71766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置换</a:t>
            </a:r>
          </a:p>
        </p:txBody>
      </p:sp>
      <p:sp>
        <p:nvSpPr>
          <p:cNvPr id="52" name="Rectangle 48">
            <a:extLst>
              <a:ext uri="{FF2B5EF4-FFF2-40B4-BE49-F238E27FC236}">
                <a16:creationId xmlns:a16="http://schemas.microsoft.com/office/drawing/2014/main" id="{64A130BD-C439-483C-8A93-8652728AE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2419" y="5865567"/>
            <a:ext cx="14670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假言三段论</a:t>
            </a:r>
          </a:p>
        </p:txBody>
      </p:sp>
      <p:sp>
        <p:nvSpPr>
          <p:cNvPr id="58" name="Text Box 6">
            <a:extLst>
              <a:ext uri="{FF2B5EF4-FFF2-40B4-BE49-F238E27FC236}">
                <a16:creationId xmlns:a16="http://schemas.microsoft.com/office/drawing/2014/main" id="{06F22EA0-3202-4C08-829A-728B82F9E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0672" y="3681307"/>
            <a:ext cx="2374900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┐</a:t>
            </a:r>
            <a:r>
              <a:rPr lang="en-US" altLang="zh-CN" sz="18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18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18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endParaRPr lang="en-US" altLang="zh-CN" sz="18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</a:t>
            </a:r>
            <a:r>
              <a:rPr lang="en-US" altLang="zh-CN" sz="18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 </a:t>
            </a:r>
            <a:r>
              <a:rPr lang="en-US" altLang="zh-CN" sz="18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</a:t>
            </a:r>
          </a:p>
          <a:p>
            <a:pPr lvl="1"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(</a:t>
            </a:r>
            <a:r>
              <a:rPr lang="en-US" altLang="zh-CN" sz="18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18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18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en-US" altLang="zh-CN" sz="18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lvl="1"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④ ┐</a:t>
            </a:r>
            <a:r>
              <a:rPr lang="en-US" altLang="zh-CN" sz="18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∨┐</a:t>
            </a:r>
            <a:r>
              <a:rPr lang="en-US" altLang="zh-CN" sz="18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18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18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59" name="Text Box 7">
            <a:extLst>
              <a:ext uri="{FF2B5EF4-FFF2-40B4-BE49-F238E27FC236}">
                <a16:creationId xmlns:a16="http://schemas.microsoft.com/office/drawing/2014/main" id="{FE430DA7-557F-49AC-89F8-2E9813CBD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8175" y="5325015"/>
            <a:ext cx="23939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 </a:t>
            </a:r>
            <a:r>
              <a:rPr lang="en-US" altLang="zh-CN" sz="18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</a:t>
            </a:r>
          </a:p>
          <a:p>
            <a:pPr lvl="1"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⑥ </a:t>
            </a:r>
            <a:r>
              <a:rPr lang="en-US" altLang="zh-CN" sz="18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18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18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</a:t>
            </a:r>
          </a:p>
          <a:p>
            <a:pPr lvl="1" algn="just" eaLnBrk="1" hangingPunct="1">
              <a:spcBef>
                <a:spcPct val="50000"/>
              </a:spcBef>
              <a:buFontTx/>
              <a:buNone/>
            </a:pPr>
            <a:r>
              <a:rPr lang="en-US" altLang="zh-C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⑦ </a:t>
            </a:r>
            <a:r>
              <a:rPr lang="en-US" altLang="zh-CN" sz="18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 </a:t>
            </a:r>
            <a:r>
              <a:rPr lang="en-US" altLang="zh-CN" sz="18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</a:t>
            </a:r>
          </a:p>
        </p:txBody>
      </p:sp>
      <p:sp>
        <p:nvSpPr>
          <p:cNvPr id="60" name="Text Box 51">
            <a:extLst>
              <a:ext uri="{FF2B5EF4-FFF2-40B4-BE49-F238E27FC236}">
                <a16:creationId xmlns:a16="http://schemas.microsoft.com/office/drawing/2014/main" id="{543BB9FB-B4DE-4133-BACB-4F9766FED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7813" y="3247880"/>
            <a:ext cx="223202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spcBef>
                <a:spcPct val="50000"/>
              </a:spcBef>
              <a:buFontTx/>
              <a:buNone/>
            </a:pPr>
            <a:endParaRPr lang="en-US" altLang="zh-CN" sz="1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lvl="1"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① 置换</a:t>
            </a:r>
          </a:p>
          <a:p>
            <a:pPr lvl="1"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lvl="1"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③置换</a:t>
            </a:r>
          </a:p>
        </p:txBody>
      </p:sp>
      <p:sp>
        <p:nvSpPr>
          <p:cNvPr id="61" name="Text Box 52">
            <a:extLst>
              <a:ext uri="{FF2B5EF4-FFF2-40B4-BE49-F238E27FC236}">
                <a16:creationId xmlns:a16="http://schemas.microsoft.com/office/drawing/2014/main" id="{6E94D57A-4DB1-4F0D-A42C-FF92C63AF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7813" y="5310727"/>
            <a:ext cx="30956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lvl="1"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④⑤析取三段论</a:t>
            </a:r>
          </a:p>
          <a:p>
            <a:pPr lvl="1"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②⑥假言三段论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E38435D-1251-4BB6-860B-D56FFE7885CB}"/>
              </a:ext>
            </a:extLst>
          </p:cNvPr>
          <p:cNvSpPr txBox="1"/>
          <p:nvPr/>
        </p:nvSpPr>
        <p:spPr>
          <a:xfrm>
            <a:off x="5692764" y="3684354"/>
            <a:ext cx="1068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dirty="0">
                <a:solidFill>
                  <a:srgbClr val="FFFF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  <a:endParaRPr lang="zh-CN" altLang="en-US" sz="20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2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2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9" grpId="0"/>
      <p:bldP spid="40" grpId="0"/>
      <p:bldP spid="42" grpId="0"/>
      <p:bldP spid="44" grpId="0"/>
      <p:bldP spid="50" grpId="0"/>
      <p:bldP spid="51" grpId="0"/>
      <p:bldP spid="52" grpId="0"/>
      <p:bldP spid="6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5"/>
          <p:cNvSpPr txBox="1">
            <a:spLocks noChangeArrowheads="1"/>
          </p:cNvSpPr>
          <p:nvPr/>
        </p:nvSpPr>
        <p:spPr bwMode="auto">
          <a:xfrm>
            <a:off x="367152" y="1539000"/>
            <a:ext cx="11198720" cy="1242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3.4.10 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构造下面推理的证明</a:t>
            </a:r>
            <a:r>
              <a:rPr lang="zh-CN" altLang="en-US" sz="20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如果小张和小王去看电影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则小李也去看电影。小赵不去看电影或小张去看电影。小王去看电影。所以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当小赵去看电影时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小李必定也去。</a:t>
            </a:r>
          </a:p>
        </p:txBody>
      </p:sp>
      <p:sp>
        <p:nvSpPr>
          <p:cNvPr id="162822" name="Text Box 6"/>
          <p:cNvSpPr txBox="1">
            <a:spLocks noChangeArrowheads="1"/>
          </p:cNvSpPr>
          <p:nvPr/>
        </p:nvSpPr>
        <p:spPr bwMode="auto">
          <a:xfrm>
            <a:off x="353083" y="2735658"/>
            <a:ext cx="10043750" cy="87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小张去看电影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小王去看电影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小李去看电影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小赵去看电影。</a:t>
            </a:r>
          </a:p>
          <a:p>
            <a:pPr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前提：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→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 ┐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 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结论：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altLang="zh-CN" sz="20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4943872" y="116632"/>
            <a:ext cx="448853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</a:pP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补充例题</a:t>
            </a:r>
            <a:endParaRPr kumimoji="1" lang="en-US" altLang="zh-CN" sz="3600" b="0" kern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Rectangle 10">
            <a:extLst>
              <a:ext uri="{FF2B5EF4-FFF2-40B4-BE49-F238E27FC236}">
                <a16:creationId xmlns:a16="http://schemas.microsoft.com/office/drawing/2014/main" id="{01A9F941-A888-49D0-BA67-99BFA5782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76" y="6043677"/>
            <a:ext cx="2840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i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54" name="Rectangle 11">
            <a:extLst>
              <a:ext uri="{FF2B5EF4-FFF2-40B4-BE49-F238E27FC236}">
                <a16:creationId xmlns:a16="http://schemas.microsoft.com/office/drawing/2014/main" id="{5F39132D-4F28-439E-B7AD-789EE71B4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450" y="3778315"/>
            <a:ext cx="13324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 err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dirty="0" err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i="1" dirty="0" err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→</a:t>
            </a:r>
            <a:r>
              <a:rPr lang="en-US" altLang="zh-CN" sz="2000" i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55" name="Rectangle 12">
            <a:extLst>
              <a:ext uri="{FF2B5EF4-FFF2-40B4-BE49-F238E27FC236}">
                <a16:creationId xmlns:a16="http://schemas.microsoft.com/office/drawing/2014/main" id="{5F18B96F-FFC0-47CD-9341-4F863E4A3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89" y="3743389"/>
            <a:ext cx="8659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000" i="1" dirty="0" err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dirty="0" err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i="1" dirty="0" err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endParaRPr lang="en-US" altLang="zh-CN" sz="2000" i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Rectangle 13">
            <a:extLst>
              <a:ext uri="{FF2B5EF4-FFF2-40B4-BE49-F238E27FC236}">
                <a16:creationId xmlns:a16="http://schemas.microsoft.com/office/drawing/2014/main" id="{78A8EE3D-FDD7-4109-B7BB-A177A80D2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88" y="3705290"/>
            <a:ext cx="312906" cy="42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000" i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57" name="Rectangle 14">
            <a:extLst>
              <a:ext uri="{FF2B5EF4-FFF2-40B4-BE49-F238E27FC236}">
                <a16:creationId xmlns:a16="http://schemas.microsoft.com/office/drawing/2014/main" id="{62B70AB1-2621-4179-9EAA-A9C61692D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457" y="3743389"/>
            <a:ext cx="2840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i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</a:p>
        </p:txBody>
      </p:sp>
      <p:grpSp>
        <p:nvGrpSpPr>
          <p:cNvPr id="63" name="Group 30">
            <a:extLst>
              <a:ext uri="{FF2B5EF4-FFF2-40B4-BE49-F238E27FC236}">
                <a16:creationId xmlns:a16="http://schemas.microsoft.com/office/drawing/2014/main" id="{A394848D-E69F-4454-BF3F-1AE33B05705B}"/>
              </a:ext>
            </a:extLst>
          </p:cNvPr>
          <p:cNvGrpSpPr/>
          <p:nvPr/>
        </p:nvGrpSpPr>
        <p:grpSpPr bwMode="auto">
          <a:xfrm>
            <a:off x="2435289" y="4175190"/>
            <a:ext cx="1296987" cy="1944687"/>
            <a:chOff x="4286" y="1797"/>
            <a:chExt cx="817" cy="1225"/>
          </a:xfrm>
        </p:grpSpPr>
        <p:sp>
          <p:nvSpPr>
            <p:cNvPr id="64" name="Line 15">
              <a:extLst>
                <a:ext uri="{FF2B5EF4-FFF2-40B4-BE49-F238E27FC236}">
                  <a16:creationId xmlns:a16="http://schemas.microsoft.com/office/drawing/2014/main" id="{79CB5554-FE88-48C7-83E8-2490D6075E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8" y="2886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Line 16">
              <a:extLst>
                <a:ext uri="{FF2B5EF4-FFF2-40B4-BE49-F238E27FC236}">
                  <a16:creationId xmlns:a16="http://schemas.microsoft.com/office/drawing/2014/main" id="{E64B6096-66BC-4512-B809-95678AA6E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2886"/>
              <a:ext cx="817" cy="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Line 17">
              <a:extLst>
                <a:ext uri="{FF2B5EF4-FFF2-40B4-BE49-F238E27FC236}">
                  <a16:creationId xmlns:a16="http://schemas.microsoft.com/office/drawing/2014/main" id="{12E1FA3E-D6F4-4FCC-BFE7-B1C961090C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3" y="1797"/>
              <a:ext cx="0" cy="1089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Line 18">
              <a:extLst>
                <a:ext uri="{FF2B5EF4-FFF2-40B4-BE49-F238E27FC236}">
                  <a16:creationId xmlns:a16="http://schemas.microsoft.com/office/drawing/2014/main" id="{F9E725E3-A3D4-4E18-A90F-687A5147B7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6" y="2704"/>
              <a:ext cx="0" cy="182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8" name="Rectangle 19">
            <a:extLst>
              <a:ext uri="{FF2B5EF4-FFF2-40B4-BE49-F238E27FC236}">
                <a16:creationId xmlns:a16="http://schemas.microsoft.com/office/drawing/2014/main" id="{E4C595E1-2268-4529-B0A9-B090B2949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925" y="5256277"/>
            <a:ext cx="8651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i="1" dirty="0" err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dirty="0" err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i="1" dirty="0" err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en-US" altLang="zh-CN" sz="2000" i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9" name="Rectangle 20">
            <a:extLst>
              <a:ext uri="{FF2B5EF4-FFF2-40B4-BE49-F238E27FC236}">
                <a16:creationId xmlns:a16="http://schemas.microsoft.com/office/drawing/2014/main" id="{7AE41CD0-6994-42AB-833B-CCE913551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664" y="4391090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i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</p:txBody>
      </p:sp>
      <p:grpSp>
        <p:nvGrpSpPr>
          <p:cNvPr id="70" name="Group 25">
            <a:extLst>
              <a:ext uri="{FF2B5EF4-FFF2-40B4-BE49-F238E27FC236}">
                <a16:creationId xmlns:a16="http://schemas.microsoft.com/office/drawing/2014/main" id="{F86C641A-853C-420A-BDC4-74F84A42D6CF}"/>
              </a:ext>
            </a:extLst>
          </p:cNvPr>
          <p:cNvGrpSpPr/>
          <p:nvPr/>
        </p:nvGrpSpPr>
        <p:grpSpPr bwMode="auto">
          <a:xfrm>
            <a:off x="1211326" y="4103751"/>
            <a:ext cx="936625" cy="431800"/>
            <a:chOff x="3515" y="1979"/>
            <a:chExt cx="590" cy="272"/>
          </a:xfrm>
        </p:grpSpPr>
        <p:sp>
          <p:nvSpPr>
            <p:cNvPr id="71" name="Line 21">
              <a:extLst>
                <a:ext uri="{FF2B5EF4-FFF2-40B4-BE49-F238E27FC236}">
                  <a16:creationId xmlns:a16="http://schemas.microsoft.com/office/drawing/2014/main" id="{C997965C-4666-4E42-88EF-FD4AD3F3C1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5" y="1979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Line 22">
              <a:extLst>
                <a:ext uri="{FF2B5EF4-FFF2-40B4-BE49-F238E27FC236}">
                  <a16:creationId xmlns:a16="http://schemas.microsoft.com/office/drawing/2014/main" id="{57CED418-2D54-46EB-9776-9FBF98179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1979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3" name="Line 23">
              <a:extLst>
                <a:ext uri="{FF2B5EF4-FFF2-40B4-BE49-F238E27FC236}">
                  <a16:creationId xmlns:a16="http://schemas.microsoft.com/office/drawing/2014/main" id="{CFF29F09-1644-4706-8799-CAA8B3D0F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5" y="2115"/>
              <a:ext cx="590" cy="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4" name="Line 24">
              <a:extLst>
                <a:ext uri="{FF2B5EF4-FFF2-40B4-BE49-F238E27FC236}">
                  <a16:creationId xmlns:a16="http://schemas.microsoft.com/office/drawing/2014/main" id="{59F4062B-60BD-4808-8B4E-D9C93D18E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2115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5" name="Group 31">
            <a:extLst>
              <a:ext uri="{FF2B5EF4-FFF2-40B4-BE49-F238E27FC236}">
                <a16:creationId xmlns:a16="http://schemas.microsoft.com/office/drawing/2014/main" id="{E1AB1499-FC1C-495D-ADF6-5E6DE4C010E6}"/>
              </a:ext>
            </a:extLst>
          </p:cNvPr>
          <p:cNvGrpSpPr/>
          <p:nvPr/>
        </p:nvGrpSpPr>
        <p:grpSpPr bwMode="auto">
          <a:xfrm>
            <a:off x="1643126" y="4103752"/>
            <a:ext cx="1223963" cy="1223963"/>
            <a:chOff x="3787" y="1752"/>
            <a:chExt cx="771" cy="771"/>
          </a:xfrm>
        </p:grpSpPr>
        <p:sp>
          <p:nvSpPr>
            <p:cNvPr id="76" name="Line 26">
              <a:extLst>
                <a:ext uri="{FF2B5EF4-FFF2-40B4-BE49-F238E27FC236}">
                  <a16:creationId xmlns:a16="http://schemas.microsoft.com/office/drawing/2014/main" id="{89DF7AC2-18ED-421A-909C-7F5DCF89D7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2205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Line 27">
              <a:extLst>
                <a:ext uri="{FF2B5EF4-FFF2-40B4-BE49-F238E27FC236}">
                  <a16:creationId xmlns:a16="http://schemas.microsoft.com/office/drawing/2014/main" id="{F4DC7410-655D-4531-8D38-1DFC35C5A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2341"/>
              <a:ext cx="771" cy="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Line 28">
              <a:extLst>
                <a:ext uri="{FF2B5EF4-FFF2-40B4-BE49-F238E27FC236}">
                  <a16:creationId xmlns:a16="http://schemas.microsoft.com/office/drawing/2014/main" id="{16EABDC1-9695-45F1-B695-2D17417830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" y="1752"/>
              <a:ext cx="0" cy="589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Line 29">
              <a:extLst>
                <a:ext uri="{FF2B5EF4-FFF2-40B4-BE49-F238E27FC236}">
                  <a16:creationId xmlns:a16="http://schemas.microsoft.com/office/drawing/2014/main" id="{93720E90-2631-4133-8A97-555254CFDF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2341"/>
              <a:ext cx="0" cy="182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Rectangle 32">
            <a:extLst>
              <a:ext uri="{FF2B5EF4-FFF2-40B4-BE49-F238E27FC236}">
                <a16:creationId xmlns:a16="http://schemas.microsoft.com/office/drawing/2014/main" id="{CE8646AF-1852-47AA-8006-473C76FF3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5288" y="5559459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假言推理</a:t>
            </a:r>
          </a:p>
        </p:txBody>
      </p:sp>
      <p:sp>
        <p:nvSpPr>
          <p:cNvPr id="81" name="Rectangle 33">
            <a:extLst>
              <a:ext uri="{FF2B5EF4-FFF2-40B4-BE49-F238E27FC236}">
                <a16:creationId xmlns:a16="http://schemas.microsoft.com/office/drawing/2014/main" id="{209527F9-061F-4C92-8153-C57360966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500" y="4683161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合取</a:t>
            </a:r>
          </a:p>
        </p:txBody>
      </p:sp>
      <p:sp>
        <p:nvSpPr>
          <p:cNvPr id="82" name="Rectangle 34">
            <a:extLst>
              <a:ext uri="{FF2B5EF4-FFF2-40B4-BE49-F238E27FC236}">
                <a16:creationId xmlns:a16="http://schemas.microsoft.com/office/drawing/2014/main" id="{3BA0472F-8F0F-4B3C-A98A-07BA2E29F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216" y="4047594"/>
            <a:ext cx="108234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4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析取三段论</a:t>
            </a:r>
          </a:p>
        </p:txBody>
      </p:sp>
      <p:sp>
        <p:nvSpPr>
          <p:cNvPr id="83" name="Text Box 8">
            <a:extLst>
              <a:ext uri="{FF2B5EF4-FFF2-40B4-BE49-F238E27FC236}">
                <a16:creationId xmlns:a16="http://schemas.microsoft.com/office/drawing/2014/main" id="{A87C7A58-A936-4C4D-B83E-45690BB5D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2296" y="3605896"/>
            <a:ext cx="3394269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spcBef>
                <a:spcPct val="50000"/>
              </a:spcBef>
              <a:buFontTx/>
              <a:buNone/>
            </a:pPr>
            <a:r>
              <a:rPr lang="zh-CN" altLang="en-US" sz="1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用附加前提法。</a:t>
            </a:r>
          </a:p>
          <a:p>
            <a:pPr lvl="1" algn="just" eaLnBrk="1" hangingPunct="1">
              <a:spcBef>
                <a:spcPts val="600"/>
              </a:spcBef>
              <a:buFontTx/>
              <a:buNone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</a:t>
            </a:r>
            <a:r>
              <a:rPr lang="en-US" altLang="zh-CN" sz="18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</a:p>
          <a:p>
            <a:pPr lvl="1" algn="just" eaLnBrk="1" hangingPunct="1">
              <a:spcBef>
                <a:spcPts val="600"/>
              </a:spcBef>
              <a:buFontTx/>
              <a:buNone/>
            </a:pP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┐</a:t>
            </a:r>
            <a:r>
              <a:rPr lang="en-US" altLang="zh-CN" sz="18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18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18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endParaRPr lang="en-US" altLang="zh-CN" sz="1800" b="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ts val="600"/>
              </a:spcBef>
              <a:buFontTx/>
              <a:buNone/>
            </a:pP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</a:t>
            </a:r>
            <a:r>
              <a:rPr lang="en-US" altLang="zh-CN" sz="18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  <a:p>
            <a:pPr lvl="1" algn="just" eaLnBrk="1" hangingPunct="1">
              <a:spcBef>
                <a:spcPts val="600"/>
              </a:spcBef>
              <a:buFontTx/>
              <a:buNone/>
            </a:pP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④ </a:t>
            </a:r>
            <a:r>
              <a:rPr lang="en-US" altLang="zh-CN" sz="18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84" name="Text Box 9">
            <a:extLst>
              <a:ext uri="{FF2B5EF4-FFF2-40B4-BE49-F238E27FC236}">
                <a16:creationId xmlns:a16="http://schemas.microsoft.com/office/drawing/2014/main" id="{E212412A-6795-4128-9949-5EBEB0545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2296" y="5402899"/>
            <a:ext cx="327183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spcBef>
                <a:spcPts val="600"/>
              </a:spcBef>
              <a:buFontTx/>
              <a:buNone/>
            </a:pP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 </a:t>
            </a:r>
            <a:r>
              <a:rPr lang="en-US" altLang="zh-CN" sz="18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18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18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en-US" altLang="zh-CN" sz="1800" b="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ts val="600"/>
              </a:spcBef>
              <a:buFontTx/>
              <a:buNone/>
            </a:pP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⑥ (</a:t>
            </a:r>
            <a:r>
              <a:rPr lang="en-US" altLang="zh-CN" sz="18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18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18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en-US" altLang="zh-CN" sz="18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lvl="1" algn="just" eaLnBrk="1" hangingPunct="1">
              <a:spcBef>
                <a:spcPts val="600"/>
              </a:spcBef>
              <a:buFontTx/>
              <a:buNone/>
            </a:pP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⑦ </a:t>
            </a:r>
            <a:r>
              <a:rPr lang="en-US" altLang="zh-CN" sz="18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85" name="Text Box 37">
            <a:extLst>
              <a:ext uri="{FF2B5EF4-FFF2-40B4-BE49-F238E27FC236}">
                <a16:creationId xmlns:a16="http://schemas.microsoft.com/office/drawing/2014/main" id="{41B5AFB1-CE5A-4D72-B672-6351B477B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3584" y="3605896"/>
            <a:ext cx="2307154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spcBef>
                <a:spcPct val="50000"/>
              </a:spcBef>
              <a:buFontTx/>
              <a:buNone/>
            </a:pP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ts val="600"/>
              </a:spcBef>
              <a:buFontTx/>
              <a:buNone/>
            </a:pPr>
            <a:r>
              <a:rPr lang="zh-CN" altLang="en-US" sz="18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附加前提引入</a:t>
            </a:r>
          </a:p>
          <a:p>
            <a:pPr lvl="1" algn="just" eaLnBrk="1" hangingPunct="1">
              <a:spcBef>
                <a:spcPts val="600"/>
              </a:spcBef>
              <a:buFontTx/>
              <a:buNone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lvl="1" algn="just" eaLnBrk="1" hangingPunct="1">
              <a:spcBef>
                <a:spcPts val="600"/>
              </a:spcBef>
              <a:buFontTx/>
              <a:buNone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①②析取三段论</a:t>
            </a:r>
          </a:p>
          <a:p>
            <a:pPr lvl="1" algn="just" eaLnBrk="1" hangingPunct="1">
              <a:spcBef>
                <a:spcPts val="600"/>
              </a:spcBef>
              <a:buFontTx/>
              <a:buNone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</p:txBody>
      </p:sp>
      <p:sp>
        <p:nvSpPr>
          <p:cNvPr id="86" name="Text Box 38">
            <a:extLst>
              <a:ext uri="{FF2B5EF4-FFF2-40B4-BE49-F238E27FC236}">
                <a16:creationId xmlns:a16="http://schemas.microsoft.com/office/drawing/2014/main" id="{0459BD65-67A9-40A6-92D7-82D0A088D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8310" y="5386397"/>
            <a:ext cx="265841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spcBef>
                <a:spcPts val="600"/>
              </a:spcBef>
              <a:buFontTx/>
              <a:buNone/>
            </a:pP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③④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合取</a:t>
            </a:r>
          </a:p>
          <a:p>
            <a:pPr lvl="1" algn="just" eaLnBrk="1" hangingPunct="1">
              <a:spcBef>
                <a:spcPts val="600"/>
              </a:spcBef>
              <a:buFontTx/>
              <a:buNone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前提引入</a:t>
            </a:r>
          </a:p>
          <a:p>
            <a:pPr lvl="1" algn="just" eaLnBrk="1" hangingPunct="1">
              <a:spcBef>
                <a:spcPts val="600"/>
              </a:spcBef>
              <a:buFontTx/>
              <a:buNone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⑤⑥假言推理</a:t>
            </a:r>
          </a:p>
        </p:txBody>
      </p:sp>
    </p:spTree>
    <p:extLst>
      <p:ext uri="{BB962C8B-B14F-4D97-AF65-F5344CB8AC3E}">
        <p14:creationId xmlns:p14="http://schemas.microsoft.com/office/powerpoint/2010/main" val="257396642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2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2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  <p:bldP spid="56" grpId="0"/>
      <p:bldP spid="57" grpId="0"/>
      <p:bldP spid="68" grpId="0"/>
      <p:bldP spid="69" grpId="0"/>
      <p:bldP spid="80" grpId="0"/>
      <p:bldP spid="81" grpId="0"/>
      <p:bldP spid="8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6"/>
          <p:cNvSpPr txBox="1">
            <a:spLocks noChangeArrowheads="1"/>
          </p:cNvSpPr>
          <p:nvPr/>
        </p:nvSpPr>
        <p:spPr bwMode="auto">
          <a:xfrm>
            <a:off x="662020" y="2129776"/>
            <a:ext cx="11161230" cy="795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如果小张守第一垒并且小李向</a:t>
            </a:r>
            <a:r>
              <a:rPr lang="en-US" altLang="zh-CN" sz="2000" b="0" i="1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队投球</a:t>
            </a:r>
            <a:r>
              <a:rPr lang="en-US" altLang="zh-CN" sz="20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en-US" altLang="zh-CN" sz="2000" b="0" i="1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队将取胜。或者</a:t>
            </a:r>
            <a:r>
              <a:rPr lang="en-US" altLang="zh-CN" sz="2000" b="0" i="1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队未取胜</a:t>
            </a:r>
            <a:r>
              <a:rPr lang="en-US" altLang="zh-CN" sz="20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sz="2000" b="0" i="1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队成为联赛第一名。</a:t>
            </a:r>
            <a:r>
              <a:rPr lang="en-US" altLang="zh-CN" sz="2000" b="0" i="1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队没有成为联赛第一名。小张守第一垒。因此</a:t>
            </a:r>
            <a:r>
              <a:rPr lang="en-US" altLang="zh-CN" sz="20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小李没向 </a:t>
            </a:r>
            <a:r>
              <a:rPr lang="en-US" altLang="zh-CN" sz="2000" b="0" i="1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solidFill>
                  <a:srgbClr val="92D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队投球。</a:t>
            </a:r>
          </a:p>
        </p:txBody>
      </p:sp>
      <p:sp>
        <p:nvSpPr>
          <p:cNvPr id="47107" name="Rectangle 7"/>
          <p:cNvSpPr>
            <a:spLocks noChangeArrowheads="1"/>
          </p:cNvSpPr>
          <p:nvPr/>
        </p:nvSpPr>
        <p:spPr bwMode="auto">
          <a:xfrm>
            <a:off x="391319" y="1628774"/>
            <a:ext cx="4405180" cy="497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3.4.11 </a:t>
            </a:r>
            <a:r>
              <a:rPr lang="zh-CN" altLang="en-US" sz="24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构造下面推理的证明：</a:t>
            </a:r>
          </a:p>
        </p:txBody>
      </p:sp>
      <p:sp>
        <p:nvSpPr>
          <p:cNvPr id="163848" name="Text Box 8"/>
          <p:cNvSpPr txBox="1">
            <a:spLocks noChangeArrowheads="1"/>
          </p:cNvSpPr>
          <p:nvPr/>
        </p:nvSpPr>
        <p:spPr bwMode="auto">
          <a:xfrm>
            <a:off x="662020" y="3091223"/>
            <a:ext cx="640147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解：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 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小张守第一垒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小李向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队投球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队取胜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队成为联赛第一名。</a:t>
            </a: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前提：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→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┐</a:t>
            </a:r>
            <a:r>
              <a:rPr lang="en-US" altLang="zh-CN" sz="20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┐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  <a:p>
            <a:pPr lvl="1" algn="just" eaLnBrk="1" hangingPunct="1">
              <a:spcBef>
                <a:spcPct val="30000"/>
              </a:spcBef>
              <a:buFontTx/>
              <a:buNone/>
            </a:pP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结论：┐</a:t>
            </a:r>
            <a:r>
              <a:rPr lang="en-US" altLang="zh-CN" sz="20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163849" name="Rectangle 9"/>
          <p:cNvSpPr>
            <a:spLocks noChangeArrowheads="1"/>
          </p:cNvSpPr>
          <p:nvPr/>
        </p:nvSpPr>
        <p:spPr bwMode="auto">
          <a:xfrm>
            <a:off x="7063495" y="3487791"/>
            <a:ext cx="128913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→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163850" name="Rectangle 10"/>
          <p:cNvSpPr>
            <a:spLocks noChangeArrowheads="1"/>
          </p:cNvSpPr>
          <p:nvPr/>
        </p:nvSpPr>
        <p:spPr bwMode="auto">
          <a:xfrm>
            <a:off x="8943322" y="3490966"/>
            <a:ext cx="10080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endParaRPr lang="en-US" altLang="zh-CN" sz="2000" b="0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3851" name="Rectangle 11"/>
          <p:cNvSpPr>
            <a:spLocks noChangeArrowheads="1"/>
          </p:cNvSpPr>
          <p:nvPr/>
        </p:nvSpPr>
        <p:spPr bwMode="auto">
          <a:xfrm>
            <a:off x="10020469" y="3490206"/>
            <a:ext cx="7191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63852" name="Rectangle 12"/>
          <p:cNvSpPr>
            <a:spLocks noChangeArrowheads="1"/>
          </p:cNvSpPr>
          <p:nvPr/>
        </p:nvSpPr>
        <p:spPr bwMode="auto">
          <a:xfrm>
            <a:off x="10991713" y="3483429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</p:txBody>
      </p:sp>
      <p:grpSp>
        <p:nvGrpSpPr>
          <p:cNvPr id="163873" name="Group 33"/>
          <p:cNvGrpSpPr/>
          <p:nvPr/>
        </p:nvGrpSpPr>
        <p:grpSpPr bwMode="auto">
          <a:xfrm>
            <a:off x="9397043" y="3911813"/>
            <a:ext cx="935038" cy="431800"/>
            <a:chOff x="3969" y="2183"/>
            <a:chExt cx="589" cy="272"/>
          </a:xfrm>
        </p:grpSpPr>
        <p:sp>
          <p:nvSpPr>
            <p:cNvPr id="47144" name="Line 14"/>
            <p:cNvSpPr>
              <a:spLocks noChangeShapeType="1"/>
            </p:cNvSpPr>
            <p:nvPr/>
          </p:nvSpPr>
          <p:spPr bwMode="auto">
            <a:xfrm>
              <a:off x="3969" y="2183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5" name="Line 15"/>
            <p:cNvSpPr>
              <a:spLocks noChangeShapeType="1"/>
            </p:cNvSpPr>
            <p:nvPr/>
          </p:nvSpPr>
          <p:spPr bwMode="auto">
            <a:xfrm>
              <a:off x="4558" y="2183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6" name="Line 16"/>
            <p:cNvSpPr>
              <a:spLocks noChangeShapeType="1"/>
            </p:cNvSpPr>
            <p:nvPr/>
          </p:nvSpPr>
          <p:spPr bwMode="auto">
            <a:xfrm>
              <a:off x="3969" y="2319"/>
              <a:ext cx="589" cy="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7" name="Line 17"/>
            <p:cNvSpPr>
              <a:spLocks noChangeShapeType="1"/>
            </p:cNvSpPr>
            <p:nvPr/>
          </p:nvSpPr>
          <p:spPr bwMode="auto">
            <a:xfrm>
              <a:off x="4241" y="2319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63858" name="Rectangle 18"/>
          <p:cNvSpPr>
            <a:spLocks noChangeArrowheads="1"/>
          </p:cNvSpPr>
          <p:nvPr/>
        </p:nvSpPr>
        <p:spPr bwMode="auto">
          <a:xfrm>
            <a:off x="9612001" y="4058931"/>
            <a:ext cx="7207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163862" name="Rectangle 22"/>
          <p:cNvSpPr>
            <a:spLocks noChangeArrowheads="1"/>
          </p:cNvSpPr>
          <p:nvPr/>
        </p:nvSpPr>
        <p:spPr bwMode="auto">
          <a:xfrm>
            <a:off x="8117545" y="4645588"/>
            <a:ext cx="10631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┐(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3864" name="Line 24"/>
          <p:cNvSpPr>
            <a:spLocks noChangeShapeType="1"/>
          </p:cNvSpPr>
          <p:nvPr/>
        </p:nvSpPr>
        <p:spPr bwMode="auto">
          <a:xfrm>
            <a:off x="8777944" y="5037813"/>
            <a:ext cx="0" cy="215900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000" b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3865" name="Rectangle 25"/>
          <p:cNvSpPr>
            <a:spLocks noChangeArrowheads="1"/>
          </p:cNvSpPr>
          <p:nvPr/>
        </p:nvSpPr>
        <p:spPr bwMode="auto">
          <a:xfrm>
            <a:off x="8232191" y="5212027"/>
            <a:ext cx="1371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∨┐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</p:txBody>
      </p:sp>
      <p:grpSp>
        <p:nvGrpSpPr>
          <p:cNvPr id="163875" name="Group 35"/>
          <p:cNvGrpSpPr/>
          <p:nvPr/>
        </p:nvGrpSpPr>
        <p:grpSpPr bwMode="auto">
          <a:xfrm>
            <a:off x="8777945" y="3932919"/>
            <a:ext cx="2376487" cy="2081094"/>
            <a:chOff x="3560" y="2183"/>
            <a:chExt cx="1497" cy="1497"/>
          </a:xfrm>
        </p:grpSpPr>
        <p:sp>
          <p:nvSpPr>
            <p:cNvPr id="47140" name="Line 19"/>
            <p:cNvSpPr>
              <a:spLocks noChangeShapeType="1"/>
            </p:cNvSpPr>
            <p:nvPr/>
          </p:nvSpPr>
          <p:spPr bwMode="auto">
            <a:xfrm>
              <a:off x="5057" y="2183"/>
              <a:ext cx="0" cy="1361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1" name="Line 26"/>
            <p:cNvSpPr>
              <a:spLocks noChangeShapeType="1"/>
            </p:cNvSpPr>
            <p:nvPr/>
          </p:nvSpPr>
          <p:spPr bwMode="auto">
            <a:xfrm>
              <a:off x="3560" y="3362"/>
              <a:ext cx="0" cy="182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2" name="Line 27"/>
            <p:cNvSpPr>
              <a:spLocks noChangeShapeType="1"/>
            </p:cNvSpPr>
            <p:nvPr/>
          </p:nvSpPr>
          <p:spPr bwMode="auto">
            <a:xfrm>
              <a:off x="3560" y="3544"/>
              <a:ext cx="1497" cy="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3" name="Line 28"/>
            <p:cNvSpPr>
              <a:spLocks noChangeShapeType="1"/>
            </p:cNvSpPr>
            <p:nvPr/>
          </p:nvSpPr>
          <p:spPr bwMode="auto">
            <a:xfrm>
              <a:off x="4241" y="3544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63869" name="Rectangle 29"/>
          <p:cNvSpPr>
            <a:spLocks noChangeArrowheads="1"/>
          </p:cNvSpPr>
          <p:nvPr/>
        </p:nvSpPr>
        <p:spPr bwMode="auto">
          <a:xfrm>
            <a:off x="9570107" y="5906064"/>
            <a:ext cx="7921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</a:p>
        </p:txBody>
      </p:sp>
      <p:grpSp>
        <p:nvGrpSpPr>
          <p:cNvPr id="163874" name="Group 34"/>
          <p:cNvGrpSpPr/>
          <p:nvPr/>
        </p:nvGrpSpPr>
        <p:grpSpPr bwMode="auto">
          <a:xfrm>
            <a:off x="7738207" y="3867713"/>
            <a:ext cx="2090738" cy="835026"/>
            <a:chOff x="2924" y="2228"/>
            <a:chExt cx="1317" cy="635"/>
          </a:xfrm>
        </p:grpSpPr>
        <p:sp>
          <p:nvSpPr>
            <p:cNvPr id="47136" name="Line 20"/>
            <p:cNvSpPr>
              <a:spLocks noChangeShapeType="1"/>
            </p:cNvSpPr>
            <p:nvPr/>
          </p:nvSpPr>
          <p:spPr bwMode="auto">
            <a:xfrm>
              <a:off x="4241" y="2591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7" name="Line 21"/>
            <p:cNvSpPr>
              <a:spLocks noChangeShapeType="1"/>
            </p:cNvSpPr>
            <p:nvPr/>
          </p:nvSpPr>
          <p:spPr bwMode="auto">
            <a:xfrm>
              <a:off x="2924" y="2716"/>
              <a:ext cx="1316" cy="0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8" name="Line 23"/>
            <p:cNvSpPr>
              <a:spLocks noChangeShapeType="1"/>
            </p:cNvSpPr>
            <p:nvPr/>
          </p:nvSpPr>
          <p:spPr bwMode="auto">
            <a:xfrm>
              <a:off x="3560" y="2727"/>
              <a:ext cx="0" cy="13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9" name="Line 30"/>
            <p:cNvSpPr>
              <a:spLocks noChangeShapeType="1"/>
            </p:cNvSpPr>
            <p:nvPr/>
          </p:nvSpPr>
          <p:spPr bwMode="auto">
            <a:xfrm>
              <a:off x="2925" y="2228"/>
              <a:ext cx="0" cy="476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0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63872" name="Text Box 32"/>
          <p:cNvSpPr txBox="1">
            <a:spLocks noChangeArrowheads="1"/>
          </p:cNvSpPr>
          <p:nvPr/>
        </p:nvSpPr>
        <p:spPr bwMode="auto">
          <a:xfrm>
            <a:off x="335360" y="5211749"/>
            <a:ext cx="2971800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3000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直接证明</a:t>
            </a:r>
          </a:p>
          <a:p>
            <a:pPr lvl="1" eaLnBrk="1" hangingPunct="1">
              <a:spcBef>
                <a:spcPct val="30000"/>
              </a:spcBef>
              <a:buFontTx/>
              <a:buNone/>
            </a:pP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0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用归谬法</a:t>
            </a:r>
          </a:p>
        </p:txBody>
      </p:sp>
      <p:sp>
        <p:nvSpPr>
          <p:cNvPr id="163882" name="Rectangle 42"/>
          <p:cNvSpPr>
            <a:spLocks noChangeArrowheads="1"/>
          </p:cNvSpPr>
          <p:nvPr/>
        </p:nvSpPr>
        <p:spPr bwMode="auto">
          <a:xfrm>
            <a:off x="9323969" y="3841166"/>
            <a:ext cx="108234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析取三段论</a:t>
            </a:r>
          </a:p>
        </p:txBody>
      </p:sp>
      <p:sp>
        <p:nvSpPr>
          <p:cNvPr id="163883" name="Rectangle 43"/>
          <p:cNvSpPr>
            <a:spLocks noChangeArrowheads="1"/>
          </p:cNvSpPr>
          <p:nvPr/>
        </p:nvSpPr>
        <p:spPr bwMode="auto">
          <a:xfrm>
            <a:off x="8292944" y="4163812"/>
            <a:ext cx="9541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拒取式</a:t>
            </a:r>
          </a:p>
        </p:txBody>
      </p:sp>
      <p:sp>
        <p:nvSpPr>
          <p:cNvPr id="163884" name="Rectangle 44"/>
          <p:cNvSpPr>
            <a:spLocks noChangeArrowheads="1"/>
          </p:cNvSpPr>
          <p:nvPr/>
        </p:nvSpPr>
        <p:spPr bwMode="auto">
          <a:xfrm>
            <a:off x="9125498" y="5447070"/>
            <a:ext cx="14670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析取三段论</a:t>
            </a: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4943872" y="116632"/>
            <a:ext cx="448853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</a:pP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补充例题</a:t>
            </a:r>
            <a:endParaRPr kumimoji="1" lang="en-US" altLang="zh-CN" sz="3600" b="0" kern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5" name="Rectangle 54"/>
          <p:cNvSpPr>
            <a:spLocks noChangeArrowheads="1"/>
          </p:cNvSpPr>
          <p:nvPr/>
        </p:nvSpPr>
        <p:spPr bwMode="auto">
          <a:xfrm>
            <a:off x="8747857" y="4987322"/>
            <a:ext cx="598488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置换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3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3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3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38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38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38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38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38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38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38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38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38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6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6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63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63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6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63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63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63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6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6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6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63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63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63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63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38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/>
      <p:bldP spid="163849" grpId="0"/>
      <p:bldP spid="163850" grpId="0"/>
      <p:bldP spid="163851" grpId="0"/>
      <p:bldP spid="163852" grpId="0"/>
      <p:bldP spid="163858" grpId="0"/>
      <p:bldP spid="163862" grpId="0"/>
      <p:bldP spid="163865" grpId="0"/>
      <p:bldP spid="163869" grpId="0"/>
      <p:bldP spid="163882" grpId="0"/>
      <p:bldP spid="163883" grpId="0"/>
      <p:bldP spid="163884" grpId="0"/>
      <p:bldP spid="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8" name="Text Box 4"/>
          <p:cNvSpPr txBox="1">
            <a:spLocks noChangeArrowheads="1"/>
          </p:cNvSpPr>
          <p:nvPr/>
        </p:nvSpPr>
        <p:spPr bwMode="auto">
          <a:xfrm>
            <a:off x="6528048" y="1815050"/>
            <a:ext cx="5112568" cy="4488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用归谬法</a:t>
            </a:r>
          </a:p>
          <a:p>
            <a:pPr lvl="1"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</a:t>
            </a: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结论否定引入</a:t>
            </a:r>
          </a:p>
          <a:p>
            <a:pPr lvl="1"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┐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</a:t>
            </a:r>
          </a:p>
          <a:p>
            <a:pPr lvl="1"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</a:t>
            </a:r>
          </a:p>
          <a:p>
            <a:pPr lvl="1"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④ 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②③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析取三段论</a:t>
            </a:r>
          </a:p>
          <a:p>
            <a:pPr lvl="1"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→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</a:t>
            </a:r>
          </a:p>
          <a:p>
            <a:pPr lvl="1"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⑥ ┐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      ④⑤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拒取式</a:t>
            </a:r>
            <a:endParaRPr lang="en-US" altLang="zh-CN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⑦ 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⑥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置换</a:t>
            </a:r>
            <a:endParaRPr lang="en-US" altLang="zh-CN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⑧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</a:t>
            </a:r>
            <a:endParaRPr lang="en-US" altLang="zh-CN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⑨ 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⑦⑧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析取三段论</a:t>
            </a:r>
            <a:endParaRPr lang="en-US" altLang="zh-CN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⑩ 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0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①⑨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合取</a:t>
            </a:r>
            <a:endParaRPr lang="en-US" altLang="zh-CN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 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0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0 , </a:t>
            </a: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故原推理正确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906601" y="2132856"/>
            <a:ext cx="51085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6068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直接证明</a:t>
            </a:r>
          </a:p>
          <a:p>
            <a:pPr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┐</a:t>
            </a:r>
            <a:r>
              <a:rPr lang="en-US" altLang="zh-CN" sz="20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0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 </a:t>
            </a:r>
            <a:endParaRPr lang="en-US" altLang="zh-CN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┐</a:t>
            </a:r>
            <a:r>
              <a:rPr lang="en-US" altLang="zh-CN" sz="2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</a:t>
            </a:r>
          </a:p>
          <a:p>
            <a:pPr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┐</a:t>
            </a:r>
            <a:r>
              <a:rPr lang="en-US" altLang="zh-CN" sz="2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①②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析取三段论</a:t>
            </a:r>
          </a:p>
          <a:p>
            <a:pPr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④ 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→</a:t>
            </a:r>
            <a:r>
              <a:rPr lang="en-US" altLang="zh-CN" sz="2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 </a:t>
            </a:r>
            <a:endParaRPr lang="en-US" altLang="zh-CN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⑤ ┐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0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     ③④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拒取式</a:t>
            </a:r>
          </a:p>
          <a:p>
            <a:pPr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⑥ ┐</a:t>
            </a:r>
            <a:r>
              <a:rPr lang="en-US" altLang="zh-CN" sz="2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∨┐</a:t>
            </a:r>
            <a:r>
              <a:rPr lang="en-US" altLang="zh-CN" sz="2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⑤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置换</a:t>
            </a:r>
            <a:endParaRPr lang="en-US" altLang="zh-CN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⑦ </a:t>
            </a:r>
            <a:r>
              <a:rPr lang="en-US" altLang="zh-CN" sz="2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前提</a:t>
            </a:r>
            <a:endParaRPr lang="en-US" altLang="zh-CN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⑧ ┐</a:t>
            </a:r>
            <a:r>
              <a:rPr lang="en-US" altLang="zh-CN" sz="20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⑥⑦ </a:t>
            </a:r>
            <a:r>
              <a:rPr lang="zh-CN" alt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析取三段论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20903" y="1815050"/>
            <a:ext cx="11728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证明：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943872" y="116632"/>
            <a:ext cx="448853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</a:pPr>
            <a:r>
              <a:rPr lang="zh-CN" altLang="en-US" sz="36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补充例题</a:t>
            </a:r>
            <a:endParaRPr kumimoji="1" lang="en-US" altLang="zh-CN" sz="3600" b="0" kern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9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9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9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9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9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9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9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9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9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9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9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9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99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99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99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99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99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99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99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99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99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699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99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99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5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699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99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99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5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699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99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99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99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500"/>
                            </p:stCondLst>
                            <p:childTnLst>
                              <p:par>
                                <p:cTn id="9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500"/>
                            </p:stCondLst>
                            <p:childTnLst>
                              <p:par>
                                <p:cTn id="10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500"/>
                            </p:stCondLst>
                            <p:childTnLst>
                              <p:par>
                                <p:cTn id="10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500"/>
                            </p:stCondLst>
                            <p:childTnLst>
                              <p:par>
                                <p:cTn id="1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7500"/>
                            </p:stCondLst>
                            <p:childTnLst>
                              <p:par>
                                <p:cTn id="1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endParaRPr lang="en-US" altLang="zh-CN" sz="4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62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18(1), 19</a:t>
            </a:r>
            <a:endParaRPr lang="zh-CN" altLang="en-US" sz="36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9376" y="1700808"/>
            <a:ext cx="108732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1. </a:t>
            </a:r>
            <a:r>
              <a:rPr lang="zh-CN" altLang="en-US" dirty="0"/>
              <a:t>证明</a:t>
            </a:r>
            <a:r>
              <a:rPr lang="pt-BR" altLang="zh-CN" i="1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pt-BR" altLang="zh-CN" dirty="0"/>
              <a:t>(</a:t>
            </a:r>
            <a:r>
              <a:rPr lang="pt-BR" altLang="zh-CN" i="1" dirty="0"/>
              <a:t>q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pt-BR" altLang="zh-CN" i="1"/>
              <a:t>s</a:t>
            </a:r>
            <a:r>
              <a:rPr lang="pt-BR" altLang="zh-CN"/>
              <a:t>), </a:t>
            </a:r>
            <a:r>
              <a:rPr lang="pt-BR" altLang="zh-CN" i="1"/>
              <a:t>q</a:t>
            </a:r>
            <a:r>
              <a:rPr lang="pt-BR" altLang="zh-CN"/>
              <a:t>, </a:t>
            </a:r>
            <a:r>
              <a:rPr lang="pt-BR" altLang="zh-CN" i="1"/>
              <a:t>p</a:t>
            </a:r>
            <a:r>
              <a:rPr lang="en-US" altLang="zh-CN" dirty="0">
                <a:sym typeface="Symbol" panose="05050102010706020507" pitchFamily="18" charset="2"/>
              </a:rPr>
              <a:t></a:t>
            </a:r>
            <a:r>
              <a:rPr lang="pt-BR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i="1" dirty="0" err="1"/>
              <a:t>r</a:t>
            </a:r>
            <a:r>
              <a:rPr lang="en-US" altLang="zh-CN" dirty="0" err="1">
                <a:sym typeface="Symbol" panose="05050102010706020507" pitchFamily="18" charset="2"/>
              </a:rPr>
              <a:t></a:t>
            </a:r>
            <a:r>
              <a:rPr lang="en-US" altLang="zh-CN" i="1" dirty="0" err="1"/>
              <a:t>s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2. </a:t>
            </a:r>
            <a:r>
              <a:rPr lang="zh-CN" altLang="en-US" dirty="0"/>
              <a:t>构造下列推理的形式证明：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今天下午没有出太阳并且今天比昨天冷。只有今天下午出太阳</a:t>
            </a:r>
            <a:r>
              <a:rPr lang="en-US" altLang="zh-CN" dirty="0"/>
              <a:t>, </a:t>
            </a:r>
            <a:r>
              <a:rPr lang="zh-CN" altLang="en-US" dirty="0"/>
              <a:t>我们才去游泳。若我们不去游泳</a:t>
            </a:r>
            <a:r>
              <a:rPr lang="en-US" altLang="zh-CN" dirty="0"/>
              <a:t>, </a:t>
            </a:r>
            <a:r>
              <a:rPr lang="zh-CN" altLang="en-US" dirty="0"/>
              <a:t>则我们乘独木舟游览。若我们乘独木舟游览</a:t>
            </a:r>
            <a:r>
              <a:rPr lang="en-US" altLang="zh-CN" dirty="0"/>
              <a:t>, </a:t>
            </a:r>
            <a:r>
              <a:rPr lang="zh-CN" altLang="en-US" dirty="0"/>
              <a:t>则我们在黄昏时回家。 所以</a:t>
            </a:r>
            <a:r>
              <a:rPr lang="en-US" altLang="zh-CN" dirty="0"/>
              <a:t>, </a:t>
            </a:r>
            <a:r>
              <a:rPr lang="zh-CN" altLang="en-US" dirty="0"/>
              <a:t>我们在黄昏时回家。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3673</Words>
  <Application>Microsoft Office PowerPoint</Application>
  <PresentationFormat>宽屏</PresentationFormat>
  <Paragraphs>426</Paragraphs>
  <Slides>29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楷体_GB2312</vt:lpstr>
      <vt:lpstr>宋体</vt:lpstr>
      <vt:lpstr>微软雅黑</vt:lpstr>
      <vt:lpstr>Arial</vt:lpstr>
      <vt:lpstr>Calibri</vt:lpstr>
      <vt:lpstr>Symbol</vt:lpstr>
      <vt:lpstr>Tahoma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3.4.2  推理方法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879</cp:revision>
  <dcterms:created xsi:type="dcterms:W3CDTF">2008-05-09T05:16:00Z</dcterms:created>
  <dcterms:modified xsi:type="dcterms:W3CDTF">2026-03-30T01:52:14Z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D53155814E5D461E9DAEC8DA67A79021_12</vt:lpwstr>
  </property>
  <property fmtid="{D5CDD505-2E9C-101B-9397-08002B2CF9AE}" pid="3" name="KSOProductBuildVer">
    <vt:lpwstr>2052-12.1.0.16388</vt:lpwstr>
  </property>
</Properties>
</file>