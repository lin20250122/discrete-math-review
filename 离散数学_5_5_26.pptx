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7" r:id="rId2"/>
    <p:sldId id="377" r:id="rId3"/>
    <p:sldId id="338" r:id="rId4"/>
    <p:sldId id="258" r:id="rId5"/>
    <p:sldId id="452" r:id="rId6"/>
    <p:sldId id="453" r:id="rId7"/>
    <p:sldId id="280" r:id="rId8"/>
    <p:sldId id="339" r:id="rId9"/>
    <p:sldId id="447" r:id="rId10"/>
    <p:sldId id="454" r:id="rId11"/>
    <p:sldId id="448" r:id="rId12"/>
    <p:sldId id="449" r:id="rId13"/>
    <p:sldId id="450" r:id="rId14"/>
    <p:sldId id="336" r:id="rId15"/>
    <p:sldId id="337" r:id="rId16"/>
    <p:sldId id="340" r:id="rId17"/>
    <p:sldId id="455" r:id="rId18"/>
    <p:sldId id="456" r:id="rId19"/>
    <p:sldId id="457" r:id="rId20"/>
    <p:sldId id="459" r:id="rId21"/>
    <p:sldId id="458" r:id="rId22"/>
    <p:sldId id="446" r:id="rId23"/>
  </p:sldIdLst>
  <p:sldSz cx="12192000" cy="6858000"/>
  <p:notesSz cx="6858000" cy="9144000"/>
  <p:custDataLst>
    <p:tags r:id="rId25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CC99"/>
    <a:srgbClr val="FF7C80"/>
    <a:srgbClr val="FFCCFF"/>
    <a:srgbClr val="FFFF00"/>
    <a:srgbClr val="FF3300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98" autoAdjust="0"/>
    <p:restoredTop sz="86608" autoAdjust="0"/>
  </p:normalViewPr>
  <p:slideViewPr>
    <p:cSldViewPr showGuides="1">
      <p:cViewPr varScale="1">
        <p:scale>
          <a:sx n="62" d="100"/>
          <a:sy n="62" d="100"/>
        </p:scale>
        <p:origin x="82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fld id="{BADCFBF9-860F-4F90-B134-F893524A9FE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循环调用在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语言中是允许的，所以函数之间的调用关系不构成偏序集，更不可能是全序集，不是任意两个函数之间一定有调用关系。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5889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22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F6A5AF-1443-405D-A63C-1DA2EF827E5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 userDrawn="1"/>
        </p:nvSpPr>
        <p:spPr bwMode="auto">
          <a:xfrm>
            <a:off x="11208568" y="24879"/>
            <a:ext cx="9834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1400" b="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离散数学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424" y="50195"/>
            <a:ext cx="10972800" cy="1143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003399"/>
                </a:solidFill>
              </a:defRPr>
            </a:lvl1pPr>
          </a:lstStyle>
          <a:p>
            <a:fld id="{9D73877B-74AE-4634-8955-8B92B699D7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CD6DC-2977-469C-827E-1A1841E80F8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2FC91A-76FC-48FB-8078-168CC0EC637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472F5C-1417-4827-93CA-7FE37B1FF37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圆角矩形 4"/>
          <p:cNvSpPr>
            <a:spLocks noChangeArrowheads="1"/>
          </p:cNvSpPr>
          <p:nvPr userDrawn="1"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 userDrawn="1"/>
        </p:nvSpPr>
        <p:spPr bwMode="auto">
          <a:xfrm>
            <a:off x="10980944" y="14562"/>
            <a:ext cx="122569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16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16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16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16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14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4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14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关系</a:t>
            </a:r>
            <a:endParaRPr lang="en-US" altLang="zh-CN" sz="1400" b="0" dirty="0">
              <a:solidFill>
                <a:srgbClr val="7F7F7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6AE5D76-CF1E-454F-94A9-D4EC84D65F17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CEF952A-F37A-4A09-BB2E-170EDBA7CE7B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8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17" y="6503989"/>
            <a:ext cx="812800" cy="238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400" b="0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fld id="{56FB0DFF-F635-4648-B05A-78129B270A7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 txBox="1">
            <a:spLocks noChangeArrowheads="1"/>
          </p:cNvSpPr>
          <p:nvPr/>
        </p:nvSpPr>
        <p:spPr bwMode="auto">
          <a:xfrm>
            <a:off x="2135188" y="1773238"/>
            <a:ext cx="7772400" cy="1583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5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第五章 关系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567608" y="4149080"/>
            <a:ext cx="7772400" cy="172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华东师范大学计算机科学与技术学院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主讲教师：卢兴见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1068147" y="1761905"/>
            <a:ext cx="302433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基本要求</a:t>
            </a:r>
            <a:endParaRPr lang="en-US" altLang="zh-CN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22853" y="2194488"/>
            <a:ext cx="9001000" cy="21966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lnSpc>
                <a:spcPct val="200000"/>
              </a:lnSpc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偏序关系是对象之间次序的数学模型</a:t>
            </a:r>
          </a:p>
          <a:p>
            <a:r>
              <a:rPr lang="pt-BR" altLang="zh-CN" i="1" noProof="1"/>
              <a:t>n</a:t>
            </a:r>
            <a:r>
              <a:rPr lang="zh-CN" altLang="pt-BR" noProof="1"/>
              <a:t>元组描述有限个对象以及其间的全序</a:t>
            </a:r>
          </a:p>
          <a:p>
            <a:r>
              <a:rPr lang="zh-CN" altLang="pt-BR" noProof="1"/>
              <a:t>偏序集描述更一般的对象以及其间的序 </a:t>
            </a:r>
            <a:endParaRPr lang="zh-CN" altLang="en-US" noProof="1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56567" y="4725144"/>
            <a:ext cx="355138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eaLnBrk="1" hangingPunct="1">
              <a:spcBef>
                <a:spcPct val="20000"/>
              </a:spcBef>
              <a:buNone/>
              <a:defRPr sz="32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zh-CN" dirty="0"/>
              <a:t>教学重点和难点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2135560" y="5235660"/>
            <a:ext cx="3960440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20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偏序关系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哈斯图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5.5 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偏序关系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5" grpId="0" uiExpand="1" build="p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48245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本节内容要点</a:t>
            </a: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1608497" y="1995288"/>
            <a:ext cx="35519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5.5.1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偏序关系和偏序集</a:t>
            </a: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3103380" y="3163586"/>
            <a:ext cx="17471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5.5.2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哈斯图</a:t>
            </a:r>
            <a:endParaRPr lang="zh-CN" altLang="en-US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AutoShape 6"/>
          <p:cNvSpPr/>
          <p:nvPr/>
        </p:nvSpPr>
        <p:spPr bwMode="auto">
          <a:xfrm>
            <a:off x="4837132" y="1918847"/>
            <a:ext cx="197891" cy="705848"/>
          </a:xfrm>
          <a:prstGeom prst="leftBrace">
            <a:avLst>
              <a:gd name="adj1" fmla="val 3220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5013698" y="1747395"/>
            <a:ext cx="360258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偏序关系与偏序集</a:t>
            </a: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正序关系与正序集</a:t>
            </a:r>
          </a:p>
        </p:txBody>
      </p:sp>
      <p:sp>
        <p:nvSpPr>
          <p:cNvPr id="6" name="AutoShape 8"/>
          <p:cNvSpPr/>
          <p:nvPr/>
        </p:nvSpPr>
        <p:spPr bwMode="auto">
          <a:xfrm>
            <a:off x="4837132" y="3035822"/>
            <a:ext cx="194735" cy="804306"/>
          </a:xfrm>
          <a:prstGeom prst="leftBrace">
            <a:avLst>
              <a:gd name="adj1" fmla="val 3216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5035023" y="2899063"/>
            <a:ext cx="362071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覆盖与直接后继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画法</a:t>
            </a: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2253830" y="4187490"/>
            <a:ext cx="269004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5.5.3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偏序集的性质</a:t>
            </a:r>
          </a:p>
        </p:txBody>
      </p:sp>
      <p:sp>
        <p:nvSpPr>
          <p:cNvPr id="17" name="AutoShape 6"/>
          <p:cNvSpPr/>
          <p:nvPr/>
        </p:nvSpPr>
        <p:spPr bwMode="auto">
          <a:xfrm>
            <a:off x="4837132" y="4111049"/>
            <a:ext cx="197891" cy="705848"/>
          </a:xfrm>
          <a:prstGeom prst="leftBrace">
            <a:avLst>
              <a:gd name="adj1" fmla="val 3220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5033741" y="3939597"/>
            <a:ext cx="360258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最大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小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极大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小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</a:t>
            </a: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2639616" y="5063690"/>
            <a:ext cx="23738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5.5.4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拓扑排序</a:t>
            </a:r>
          </a:p>
        </p:txBody>
      </p:sp>
      <p:sp>
        <p:nvSpPr>
          <p:cNvPr id="21" name="Text Box 4"/>
          <p:cNvSpPr txBox="1">
            <a:spLocks noChangeArrowheads="1"/>
          </p:cNvSpPr>
          <p:nvPr/>
        </p:nvSpPr>
        <p:spPr bwMode="auto">
          <a:xfrm>
            <a:off x="3532893" y="5709056"/>
            <a:ext cx="141097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5.5.5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格</a:t>
            </a:r>
          </a:p>
        </p:txBody>
      </p:sp>
      <p:sp>
        <p:nvSpPr>
          <p:cNvPr id="22" name="AutoShape 6"/>
          <p:cNvSpPr/>
          <p:nvPr/>
        </p:nvSpPr>
        <p:spPr bwMode="auto">
          <a:xfrm>
            <a:off x="4837132" y="5603510"/>
            <a:ext cx="197891" cy="705848"/>
          </a:xfrm>
          <a:prstGeom prst="leftBrace">
            <a:avLst>
              <a:gd name="adj1" fmla="val 3220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23" name="Text Box 7"/>
          <p:cNvSpPr txBox="1">
            <a:spLocks noChangeArrowheads="1"/>
          </p:cNvSpPr>
          <p:nvPr/>
        </p:nvSpPr>
        <p:spPr bwMode="auto">
          <a:xfrm>
            <a:off x="5065182" y="5432058"/>
            <a:ext cx="360258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确界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格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" grpId="0"/>
      <p:bldP spid="3" grpId="0"/>
      <p:bldP spid="4" grpId="0" animBg="1"/>
      <p:bldP spid="5" grpId="0"/>
      <p:bldP spid="6" grpId="0" animBg="1"/>
      <p:bldP spid="12" grpId="0"/>
      <p:bldP spid="16" grpId="0"/>
      <p:bldP spid="17" grpId="0" animBg="1"/>
      <p:bldP spid="18" grpId="0"/>
      <p:bldP spid="13" grpId="0"/>
      <p:bldP spid="21" grpId="0"/>
      <p:bldP spid="22" grpId="0" animBg="1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文本占位符 14337"/>
          <p:cNvSpPr>
            <a:spLocks noGrp="1"/>
          </p:cNvSpPr>
          <p:nvPr>
            <p:ph type="body" sz="half" idx="4294967295"/>
          </p:nvPr>
        </p:nvSpPr>
        <p:spPr>
          <a:xfrm>
            <a:off x="1826343" y="1772816"/>
            <a:ext cx="4266015" cy="52322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kumimoji="1" lang="zh-CN" altLang="en-US" sz="28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考察：序关系及其性质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/>
              <a:t>5.5.1 </a:t>
            </a:r>
            <a:r>
              <a:rPr lang="zh-CN" altLang="en-US" noProof="1"/>
              <a:t>偏序关系和偏序集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551384" y="1777238"/>
            <a:ext cx="12961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5.5.1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文本占位符 14337"/>
          <p:cNvSpPr txBox="1"/>
          <p:nvPr/>
        </p:nvSpPr>
        <p:spPr bwMode="auto">
          <a:xfrm>
            <a:off x="2135560" y="2425310"/>
            <a:ext cx="5040560" cy="1458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kumimoji="1" lang="zh-CN" altLang="en-US" sz="2400" b="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实数之间的次序关系</a:t>
            </a:r>
          </a:p>
          <a:p>
            <a:pPr marL="0" indent="0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kumimoji="1" lang="zh-CN" altLang="en-US" sz="2400" b="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集合之间的序关系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build="p"/>
      <p:bldP spid="4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文本占位符 14337"/>
          <p:cNvSpPr>
            <a:spLocks noGrp="1"/>
          </p:cNvSpPr>
          <p:nvPr>
            <p:ph type="body" sz="half" idx="4294967295"/>
          </p:nvPr>
        </p:nvSpPr>
        <p:spPr>
          <a:xfrm>
            <a:off x="839416" y="2492896"/>
            <a:ext cx="7416824" cy="2231454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</a:t>
            </a:r>
            <a:r>
              <a:rPr kumimoji="1" lang="zh-CN" altLang="pt-BR" sz="2400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偏序关系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上自反、反对称和传递的关系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kumimoji="1" lang="zh-CN" altLang="pt-BR" sz="2400" kern="1200" noProof="1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偏序、部分序关系、部分序、</a:t>
            </a:r>
            <a:r>
              <a:rPr kumimoji="1" lang="pt-BR" altLang="zh-CN" sz="2400" kern="1200" noProof="1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≤</a:t>
            </a:r>
            <a:endParaRPr kumimoji="1" lang="zh-CN" altLang="pt-BR" sz="2400" kern="1200" noProof="1">
              <a:solidFill>
                <a:srgbClr val="FF7C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≤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不在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的后面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“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小于等于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≤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pt-BR" altLang="en-US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≠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的前面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的后面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“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小于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endParaRPr kumimoji="1" lang="zh-CN" altLang="en-US" sz="2400" kern="12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/>
              <a:t>5.5.1 </a:t>
            </a:r>
            <a:r>
              <a:rPr lang="zh-CN" altLang="en-US" noProof="1"/>
              <a:t>偏序关系和偏序集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07368" y="1779548"/>
            <a:ext cx="60942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定义</a:t>
            </a:r>
            <a:r>
              <a:rPr lang="en-US" altLang="zh-CN" noProof="1"/>
              <a:t>5.5.1  </a:t>
            </a:r>
            <a:r>
              <a:rPr lang="zh-CN" altLang="en-US" noProof="1"/>
              <a:t>偏序关系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文本占位符 14337"/>
          <p:cNvSpPr>
            <a:spLocks noGrp="1"/>
          </p:cNvSpPr>
          <p:nvPr>
            <p:ph type="body" sz="half" idx="4294967295"/>
          </p:nvPr>
        </p:nvSpPr>
        <p:spPr>
          <a:xfrm>
            <a:off x="1055440" y="2450847"/>
            <a:ext cx="7370315" cy="11337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pt-BR" sz="2400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全序</a:t>
            </a:r>
            <a:r>
              <a:rPr kumimoji="1" lang="pt-BR" altLang="zh-CN" sz="2400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zh-CN" altLang="pt-BR" sz="2400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</a:t>
            </a:r>
            <a:r>
              <a:rPr kumimoji="1" lang="pt-BR" altLang="zh-CN" sz="2400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上的偏序≤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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≤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 </a:t>
            </a:r>
            <a:r>
              <a:rPr kumimoji="1" lang="zh-CN" altLang="en-US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或 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≤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/>
              <a:t>5.5.1 </a:t>
            </a:r>
            <a:r>
              <a:rPr lang="zh-CN" altLang="en-US" noProof="1"/>
              <a:t>偏序关系和偏序集</a:t>
            </a:r>
            <a:endParaRPr lang="zh-CN" altLang="en-US" dirty="0"/>
          </a:p>
        </p:txBody>
      </p:sp>
      <p:sp>
        <p:nvSpPr>
          <p:cNvPr id="5" name="文本占位符 14337"/>
          <p:cNvSpPr txBox="1"/>
          <p:nvPr/>
        </p:nvSpPr>
        <p:spPr bwMode="auto">
          <a:xfrm>
            <a:off x="1199456" y="4659110"/>
            <a:ext cx="7370315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defPPr>
              <a:defRPr lang="zh-CN"/>
            </a:defPPr>
            <a:lvl1pPr marL="0" indent="0" eaLnBrk="0" hangingPunct="0">
              <a:lnSpc>
                <a:spcPct val="150000"/>
              </a:lnSpc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pt-BR" noProof="1">
                <a:solidFill>
                  <a:srgbClr val="FFC000"/>
                </a:solidFill>
              </a:rPr>
              <a:t>偏序集</a:t>
            </a:r>
            <a:r>
              <a:rPr lang="zh-CN" altLang="pt-BR" noProof="1"/>
              <a:t>：二元组</a:t>
            </a:r>
            <a:r>
              <a:rPr lang="pt-BR" altLang="zh-CN" noProof="1"/>
              <a:t>(</a:t>
            </a:r>
            <a:r>
              <a:rPr lang="pt-BR" altLang="zh-CN" i="1" noProof="1"/>
              <a:t>X</a:t>
            </a:r>
            <a:r>
              <a:rPr lang="pt-BR" altLang="zh-CN" noProof="1"/>
              <a:t>,≤)</a:t>
            </a:r>
            <a:r>
              <a:rPr lang="en-US" altLang="zh-CN" noProof="1"/>
              <a:t>, </a:t>
            </a:r>
            <a:r>
              <a:rPr lang="zh-CN" altLang="pt-BR" noProof="1"/>
              <a:t> ≤是集合</a:t>
            </a:r>
            <a:r>
              <a:rPr lang="pt-BR" altLang="zh-CN" i="1" noProof="1"/>
              <a:t>X</a:t>
            </a:r>
            <a:r>
              <a:rPr lang="zh-CN" altLang="pt-BR" noProof="1"/>
              <a:t>上的偏序</a:t>
            </a:r>
          </a:p>
          <a:p>
            <a:r>
              <a:rPr lang="zh-CN" altLang="pt-BR" noProof="1">
                <a:solidFill>
                  <a:srgbClr val="FFC000"/>
                </a:solidFill>
              </a:rPr>
              <a:t>全序集</a:t>
            </a:r>
            <a:r>
              <a:rPr lang="zh-CN" altLang="pt-BR" noProof="1"/>
              <a:t>：偏序集 </a:t>
            </a:r>
            <a:r>
              <a:rPr lang="pt-BR" altLang="zh-CN" noProof="1"/>
              <a:t>(</a:t>
            </a:r>
            <a:r>
              <a:rPr lang="pt-BR" altLang="zh-CN" i="1" noProof="1"/>
              <a:t>X</a:t>
            </a:r>
            <a:r>
              <a:rPr lang="pt-BR" altLang="zh-CN" noProof="1"/>
              <a:t>,≤)</a:t>
            </a:r>
            <a:r>
              <a:rPr lang="en-US" altLang="zh-CN" noProof="1"/>
              <a:t>, </a:t>
            </a:r>
            <a:r>
              <a:rPr lang="zh-CN" altLang="pt-BR" noProof="1"/>
              <a:t>≤是</a:t>
            </a:r>
            <a:r>
              <a:rPr lang="zh-CN" altLang="pt-BR">
                <a:sym typeface="+mn-ea"/>
              </a:rPr>
              <a:t>集合</a:t>
            </a:r>
            <a:r>
              <a:rPr lang="pt-BR" altLang="zh-CN" i="1">
                <a:sym typeface="+mn-ea"/>
              </a:rPr>
              <a:t>X</a:t>
            </a:r>
            <a:r>
              <a:rPr lang="zh-CN" altLang="pt-BR">
                <a:sym typeface="+mn-ea"/>
              </a:rPr>
              <a:t>上</a:t>
            </a:r>
            <a:r>
              <a:rPr lang="zh-CN" altLang="pt-BR" noProof="1"/>
              <a:t>的全序</a:t>
            </a:r>
            <a:endParaRPr lang="zh-CN" altLang="en-US" noProof="1"/>
          </a:p>
        </p:txBody>
      </p:sp>
      <p:sp>
        <p:nvSpPr>
          <p:cNvPr id="6" name="文本框 5"/>
          <p:cNvSpPr txBox="1"/>
          <p:nvPr/>
        </p:nvSpPr>
        <p:spPr>
          <a:xfrm>
            <a:off x="479376" y="1723999"/>
            <a:ext cx="60942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pt-BR" noProof="1"/>
              <a:t>定义</a:t>
            </a:r>
            <a:r>
              <a:rPr lang="pt-BR" altLang="zh-CN" noProof="1"/>
              <a:t>5.5.2  </a:t>
            </a:r>
            <a:r>
              <a:rPr lang="zh-CN" altLang="pt-BR" noProof="1"/>
              <a:t>全序关系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88101" y="4104523"/>
            <a:ext cx="60942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pt-BR" noProof="1"/>
              <a:t>定义</a:t>
            </a:r>
            <a:r>
              <a:rPr lang="pt-BR" altLang="zh-CN" noProof="1"/>
              <a:t>5.5.3 </a:t>
            </a:r>
            <a:endParaRPr lang="zh-CN" altLang="pt-BR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文本占位符 51201"/>
          <p:cNvSpPr>
            <a:spLocks noGrp="1"/>
          </p:cNvSpPr>
          <p:nvPr>
            <p:ph type="body" sz="half" idx="4294967295"/>
          </p:nvPr>
        </p:nvSpPr>
        <p:spPr>
          <a:xfrm>
            <a:off x="983432" y="2060848"/>
            <a:ext cx="10585176" cy="436651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kumimoji="1" lang="zh-CN" altLang="en-US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,≤)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构成全序集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≤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是实数的小于等于关系</a:t>
            </a:r>
            <a:endParaRPr kumimoji="1" lang="pt-BR" altLang="zh-CN" sz="2400" kern="12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,&lt;)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不构成偏序集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是实数的小于关系</a:t>
            </a:r>
            <a:endParaRPr kumimoji="1" lang="zh-CN" altLang="en-US" sz="2400" kern="12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en-US" altLang="zh-CN" sz="2400" kern="1200" noProof="1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kumimoji="1" lang="zh-CN" altLang="en-US" sz="2400" kern="1200" noProof="1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pt-BR" altLang="zh-CN" sz="2400" kern="1200" noProof="1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400" i="1" kern="1200" noProof="1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1" lang="pt-BR" altLang="zh-CN" sz="2400" kern="1200" noProof="1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400" i="1" kern="1200" noProof="1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pt-BR" altLang="zh-CN" sz="2400" kern="1200" noProof="1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</a:t>
            </a:r>
            <a:r>
              <a:rPr kumimoji="1" lang="pt-BR" altLang="zh-CN" sz="2400" kern="1200" noProof="1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1" lang="pt-BR" altLang="zh-CN" sz="2400" kern="1200" noProof="1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lang="zh-CN" altLang="pt-BR" sz="2400" kern="1200" noProof="1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构成偏序集</a:t>
            </a:r>
            <a:r>
              <a:rPr kumimoji="1" lang="en-US" altLang="zh-CN" sz="2400" kern="1200" noProof="1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pt-BR" sz="2400" kern="1200" noProof="1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但不构成全序集</a:t>
            </a:r>
            <a:endParaRPr kumimoji="1" lang="zh-CN" altLang="en-US" sz="2400" kern="1200" noProof="1">
              <a:solidFill>
                <a:srgbClr val="FF7C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kumimoji="1" lang="zh-CN" altLang="en-US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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不是偏序集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noProof="1"/>
              <a:t>Z</a:t>
            </a:r>
            <a:r>
              <a:rPr lang="en-US" altLang="zh-CN" sz="1400" noProof="1"/>
              <a:t>+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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是偏序集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但不是全序集</a:t>
            </a:r>
            <a:endParaRPr kumimoji="1" lang="zh-CN" altLang="en-US" sz="2400" kern="12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en-US" altLang="zh-CN" sz="2400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(4)</a:t>
            </a:r>
            <a:r>
              <a:rPr kumimoji="1" lang="zh-CN" altLang="en-US" sz="2400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sz="2400" i="1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ECNU</a:t>
            </a:r>
            <a:r>
              <a:rPr kumimoji="1" lang="zh-CN" altLang="en-US" sz="2400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学生集合上定义关系</a:t>
            </a:r>
            <a:r>
              <a:rPr kumimoji="1" lang="en-US" altLang="zh-CN" sz="2400" i="1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400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2400" i="1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xRy </a:t>
            </a:r>
            <a:r>
              <a:rPr kumimoji="1" lang="en-US" altLang="zh-CN" sz="2400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kumimoji="1" lang="en-US" altLang="zh-CN" sz="2400" i="1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的年龄不大于</a:t>
            </a:r>
            <a:r>
              <a:rPr kumimoji="1" lang="en-US" altLang="zh-CN" sz="2400" i="1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400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kumimoji="1" lang="zh-CN" altLang="pt-BR" sz="2400" i="1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pt-BR" sz="2400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不是偏序</a:t>
            </a:r>
            <a:r>
              <a:rPr kumimoji="1" lang="en-US" altLang="zh-CN" sz="2400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pt-BR" sz="2400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因为</a:t>
            </a:r>
            <a:r>
              <a:rPr kumimoji="1" lang="en-US" altLang="zh-CN" sz="2400" i="1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400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不是反对称的</a:t>
            </a:r>
            <a:r>
              <a:rPr kumimoji="1" lang="zh-CN" altLang="pt-BR" sz="2400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。若张三与李四的年龄</a:t>
            </a:r>
            <a:r>
              <a:rPr kumimoji="1" lang="zh-CN" altLang="en-US" sz="2400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相同</a:t>
            </a:r>
            <a:r>
              <a:rPr kumimoji="1" lang="en-US" altLang="zh-CN" sz="2400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400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则张三</a:t>
            </a:r>
            <a:r>
              <a:rPr kumimoji="1" lang="en-US" altLang="zh-CN" sz="2400" i="1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400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李四 </a:t>
            </a:r>
            <a:r>
              <a:rPr kumimoji="1" lang="zh-CN" altLang="en-US" sz="2400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kumimoji="1" lang="en-US" altLang="zh-CN" sz="2400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 sz="2400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李四</a:t>
            </a:r>
            <a:r>
              <a:rPr kumimoji="1" lang="en-US" altLang="zh-CN" sz="2400" i="1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400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张三。将</a:t>
            </a:r>
            <a:r>
              <a:rPr kumimoji="1" lang="en-US" altLang="zh-CN" sz="2400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kumimoji="1" lang="zh-CN" altLang="en-US" sz="2400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不大于</a:t>
            </a:r>
            <a:r>
              <a:rPr kumimoji="1" lang="en-US" altLang="zh-CN" sz="2400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kumimoji="1" lang="zh-CN" altLang="en-US" sz="2400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改为</a:t>
            </a:r>
            <a:r>
              <a:rPr kumimoji="1" lang="en-US" altLang="zh-CN" sz="2400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kumimoji="1" lang="zh-CN" altLang="en-US" sz="2400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小于</a:t>
            </a:r>
            <a:r>
              <a:rPr kumimoji="1" lang="en-US" altLang="zh-CN" sz="2400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kumimoji="1" lang="zh-CN" altLang="en-US" sz="2400" kern="1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又如何？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(5)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++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程序中的类及其相互之间的继承关系构成一个偏序集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但不是全序集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程序中的函数及其相互之间的调用关系是否构成偏序集合和全序集？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35360" y="1628800"/>
            <a:ext cx="12961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5.5.2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5.5.1 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偏序关系和偏序集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1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1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1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1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1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1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文本占位符 130049"/>
          <p:cNvSpPr>
            <a:spLocks noGrp="1"/>
          </p:cNvSpPr>
          <p:nvPr>
            <p:ph type="body" sz="half" idx="4294967295"/>
          </p:nvPr>
        </p:nvSpPr>
        <p:spPr>
          <a:xfrm>
            <a:off x="1415480" y="2171067"/>
            <a:ext cx="8642350" cy="168796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(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,≤)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偏序集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关于偏序≤是可比较的 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≤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≤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51384" y="1731899"/>
            <a:ext cx="60942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pt-BR" noProof="1"/>
              <a:t>偏序是全序 </a:t>
            </a:r>
            <a:r>
              <a:rPr lang="zh-CN" altLang="pt-BR" noProof="1">
                <a:sym typeface="Symbol" panose="05050102010706020507" pitchFamily="18" charset="2"/>
              </a:rPr>
              <a:t> 元素对都可比较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07368" y="4005064"/>
            <a:ext cx="60942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pt-BR" noProof="1"/>
              <a:t>偏序</a:t>
            </a:r>
            <a:r>
              <a:rPr lang="en-US" altLang="zh-CN" noProof="1"/>
              <a:t>“</a:t>
            </a:r>
            <a:r>
              <a:rPr lang="zh-CN" altLang="pt-BR" noProof="1"/>
              <a:t>≤</a:t>
            </a:r>
            <a:r>
              <a:rPr lang="en-US" altLang="zh-CN" noProof="1"/>
              <a:t>”</a:t>
            </a:r>
            <a:r>
              <a:rPr lang="zh-CN" altLang="pt-BR" noProof="1"/>
              <a:t>的逆</a:t>
            </a:r>
            <a:r>
              <a:rPr lang="en-US" altLang="zh-CN" noProof="1"/>
              <a:t>“</a:t>
            </a:r>
            <a:r>
              <a:rPr lang="zh-CN" altLang="pt-BR" noProof="1"/>
              <a:t>≥</a:t>
            </a:r>
            <a:r>
              <a:rPr lang="en-US" altLang="zh-CN" noProof="1"/>
              <a:t>”</a:t>
            </a:r>
            <a:r>
              <a:rPr lang="zh-CN" altLang="pt-BR" noProof="1"/>
              <a:t>也是偏序 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055440" y="4581128"/>
            <a:ext cx="7344816" cy="58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defPPr>
              <a:defRPr lang="zh-CN"/>
            </a:defPPr>
            <a:lvl1pPr marL="0" indent="0" eaLnBrk="0" hangingPunct="0">
              <a:lnSpc>
                <a:spcPct val="150000"/>
              </a:lnSpc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pt-BR" noProof="1"/>
              <a:t>偏序在子集上的限制</a:t>
            </a:r>
            <a:r>
              <a:rPr lang="en-US" altLang="zh-CN" noProof="1"/>
              <a:t>(</a:t>
            </a:r>
            <a:r>
              <a:rPr lang="zh-CN" altLang="pt-BR" noProof="1"/>
              <a:t>仍然记为≤</a:t>
            </a:r>
            <a:r>
              <a:rPr lang="en-US" altLang="zh-CN" noProof="1"/>
              <a:t>)</a:t>
            </a:r>
            <a:r>
              <a:rPr lang="zh-CN" altLang="pt-BR" noProof="1"/>
              <a:t>是子集上的偏序</a:t>
            </a:r>
            <a:endParaRPr lang="zh-CN" altLang="en-US" dirty="0"/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5087888" y="330320"/>
            <a:ext cx="6048671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/>
              <a:t>5.5.1 </a:t>
            </a:r>
            <a:r>
              <a:rPr lang="zh-CN" altLang="en-US" noProof="1"/>
              <a:t>偏序关系和偏序集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0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0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0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0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0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0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11014" y="3645024"/>
            <a:ext cx="10009112" cy="11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defPPr>
              <a:defRPr lang="zh-CN"/>
            </a:defPPr>
            <a:lvl1pPr marL="0" indent="0" eaLnBrk="0" hangingPunct="0">
              <a:lnSpc>
                <a:spcPct val="150000"/>
              </a:lnSpc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pt-BR" altLang="zh-CN" i="1" noProof="1"/>
              <a:t>U</a:t>
            </a:r>
            <a:r>
              <a:rPr lang="pt-BR" altLang="zh-CN" noProof="1"/>
              <a:t>={</a:t>
            </a:r>
            <a:r>
              <a:rPr lang="pt-BR" altLang="zh-CN" i="1" noProof="1"/>
              <a:t>a</a:t>
            </a:r>
            <a:r>
              <a:rPr lang="pt-BR" altLang="zh-CN" noProof="1"/>
              <a:t>,</a:t>
            </a:r>
            <a:r>
              <a:rPr lang="pt-BR" altLang="zh-CN" i="1" noProof="1"/>
              <a:t>b</a:t>
            </a:r>
            <a:r>
              <a:rPr lang="pt-BR" altLang="zh-CN" noProof="1"/>
              <a:t>}</a:t>
            </a:r>
            <a:r>
              <a:rPr lang="en-US" altLang="zh-CN" noProof="1"/>
              <a:t>, </a:t>
            </a:r>
            <a:r>
              <a:rPr lang="zh-CN" altLang="pt-BR" noProof="1"/>
              <a:t>在偏序集</a:t>
            </a:r>
            <a:r>
              <a:rPr lang="pt-BR" altLang="zh-CN" noProof="1"/>
              <a:t>(</a:t>
            </a:r>
            <a:r>
              <a:rPr lang="pt-BR" altLang="zh-CN" i="1" noProof="1"/>
              <a:t>P</a:t>
            </a:r>
            <a:r>
              <a:rPr lang="pt-BR" altLang="zh-CN" noProof="1"/>
              <a:t>(</a:t>
            </a:r>
            <a:r>
              <a:rPr lang="pt-BR" altLang="zh-CN" i="1" noProof="1"/>
              <a:t>U</a:t>
            </a:r>
            <a:r>
              <a:rPr lang="pt-BR" altLang="zh-CN" noProof="1"/>
              <a:t>),</a:t>
            </a:r>
            <a:r>
              <a:rPr lang="pt-BR" altLang="zh-CN" noProof="1">
                <a:sym typeface="Symbol" panose="05050102010706020507" pitchFamily="18" charset="2"/>
              </a:rPr>
              <a:t></a:t>
            </a:r>
            <a:r>
              <a:rPr lang="pt-BR" altLang="zh-CN" noProof="1"/>
              <a:t>)</a:t>
            </a:r>
            <a:r>
              <a:rPr lang="zh-CN" altLang="pt-BR" noProof="1"/>
              <a:t>中</a:t>
            </a:r>
            <a:r>
              <a:rPr lang="en-US" altLang="zh-CN" noProof="1"/>
              <a:t>, </a:t>
            </a:r>
            <a:r>
              <a:rPr lang="pt-BR" altLang="zh-CN" noProof="1"/>
              <a:t>{</a:t>
            </a:r>
            <a:r>
              <a:rPr lang="pt-BR" altLang="zh-CN" i="1" noProof="1"/>
              <a:t>a</a:t>
            </a:r>
            <a:r>
              <a:rPr lang="pt-BR" altLang="zh-CN" noProof="1"/>
              <a:t>}</a:t>
            </a:r>
            <a:r>
              <a:rPr lang="zh-CN" altLang="pt-BR" noProof="1"/>
              <a:t>和</a:t>
            </a:r>
            <a:r>
              <a:rPr lang="pt-BR" altLang="zh-CN" noProof="1"/>
              <a:t>{</a:t>
            </a:r>
            <a:r>
              <a:rPr lang="pt-BR" altLang="zh-CN" i="1" noProof="1"/>
              <a:t>b</a:t>
            </a:r>
            <a:r>
              <a:rPr lang="pt-BR" altLang="zh-CN" noProof="1"/>
              <a:t>}</a:t>
            </a:r>
            <a:r>
              <a:rPr lang="zh-CN" altLang="pt-BR" noProof="1"/>
              <a:t>覆盖</a:t>
            </a:r>
            <a:r>
              <a:rPr lang="zh-CN" altLang="pt-BR" i="1" noProof="1">
                <a:sym typeface="Symbol" panose="05050102010706020507" pitchFamily="18" charset="2"/>
              </a:rPr>
              <a:t></a:t>
            </a:r>
            <a:r>
              <a:rPr lang="en-US" altLang="zh-CN" noProof="1"/>
              <a:t>, </a:t>
            </a:r>
            <a:r>
              <a:rPr lang="pt-BR" altLang="zh-CN" noProof="1"/>
              <a:t>{</a:t>
            </a:r>
            <a:r>
              <a:rPr lang="pt-BR" altLang="zh-CN" i="1" noProof="1"/>
              <a:t>a</a:t>
            </a:r>
            <a:r>
              <a:rPr lang="pt-BR" altLang="zh-CN" noProof="1"/>
              <a:t>,</a:t>
            </a:r>
            <a:r>
              <a:rPr lang="pt-BR" altLang="zh-CN" i="1" noProof="1"/>
              <a:t>b</a:t>
            </a:r>
            <a:r>
              <a:rPr lang="pt-BR" altLang="zh-CN" noProof="1"/>
              <a:t>}</a:t>
            </a:r>
            <a:r>
              <a:rPr lang="zh-CN" altLang="pt-BR" noProof="1"/>
              <a:t>覆盖</a:t>
            </a:r>
            <a:r>
              <a:rPr lang="pt-BR" altLang="zh-CN" noProof="1"/>
              <a:t>{</a:t>
            </a:r>
            <a:r>
              <a:rPr lang="pt-BR" altLang="zh-CN" i="1" noProof="1"/>
              <a:t>a</a:t>
            </a:r>
            <a:r>
              <a:rPr lang="pt-BR" altLang="zh-CN" noProof="1"/>
              <a:t>}</a:t>
            </a:r>
            <a:r>
              <a:rPr lang="zh-CN" altLang="pt-BR" noProof="1"/>
              <a:t>和</a:t>
            </a:r>
            <a:r>
              <a:rPr lang="pt-BR" altLang="zh-CN" noProof="1"/>
              <a:t>{</a:t>
            </a:r>
            <a:r>
              <a:rPr lang="pt-BR" altLang="zh-CN" i="1" noProof="1"/>
              <a:t>b</a:t>
            </a:r>
            <a:r>
              <a:rPr lang="pt-BR" altLang="zh-CN" noProof="1"/>
              <a:t>}</a:t>
            </a:r>
            <a:r>
              <a:rPr lang="en-US" altLang="zh-CN" noProof="1"/>
              <a:t>, </a:t>
            </a:r>
            <a:r>
              <a:rPr lang="zh-CN" altLang="pt-BR" noProof="1"/>
              <a:t>但</a:t>
            </a:r>
            <a:r>
              <a:rPr lang="pt-BR" altLang="zh-CN" noProof="1"/>
              <a:t>{</a:t>
            </a:r>
            <a:r>
              <a:rPr lang="pt-BR" altLang="zh-CN" i="1" noProof="1"/>
              <a:t>a</a:t>
            </a:r>
            <a:r>
              <a:rPr lang="pt-BR" altLang="zh-CN" noProof="1"/>
              <a:t>,</a:t>
            </a:r>
            <a:r>
              <a:rPr lang="pt-BR" altLang="zh-CN" i="1" noProof="1"/>
              <a:t>b</a:t>
            </a:r>
            <a:r>
              <a:rPr lang="pt-BR" altLang="zh-CN" noProof="1"/>
              <a:t>}</a:t>
            </a:r>
            <a:r>
              <a:rPr lang="zh-CN" altLang="pt-BR" noProof="1"/>
              <a:t>不覆盖</a:t>
            </a:r>
            <a:r>
              <a:rPr lang="zh-CN" altLang="pt-BR" i="1" noProof="1">
                <a:sym typeface="Symbol" panose="05050102010706020507" pitchFamily="18" charset="2"/>
              </a:rPr>
              <a:t>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75830" y="1679767"/>
            <a:ext cx="623974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pt-BR" noProof="1"/>
              <a:t>定义</a:t>
            </a:r>
            <a:r>
              <a:rPr lang="pt-BR" altLang="zh-CN" noProof="1"/>
              <a:t>5.5.4  </a:t>
            </a:r>
            <a:r>
              <a:rPr lang="zh-CN" altLang="pt-BR" noProof="1"/>
              <a:t>偏序集</a:t>
            </a:r>
            <a:r>
              <a:rPr lang="pt-BR" altLang="zh-CN" noProof="1"/>
              <a:t>(</a:t>
            </a:r>
            <a:r>
              <a:rPr lang="pt-BR" altLang="zh-CN" i="1" noProof="1"/>
              <a:t>X</a:t>
            </a:r>
            <a:r>
              <a:rPr lang="pt-BR" altLang="zh-CN" noProof="1"/>
              <a:t>,≤)</a:t>
            </a:r>
            <a:r>
              <a:rPr lang="en-US" altLang="zh-CN" noProof="1"/>
              <a:t>, </a:t>
            </a:r>
            <a:r>
              <a:rPr lang="pt-BR" altLang="zh-CN" i="1" noProof="1"/>
              <a:t>x</a:t>
            </a:r>
            <a:r>
              <a:rPr lang="pt-BR" altLang="zh-CN" noProof="1"/>
              <a:t>,</a:t>
            </a:r>
            <a:r>
              <a:rPr lang="pt-BR" altLang="zh-CN" i="1" noProof="1"/>
              <a:t>y</a:t>
            </a:r>
            <a:r>
              <a:rPr lang="pt-BR" altLang="zh-CN" noProof="1">
                <a:sym typeface="Symbol" panose="05050102010706020507" pitchFamily="18" charset="2"/>
              </a:rPr>
              <a:t></a:t>
            </a:r>
            <a:r>
              <a:rPr lang="pt-BR" altLang="zh-CN" i="1" noProof="1"/>
              <a:t>X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559496" y="2376990"/>
            <a:ext cx="6239740" cy="113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defPPr>
              <a:defRPr lang="zh-CN"/>
            </a:defPPr>
            <a:lvl1pPr marL="0" indent="0" eaLnBrk="0" hangingPunct="0">
              <a:lnSpc>
                <a:spcPct val="150000"/>
              </a:lnSpc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pt-BR" altLang="zh-CN" noProof="1"/>
              <a:t> </a:t>
            </a:r>
            <a:r>
              <a:rPr lang="pt-BR" altLang="zh-CN" i="1" noProof="1"/>
              <a:t>y</a:t>
            </a:r>
            <a:r>
              <a:rPr lang="zh-CN" altLang="pt-BR" noProof="1">
                <a:solidFill>
                  <a:srgbClr val="FFC000"/>
                </a:solidFill>
              </a:rPr>
              <a:t>覆盖</a:t>
            </a:r>
            <a:r>
              <a:rPr lang="pt-BR" altLang="zh-CN" i="1" noProof="1"/>
              <a:t>x</a:t>
            </a:r>
            <a:r>
              <a:rPr lang="zh-CN" altLang="pt-BR" noProof="1"/>
              <a:t>：</a:t>
            </a:r>
            <a:r>
              <a:rPr lang="pt-BR" altLang="zh-CN" i="1" noProof="1"/>
              <a:t>x</a:t>
            </a:r>
            <a:r>
              <a:rPr lang="pt-BR" altLang="zh-CN" noProof="1"/>
              <a:t>&lt;</a:t>
            </a:r>
            <a:r>
              <a:rPr lang="pt-BR" altLang="zh-CN" i="1" noProof="1"/>
              <a:t>y</a:t>
            </a:r>
            <a:r>
              <a:rPr lang="pt-BR" altLang="zh-CN" noProof="1">
                <a:sym typeface="Symbol" panose="05050102010706020507" pitchFamily="18" charset="2"/>
              </a:rPr>
              <a:t></a:t>
            </a:r>
            <a:r>
              <a:rPr lang="zh-CN" altLang="pt-BR" noProof="1">
                <a:sym typeface="Symbol" panose="05050102010706020507" pitchFamily="18" charset="2"/>
              </a:rPr>
              <a:t></a:t>
            </a:r>
            <a:r>
              <a:rPr lang="pt-BR" altLang="zh-CN" i="1" noProof="1"/>
              <a:t>z</a:t>
            </a:r>
            <a:r>
              <a:rPr lang="pt-BR" altLang="zh-CN" noProof="1">
                <a:sym typeface="Symbol" panose="05050102010706020507" pitchFamily="18" charset="2"/>
              </a:rPr>
              <a:t></a:t>
            </a:r>
            <a:r>
              <a:rPr lang="pt-BR" altLang="zh-CN" i="1" noProof="1"/>
              <a:t>X</a:t>
            </a:r>
            <a:r>
              <a:rPr lang="en-US" altLang="zh-CN" noProof="1"/>
              <a:t>, </a:t>
            </a:r>
            <a:r>
              <a:rPr lang="zh-CN" altLang="pt-BR" noProof="1"/>
              <a:t>使</a:t>
            </a:r>
            <a:r>
              <a:rPr lang="pt-BR" altLang="zh-CN" i="1" noProof="1"/>
              <a:t>x</a:t>
            </a:r>
            <a:r>
              <a:rPr lang="pt-BR" altLang="zh-CN" noProof="1"/>
              <a:t>&lt;</a:t>
            </a:r>
            <a:r>
              <a:rPr lang="pt-BR" altLang="zh-CN" i="1" noProof="1"/>
              <a:t>z</a:t>
            </a:r>
            <a:r>
              <a:rPr lang="pt-BR" altLang="zh-CN" noProof="1"/>
              <a:t>&lt;</a:t>
            </a:r>
            <a:r>
              <a:rPr lang="pt-BR" altLang="zh-CN" i="1" noProof="1"/>
              <a:t>y</a:t>
            </a:r>
            <a:endParaRPr lang="zh-CN" altLang="pt-BR" i="1" noProof="1"/>
          </a:p>
          <a:p>
            <a:r>
              <a:rPr lang="pt-BR" altLang="zh-CN" i="1" noProof="1"/>
              <a:t>y</a:t>
            </a:r>
            <a:r>
              <a:rPr lang="zh-CN" altLang="pt-BR" noProof="1"/>
              <a:t>是</a:t>
            </a:r>
            <a:r>
              <a:rPr lang="pt-BR" altLang="zh-CN" i="1" noProof="1"/>
              <a:t>x</a:t>
            </a:r>
            <a:r>
              <a:rPr lang="zh-CN" altLang="pt-BR" noProof="1"/>
              <a:t>的</a:t>
            </a:r>
            <a:r>
              <a:rPr lang="zh-CN" altLang="pt-BR" noProof="1">
                <a:solidFill>
                  <a:srgbClr val="FF7C80"/>
                </a:solidFill>
              </a:rPr>
              <a:t>直接后继</a:t>
            </a:r>
            <a:endParaRPr lang="zh-CN" altLang="en-US" dirty="0">
              <a:solidFill>
                <a:srgbClr val="FF7C8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5830" y="3738024"/>
            <a:ext cx="16317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5.5.3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对话气泡: 圆角矩形 9"/>
          <p:cNvSpPr/>
          <p:nvPr/>
        </p:nvSpPr>
        <p:spPr bwMode="auto">
          <a:xfrm>
            <a:off x="7110101" y="1161667"/>
            <a:ext cx="4098467" cy="472459"/>
          </a:xfrm>
          <a:prstGeom prst="wedgeRoundRectCallout">
            <a:avLst>
              <a:gd name="adj1" fmla="val -57644"/>
              <a:gd name="adj2" fmla="val -50125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>
              <a:spcBef>
                <a:spcPct val="50000"/>
              </a:spcBef>
            </a:pPr>
            <a:r>
              <a:rPr lang="zh-CN" altLang="en-US" sz="2000" b="0" noProof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哈斯图是有限偏序集的简化关系图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0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3024336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/>
              <a:t>5.5.2 </a:t>
            </a:r>
            <a:r>
              <a:rPr lang="zh-CN" altLang="en-US" noProof="1"/>
              <a:t>哈斯图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  <p:bldP spid="10" grpId="0" animBg="1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文本占位符 68609"/>
          <p:cNvSpPr>
            <a:spLocks noGrp="1"/>
          </p:cNvSpPr>
          <p:nvPr>
            <p:ph type="body" sz="half" idx="4294967295"/>
          </p:nvPr>
        </p:nvSpPr>
        <p:spPr>
          <a:xfrm>
            <a:off x="1199456" y="2276872"/>
            <a:ext cx="8642350" cy="224285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利用偏序关系的性质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简化其关系图得到</a:t>
            </a:r>
            <a:r>
              <a:rPr kumimoji="1" lang="zh-CN" altLang="pt-BR" sz="2400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哈斯图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</a:p>
          <a:p>
            <a:pPr marL="400050" lvl="1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减少边：顶点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到顶点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有边  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覆盖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位于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上方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endParaRPr kumimoji="1" lang="zh-CN" altLang="pt-BR" sz="2400" kern="12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400050" lvl="1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  删除环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删除可由传递性导出的边</a:t>
            </a:r>
          </a:p>
          <a:p>
            <a:pPr marL="400050" lvl="1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省略所有的箭头：箭头总是从下方指向上方</a:t>
            </a:r>
            <a:endParaRPr kumimoji="1" lang="zh-CN" altLang="en-US" sz="2400" kern="12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5830" y="1636206"/>
            <a:ext cx="249583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 </a:t>
            </a:r>
            <a:r>
              <a:rPr lang="zh-CN" altLang="pt-BR" noProof="1">
                <a:sym typeface="Symbol" panose="05050102010706020507" pitchFamily="18" charset="2"/>
              </a:rPr>
              <a:t>哈斯图 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3024336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/>
              <a:t>5.5.2 </a:t>
            </a:r>
            <a:r>
              <a:rPr lang="zh-CN" altLang="en-US" noProof="1"/>
              <a:t>哈斯图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文本占位符 100353"/>
          <p:cNvSpPr>
            <a:spLocks noGrp="1"/>
          </p:cNvSpPr>
          <p:nvPr>
            <p:ph type="body" sz="half" idx="4294967295"/>
          </p:nvPr>
        </p:nvSpPr>
        <p:spPr>
          <a:xfrm>
            <a:off x="1631504" y="1548095"/>
            <a:ext cx="8642350" cy="57971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偏序集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({1,2,3,4,6,8,12},)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的关系图和哈斯图</a:t>
            </a:r>
          </a:p>
        </p:txBody>
      </p:sp>
      <p:pic>
        <p:nvPicPr>
          <p:cNvPr id="9219" name="图片 10037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175" y="2639056"/>
            <a:ext cx="1997557" cy="3312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图片 10037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658" y="2635763"/>
            <a:ext cx="1474820" cy="3312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335359" y="1628800"/>
            <a:ext cx="14748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5.5.4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3024336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/>
              <a:t>5.5.2 </a:t>
            </a:r>
            <a:r>
              <a:rPr lang="zh-CN" altLang="en-US" noProof="1"/>
              <a:t>哈斯图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4" grpId="0" build="p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文本占位符 49153"/>
          <p:cNvSpPr>
            <a:spLocks noGrp="1"/>
          </p:cNvSpPr>
          <p:nvPr>
            <p:ph type="body" sz="half" idx="4294967295"/>
          </p:nvPr>
        </p:nvSpPr>
        <p:spPr>
          <a:xfrm>
            <a:off x="1774825" y="1589201"/>
            <a:ext cx="8642350" cy="57971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偏序集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(P</a:t>
            </a:r>
            <a:r>
              <a:rPr kumimoji="1" lang="en-US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{a,b,c}</a:t>
            </a:r>
            <a:r>
              <a:rPr kumimoji="1" lang="en-US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的哈斯图 </a:t>
            </a:r>
          </a:p>
        </p:txBody>
      </p:sp>
      <p:sp>
        <p:nvSpPr>
          <p:cNvPr id="10243" name="矩形 49164"/>
          <p:cNvSpPr>
            <a:spLocks noChangeArrowheads="1"/>
          </p:cNvSpPr>
          <p:nvPr/>
        </p:nvSpPr>
        <p:spPr bwMode="auto">
          <a:xfrm>
            <a:off x="1524000" y="3189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244" name="矩形 49199"/>
          <p:cNvSpPr>
            <a:spLocks noChangeArrowheads="1"/>
          </p:cNvSpPr>
          <p:nvPr/>
        </p:nvSpPr>
        <p:spPr bwMode="auto">
          <a:xfrm>
            <a:off x="1524000" y="32575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pic>
        <p:nvPicPr>
          <p:cNvPr id="10245" name="图片 492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2492896"/>
            <a:ext cx="3887787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335360" y="1628800"/>
            <a:ext cx="15841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5.5.5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3024336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/>
              <a:t>5.5.2 </a:t>
            </a:r>
            <a:r>
              <a:rPr lang="zh-CN" altLang="en-US" noProof="1"/>
              <a:t>哈斯图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build="p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51384" y="1826752"/>
            <a:ext cx="609426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pt-BR" noProof="1"/>
              <a:t>定义</a:t>
            </a:r>
            <a:r>
              <a:rPr lang="pt-BR" altLang="zh-CN" noProof="1"/>
              <a:t>5.5.5  </a:t>
            </a:r>
            <a:r>
              <a:rPr lang="zh-CN" altLang="pt-BR" noProof="1"/>
              <a:t>偏序集</a:t>
            </a:r>
            <a:r>
              <a:rPr lang="pt-BR" altLang="zh-CN" noProof="1"/>
              <a:t>(</a:t>
            </a:r>
            <a:r>
              <a:rPr lang="pt-BR" altLang="zh-CN" i="1" noProof="1"/>
              <a:t>X</a:t>
            </a:r>
            <a:r>
              <a:rPr lang="pt-BR" altLang="zh-CN" noProof="1"/>
              <a:t>,≤)</a:t>
            </a:r>
            <a:r>
              <a:rPr lang="en-US" altLang="zh-CN" noProof="1"/>
              <a:t>, </a:t>
            </a:r>
            <a:r>
              <a:rPr lang="pt-BR" altLang="zh-CN" i="1" noProof="1"/>
              <a:t>a</a:t>
            </a:r>
            <a:r>
              <a:rPr lang="pt-BR" altLang="zh-CN" noProof="1">
                <a:sym typeface="Symbol" panose="05050102010706020507" pitchFamily="18" charset="2"/>
              </a:rPr>
              <a:t></a:t>
            </a:r>
            <a:r>
              <a:rPr lang="pt-BR" altLang="zh-CN" i="1" noProof="1"/>
              <a:t>X</a:t>
            </a:r>
            <a:endParaRPr lang="zh-CN" altLang="pt-BR" i="1" noProof="1"/>
          </a:p>
        </p:txBody>
      </p:sp>
      <p:sp>
        <p:nvSpPr>
          <p:cNvPr id="7" name="文本框 6"/>
          <p:cNvSpPr txBox="1"/>
          <p:nvPr/>
        </p:nvSpPr>
        <p:spPr>
          <a:xfrm>
            <a:off x="1055440" y="2492896"/>
            <a:ext cx="10225136" cy="2796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defPPr>
              <a:defRPr lang="zh-CN"/>
            </a:defPPr>
            <a:lvl1pPr marL="0" indent="0" eaLnBrk="0" hangingPunct="0">
              <a:lnSpc>
                <a:spcPct val="150000"/>
              </a:lnSpc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noProof="1"/>
              <a:t>(</a:t>
            </a:r>
            <a:r>
              <a:rPr lang="pt-BR" altLang="zh-CN" noProof="1"/>
              <a:t>1</a:t>
            </a:r>
            <a:r>
              <a:rPr lang="en-US" altLang="zh-CN" noProof="1"/>
              <a:t>) </a:t>
            </a:r>
            <a:r>
              <a:rPr lang="pt-BR" altLang="zh-CN" i="1" noProof="1"/>
              <a:t>a</a:t>
            </a:r>
            <a:r>
              <a:rPr lang="zh-CN" altLang="pt-BR" noProof="1"/>
              <a:t>是</a:t>
            </a:r>
            <a:r>
              <a:rPr lang="pt-BR" altLang="zh-CN" noProof="1"/>
              <a:t>(</a:t>
            </a:r>
            <a:r>
              <a:rPr lang="pt-BR" altLang="zh-CN" i="1" noProof="1"/>
              <a:t>X</a:t>
            </a:r>
            <a:r>
              <a:rPr lang="pt-BR" altLang="zh-CN" noProof="1"/>
              <a:t>,≤)</a:t>
            </a:r>
            <a:r>
              <a:rPr lang="zh-CN" altLang="pt-BR" noProof="1"/>
              <a:t>的</a:t>
            </a:r>
            <a:r>
              <a:rPr lang="zh-CN" altLang="pt-BR" noProof="1">
                <a:solidFill>
                  <a:srgbClr val="FFC000"/>
                </a:solidFill>
              </a:rPr>
              <a:t>最大</a:t>
            </a:r>
            <a:r>
              <a:rPr lang="pt-BR" altLang="zh-CN" noProof="1">
                <a:solidFill>
                  <a:srgbClr val="FFC000"/>
                </a:solidFill>
              </a:rPr>
              <a:t>(</a:t>
            </a:r>
            <a:r>
              <a:rPr lang="zh-CN" altLang="pt-BR" noProof="1">
                <a:solidFill>
                  <a:srgbClr val="FFC000"/>
                </a:solidFill>
              </a:rPr>
              <a:t>小</a:t>
            </a:r>
            <a:r>
              <a:rPr lang="pt-BR" altLang="zh-CN" noProof="1">
                <a:solidFill>
                  <a:srgbClr val="FFC000"/>
                </a:solidFill>
              </a:rPr>
              <a:t>)</a:t>
            </a:r>
            <a:r>
              <a:rPr lang="zh-CN" altLang="pt-BR" noProof="1">
                <a:solidFill>
                  <a:srgbClr val="FFC000"/>
                </a:solidFill>
              </a:rPr>
              <a:t>元</a:t>
            </a:r>
            <a:r>
              <a:rPr lang="zh-CN" altLang="pt-BR" noProof="1"/>
              <a:t> </a:t>
            </a:r>
            <a:r>
              <a:rPr lang="zh-CN" altLang="pt-BR" noProof="1">
                <a:sym typeface="Symbol" panose="05050102010706020507" pitchFamily="18" charset="2"/>
              </a:rPr>
              <a:t> </a:t>
            </a:r>
            <a:r>
              <a:rPr lang="pt-BR" altLang="zh-CN" i="1" noProof="1"/>
              <a:t>x</a:t>
            </a:r>
            <a:r>
              <a:rPr lang="pt-BR" altLang="zh-CN" noProof="1">
                <a:sym typeface="Symbol" panose="05050102010706020507" pitchFamily="18" charset="2"/>
              </a:rPr>
              <a:t></a:t>
            </a:r>
            <a:r>
              <a:rPr lang="pt-BR" altLang="zh-CN" i="1" noProof="1"/>
              <a:t>X</a:t>
            </a:r>
            <a:r>
              <a:rPr lang="en-US" altLang="zh-CN" noProof="1"/>
              <a:t>, </a:t>
            </a:r>
            <a:r>
              <a:rPr lang="pt-BR" altLang="zh-CN" i="1" noProof="1"/>
              <a:t>x</a:t>
            </a:r>
            <a:r>
              <a:rPr lang="pt-BR" altLang="zh-CN" noProof="1"/>
              <a:t>≤</a:t>
            </a:r>
            <a:r>
              <a:rPr lang="pt-BR" altLang="zh-CN" i="1" noProof="1"/>
              <a:t>a</a:t>
            </a:r>
            <a:r>
              <a:rPr lang="pt-BR" altLang="zh-CN" noProof="1"/>
              <a:t>(</a:t>
            </a:r>
            <a:r>
              <a:rPr lang="pt-BR" altLang="zh-CN" i="1" noProof="1"/>
              <a:t>a</a:t>
            </a:r>
            <a:r>
              <a:rPr lang="pt-BR" altLang="zh-CN" noProof="1"/>
              <a:t>≤</a:t>
            </a:r>
            <a:r>
              <a:rPr lang="pt-BR" altLang="zh-CN" i="1" noProof="1"/>
              <a:t>x</a:t>
            </a:r>
            <a:r>
              <a:rPr lang="pt-BR" altLang="zh-CN" noProof="1"/>
              <a:t>)</a:t>
            </a:r>
          </a:p>
          <a:p>
            <a:r>
              <a:rPr lang="zh-CN" altLang="pt-BR" noProof="1">
                <a:sym typeface="Symbol" panose="05050102010706020507" pitchFamily="18" charset="2"/>
              </a:rPr>
              <a:t>     最大</a:t>
            </a:r>
            <a:r>
              <a:rPr lang="pt-BR" altLang="zh-CN" noProof="1">
                <a:sym typeface="Symbol" panose="05050102010706020507" pitchFamily="18" charset="2"/>
              </a:rPr>
              <a:t>(</a:t>
            </a:r>
            <a:r>
              <a:rPr lang="zh-CN" altLang="pt-BR" noProof="1">
                <a:sym typeface="Symbol" panose="05050102010706020507" pitchFamily="18" charset="2"/>
              </a:rPr>
              <a:t>小</a:t>
            </a:r>
            <a:r>
              <a:rPr lang="pt-BR" altLang="zh-CN" noProof="1">
                <a:sym typeface="Symbol" panose="05050102010706020507" pitchFamily="18" charset="2"/>
              </a:rPr>
              <a:t>)</a:t>
            </a:r>
            <a:r>
              <a:rPr lang="zh-CN" altLang="pt-BR" noProof="1">
                <a:sym typeface="Symbol" panose="05050102010706020507" pitchFamily="18" charset="2"/>
              </a:rPr>
              <a:t>元就是比所有其他元素都大</a:t>
            </a:r>
            <a:r>
              <a:rPr lang="pt-BR" altLang="zh-CN" noProof="1">
                <a:sym typeface="Symbol" panose="05050102010706020507" pitchFamily="18" charset="2"/>
              </a:rPr>
              <a:t>(</a:t>
            </a:r>
            <a:r>
              <a:rPr lang="zh-CN" altLang="pt-BR" noProof="1">
                <a:sym typeface="Symbol" panose="05050102010706020507" pitchFamily="18" charset="2"/>
              </a:rPr>
              <a:t>小</a:t>
            </a:r>
            <a:r>
              <a:rPr lang="pt-BR" altLang="zh-CN" noProof="1">
                <a:sym typeface="Symbol" panose="05050102010706020507" pitchFamily="18" charset="2"/>
              </a:rPr>
              <a:t>)</a:t>
            </a:r>
            <a:r>
              <a:rPr lang="zh-CN" altLang="pt-BR" noProof="1">
                <a:sym typeface="Symbol" panose="05050102010706020507" pitchFamily="18" charset="2"/>
              </a:rPr>
              <a:t>的元素</a:t>
            </a:r>
            <a:endParaRPr lang="zh-CN" altLang="pt-BR" noProof="1"/>
          </a:p>
          <a:p>
            <a:r>
              <a:rPr lang="en-US" altLang="zh-CN" noProof="1"/>
              <a:t>(</a:t>
            </a:r>
            <a:r>
              <a:rPr lang="pt-BR" altLang="zh-CN" noProof="1"/>
              <a:t>2</a:t>
            </a:r>
            <a:r>
              <a:rPr lang="en-US" altLang="zh-CN" noProof="1"/>
              <a:t>) </a:t>
            </a:r>
            <a:r>
              <a:rPr lang="pt-BR" altLang="zh-CN" i="1" noProof="1"/>
              <a:t>a</a:t>
            </a:r>
            <a:r>
              <a:rPr lang="zh-CN" altLang="pt-BR" noProof="1"/>
              <a:t>是</a:t>
            </a:r>
            <a:r>
              <a:rPr lang="pt-BR" altLang="zh-CN" noProof="1"/>
              <a:t>(</a:t>
            </a:r>
            <a:r>
              <a:rPr lang="pt-BR" altLang="zh-CN" i="1" noProof="1"/>
              <a:t>X</a:t>
            </a:r>
            <a:r>
              <a:rPr lang="pt-BR" altLang="zh-CN" noProof="1"/>
              <a:t>,≤)</a:t>
            </a:r>
            <a:r>
              <a:rPr lang="zh-CN" altLang="pt-BR" noProof="1"/>
              <a:t>的</a:t>
            </a:r>
            <a:r>
              <a:rPr lang="zh-CN" altLang="pt-BR" noProof="1">
                <a:solidFill>
                  <a:srgbClr val="FF7C80"/>
                </a:solidFill>
              </a:rPr>
              <a:t>极大</a:t>
            </a:r>
            <a:r>
              <a:rPr lang="pt-BR" altLang="zh-CN" noProof="1">
                <a:solidFill>
                  <a:srgbClr val="FF7C80"/>
                </a:solidFill>
              </a:rPr>
              <a:t>(</a:t>
            </a:r>
            <a:r>
              <a:rPr lang="zh-CN" altLang="pt-BR" noProof="1">
                <a:solidFill>
                  <a:srgbClr val="FF7C80"/>
                </a:solidFill>
              </a:rPr>
              <a:t>小</a:t>
            </a:r>
            <a:r>
              <a:rPr lang="pt-BR" altLang="zh-CN" noProof="1">
                <a:solidFill>
                  <a:srgbClr val="FF7C80"/>
                </a:solidFill>
              </a:rPr>
              <a:t>)</a:t>
            </a:r>
            <a:r>
              <a:rPr lang="zh-CN" altLang="pt-BR" noProof="1">
                <a:solidFill>
                  <a:srgbClr val="FF7C80"/>
                </a:solidFill>
              </a:rPr>
              <a:t>元</a:t>
            </a:r>
            <a:r>
              <a:rPr lang="zh-CN" altLang="pt-BR" noProof="1"/>
              <a:t> </a:t>
            </a:r>
            <a:r>
              <a:rPr lang="zh-CN" altLang="pt-BR" noProof="1">
                <a:sym typeface="Symbol" panose="05050102010706020507" pitchFamily="18" charset="2"/>
              </a:rPr>
              <a:t> </a:t>
            </a:r>
            <a:r>
              <a:rPr lang="pt-BR" altLang="zh-CN" i="1" noProof="1"/>
              <a:t>x</a:t>
            </a:r>
            <a:r>
              <a:rPr lang="pt-BR" altLang="zh-CN" noProof="1">
                <a:sym typeface="Symbol" panose="05050102010706020507" pitchFamily="18" charset="2"/>
              </a:rPr>
              <a:t></a:t>
            </a:r>
            <a:r>
              <a:rPr lang="pt-BR" altLang="zh-CN" i="1" noProof="1"/>
              <a:t>X</a:t>
            </a:r>
            <a:r>
              <a:rPr lang="en-US" altLang="zh-CN" noProof="1"/>
              <a:t>, </a:t>
            </a:r>
            <a:r>
              <a:rPr lang="zh-CN" altLang="pt-BR" noProof="1"/>
              <a:t>使</a:t>
            </a:r>
            <a:r>
              <a:rPr lang="pt-BR" altLang="zh-CN" i="1" noProof="1"/>
              <a:t>a</a:t>
            </a:r>
            <a:r>
              <a:rPr lang="pt-BR" altLang="zh-CN" noProof="1"/>
              <a:t>&lt;</a:t>
            </a:r>
            <a:r>
              <a:rPr lang="pt-BR" altLang="zh-CN" i="1" noProof="1"/>
              <a:t>x</a:t>
            </a:r>
            <a:r>
              <a:rPr lang="pt-BR" altLang="zh-CN" noProof="1"/>
              <a:t>(</a:t>
            </a:r>
            <a:r>
              <a:rPr lang="pt-BR" altLang="zh-CN" i="1" noProof="1"/>
              <a:t>x</a:t>
            </a:r>
            <a:r>
              <a:rPr lang="pt-BR" altLang="zh-CN" noProof="1"/>
              <a:t>&lt;</a:t>
            </a:r>
            <a:r>
              <a:rPr lang="pt-BR" altLang="zh-CN" i="1" noProof="1"/>
              <a:t>a</a:t>
            </a:r>
            <a:r>
              <a:rPr lang="pt-BR" altLang="zh-CN" noProof="1"/>
              <a:t>)</a:t>
            </a:r>
          </a:p>
          <a:p>
            <a:r>
              <a:rPr lang="zh-CN" altLang="pt-BR" noProof="1">
                <a:sym typeface="Symbol" panose="05050102010706020507" pitchFamily="18" charset="2"/>
              </a:rPr>
              <a:t>     极大</a:t>
            </a:r>
            <a:r>
              <a:rPr lang="pt-BR" altLang="zh-CN" noProof="1">
                <a:sym typeface="Symbol" panose="05050102010706020507" pitchFamily="18" charset="2"/>
              </a:rPr>
              <a:t>(</a:t>
            </a:r>
            <a:r>
              <a:rPr lang="zh-CN" altLang="pt-BR" noProof="1">
                <a:sym typeface="Symbol" panose="05050102010706020507" pitchFamily="18" charset="2"/>
              </a:rPr>
              <a:t>小</a:t>
            </a:r>
            <a:r>
              <a:rPr lang="pt-BR" altLang="zh-CN" noProof="1">
                <a:sym typeface="Symbol" panose="05050102010706020507" pitchFamily="18" charset="2"/>
              </a:rPr>
              <a:t>)</a:t>
            </a:r>
            <a:r>
              <a:rPr lang="zh-CN" altLang="pt-BR" noProof="1">
                <a:sym typeface="Symbol" panose="05050102010706020507" pitchFamily="18" charset="2"/>
              </a:rPr>
              <a:t>元就是这样的元素：不存在比它更大</a:t>
            </a:r>
            <a:r>
              <a:rPr lang="pt-BR" altLang="zh-CN" noProof="1">
                <a:sym typeface="Symbol" panose="05050102010706020507" pitchFamily="18" charset="2"/>
              </a:rPr>
              <a:t>(</a:t>
            </a:r>
            <a:r>
              <a:rPr lang="zh-CN" altLang="pt-BR" noProof="1">
                <a:sym typeface="Symbol" panose="05050102010706020507" pitchFamily="18" charset="2"/>
              </a:rPr>
              <a:t>小</a:t>
            </a:r>
            <a:r>
              <a:rPr lang="pt-BR" altLang="zh-CN" noProof="1">
                <a:sym typeface="Symbol" panose="05050102010706020507" pitchFamily="18" charset="2"/>
              </a:rPr>
              <a:t>)</a:t>
            </a:r>
            <a:r>
              <a:rPr lang="zh-CN" altLang="pt-BR" noProof="1">
                <a:sym typeface="Symbol" panose="05050102010706020507" pitchFamily="18" charset="2"/>
              </a:rPr>
              <a:t>的元素</a:t>
            </a:r>
            <a:r>
              <a:rPr lang="en-US" altLang="zh-CN" noProof="1">
                <a:sym typeface="Symbol" panose="05050102010706020507" pitchFamily="18" charset="2"/>
              </a:rPr>
              <a:t>, </a:t>
            </a:r>
            <a:r>
              <a:rPr lang="zh-CN" altLang="pt-BR" noProof="1">
                <a:sym typeface="Symbol" panose="05050102010706020507" pitchFamily="18" charset="2"/>
              </a:rPr>
              <a:t>但允许存在与它不可比较的元素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468052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/>
              <a:t>5.5.3 </a:t>
            </a:r>
            <a:r>
              <a:rPr lang="zh-CN" altLang="en-US" noProof="1"/>
              <a:t>偏序集的性质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矩形 126978"/>
          <p:cNvSpPr/>
          <p:nvPr/>
        </p:nvSpPr>
        <p:spPr>
          <a:xfrm>
            <a:off x="983432" y="2060848"/>
            <a:ext cx="7272808" cy="3730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80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1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1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5pPr>
          </a:lstStyle>
          <a:p>
            <a:pPr marL="0" indent="0" eaLnBrk="0" hangingPunct="0">
              <a:lnSpc>
                <a:spcPct val="150000"/>
              </a:lnSpc>
              <a:buNone/>
            </a:pP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偏序集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pt-BR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pt-BR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≤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无最大元和极大元</a:t>
            </a:r>
          </a:p>
          <a:p>
            <a:pPr marL="0" indent="0" eaLnBrk="0" hangingPunct="0">
              <a:lnSpc>
                <a:spcPct val="150000"/>
              </a:lnSpc>
              <a:buNone/>
            </a:pP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个最小元和极小元：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endParaRPr lang="zh-CN" altLang="pt-BR" sz="2400" b="0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0" hangingPunct="0">
              <a:lnSpc>
                <a:spcPct val="150000"/>
              </a:lnSpc>
              <a:buNone/>
            </a:pP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偏序集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(Z,</a:t>
            </a:r>
            <a:r>
              <a:rPr lang="pt-BR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≤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无最大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小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元和极大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小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元</a:t>
            </a:r>
            <a:endParaRPr lang="en-US" altLang="zh-CN" sz="2400" b="0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0" hangingPunct="0">
              <a:lnSpc>
                <a:spcPct val="150000"/>
              </a:lnSpc>
              <a:buNone/>
            </a:pP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(3) 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偏序集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({2,4,5,10,12,20,25}, |)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没有最大元和最小元</a:t>
            </a:r>
          </a:p>
          <a:p>
            <a:pPr marL="0" indent="0" eaLnBrk="0" hangingPunct="0">
              <a:lnSpc>
                <a:spcPct val="150000"/>
              </a:lnSpc>
              <a:buNone/>
            </a:pP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3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个极大元：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12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、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20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25</a:t>
            </a:r>
          </a:p>
          <a:p>
            <a:pPr marL="0" indent="0" eaLnBrk="0" hangingPunct="0">
              <a:lnSpc>
                <a:spcPct val="150000"/>
              </a:lnSpc>
              <a:buNone/>
            </a:pP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2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个极小元：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5 </a:t>
            </a:r>
            <a:endParaRPr lang="zh-CN" altLang="en-US" sz="2400" b="0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pic>
        <p:nvPicPr>
          <p:cNvPr id="12291" name="图片 12697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8248" y="2636912"/>
            <a:ext cx="3139831" cy="2880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335360" y="1628800"/>
            <a:ext cx="17281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5.5.5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468052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/>
              <a:t>5.5.3 </a:t>
            </a:r>
            <a:r>
              <a:rPr lang="zh-CN" altLang="en-US" noProof="1"/>
              <a:t>偏序集的性质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矩形 128002"/>
          <p:cNvSpPr/>
          <p:nvPr/>
        </p:nvSpPr>
        <p:spPr>
          <a:xfrm>
            <a:off x="1127448" y="2247529"/>
            <a:ext cx="8713787" cy="3904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80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1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1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5pPr>
          </a:lstStyle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最大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小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元至多只有一个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也可以没有</a:t>
            </a: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zh-CN" altLang="pt-BR" sz="2400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极大</a:t>
            </a:r>
            <a:r>
              <a:rPr lang="pt-BR" altLang="zh-CN" sz="2400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pt-BR" sz="2400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小</a:t>
            </a:r>
            <a:r>
              <a:rPr lang="pt-BR" altLang="zh-CN" sz="2400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pt-BR" sz="2400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元可以有多个</a:t>
            </a:r>
            <a:r>
              <a:rPr lang="en-US" altLang="zh-CN" sz="2400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pt-BR" sz="2400" b="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也可以没有</a:t>
            </a: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极大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小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元不一定是最大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小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</a:t>
            </a: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最大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小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元一定是极大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小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</a:t>
            </a: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当最大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小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元存在时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极大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小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元也只有一个</a:t>
            </a: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zh-CN" altLang="pt-BR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全序集的极大</a:t>
            </a:r>
            <a:r>
              <a:rPr lang="pt-BR" altLang="zh-CN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pt-BR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小</a:t>
            </a:r>
            <a:r>
              <a:rPr lang="pt-BR" altLang="zh-CN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pt-BR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元一定是也最大</a:t>
            </a:r>
            <a:r>
              <a:rPr lang="pt-BR" altLang="zh-CN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pt-BR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小</a:t>
            </a:r>
            <a:r>
              <a:rPr lang="pt-BR" altLang="zh-CN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pt-BR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</a:t>
            </a:r>
          </a:p>
          <a:p>
            <a:pPr marL="0" indent="0" eaLnBrk="0" hangingPunc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pt-BR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全序集的</a:t>
            </a:r>
            <a:r>
              <a:rPr lang="en-US" altLang="zh-CN" sz="24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pt-BR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最大</a:t>
            </a:r>
            <a:r>
              <a:rPr lang="pt-BR" altLang="zh-CN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pt-BR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小</a:t>
            </a:r>
            <a:r>
              <a:rPr lang="pt-BR" altLang="zh-CN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”</a:t>
            </a:r>
            <a:r>
              <a:rPr lang="zh-CN" altLang="pt-BR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pt-BR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极大</a:t>
            </a:r>
            <a:r>
              <a:rPr lang="pt-BR" altLang="zh-CN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pt-BR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小</a:t>
            </a:r>
            <a:r>
              <a:rPr lang="pt-BR" altLang="zh-CN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pt-BR" sz="2400" b="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没有区别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79376" y="1700808"/>
            <a:ext cx="60942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pt-BR" noProof="1"/>
              <a:t>最大</a:t>
            </a:r>
            <a:r>
              <a:rPr lang="pt-BR" altLang="zh-CN" noProof="1">
                <a:sym typeface="Symbol" panose="05050102010706020507" pitchFamily="18" charset="2"/>
              </a:rPr>
              <a:t>(</a:t>
            </a:r>
            <a:r>
              <a:rPr lang="zh-CN" altLang="pt-BR" noProof="1">
                <a:sym typeface="Symbol" panose="05050102010706020507" pitchFamily="18" charset="2"/>
              </a:rPr>
              <a:t>小</a:t>
            </a:r>
            <a:r>
              <a:rPr lang="pt-BR" altLang="zh-CN" noProof="1">
                <a:sym typeface="Symbol" panose="05050102010706020507" pitchFamily="18" charset="2"/>
              </a:rPr>
              <a:t>)</a:t>
            </a:r>
            <a:r>
              <a:rPr lang="zh-CN" altLang="pt-BR" noProof="1"/>
              <a:t>元和极大</a:t>
            </a:r>
            <a:r>
              <a:rPr lang="pt-BR" altLang="zh-CN" noProof="1">
                <a:sym typeface="Symbol" panose="05050102010706020507" pitchFamily="18" charset="2"/>
              </a:rPr>
              <a:t>(</a:t>
            </a:r>
            <a:r>
              <a:rPr lang="zh-CN" altLang="pt-BR" noProof="1">
                <a:sym typeface="Symbol" panose="05050102010706020507" pitchFamily="18" charset="2"/>
              </a:rPr>
              <a:t>小</a:t>
            </a:r>
            <a:r>
              <a:rPr lang="pt-BR" altLang="zh-CN" noProof="1">
                <a:sym typeface="Symbol" panose="05050102010706020507" pitchFamily="18" charset="2"/>
              </a:rPr>
              <a:t>)</a:t>
            </a:r>
            <a:r>
              <a:rPr lang="zh-CN" altLang="pt-BR" noProof="1"/>
              <a:t>元的性质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468052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/>
              <a:t>5.5.3 </a:t>
            </a:r>
            <a:r>
              <a:rPr lang="zh-CN" altLang="en-US" noProof="1"/>
              <a:t>偏序集的性质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5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5" name="矩形 131074"/>
          <p:cNvSpPr/>
          <p:nvPr/>
        </p:nvSpPr>
        <p:spPr>
          <a:xfrm>
            <a:off x="1415480" y="2463715"/>
            <a:ext cx="8964612" cy="3535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eaLnBrk="0" hangingPunct="0">
              <a:lnSpc>
                <a:spcPct val="130000"/>
              </a:lnSpc>
              <a:spcBef>
                <a:spcPts val="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非空有限偏序集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,≤)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证明其中必有极小元</a:t>
            </a:r>
          </a:p>
          <a:p>
            <a:pPr eaLnBrk="0" hangingPunct="0">
              <a:lnSpc>
                <a:spcPct val="130000"/>
              </a:lnSpc>
              <a:spcBef>
                <a:spcPts val="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pt-BR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非空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任取其中一元素记为</a:t>
            </a:r>
            <a:r>
              <a:rPr lang="pt-BR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pt-BR" sz="2400" b="0" baseline="-25000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0" hangingPunct="0">
              <a:lnSpc>
                <a:spcPct val="130000"/>
              </a:lnSpc>
              <a:spcBef>
                <a:spcPts val="0"/>
              </a:spcBef>
              <a:buClr>
                <a:schemeClr val="hlink"/>
              </a:buClr>
              <a:buSzPct val="70000"/>
            </a:pP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如果</a:t>
            </a:r>
            <a:r>
              <a:rPr lang="pt-BR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不是极小元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那么存在</a:t>
            </a:r>
            <a:r>
              <a:rPr lang="pt-BR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pt-BR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使得</a:t>
            </a:r>
            <a:r>
              <a:rPr lang="pt-BR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&lt;</a:t>
            </a:r>
            <a:r>
              <a:rPr lang="pt-BR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  <a:p>
            <a:pPr eaLnBrk="0" hangingPunct="0">
              <a:lnSpc>
                <a:spcPct val="130000"/>
              </a:lnSpc>
              <a:spcBef>
                <a:spcPts val="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如果</a:t>
            </a:r>
            <a:r>
              <a:rPr lang="pt-BR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仍然不是极小元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那么存在</a:t>
            </a:r>
            <a:r>
              <a:rPr lang="pt-BR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pt-BR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使得</a:t>
            </a:r>
            <a:r>
              <a:rPr lang="pt-BR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&lt;</a:t>
            </a:r>
            <a:r>
              <a:rPr lang="pt-BR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b="0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</a:p>
          <a:p>
            <a:pPr eaLnBrk="0" hangingPunct="0">
              <a:lnSpc>
                <a:spcPct val="130000"/>
              </a:lnSpc>
              <a:spcBef>
                <a:spcPts val="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……</a:t>
            </a:r>
          </a:p>
          <a:p>
            <a:pPr eaLnBrk="0" hangingPunct="0">
              <a:lnSpc>
                <a:spcPct val="130000"/>
              </a:lnSpc>
              <a:spcBef>
                <a:spcPts val="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上述过程不可能无限进行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因为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的有限性和所选取元素的互异性</a:t>
            </a:r>
          </a:p>
          <a:p>
            <a:pPr eaLnBrk="0" hangingPunct="0">
              <a:lnSpc>
                <a:spcPct val="130000"/>
              </a:lnSpc>
              <a:spcBef>
                <a:spcPts val="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设上述过程在重复</a:t>
            </a:r>
            <a:r>
              <a:rPr lang="pt-BR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次后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(1</a:t>
            </a:r>
            <a:r>
              <a:rPr lang="pt-BR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≤</a:t>
            </a:r>
            <a:r>
              <a:rPr lang="pt-BR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pt-BR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≤</a:t>
            </a:r>
            <a:r>
              <a:rPr lang="pt-BR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pt-BR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终止</a:t>
            </a:r>
            <a:r>
              <a:rPr lang="en-US" altLang="zh-CN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pt-BR" altLang="zh-CN" sz="2400" b="0" i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b="0" i="1" baseline="-250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pt-BR" sz="24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即为极小元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21726" y="1700808"/>
            <a:ext cx="86409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pt-BR" noProof="1"/>
              <a:t>定理</a:t>
            </a:r>
            <a:r>
              <a:rPr lang="pt-BR" altLang="zh-CN" noProof="1"/>
              <a:t>5.5.1  </a:t>
            </a:r>
            <a:r>
              <a:rPr lang="zh-CN" altLang="pt-BR" noProof="1"/>
              <a:t>非空有限偏序集必有极大元和极小元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07368" y="2492896"/>
            <a:ext cx="9361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pt-BR" sz="24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  <a:endParaRPr lang="zh-CN" altLang="en-US" sz="2400" dirty="0">
              <a:solidFill>
                <a:srgbClr val="FFFF00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1370031-97AB-4F32-865A-087A9B8C08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7889" y="330320"/>
            <a:ext cx="468052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/>
              <a:t>5.5.3 </a:t>
            </a:r>
            <a:r>
              <a:rPr lang="zh-CN" altLang="en-US" noProof="1"/>
              <a:t>偏序集的性质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1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1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1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31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1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1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31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1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1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338" name="Rectangle 2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1055440" y="2168819"/>
                <a:ext cx="10657184" cy="3198376"/>
              </a:xfr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sp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kumimoji="1" lang="en-US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</a:t>
                </a: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设</a:t>
                </a:r>
                <a:r>
                  <a:rPr kumimoji="1" lang="pt-BR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kumimoji="1" lang="pt-BR" altLang="zh-CN" sz="2400" i="1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kumimoji="1" lang="pt-BR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≤)</a:t>
                </a: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是偏序集</a:t>
                </a:r>
                <a:r>
                  <a:rPr kumimoji="1" lang="en-US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kumimoji="1" lang="en-US" altLang="zh-CN" sz="2400" i="1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Y</a:t>
                </a:r>
                <a:r>
                  <a:rPr kumimoji="1" lang="en-US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</a:t>
                </a:r>
                <a:r>
                  <a:rPr kumimoji="1" lang="en-US" altLang="zh-CN" sz="2400" i="1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X</a:t>
                </a:r>
                <a:r>
                  <a:rPr kumimoji="1" lang="en-US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, </a:t>
                </a:r>
                <a:r>
                  <a:rPr kumimoji="1" lang="en-US" altLang="zh-CN" sz="2400" i="1" kern="12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a</a:t>
                </a:r>
                <a:r>
                  <a:rPr kumimoji="1" lang="en-US" altLang="zh-CN" sz="2400" kern="12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</a:t>
                </a:r>
                <a:r>
                  <a:rPr kumimoji="1" lang="en-US" altLang="zh-CN" sz="2400" i="1" kern="12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X</a:t>
                </a: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。</a:t>
                </a:r>
                <a:endParaRPr kumimoji="1" lang="en-US" altLang="zh-CN" sz="2400" kern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/>
                </a:endParaRPr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  <a:sym typeface="Symbol" panose="05050102010706020507"/>
                  </a:rPr>
                  <a:t>① </a:t>
                </a: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若对任意</a:t>
                </a:r>
                <a:r>
                  <a:rPr kumimoji="1" lang="en-US" altLang="zh-CN" sz="2400" i="1" kern="12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y</a:t>
                </a:r>
                <a:r>
                  <a:rPr kumimoji="1" lang="en-US" altLang="zh-CN" sz="2400" kern="12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</a:t>
                </a:r>
                <a:r>
                  <a:rPr kumimoji="1" lang="en-US" altLang="zh-CN" sz="2400" i="1" kern="12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Y</a:t>
                </a:r>
                <a:r>
                  <a:rPr kumimoji="1" lang="en-US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,</a:t>
                </a: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总有</a:t>
                </a:r>
                <a:r>
                  <a:rPr kumimoji="1" lang="en-US" altLang="zh-CN" sz="2400" i="1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y</a:t>
                </a:r>
                <a:r>
                  <a:rPr kumimoji="1" lang="pt-BR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≤</a:t>
                </a:r>
                <a:r>
                  <a:rPr kumimoji="1" lang="en-US" altLang="zh-CN" sz="2400" i="1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a</a:t>
                </a:r>
                <a:r>
                  <a:rPr kumimoji="1" lang="en-US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,</a:t>
                </a: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则称</a:t>
                </a:r>
                <a:r>
                  <a:rPr kumimoji="1" lang="en-US" altLang="zh-CN" sz="2400" i="1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a</a:t>
                </a: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为</a:t>
                </a:r>
                <a:r>
                  <a:rPr kumimoji="1" lang="en-US" altLang="zh-CN" sz="2400" i="1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Y</a:t>
                </a: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在</a:t>
                </a:r>
                <a:r>
                  <a:rPr kumimoji="1" lang="pt-BR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kumimoji="1" lang="pt-BR" altLang="zh-CN" sz="2400" i="1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kumimoji="1" lang="pt-BR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,≤)</a:t>
                </a: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中的</a:t>
                </a:r>
                <a:r>
                  <a:rPr kumimoji="1" lang="zh-CN" altLang="en-US" sz="2400" kern="1200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上界</a:t>
                </a: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kumimoji="1" lang="en-US" altLang="zh-CN" sz="2400" kern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/>
                </a:endParaRPr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  <a:sym typeface="Symbol" panose="05050102010706020507"/>
                  </a:rPr>
                  <a:t>② </a:t>
                </a:r>
                <a:r>
                  <a:rPr kumimoji="1" lang="en-US" altLang="zh-CN" sz="2400" i="1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Y</a:t>
                </a: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在</a:t>
                </a:r>
                <a:r>
                  <a:rPr kumimoji="1" lang="pt-BR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kumimoji="1" lang="pt-BR" altLang="zh-CN" sz="2400" i="1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kumimoji="1" lang="pt-BR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,≤)</a:t>
                </a: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中的最小上界称为</a:t>
                </a:r>
                <a:r>
                  <a:rPr kumimoji="1" lang="en-US" altLang="zh-CN" sz="2400" i="1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Y</a:t>
                </a: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在</a:t>
                </a:r>
                <a:r>
                  <a:rPr kumimoji="1" lang="pt-BR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kumimoji="1" lang="pt-BR" altLang="zh-CN" sz="2400" i="1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kumimoji="1" lang="pt-BR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,≤)</a:t>
                </a: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中的</a:t>
                </a:r>
                <a:r>
                  <a:rPr kumimoji="1" lang="zh-CN" altLang="en-US" sz="2400" kern="1200" dirty="0">
                    <a:solidFill>
                      <a:srgbClr val="FF7C8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上确界</a:t>
                </a:r>
                <a:r>
                  <a:rPr kumimoji="1" lang="en-US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或</a:t>
                </a:r>
                <a:r>
                  <a:rPr kumimoji="1" lang="zh-CN" altLang="en-US" sz="2400" kern="1200" dirty="0">
                    <a:solidFill>
                      <a:srgbClr val="FF7C8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最小上界</a:t>
                </a:r>
                <a:r>
                  <a:rPr kumimoji="1" lang="en-US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记为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kumimoji="1" lang="en-US" altLang="zh-CN" sz="240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PrePr>
                      <m:sub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kumimoji="1" lang="pt-BR" altLang="zh-CN" sz="2400" kern="1200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a:rPr kumimoji="1" lang="en-US" altLang="zh-CN" sz="2400" b="0" i="1" kern="120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𝑠𝑢𝑝</m:t>
                        </m:r>
                      </m:sup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sPre>
                  </m:oMath>
                </a14:m>
                <a:endParaRPr kumimoji="1" lang="en-US" altLang="zh-CN" sz="2400" kern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Symbol" panose="05050102010706020507"/>
                </a:endParaRPr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  <a:sym typeface="Symbol" panose="05050102010706020507"/>
                  </a:rPr>
                  <a:t>③ </a:t>
                </a: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若对任意</a:t>
                </a:r>
                <a:r>
                  <a:rPr kumimoji="1" lang="en-US" altLang="zh-CN" sz="2400" i="1" kern="12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y</a:t>
                </a:r>
                <a:r>
                  <a:rPr kumimoji="1" lang="en-US" altLang="zh-CN" sz="2400" kern="12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</a:t>
                </a:r>
                <a:r>
                  <a:rPr kumimoji="1" lang="en-US" altLang="zh-CN" sz="2400" i="1" kern="12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Y</a:t>
                </a:r>
                <a:r>
                  <a:rPr kumimoji="1" lang="en-US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,</a:t>
                </a: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总有</a:t>
                </a:r>
                <a:r>
                  <a:rPr kumimoji="1" lang="en-US" altLang="zh-CN" sz="2400" i="1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a</a:t>
                </a:r>
                <a:r>
                  <a:rPr kumimoji="1" lang="pt-BR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≤</a:t>
                </a:r>
                <a:r>
                  <a:rPr kumimoji="1" lang="en-US" altLang="zh-CN" sz="2400" i="1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y</a:t>
                </a:r>
                <a:r>
                  <a:rPr kumimoji="1" lang="en-US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, </a:t>
                </a: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则有</a:t>
                </a:r>
                <a:r>
                  <a:rPr kumimoji="1" lang="en-US" altLang="zh-CN" sz="2400" i="1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a</a:t>
                </a: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为</a:t>
                </a:r>
                <a:r>
                  <a:rPr kumimoji="1" lang="en-US" altLang="zh-CN" sz="2400" i="1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Y</a:t>
                </a: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在</a:t>
                </a:r>
                <a:r>
                  <a:rPr kumimoji="1" lang="pt-BR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kumimoji="1" lang="pt-BR" altLang="zh-CN" sz="2400" i="1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kumimoji="1" lang="pt-BR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,≤)</a:t>
                </a: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中的下界。</a:t>
                </a:r>
                <a:r>
                  <a:rPr kumimoji="1" lang="en-US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  </a:t>
                </a:r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  <a:sym typeface="Symbol" panose="05050102010706020507"/>
                  </a:rPr>
                  <a:t>④ </a:t>
                </a:r>
                <a:r>
                  <a:rPr kumimoji="1" lang="en-US" altLang="zh-CN" sz="2400" i="1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Y</a:t>
                </a: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/>
                  </a:rPr>
                  <a:t>在</a:t>
                </a:r>
                <a:r>
                  <a:rPr kumimoji="1" lang="pt-BR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kumimoji="1" lang="pt-BR" altLang="zh-CN" sz="2400" i="1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kumimoji="1" lang="pt-BR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,≤)</a:t>
                </a: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中的最大下界称为</a:t>
                </a:r>
                <a:r>
                  <a:rPr kumimoji="1" lang="en-US" altLang="zh-CN" sz="2400" i="1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Y</a:t>
                </a: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在</a:t>
                </a:r>
                <a:r>
                  <a:rPr kumimoji="1" lang="pt-BR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kumimoji="1" lang="pt-BR" altLang="zh-CN" sz="2400" i="1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kumimoji="1" lang="pt-BR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,≤)</a:t>
                </a: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中的</a:t>
                </a:r>
                <a:r>
                  <a:rPr kumimoji="1" lang="zh-CN" altLang="en-US" sz="2400" kern="1200" dirty="0">
                    <a:solidFill>
                      <a:srgbClr val="FF7C8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下确界</a:t>
                </a:r>
                <a:r>
                  <a:rPr kumimoji="1" lang="en-US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或</a:t>
                </a:r>
                <a:r>
                  <a:rPr kumimoji="1" lang="zh-CN" altLang="en-US" sz="2400" kern="1200" dirty="0">
                    <a:solidFill>
                      <a:srgbClr val="FF7C8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最大下界</a:t>
                </a:r>
                <a:r>
                  <a:rPr kumimoji="1" lang="en-US" altLang="zh-CN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kumimoji="1" lang="zh-CN" altLang="en-US" sz="24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记为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kumimoji="1" lang="en-US" altLang="zh-CN" sz="2400" i="1" kern="1200" dirty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/>
                          </a:rPr>
                        </m:ctrlPr>
                      </m:sPrePr>
                      <m:sub>
                        <m:r>
                          <a:rPr kumimoji="1" lang="en-US" altLang="zh-CN" sz="2400" b="0" i="1" kern="1200" dirty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/>
                          </a:rPr>
                          <m:t>(</m:t>
                        </m:r>
                        <m:r>
                          <a:rPr kumimoji="1" lang="en-US" altLang="zh-CN" sz="2400" b="0" i="1" kern="1200" dirty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/>
                          </a:rPr>
                          <m:t>𝑋</m:t>
                        </m:r>
                        <m:r>
                          <a:rPr kumimoji="1" lang="en-US" altLang="zh-CN" sz="2400" b="0" i="1" kern="1200" dirty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/>
                          </a:rPr>
                          <m:t>,</m:t>
                        </m:r>
                        <m:r>
                          <m:rPr>
                            <m:nor/>
                          </m:rPr>
                          <a:rPr kumimoji="1" lang="pt-BR" altLang="zh-CN" sz="2400" kern="1200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Times New Roman" panose="020206030504050203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a:rPr kumimoji="1" lang="en-US" altLang="zh-CN" sz="2400" b="0" i="1" kern="1200" dirty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  <a:sym typeface="Symbol" panose="05050102010706020507"/>
                          </a:rPr>
                          <m:t>)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𝑖𝑛𝑓</m:t>
                        </m:r>
                      </m:sup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sPre>
                    <m:r>
                      <a:rPr kumimoji="1" lang="en-US" altLang="zh-CN" sz="2400" i="1" kern="1200" dirty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Symbol" panose="05050102010706020507"/>
                      </a:rPr>
                      <m:t>   </m:t>
                    </m:r>
                  </m:oMath>
                </a14:m>
                <a:endParaRPr kumimoji="1" lang="zh-CN" altLang="en-US" sz="2400" kern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33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1055440" y="2168819"/>
                <a:ext cx="10657184" cy="3198376"/>
              </a:xfrm>
              <a:blipFill>
                <a:blip r:embed="rId2"/>
                <a:stretch>
                  <a:fillRect l="-915" b="-190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407368" y="1628800"/>
            <a:ext cx="61514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/>
              <a:t> </a:t>
            </a:r>
            <a:r>
              <a:rPr lang="zh-CN" altLang="en-US" dirty="0"/>
              <a:t>定义</a:t>
            </a:r>
            <a:r>
              <a:rPr lang="en-US" altLang="zh-CN" dirty="0"/>
              <a:t>5.5.7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5087889" y="237240"/>
            <a:ext cx="3384376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5.5.5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uiExpand="1" build="p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839416" y="2173146"/>
            <a:ext cx="7345510" cy="224285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pt-BR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偏序集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({2,3,4,6,8,12}, ︱)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的哈斯图如图所示</a:t>
            </a:r>
            <a:endParaRPr kumimoji="1" lang="en-US" altLang="zh-CN" sz="2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kumimoji="1" lang="zh-CN" altLang="en-US" sz="2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子集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{2,3}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的上界是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6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和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12,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上确界是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6,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它没有下确界。</a:t>
            </a:r>
            <a:endParaRPr kumimoji="1" lang="en-US" altLang="zh-CN" sz="2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子集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{8,12}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的下界是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和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4,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下确界是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4,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它没有上界。</a:t>
            </a:r>
            <a:endParaRPr kumimoji="1" lang="zh-CN" altLang="pt-BR" sz="2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147" name="Picture 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74" b="33556"/>
          <a:stretch>
            <a:fillRect/>
          </a:stretch>
        </p:blipFill>
        <p:spPr bwMode="auto">
          <a:xfrm>
            <a:off x="9192344" y="1772816"/>
            <a:ext cx="1735137" cy="264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1343472" y="4869160"/>
            <a:ext cx="9293289" cy="1134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对于任意偏</a:t>
            </a:r>
            <a:r>
              <a:rPr lang="zh-CN" altLang="pt-BR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序集</a:t>
            </a:r>
            <a:r>
              <a:rPr lang="zh-CN" altLang="en-US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的任意子集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zh-CN" altLang="en-US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其上确界至多只有一个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zh-CN" altLang="en-US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因为其最小性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;</a:t>
            </a:r>
            <a:r>
              <a:rPr lang="zh-CN" altLang="en-US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同理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zh-CN" altLang="en-US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其下确界也至多只有一个。</a:t>
            </a:r>
            <a:endParaRPr lang="zh-CN" altLang="pt-BR" sz="2400" b="0" dirty="0">
              <a:solidFill>
                <a:srgbClr val="FF7C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5360" y="1628800"/>
            <a:ext cx="15841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5.5.6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32FB3C8-903D-4955-83A0-19C5430A0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7889" y="237240"/>
            <a:ext cx="3384376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5.5.5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127448" y="2708920"/>
            <a:ext cx="9721080" cy="58086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如果一个偏序集的每对元素都有上确界和下确界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则称该偏序集为格。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95400" y="1916832"/>
            <a:ext cx="6094268" cy="326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>
                <a:sym typeface="Wingdings" panose="05000000000000000000" pitchFamily="2" charset="2"/>
              </a:rPr>
              <a:t>定义   格</a:t>
            </a:r>
            <a:endParaRPr lang="en-US" altLang="zh-CN" dirty="0">
              <a:sym typeface="Wingdings" panose="05000000000000000000" pitchFamily="2" charset="2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237240"/>
            <a:ext cx="3384376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5.5.6 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2" grpId="0" build="p"/>
      <p:bldP spid="6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998689" y="2152020"/>
            <a:ext cx="7344816" cy="113486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偏序集（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{2,3,4,6,8,12},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︱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）的哈斯图如右图所示。</a:t>
            </a:r>
            <a:endParaRPr kumimoji="1" lang="en-US" altLang="zh-CN" sz="24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它不是格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, 2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和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3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没下界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更没有下确界。</a:t>
            </a:r>
          </a:p>
        </p:txBody>
      </p:sp>
      <p:pic>
        <p:nvPicPr>
          <p:cNvPr id="7171" name="Picture 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74" b="33556"/>
          <a:stretch>
            <a:fillRect/>
          </a:stretch>
        </p:blipFill>
        <p:spPr bwMode="auto">
          <a:xfrm>
            <a:off x="8760296" y="1809601"/>
            <a:ext cx="1714500" cy="261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911424" y="4176472"/>
            <a:ext cx="7272808" cy="1688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0" indent="0" eaLnBrk="0" hangingPunc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b="0" dirty="0">
                <a:sym typeface="+mn-ea"/>
              </a:rPr>
              <a:t>偏序集</a:t>
            </a:r>
            <a:r>
              <a:rPr lang="en-US" altLang="zh-CN" b="0" dirty="0">
                <a:sym typeface="+mn-ea"/>
              </a:rPr>
              <a:t>(Z</a:t>
            </a:r>
            <a:r>
              <a:rPr lang="en-US" altLang="zh-CN" b="0" baseline="-25000" dirty="0">
                <a:sym typeface="+mn-ea"/>
              </a:rPr>
              <a:t>+</a:t>
            </a:r>
            <a:r>
              <a:rPr lang="en-US" altLang="zh-CN" b="0" dirty="0">
                <a:sym typeface="+mn-ea"/>
              </a:rPr>
              <a:t>, ︱)</a:t>
            </a:r>
            <a:r>
              <a:rPr lang="zh-CN" altLang="en-US" b="0" dirty="0">
                <a:sym typeface="+mn-ea"/>
              </a:rPr>
              <a:t>是格</a:t>
            </a:r>
            <a:r>
              <a:rPr lang="en-US" altLang="zh-CN" b="0" dirty="0">
                <a:sym typeface="+mn-ea"/>
              </a:rPr>
              <a:t>;</a:t>
            </a:r>
            <a:endParaRPr lang="en-US" altLang="zh-CN" b="0" dirty="0"/>
          </a:p>
          <a:p>
            <a:r>
              <a:rPr lang="zh-CN" altLang="en-US" b="0" dirty="0">
                <a:sym typeface="+mn-ea"/>
              </a:rPr>
              <a:t>任意两个正整数关于</a:t>
            </a:r>
            <a:r>
              <a:rPr lang="en-US" altLang="zh-CN" b="0" dirty="0">
                <a:sym typeface="+mn-ea"/>
              </a:rPr>
              <a:t>︱</a:t>
            </a:r>
            <a:r>
              <a:rPr lang="zh-CN" altLang="en-US" b="0" dirty="0">
                <a:sym typeface="+mn-ea"/>
              </a:rPr>
              <a:t>都有上确界和下确界</a:t>
            </a:r>
            <a:r>
              <a:rPr lang="en-US" altLang="zh-CN" b="0" dirty="0">
                <a:sym typeface="+mn-ea"/>
              </a:rPr>
              <a:t>, </a:t>
            </a:r>
            <a:r>
              <a:rPr lang="zh-CN" altLang="en-US" b="0" dirty="0">
                <a:sym typeface="+mn-ea"/>
              </a:rPr>
              <a:t>分别为它们的最小公倍数和最大公约数。</a:t>
            </a:r>
            <a:endParaRPr lang="zh-CN" altLang="pt-BR" b="0" dirty="0"/>
          </a:p>
        </p:txBody>
      </p:sp>
      <p:sp>
        <p:nvSpPr>
          <p:cNvPr id="3" name="文本框 2"/>
          <p:cNvSpPr txBox="1"/>
          <p:nvPr/>
        </p:nvSpPr>
        <p:spPr>
          <a:xfrm>
            <a:off x="335360" y="1628800"/>
            <a:ext cx="19442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5.5.7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41318" y="3673927"/>
            <a:ext cx="17222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5.5.8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87889" y="237240"/>
            <a:ext cx="3384376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5.5.6 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983432" y="4705981"/>
            <a:ext cx="8642350" cy="11337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是格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其中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是集合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的两个子集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上下确界分别是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endParaRPr kumimoji="1" lang="zh-CN" altLang="en-US" sz="2400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6796" y="2217183"/>
            <a:ext cx="9579684" cy="1688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0" indent="0" eaLnBrk="0" hangingPunc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b="0" dirty="0"/>
              <a:t>全序集</a:t>
            </a:r>
            <a:r>
              <a:rPr lang="en-US" altLang="zh-CN" b="0" dirty="0"/>
              <a:t>(</a:t>
            </a:r>
            <a:r>
              <a:rPr lang="en-US" altLang="zh-CN" b="0" i="1" dirty="0"/>
              <a:t>N</a:t>
            </a:r>
            <a:r>
              <a:rPr lang="en-US" altLang="zh-CN" b="0" dirty="0"/>
              <a:t>, </a:t>
            </a:r>
            <a:r>
              <a:rPr lang="zh-CN" altLang="zh-CN" b="0" dirty="0"/>
              <a:t>≤</a:t>
            </a:r>
            <a:r>
              <a:rPr lang="en-US" altLang="zh-CN" b="0" dirty="0"/>
              <a:t>)</a:t>
            </a:r>
            <a:r>
              <a:rPr lang="zh-CN" altLang="en-US" b="0" dirty="0"/>
              <a:t>是格 </a:t>
            </a:r>
            <a:endParaRPr lang="en-US" altLang="zh-CN" b="0" dirty="0"/>
          </a:p>
          <a:p>
            <a:r>
              <a:rPr lang="zh-CN" altLang="en-US" b="0" dirty="0"/>
              <a:t>任意两个自然数关于</a:t>
            </a:r>
            <a:r>
              <a:rPr lang="zh-CN" altLang="zh-CN" b="0" dirty="0"/>
              <a:t>≤</a:t>
            </a:r>
            <a:r>
              <a:rPr lang="zh-CN" altLang="en-US" b="0" dirty="0"/>
              <a:t>都有上确界和下确界</a:t>
            </a:r>
            <a:r>
              <a:rPr lang="en-US" altLang="zh-CN" b="0" dirty="0"/>
              <a:t>, </a:t>
            </a:r>
            <a:r>
              <a:rPr lang="zh-CN" altLang="en-US" b="0" dirty="0"/>
              <a:t>分别为它们之中的较大者和它们之中的较小者</a:t>
            </a:r>
            <a:endParaRPr lang="en-US" altLang="zh-CN" b="0" dirty="0"/>
          </a:p>
        </p:txBody>
      </p:sp>
      <p:sp>
        <p:nvSpPr>
          <p:cNvPr id="7" name="文本框 6"/>
          <p:cNvSpPr txBox="1"/>
          <p:nvPr/>
        </p:nvSpPr>
        <p:spPr>
          <a:xfrm rot="20488091">
            <a:off x="8828476" y="3415383"/>
            <a:ext cx="3024336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0" indent="0" eaLnBrk="0" hangingPunc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b="0" dirty="0">
                <a:solidFill>
                  <a:srgbClr val="7030A0"/>
                </a:solidFill>
                <a:sym typeface="Symbol" panose="05050102010706020507" pitchFamily="18" charset="2"/>
              </a:rPr>
              <a:t>任</a:t>
            </a:r>
            <a:r>
              <a:rPr lang="zh-CN" altLang="en-US" b="0" dirty="0">
                <a:solidFill>
                  <a:srgbClr val="7030A0"/>
                </a:solidFill>
              </a:rPr>
              <a:t>意全序集都是格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35360" y="1628800"/>
            <a:ext cx="17281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5.5.9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44232" y="4344023"/>
            <a:ext cx="1440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5.5.10</a:t>
            </a:r>
            <a:r>
              <a:rPr lang="zh-CN" altLang="en-US" sz="2800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87889" y="237240"/>
            <a:ext cx="3384376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5.5.6 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0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0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0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30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0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0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 txBox="1">
            <a:spLocks noChangeArrowheads="1"/>
          </p:cNvSpPr>
          <p:nvPr/>
        </p:nvSpPr>
        <p:spPr bwMode="auto">
          <a:xfrm>
            <a:off x="4871864" y="116632"/>
            <a:ext cx="48245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作业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106: </a:t>
            </a:r>
            <a:r>
              <a:rPr lang="en-US" altLang="zh-CN" sz="28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35(2)(4), 37(1)(3), 40</a:t>
            </a:r>
            <a:endParaRPr lang="zh-CN" altLang="en-US" sz="2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9376" y="1607195"/>
            <a:ext cx="11449272" cy="44107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>
              <a:lnSpc>
                <a:spcPct val="150000"/>
              </a:lnSpc>
              <a:buNone/>
              <a:defRPr sz="2400" b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noProof="1"/>
              <a:t>1. </a:t>
            </a:r>
            <a:r>
              <a:rPr lang="zh-CN" altLang="pt-BR" noProof="1"/>
              <a:t>下列集合关于整除关系</a:t>
            </a:r>
            <a:r>
              <a:rPr lang="zh-CN" altLang="pt-BR" noProof="1">
                <a:sym typeface="Symbol" panose="05050102010706020507" pitchFamily="18" charset="2"/>
              </a:rPr>
              <a:t></a:t>
            </a:r>
            <a:r>
              <a:rPr lang="zh-CN" altLang="pt-BR" noProof="1"/>
              <a:t>构成偏序集。请分别画出它们的哈斯图</a:t>
            </a:r>
            <a:r>
              <a:rPr lang="en-US" altLang="zh-CN" noProof="1"/>
              <a:t>, </a:t>
            </a:r>
            <a:r>
              <a:rPr lang="zh-CN" altLang="pt-BR" noProof="1"/>
              <a:t>判断它们是否是全序集，给出它们的极大元、极小元、最大元、最小元。 </a:t>
            </a:r>
            <a:endParaRPr lang="en-US" altLang="zh-CN" noProof="1"/>
          </a:p>
          <a:p>
            <a:pPr lvl="1">
              <a:lnSpc>
                <a:spcPct val="130000"/>
              </a:lnSpc>
            </a:pPr>
            <a:r>
              <a:rPr lang="en-US" altLang="zh-CN" sz="2000" noProof="1">
                <a:solidFill>
                  <a:schemeClr val="bg1"/>
                </a:solidFill>
                <a:cs typeface="Times New Roman" panose="02020603050405020304" pitchFamily="18" charset="0"/>
              </a:rPr>
              <a:t>(</a:t>
            </a:r>
            <a:r>
              <a:rPr lang="pt-BR" altLang="zh-CN" sz="2000" noProof="1">
                <a:solidFill>
                  <a:schemeClr val="bg1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000" noProof="1">
                <a:solidFill>
                  <a:schemeClr val="bg1"/>
                </a:solidFill>
                <a:cs typeface="Times New Roman" panose="02020603050405020304" pitchFamily="18" charset="0"/>
              </a:rPr>
              <a:t>)</a:t>
            </a:r>
            <a:r>
              <a:rPr lang="pt-BR" altLang="zh-CN" sz="2000" noProof="1">
                <a:solidFill>
                  <a:schemeClr val="bg1"/>
                </a:solidFill>
                <a:cs typeface="Times New Roman" panose="02020603050405020304" pitchFamily="18" charset="0"/>
              </a:rPr>
              <a:t>{2,4,8,16}</a:t>
            </a:r>
            <a:r>
              <a:rPr lang="en-US" altLang="zh-CN" sz="2000" noProof="1">
                <a:solidFill>
                  <a:schemeClr val="bg1"/>
                </a:solidFill>
                <a:cs typeface="Times New Roman" panose="02020603050405020304" pitchFamily="18" charset="0"/>
              </a:rPr>
              <a:t>;</a:t>
            </a:r>
            <a:endParaRPr lang="zh-CN" altLang="pt-BR" sz="2000" noProof="1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sz="2000" noProof="1">
                <a:solidFill>
                  <a:schemeClr val="bg1"/>
                </a:solidFill>
                <a:cs typeface="Times New Roman" panose="02020603050405020304" pitchFamily="18" charset="0"/>
              </a:rPr>
              <a:t>(</a:t>
            </a:r>
            <a:r>
              <a:rPr lang="pt-BR" altLang="zh-CN" sz="2000" noProof="1">
                <a:solidFill>
                  <a:schemeClr val="bg1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000" noProof="1">
                <a:solidFill>
                  <a:schemeClr val="bg1"/>
                </a:solidFill>
                <a:cs typeface="Times New Roman" panose="02020603050405020304" pitchFamily="18" charset="0"/>
              </a:rPr>
              <a:t>)</a:t>
            </a:r>
            <a:r>
              <a:rPr lang="pt-BR" altLang="zh-CN" sz="2000" noProof="1">
                <a:solidFill>
                  <a:schemeClr val="bg1"/>
                </a:solidFill>
                <a:cs typeface="Times New Roman" panose="02020603050405020304" pitchFamily="18" charset="0"/>
              </a:rPr>
              <a:t>{2,3,4,5,9,10,80}</a:t>
            </a:r>
            <a:r>
              <a:rPr lang="zh-CN" altLang="pt-BR" sz="2000" noProof="1">
                <a:solidFill>
                  <a:schemeClr val="bg1"/>
                </a:solidFill>
                <a:cs typeface="Times New Roman" panose="02020603050405020304" pitchFamily="18" charset="0"/>
              </a:rPr>
              <a:t>。 </a:t>
            </a:r>
            <a:endParaRPr lang="en-US" altLang="zh-CN" sz="2000" noProof="1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noProof="1"/>
              <a:t>2. </a:t>
            </a:r>
            <a:r>
              <a:rPr lang="zh-CN" altLang="en-US" noProof="1"/>
              <a:t>证明：</a:t>
            </a:r>
          </a:p>
          <a:p>
            <a:pPr lvl="1">
              <a:lnSpc>
                <a:spcPct val="130000"/>
              </a:lnSpc>
            </a:pPr>
            <a:r>
              <a:rPr lang="en-US" altLang="zh-CN" sz="20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pt-BR" altLang="zh-CN" sz="20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pt-BR" sz="20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偏序集的最小元也必定是其极小元</a:t>
            </a:r>
            <a:r>
              <a:rPr lang="en-US" altLang="zh-CN" sz="20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pt-BR" sz="20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>
              <a:lnSpc>
                <a:spcPct val="130000"/>
              </a:lnSpc>
            </a:pPr>
            <a:r>
              <a:rPr lang="en-US" altLang="zh-CN" sz="20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pt-BR" altLang="zh-CN" sz="20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任意</a:t>
            </a:r>
            <a:r>
              <a:rPr lang="zh-CN" altLang="pt-BR" sz="20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全序集至多只有一个极小元</a:t>
            </a:r>
            <a:r>
              <a:rPr lang="en-US" altLang="zh-CN" sz="20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pt-BR" sz="2000" b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即全序集的极小元是唯一的。</a:t>
            </a:r>
          </a:p>
          <a:p>
            <a:pPr>
              <a:lnSpc>
                <a:spcPct val="130000"/>
              </a:lnSpc>
            </a:pPr>
            <a:r>
              <a:rPr lang="zh-CN" altLang="pt-BR" noProof="1"/>
              <a:t>3. 设</a:t>
            </a:r>
            <a:r>
              <a:rPr lang="pt-BR" altLang="zh-CN" i="1" noProof="1"/>
              <a:t>R</a:t>
            </a:r>
            <a:r>
              <a:rPr lang="zh-CN" altLang="pt-BR" noProof="1"/>
              <a:t>是</a:t>
            </a:r>
            <a:r>
              <a:rPr lang="pt-BR" altLang="zh-CN" i="1" noProof="1"/>
              <a:t>X</a:t>
            </a:r>
            <a:r>
              <a:rPr lang="zh-CN" altLang="pt-BR" noProof="1"/>
              <a:t>上自反、传递的关系</a:t>
            </a:r>
            <a:r>
              <a:rPr lang="en-US" altLang="zh-CN" noProof="1"/>
              <a:t>, </a:t>
            </a:r>
            <a:r>
              <a:rPr lang="pt-BR" altLang="zh-CN" i="1" noProof="1"/>
              <a:t>S</a:t>
            </a:r>
            <a:r>
              <a:rPr lang="pt-BR" altLang="zh-CN" noProof="1"/>
              <a:t>=</a:t>
            </a:r>
            <a:r>
              <a:rPr lang="pt-BR" altLang="zh-CN" i="1" noProof="1"/>
              <a:t>R</a:t>
            </a:r>
            <a:r>
              <a:rPr lang="pt-BR" altLang="zh-CN" noProof="1"/>
              <a:t>∩</a:t>
            </a:r>
            <a:r>
              <a:rPr lang="pt-BR" altLang="zh-CN" i="1" noProof="1"/>
              <a:t>R</a:t>
            </a:r>
            <a:r>
              <a:rPr lang="pt-BR" altLang="zh-CN" baseline="30000" noProof="1"/>
              <a:t>-1</a:t>
            </a:r>
            <a:r>
              <a:rPr lang="zh-CN" altLang="pt-BR" noProof="1"/>
              <a:t>。</a:t>
            </a:r>
            <a:endParaRPr lang="zh-CN" altLang="en-US" noProof="1"/>
          </a:p>
          <a:p>
            <a:pPr lvl="1">
              <a:lnSpc>
                <a:spcPct val="130000"/>
              </a:lnSpc>
            </a:pPr>
            <a:r>
              <a:rPr lang="en-US" altLang="zh-CN" sz="2000" noProof="1">
                <a:solidFill>
                  <a:schemeClr val="bg1"/>
                </a:solidFill>
              </a:rPr>
              <a:t>(</a:t>
            </a:r>
            <a:r>
              <a:rPr lang="pt-BR" altLang="zh-CN" sz="2000" noProof="1">
                <a:solidFill>
                  <a:schemeClr val="bg1"/>
                </a:solidFill>
              </a:rPr>
              <a:t>1</a:t>
            </a:r>
            <a:r>
              <a:rPr lang="en-US" altLang="zh-CN" sz="2000" noProof="1">
                <a:solidFill>
                  <a:schemeClr val="bg1"/>
                </a:solidFill>
              </a:rPr>
              <a:t>)</a:t>
            </a:r>
            <a:r>
              <a:rPr lang="zh-CN" altLang="en-US" sz="2000" noProof="1">
                <a:solidFill>
                  <a:schemeClr val="bg1"/>
                </a:solidFill>
              </a:rPr>
              <a:t>证明</a:t>
            </a:r>
            <a:r>
              <a:rPr lang="pt-BR" altLang="zh-CN" sz="2000" i="1" noProof="1">
                <a:solidFill>
                  <a:schemeClr val="bg1"/>
                </a:solidFill>
              </a:rPr>
              <a:t>S</a:t>
            </a:r>
            <a:r>
              <a:rPr lang="zh-CN" altLang="pt-BR" sz="2000" noProof="1">
                <a:solidFill>
                  <a:schemeClr val="bg1"/>
                </a:solidFill>
              </a:rPr>
              <a:t>是</a:t>
            </a:r>
            <a:r>
              <a:rPr lang="pt-BR" altLang="zh-CN" sz="2000" i="1" noProof="1">
                <a:solidFill>
                  <a:schemeClr val="bg1"/>
                </a:solidFill>
              </a:rPr>
              <a:t>X</a:t>
            </a:r>
            <a:r>
              <a:rPr lang="zh-CN" altLang="pt-BR" sz="2000" noProof="1">
                <a:solidFill>
                  <a:schemeClr val="bg1"/>
                </a:solidFill>
              </a:rPr>
              <a:t>上的等价关系。 </a:t>
            </a:r>
          </a:p>
          <a:p>
            <a:pPr lvl="1">
              <a:lnSpc>
                <a:spcPct val="130000"/>
              </a:lnSpc>
            </a:pPr>
            <a:r>
              <a:rPr lang="en-US" altLang="zh-CN" sz="2000" noProof="1">
                <a:solidFill>
                  <a:schemeClr val="bg1"/>
                </a:solidFill>
              </a:rPr>
              <a:t>(</a:t>
            </a:r>
            <a:r>
              <a:rPr lang="pt-BR" altLang="zh-CN" sz="2000" noProof="1">
                <a:solidFill>
                  <a:schemeClr val="bg1"/>
                </a:solidFill>
              </a:rPr>
              <a:t>2</a:t>
            </a:r>
            <a:r>
              <a:rPr lang="en-US" altLang="zh-CN" sz="2000" noProof="1">
                <a:solidFill>
                  <a:schemeClr val="bg1"/>
                </a:solidFill>
              </a:rPr>
              <a:t>)</a:t>
            </a:r>
            <a:r>
              <a:rPr lang="zh-CN" altLang="pt-BR" sz="2000" noProof="1">
                <a:solidFill>
                  <a:schemeClr val="bg1"/>
                </a:solidFill>
              </a:rPr>
              <a:t>在</a:t>
            </a:r>
            <a:r>
              <a:rPr lang="pt-BR" altLang="zh-CN" sz="2000" i="1" noProof="1">
                <a:solidFill>
                  <a:schemeClr val="bg1"/>
                </a:solidFill>
              </a:rPr>
              <a:t>X</a:t>
            </a:r>
            <a:r>
              <a:rPr lang="pt-BR" altLang="zh-CN" sz="2000" noProof="1">
                <a:solidFill>
                  <a:schemeClr val="bg1"/>
                </a:solidFill>
              </a:rPr>
              <a:t>/</a:t>
            </a:r>
            <a:r>
              <a:rPr lang="pt-BR" altLang="zh-CN" sz="2000" i="1" noProof="1">
                <a:solidFill>
                  <a:schemeClr val="bg1"/>
                </a:solidFill>
              </a:rPr>
              <a:t>S</a:t>
            </a:r>
            <a:r>
              <a:rPr lang="zh-CN" altLang="pt-BR" sz="2000" noProof="1">
                <a:solidFill>
                  <a:schemeClr val="bg1"/>
                </a:solidFill>
              </a:rPr>
              <a:t>上定义关系</a:t>
            </a:r>
            <a:r>
              <a:rPr lang="pt-BR" altLang="zh-CN" sz="2000" i="1" noProof="1">
                <a:solidFill>
                  <a:schemeClr val="bg1"/>
                </a:solidFill>
              </a:rPr>
              <a:t>T</a:t>
            </a:r>
            <a:r>
              <a:rPr lang="zh-CN" altLang="pt-BR" sz="2000" noProof="1">
                <a:solidFill>
                  <a:schemeClr val="bg1"/>
                </a:solidFill>
              </a:rPr>
              <a:t>：</a:t>
            </a:r>
            <a:r>
              <a:rPr lang="pt-BR" altLang="zh-CN" sz="2000" noProof="1">
                <a:solidFill>
                  <a:schemeClr val="bg1"/>
                </a:solidFill>
              </a:rPr>
              <a:t>([</a:t>
            </a:r>
            <a:r>
              <a:rPr lang="pt-BR" altLang="zh-CN" sz="2000" i="1" noProof="1">
                <a:solidFill>
                  <a:schemeClr val="bg1"/>
                </a:solidFill>
              </a:rPr>
              <a:t>x</a:t>
            </a:r>
            <a:r>
              <a:rPr lang="pt-BR" altLang="zh-CN" sz="2000" noProof="1">
                <a:solidFill>
                  <a:schemeClr val="bg1"/>
                </a:solidFill>
              </a:rPr>
              <a:t>]</a:t>
            </a:r>
            <a:r>
              <a:rPr lang="pt-BR" altLang="zh-CN" sz="2000" i="1" baseline="-25000" noProof="1">
                <a:solidFill>
                  <a:schemeClr val="bg1"/>
                </a:solidFill>
              </a:rPr>
              <a:t>S</a:t>
            </a:r>
            <a:r>
              <a:rPr lang="pt-BR" altLang="zh-CN" sz="2000" noProof="1">
                <a:solidFill>
                  <a:schemeClr val="bg1"/>
                </a:solidFill>
              </a:rPr>
              <a:t>,</a:t>
            </a:r>
            <a:r>
              <a:rPr lang="pt-BR" altLang="zh-CN" sz="2000" noProof="1">
                <a:solidFill>
                  <a:schemeClr val="bg1"/>
                </a:solidFill>
                <a:uFillTx/>
              </a:rPr>
              <a:t>[</a:t>
            </a:r>
            <a:r>
              <a:rPr lang="pt-BR" altLang="zh-CN" sz="2000" i="1" noProof="1">
                <a:solidFill>
                  <a:schemeClr val="bg1"/>
                </a:solidFill>
              </a:rPr>
              <a:t>y</a:t>
            </a:r>
            <a:r>
              <a:rPr lang="pt-BR" altLang="zh-CN" sz="2000" noProof="1">
                <a:solidFill>
                  <a:schemeClr val="bg1"/>
                </a:solidFill>
                <a:latin typeface="Times New Roman Bold" panose="02020503050405090304" charset="0"/>
                <a:cs typeface="Times New Roman Bold" panose="02020503050405090304" charset="0"/>
              </a:rPr>
              <a:t>]</a:t>
            </a:r>
            <a:r>
              <a:rPr lang="pt-BR" altLang="zh-CN" i="1" baseline="-25000" noProof="1">
                <a:solidFill>
                  <a:schemeClr val="bg1"/>
                </a:solidFill>
              </a:rPr>
              <a:t>S</a:t>
            </a:r>
            <a:r>
              <a:rPr lang="pt-BR" altLang="zh-CN" sz="2000" noProof="1">
                <a:solidFill>
                  <a:schemeClr val="bg1"/>
                </a:solidFill>
              </a:rPr>
              <a:t>)</a:t>
            </a:r>
            <a:r>
              <a:rPr lang="pt-BR" altLang="zh-CN" sz="2000" noProof="1">
                <a:solidFill>
                  <a:schemeClr val="bg1"/>
                </a:solidFill>
                <a:sym typeface="Symbol" panose="05050102010706020507" pitchFamily="18" charset="2"/>
              </a:rPr>
              <a:t></a:t>
            </a:r>
            <a:r>
              <a:rPr lang="pt-BR" altLang="zh-CN" sz="2000" i="1" noProof="1">
                <a:solidFill>
                  <a:schemeClr val="bg1"/>
                </a:solidFill>
              </a:rPr>
              <a:t>T</a:t>
            </a:r>
            <a:r>
              <a:rPr lang="zh-CN" altLang="pt-BR" sz="2000" noProof="1">
                <a:solidFill>
                  <a:schemeClr val="bg1"/>
                </a:solidFill>
              </a:rPr>
              <a:t>当且仅当</a:t>
            </a:r>
            <a:r>
              <a:rPr lang="pt-BR" altLang="zh-CN" sz="1800" noProof="1">
                <a:solidFill>
                  <a:schemeClr val="bg1"/>
                </a:solidFill>
              </a:rPr>
              <a:t>(</a:t>
            </a:r>
            <a:r>
              <a:rPr lang="pt-BR" altLang="zh-CN" sz="1800" i="1" noProof="1">
                <a:solidFill>
                  <a:schemeClr val="bg1"/>
                </a:solidFill>
              </a:rPr>
              <a:t>x</a:t>
            </a:r>
            <a:r>
              <a:rPr lang="pt-BR" altLang="zh-CN" sz="1800" noProof="1">
                <a:solidFill>
                  <a:schemeClr val="bg1"/>
                </a:solidFill>
              </a:rPr>
              <a:t>,</a:t>
            </a:r>
            <a:r>
              <a:rPr lang="pt-BR" altLang="zh-CN" sz="1800" i="1" noProof="1">
                <a:solidFill>
                  <a:schemeClr val="bg1"/>
                </a:solidFill>
              </a:rPr>
              <a:t>y</a:t>
            </a:r>
            <a:r>
              <a:rPr lang="pt-BR" altLang="zh-CN" sz="1800" noProof="1">
                <a:solidFill>
                  <a:schemeClr val="bg1"/>
                </a:solidFill>
              </a:rPr>
              <a:t>)</a:t>
            </a:r>
            <a:r>
              <a:rPr lang="pt-BR" altLang="zh-CN" sz="1800" noProof="1">
                <a:solidFill>
                  <a:schemeClr val="bg1"/>
                </a:solidFill>
                <a:sym typeface="Symbol" panose="05050102010706020507" pitchFamily="18" charset="2"/>
              </a:rPr>
              <a:t></a:t>
            </a:r>
            <a:r>
              <a:rPr lang="pt-BR" altLang="zh-CN" sz="1800" i="1" noProof="1">
                <a:solidFill>
                  <a:schemeClr val="bg1"/>
                </a:solidFill>
              </a:rPr>
              <a:t>R</a:t>
            </a:r>
            <a:r>
              <a:rPr lang="zh-CN" altLang="pt-BR" noProof="1">
                <a:solidFill>
                  <a:schemeClr val="bg1"/>
                </a:solidFill>
              </a:rPr>
              <a:t>。</a:t>
            </a:r>
            <a:r>
              <a:rPr lang="zh-CN" altLang="pt-BR" sz="2000" noProof="1">
                <a:solidFill>
                  <a:schemeClr val="bg1"/>
                </a:solidFill>
              </a:rPr>
              <a:t>证明</a:t>
            </a:r>
            <a:r>
              <a:rPr lang="zh-CN" altLang="pt-BR" sz="2000" i="1" noProof="1">
                <a:solidFill>
                  <a:schemeClr val="bg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T</a:t>
            </a:r>
            <a:r>
              <a:rPr lang="zh-CN" altLang="pt-BR" sz="2000" noProof="1">
                <a:solidFill>
                  <a:schemeClr val="bg1"/>
                </a:solidFill>
              </a:rPr>
              <a:t>是</a:t>
            </a:r>
            <a:r>
              <a:rPr lang="zh-CN" altLang="pt-BR" sz="2000" i="1" noProof="1">
                <a:solidFill>
                  <a:schemeClr val="bg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X/S</a:t>
            </a:r>
            <a:r>
              <a:rPr lang="zh-CN" altLang="pt-BR" sz="2000" noProof="1">
                <a:solidFill>
                  <a:schemeClr val="bg1"/>
                </a:solidFill>
              </a:rPr>
              <a:t>上的偏序关系。</a:t>
            </a:r>
            <a:endParaRPr lang="zh-CN" altLang="en-US" noProof="1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UxMDZlMWMxNThhZTg1OTc1ODg1MTk0MzVmZTYzZ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8.6|1.5|3.5|3.1|3.7|5.1|2.8|4.3|3.9|3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1834</Words>
  <Application>Microsoft Office PowerPoint</Application>
  <PresentationFormat>宽屏</PresentationFormat>
  <Paragraphs>161</Paragraphs>
  <Slides>22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5" baseType="lpstr">
      <vt:lpstr>楷体_GB2312</vt:lpstr>
      <vt:lpstr>宋体</vt:lpstr>
      <vt:lpstr>微软雅黑</vt:lpstr>
      <vt:lpstr>Arial</vt:lpstr>
      <vt:lpstr>Cambria Math</vt:lpstr>
      <vt:lpstr>Garamond</vt:lpstr>
      <vt:lpstr>Symbol</vt:lpstr>
      <vt:lpstr>Tahoma</vt:lpstr>
      <vt:lpstr>Times New Roman</vt:lpstr>
      <vt:lpstr>Times New Roman Bold</vt:lpstr>
      <vt:lpstr>Times New Roman Bold Italic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番茄花园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番茄花园</dc:creator>
  <cp:lastModifiedBy>86186</cp:lastModifiedBy>
  <cp:revision>843</cp:revision>
  <dcterms:created xsi:type="dcterms:W3CDTF">2021-10-31T14:44:00Z</dcterms:created>
  <dcterms:modified xsi:type="dcterms:W3CDTF">2026-04-27T01:04:10Z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2052-12.1.0.16388</vt:lpwstr>
  </property>
  <property fmtid="{D5CDD505-2E9C-101B-9397-08002B2CF9AE}" pid="3" name="ICV">
    <vt:lpwstr>1650AECF420C4CF899D96113A00A1406_13</vt:lpwstr>
  </property>
</Properties>
</file>