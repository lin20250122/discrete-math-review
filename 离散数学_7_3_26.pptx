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454" r:id="rId2"/>
    <p:sldId id="377" r:id="rId3"/>
    <p:sldId id="338" r:id="rId4"/>
    <p:sldId id="258" r:id="rId5"/>
    <p:sldId id="441" r:id="rId6"/>
    <p:sldId id="442" r:id="rId7"/>
    <p:sldId id="443" r:id="rId8"/>
    <p:sldId id="444" r:id="rId9"/>
    <p:sldId id="445" r:id="rId10"/>
    <p:sldId id="453" r:id="rId11"/>
    <p:sldId id="446" r:id="rId12"/>
    <p:sldId id="447" r:id="rId13"/>
    <p:sldId id="436" r:id="rId14"/>
    <p:sldId id="448" r:id="rId15"/>
    <p:sldId id="449" r:id="rId16"/>
    <p:sldId id="450" r:id="rId17"/>
    <p:sldId id="452" r:id="rId18"/>
    <p:sldId id="451" r:id="rId19"/>
    <p:sldId id="399" r:id="rId20"/>
  </p:sldIdLst>
  <p:sldSz cx="12192000" cy="6858000"/>
  <p:notesSz cx="6858000" cy="9144000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CCFFCC"/>
    <a:srgbClr val="FFCC99"/>
    <a:srgbClr val="FFCCFF"/>
    <a:srgbClr val="FF7C80"/>
    <a:srgbClr val="1A4589"/>
    <a:srgbClr val="FFFF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89388" autoAdjust="0"/>
  </p:normalViewPr>
  <p:slideViewPr>
    <p:cSldViewPr showGuides="1">
      <p:cViewPr varScale="1">
        <p:scale>
          <a:sx n="77" d="100"/>
          <a:sy n="77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-2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67966" y="11309"/>
            <a:ext cx="19782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图论基础</a:t>
            </a:r>
            <a:endParaRPr lang="en-US" altLang="zh-CN" sz="18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第七章 图论基础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293096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983432" y="291869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13074" y="3547361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理解图的连通性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32446" y="472194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991544" y="5373216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矩阵运算和连通性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2155" y="1678803"/>
            <a:ext cx="10967689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连通性问题：</a:t>
            </a:r>
            <a:r>
              <a:rPr lang="zh-CN" altLang="en-US" sz="28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从一个顶点沿着边走到另一个顶点的问题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767582" y="1948264"/>
            <a:ext cx="26326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通路和回路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832075" y="3748269"/>
            <a:ext cx="24166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图的连通性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160564" y="1654911"/>
            <a:ext cx="239687" cy="121920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583832" y="1574359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通路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路径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回路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257901" y="3752586"/>
            <a:ext cx="194469" cy="565942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83832" y="3576135"/>
            <a:ext cx="451385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连通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分类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583832" y="2051701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简单通路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基本通路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583832" y="2529042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简单回路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基本回路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911425" y="4979036"/>
            <a:ext cx="34110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7.3.3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矩阵运算和连通性</a:t>
            </a:r>
          </a:p>
        </p:txBody>
      </p:sp>
      <p:sp>
        <p:nvSpPr>
          <p:cNvPr id="13" name="AutoShape 8"/>
          <p:cNvSpPr/>
          <p:nvPr/>
        </p:nvSpPr>
        <p:spPr bwMode="auto">
          <a:xfrm>
            <a:off x="4197094" y="4962230"/>
            <a:ext cx="250787" cy="738208"/>
          </a:xfrm>
          <a:prstGeom prst="leftBrace">
            <a:avLst>
              <a:gd name="adj1" fmla="val 32163"/>
              <a:gd name="adj2" fmla="val 49149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447881" y="4814281"/>
            <a:ext cx="4555040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邻接矩阵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通路的条数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可达矩阵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强连通的充要条件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5" grpId="0"/>
      <p:bldP spid="16" grpId="0"/>
      <p:bldP spid="11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9" y="1630266"/>
            <a:ext cx="8514356" cy="300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7.3.1</a:t>
            </a:r>
            <a:r>
              <a:rPr lang="zh-CN" altLang="en-US" sz="2400" dirty="0"/>
              <a:t>  </a:t>
            </a:r>
            <a:r>
              <a:rPr lang="zh-CN" altLang="en-US" dirty="0"/>
              <a:t>通路</a:t>
            </a:r>
            <a:r>
              <a:rPr lang="en-US" altLang="zh-CN" dirty="0"/>
              <a:t>(</a:t>
            </a:r>
            <a:r>
              <a:rPr lang="zh-CN" altLang="en-US" dirty="0"/>
              <a:t>路径</a:t>
            </a:r>
            <a:r>
              <a:rPr lang="en-US" altLang="zh-CN" dirty="0"/>
              <a:t>)</a:t>
            </a:r>
            <a:endParaRPr lang="zh-CN" altLang="en-US" dirty="0"/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G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通路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路径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顶点和边的交替序列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endParaRPr lang="en-US" altLang="zh-CN" sz="2400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通路的长度：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通路中包含的边的数目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endParaRPr lang="en-US" altLang="zh-CN" sz="24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(1)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无向图：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的两个端点</a:t>
            </a: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=1,2,…,</a:t>
            </a:r>
            <a:r>
              <a:rPr lang="en-US" altLang="zh-CN" sz="2400" b="0" i="1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endParaRPr lang="zh-CN" altLang="en-US" sz="2400" b="0" i="1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有向图：</a:t>
            </a:r>
            <a:r>
              <a:rPr lang="en-US" altLang="zh-CN" sz="2400" b="0" i="1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baseline="-250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分别是</a:t>
            </a:r>
            <a:r>
              <a:rPr lang="en-US" altLang="zh-CN" sz="2400" b="0" i="1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的起点和终点</a:t>
            </a: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i=1,2,…,</a:t>
            </a:r>
            <a:r>
              <a:rPr lang="en-US" altLang="zh-CN" sz="2400" b="0" i="1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1119" y="4863600"/>
            <a:ext cx="586043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用顶点的序列表示通路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59496" y="5343195"/>
            <a:ext cx="6093618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在通路中略去所有的边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若不需要区分并图的平行边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如简单图中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通路和回路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9" y="1630266"/>
            <a:ext cx="8514356" cy="156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7.3.2</a:t>
            </a:r>
            <a:r>
              <a:rPr lang="zh-CN" altLang="en-US" sz="2400" dirty="0"/>
              <a:t>  </a:t>
            </a:r>
            <a:r>
              <a:rPr lang="zh-CN" altLang="en-US" dirty="0"/>
              <a:t>通路</a:t>
            </a:r>
            <a:r>
              <a:rPr lang="en-US" altLang="zh-CN" dirty="0"/>
              <a:t>(</a:t>
            </a:r>
            <a:r>
              <a:rPr lang="zh-CN" altLang="en-US" dirty="0"/>
              <a:t>路径</a:t>
            </a:r>
            <a:r>
              <a:rPr lang="en-US" altLang="zh-CN" dirty="0"/>
              <a:t>)</a:t>
            </a:r>
            <a:endParaRPr lang="zh-CN" altLang="en-US" dirty="0"/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简单通路：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无重复边的通路</a:t>
            </a:r>
            <a:endParaRPr lang="en-US" altLang="zh-CN" sz="2400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基本通路：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无重复顶点的通路</a:t>
            </a:r>
            <a:endParaRPr lang="en-US" altLang="zh-CN" sz="2400" b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91944" y="3188934"/>
            <a:ext cx="626469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注：是基本的一定是简单的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反之不然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40016" y="3681132"/>
            <a:ext cx="5616624" cy="148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基本通路不可能是回路</a:t>
            </a:r>
            <a:endParaRPr lang="en-US" altLang="zh-CN" sz="2400" b="0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除起点和终点外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无重复顶点的回路可能不是简单回路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通路和回路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9376" y="3992673"/>
            <a:ext cx="7367089" cy="204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7.3.2</a:t>
            </a:r>
            <a:r>
              <a:rPr lang="zh-CN" altLang="en-US" sz="2400" dirty="0"/>
              <a:t>  </a:t>
            </a:r>
            <a:r>
              <a:rPr lang="zh-CN" altLang="en-US" dirty="0"/>
              <a:t>回路</a:t>
            </a:r>
            <a:endParaRPr lang="en-US" altLang="zh-CN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回路：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起点和终点相同的通路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 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简单回路：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简单通路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回路</a:t>
            </a:r>
            <a:endParaRPr lang="en-US" altLang="zh-CN" sz="2400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基本回路：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简单回路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重复顶点只能是起点和终点</a:t>
            </a:r>
            <a:endParaRPr lang="en-US" altLang="zh-CN" sz="2400" b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通路和回路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3662" y="1484784"/>
            <a:ext cx="3882138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7.3.1  </a:t>
            </a:r>
            <a:r>
              <a:rPr lang="zh-CN" altLang="en-US" dirty="0">
                <a:solidFill>
                  <a:schemeClr val="bg1"/>
                </a:solidFill>
              </a:rPr>
              <a:t>如图所示。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23392" y="4365104"/>
            <a:ext cx="5688632" cy="20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endParaRPr lang="pt-BR" altLang="zh-CN" sz="20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2" name="图片 1413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2182089"/>
            <a:ext cx="3059112" cy="215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6096007" y="2337451"/>
            <a:ext cx="5688632" cy="332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都是从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的通路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是基本通路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因而也是简单通路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是简单通路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但不是基本通路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不是简单通路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因而更不是基本通路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都是回路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是基本回路</a:t>
            </a:r>
            <a:r>
              <a:rPr lang="en-US" altLang="zh-CN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因而也是简单回路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是简单回路</a:t>
            </a:r>
            <a:r>
              <a:rPr lang="en-US" altLang="zh-CN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但不是基本回路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 i="1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200" b="0" baseline="-2500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不是简单回路</a:t>
            </a:r>
            <a:r>
              <a:rPr lang="en-US" altLang="zh-CN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因而更不是基本回路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8" y="1630266"/>
            <a:ext cx="10967489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定理</a:t>
            </a:r>
            <a:r>
              <a:rPr lang="en-US" altLang="zh-CN" dirty="0"/>
              <a:t>7.3.1</a:t>
            </a:r>
            <a:r>
              <a:rPr lang="zh-CN" altLang="en-US" sz="2400" dirty="0"/>
              <a:t> 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zh-CN" altLang="en-US" sz="2400" noProof="1">
                <a:solidFill>
                  <a:schemeClr val="bg1"/>
                </a:solidFill>
              </a:rPr>
              <a:t>阶图中</a:t>
            </a:r>
            <a:r>
              <a:rPr lang="en-US" altLang="zh-CN" sz="2400" noProof="1">
                <a:solidFill>
                  <a:schemeClr val="bg1"/>
                </a:solidFill>
              </a:rPr>
              <a:t>, </a:t>
            </a:r>
            <a:r>
              <a:rPr lang="zh-CN" altLang="en-US" sz="2400" noProof="1">
                <a:solidFill>
                  <a:schemeClr val="bg1"/>
                </a:solidFill>
              </a:rPr>
              <a:t>基本通路的长度不大于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-1; </a:t>
            </a:r>
            <a:r>
              <a:rPr lang="zh-CN" altLang="en-US" sz="2400" noProof="1">
                <a:solidFill>
                  <a:schemeClr val="bg1"/>
                </a:solidFill>
              </a:rPr>
              <a:t>基本回路的长度不大于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endParaRPr lang="en-US" altLang="zh-CN" sz="2400" b="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6749" y="2636912"/>
            <a:ext cx="117440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通路和回路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87329" y="2502686"/>
            <a:ext cx="8314469" cy="168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通路的长度等于其中的顶点数目减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24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基本通路无重复顶点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至多有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个顶点</a:t>
            </a: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基本回路有且仅有一对重复顶点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至多有</a:t>
            </a:r>
            <a:r>
              <a:rPr lang="en-US" altLang="zh-CN" sz="24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4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个顶点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通路和回路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7368" y="1553416"/>
            <a:ext cx="11305256" cy="1227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9900"/>
              </a:buClr>
            </a:pPr>
            <a:r>
              <a:rPr lang="zh-CN" altLang="en-US" noProof="1"/>
              <a:t> 推论  </a:t>
            </a:r>
            <a:r>
              <a:rPr lang="zh-CN" altLang="en-US" sz="2400" noProof="1">
                <a:solidFill>
                  <a:schemeClr val="bg1"/>
                </a:solidFill>
              </a:rPr>
              <a:t>在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zh-CN" altLang="en-US" sz="2400" noProof="1">
                <a:solidFill>
                  <a:schemeClr val="bg1"/>
                </a:solidFill>
              </a:rPr>
              <a:t>阶图中</a:t>
            </a:r>
            <a:r>
              <a:rPr lang="en-US" altLang="zh-CN" sz="2400" noProof="1">
                <a:solidFill>
                  <a:schemeClr val="bg1"/>
                </a:solidFill>
              </a:rPr>
              <a:t>, </a:t>
            </a:r>
            <a:r>
              <a:rPr lang="zh-CN" altLang="en-US" sz="2400" noProof="1">
                <a:solidFill>
                  <a:schemeClr val="bg1"/>
                </a:solidFill>
              </a:rPr>
              <a:t>若存在从顶点</a:t>
            </a:r>
            <a:r>
              <a:rPr lang="en-US" altLang="zh-CN" sz="2400" i="1" noProof="1">
                <a:solidFill>
                  <a:schemeClr val="bg1"/>
                </a:solidFill>
              </a:rPr>
              <a:t>u</a:t>
            </a:r>
            <a:r>
              <a:rPr lang="zh-CN" altLang="en-US" sz="2400" noProof="1">
                <a:solidFill>
                  <a:schemeClr val="bg1"/>
                </a:solidFill>
              </a:rPr>
              <a:t>到顶点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zh-CN" altLang="en-US" sz="2400" noProof="1">
                <a:solidFill>
                  <a:schemeClr val="bg1"/>
                </a:solidFill>
              </a:rPr>
              <a:t>的通路</a:t>
            </a:r>
            <a:r>
              <a:rPr lang="en-US" altLang="zh-CN" sz="2400" noProof="1">
                <a:solidFill>
                  <a:schemeClr val="bg1"/>
                </a:solidFill>
              </a:rPr>
              <a:t>(</a:t>
            </a:r>
            <a:r>
              <a:rPr lang="en-US" altLang="zh-CN" sz="2400" i="1" noProof="1">
                <a:solidFill>
                  <a:schemeClr val="bg1"/>
                </a:solidFill>
              </a:rPr>
              <a:t>u</a:t>
            </a:r>
            <a:r>
              <a:rPr lang="en-US" altLang="zh-CN" sz="2400" noProof="1">
                <a:solidFill>
                  <a:schemeClr val="bg1"/>
                </a:solidFill>
              </a:rPr>
              <a:t>≠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noProof="1">
                <a:solidFill>
                  <a:schemeClr val="bg1"/>
                </a:solidFill>
              </a:rPr>
              <a:t>), </a:t>
            </a:r>
            <a:r>
              <a:rPr lang="zh-CN" altLang="en-US" sz="2400" noProof="1">
                <a:solidFill>
                  <a:schemeClr val="bg1"/>
                </a:solidFill>
              </a:rPr>
              <a:t>则一定存在从</a:t>
            </a:r>
            <a:r>
              <a:rPr lang="en-US" altLang="zh-CN" sz="2400" i="1" noProof="1">
                <a:solidFill>
                  <a:schemeClr val="bg1"/>
                </a:solidFill>
              </a:rPr>
              <a:t>u</a:t>
            </a:r>
            <a:r>
              <a:rPr lang="zh-CN" altLang="en-US" sz="2400" noProof="1">
                <a:solidFill>
                  <a:schemeClr val="bg1"/>
                </a:solidFill>
              </a:rPr>
              <a:t>到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zh-CN" altLang="en-US" sz="2400" noProof="1">
                <a:solidFill>
                  <a:schemeClr val="bg1"/>
                </a:solidFill>
              </a:rPr>
              <a:t>长度不大于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-1</a:t>
            </a:r>
            <a:r>
              <a:rPr lang="zh-CN" altLang="en-US" sz="2400" noProof="1">
                <a:solidFill>
                  <a:schemeClr val="bg1"/>
                </a:solidFill>
              </a:rPr>
              <a:t>的基本通路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59496" y="2961008"/>
            <a:ext cx="9874037" cy="279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只需证明存在从</a:t>
            </a:r>
            <a:r>
              <a:rPr lang="en-US" altLang="zh-CN" sz="2400" b="0" i="1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的基本通路。</a:t>
            </a: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若通路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u=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不是基本通路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则其中存在相同的顶点。</a:t>
            </a: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则子序列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+2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构成一个回路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从中删除该回路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保留顶点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得到从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的新通路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</a:p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重复上述步骤有限次即可得到从顶点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到顶点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的基本通路。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7368" y="3068960"/>
            <a:ext cx="131841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9376" y="1556792"/>
            <a:ext cx="8514356" cy="269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7.3.4</a:t>
            </a:r>
            <a:r>
              <a:rPr lang="zh-CN" altLang="en-US" sz="2400" dirty="0"/>
              <a:t>  </a:t>
            </a:r>
            <a:r>
              <a:rPr lang="zh-CN" altLang="en-US" dirty="0"/>
              <a:t>顶点的连通性</a:t>
            </a:r>
            <a:endParaRPr lang="en-US" altLang="zh-CN" dirty="0"/>
          </a:p>
          <a:p>
            <a:pPr marL="685800" lvl="2" indent="0">
              <a:lnSpc>
                <a:spcPct val="120000"/>
              </a:lnSpc>
              <a:spcBef>
                <a:spcPts val="120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</a:t>
            </a:r>
            <a:r>
              <a:rPr lang="en-US" altLang="zh-CN" b="0" i="1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0" i="1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连通：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无向图中存在从顶点</a:t>
            </a:r>
            <a:r>
              <a:rPr lang="en-US" altLang="zh-CN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到顶点</a:t>
            </a:r>
            <a:r>
              <a:rPr lang="en-US" altLang="zh-CN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的通路</a:t>
            </a:r>
          </a:p>
          <a:p>
            <a:pPr marL="685800" lvl="2" indent="0">
              <a:lnSpc>
                <a:spcPct val="120000"/>
              </a:lnSpc>
              <a:spcBef>
                <a:spcPts val="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任何顶点到自身是连通的</a:t>
            </a:r>
            <a:endParaRPr lang="en-US" altLang="zh-CN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85800" lvl="2" indent="0">
              <a:lnSpc>
                <a:spcPct val="120000"/>
              </a:lnSpc>
              <a:spcBef>
                <a:spcPts val="120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</a:t>
            </a:r>
            <a:r>
              <a:rPr lang="en-US" altLang="zh-CN" b="0" i="1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b="0" i="1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可达：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有向图中存在从顶点</a:t>
            </a:r>
            <a:r>
              <a:rPr lang="en-US" altLang="zh-CN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到顶点</a:t>
            </a:r>
            <a:r>
              <a:rPr lang="en-US" altLang="zh-CN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的通路</a:t>
            </a:r>
          </a:p>
          <a:p>
            <a:pPr marL="685800" lvl="2" indent="0">
              <a:lnSpc>
                <a:spcPct val="120000"/>
              </a:lnSpc>
              <a:spcBef>
                <a:spcPts val="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任何顶点到自身是可达的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885119" y="4012380"/>
            <a:ext cx="1065718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极大连通子图是连通子图</a:t>
            </a:r>
            <a:r>
              <a:rPr lang="en-US" altLang="zh-CN" sz="24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且它不是任何连通子图的真子图。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85119" y="4564066"/>
            <a:ext cx="8405540" cy="1807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</a:pPr>
            <a:r>
              <a:rPr lang="zh-CN" altLang="en-US" sz="22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割点：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顶点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删除它及所关联的边后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连通分量数增加</a:t>
            </a:r>
          </a:p>
          <a:p>
            <a:pPr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</a:pP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)&lt;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</a:pPr>
            <a:r>
              <a:rPr lang="zh-CN" altLang="en-US" sz="22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割边：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边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删除后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连通分量数增加</a:t>
            </a:r>
          </a:p>
          <a:p>
            <a:pPr>
              <a:lnSpc>
                <a:spcPct val="130000"/>
              </a:lnSpc>
              <a:spcBef>
                <a:spcPts val="0"/>
              </a:spcBef>
              <a:buClr>
                <a:srgbClr val="FFC000"/>
              </a:buClr>
              <a:buSzPct val="80000"/>
            </a:pP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)&lt;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360" y="1556792"/>
            <a:ext cx="869437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7.3.5</a:t>
            </a:r>
            <a:r>
              <a:rPr lang="zh-CN" altLang="en-US" sz="2400" dirty="0"/>
              <a:t>  </a:t>
            </a:r>
            <a:r>
              <a:rPr lang="zh-CN" altLang="en-US" dirty="0"/>
              <a:t>无向图的连通性</a:t>
            </a:r>
            <a:endParaRPr lang="en-US" altLang="zh-CN" dirty="0"/>
          </a:p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连通图：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任意两个顶点都是连通的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Clr>
                <a:srgbClr val="FF9900"/>
              </a:buClr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 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连通分量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连通分支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noProof="1">
                <a:solidFill>
                  <a:schemeClr val="bg1"/>
                </a:solidFill>
              </a:rPr>
              <a:t>无向图的极大连通子图</a:t>
            </a:r>
          </a:p>
          <a:p>
            <a:pPr marL="0" indent="0">
              <a:lnSpc>
                <a:spcPct val="80000"/>
              </a:lnSpc>
              <a:buClr>
                <a:srgbClr val="FF9900"/>
              </a:buClr>
              <a:buNone/>
            </a:pPr>
            <a:r>
              <a:rPr lang="zh-CN" altLang="en-US" sz="2400" i="1" noProof="1">
                <a:solidFill>
                  <a:schemeClr val="bg1"/>
                </a:solidFill>
              </a:rPr>
              <a:t>                                              </a:t>
            </a:r>
            <a:r>
              <a:rPr lang="en-US" altLang="zh-CN" sz="2400" i="1" noProof="1">
                <a:solidFill>
                  <a:schemeClr val="bg1"/>
                </a:solidFill>
              </a:rPr>
              <a:t>G</a:t>
            </a:r>
            <a:r>
              <a:rPr lang="zh-CN" altLang="en-US" sz="2400" noProof="1">
                <a:solidFill>
                  <a:schemeClr val="bg1"/>
                </a:solidFill>
              </a:rPr>
              <a:t>的连通分量的数目记为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</a:t>
            </a:r>
            <a:r>
              <a:rPr lang="en-US" altLang="zh-CN" sz="2400" noProof="1">
                <a:solidFill>
                  <a:schemeClr val="bg1"/>
                </a:solidFill>
              </a:rPr>
              <a:t>(</a:t>
            </a:r>
            <a:r>
              <a:rPr lang="en-US" altLang="zh-CN" sz="2400" i="1" noProof="1">
                <a:solidFill>
                  <a:schemeClr val="bg1"/>
                </a:solidFill>
              </a:rPr>
              <a:t>G</a:t>
            </a:r>
            <a:r>
              <a:rPr lang="en-US" altLang="zh-CN" sz="2400" noProof="1">
                <a:solidFill>
                  <a:schemeClr val="bg1"/>
                </a:solidFill>
              </a:rPr>
              <a:t>)</a:t>
            </a:r>
            <a:r>
              <a:rPr lang="zh-CN" altLang="en-US" sz="2400" noProof="1">
                <a:solidFill>
                  <a:schemeClr val="bg1"/>
                </a:solidFill>
              </a:rPr>
              <a:t>或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</a:t>
            </a: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700808"/>
            <a:ext cx="11089232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7.3.2  </a:t>
            </a:r>
            <a:r>
              <a:rPr lang="zh-CN" altLang="en-US" dirty="0">
                <a:solidFill>
                  <a:schemeClr val="bg1"/>
                </a:solidFill>
              </a:rPr>
              <a:t>如右图所示。</a:t>
            </a:r>
          </a:p>
        </p:txBody>
      </p:sp>
      <p:pic>
        <p:nvPicPr>
          <p:cNvPr id="6" name="图片 1003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2" y="2204864"/>
            <a:ext cx="467559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586026" y="2708403"/>
            <a:ext cx="6590094" cy="313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4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ü"/>
            </a:pP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不是连通图</a:t>
            </a: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的三个连通分量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)=3</a:t>
            </a:r>
          </a:p>
          <a:p>
            <a:pPr marL="342900" indent="-342900">
              <a:lnSpc>
                <a:spcPct val="14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的连通子图但不是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的连通分量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的连通子图</a:t>
            </a: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都有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个割点和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条割边</a:t>
            </a: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都没有割点和割边 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8" y="1630266"/>
            <a:ext cx="9671345" cy="2679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effectLst/>
              </a:rPr>
              <a:t>定义</a:t>
            </a:r>
            <a:r>
              <a:rPr lang="en-US" altLang="zh-CN" dirty="0">
                <a:effectLst/>
              </a:rPr>
              <a:t>7.3.5</a:t>
            </a:r>
            <a:r>
              <a:rPr lang="zh-CN" altLang="en-US" sz="2400" dirty="0">
                <a:effectLst/>
              </a:rPr>
              <a:t>  </a:t>
            </a:r>
            <a:r>
              <a:rPr lang="zh-CN" altLang="en-US" dirty="0">
                <a:effectLst/>
              </a:rPr>
              <a:t>有向图的连通性</a:t>
            </a:r>
            <a:endParaRPr lang="en-US" altLang="zh-CN" dirty="0">
              <a:effectLst/>
            </a:endParaRPr>
          </a:p>
          <a:p>
            <a:pPr marL="685800" lvl="2" indent="0">
              <a:lnSpc>
                <a:spcPct val="130000"/>
              </a:lnSpc>
              <a:spcBef>
                <a:spcPts val="120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弱连通图：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底图是连通图</a:t>
            </a:r>
          </a:p>
          <a:p>
            <a:pPr marL="685800" lvl="2" indent="0">
              <a:lnSpc>
                <a:spcPct val="130000"/>
              </a:lnSpc>
              <a:spcBef>
                <a:spcPts val="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单向连通图：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任意两个顶点至少从其中之一到另一个可达</a:t>
            </a:r>
          </a:p>
          <a:p>
            <a:pPr marL="685800" lvl="2" indent="0">
              <a:lnSpc>
                <a:spcPct val="130000"/>
              </a:lnSpc>
              <a:spcBef>
                <a:spcPts val="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强连通图：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任意两个顶点都相互可达</a:t>
            </a:r>
          </a:p>
          <a:p>
            <a:pPr marL="685800" lvl="2" indent="0">
              <a:lnSpc>
                <a:spcPct val="130000"/>
              </a:lnSpc>
              <a:spcBef>
                <a:spcPts val="0"/>
              </a:spcBef>
              <a:buClr>
                <a:srgbClr val="FF9900"/>
              </a:buClr>
              <a:buNone/>
            </a:pPr>
            <a:r>
              <a:rPr lang="zh-CN" altLang="en-US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强连通分量</a:t>
            </a:r>
            <a:r>
              <a:rPr lang="en-US" altLang="zh-CN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强连通分支</a:t>
            </a:r>
            <a:r>
              <a:rPr lang="en-US" altLang="zh-CN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极大强连通子图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1118" y="5085184"/>
            <a:ext cx="586043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srgbClr val="FF7C80"/>
                </a:solidFill>
              </a:rPr>
              <a:t>注：</a:t>
            </a:r>
            <a:r>
              <a:rPr lang="zh-CN" altLang="en-US" noProof="1">
                <a:solidFill>
                  <a:srgbClr val="FF7C80"/>
                </a:solidFill>
              </a:rPr>
              <a:t>强连通 </a:t>
            </a:r>
            <a:r>
              <a:rPr lang="en-US" altLang="zh-CN" noProof="1">
                <a:solidFill>
                  <a:srgbClr val="FF7C80"/>
                </a:solidFill>
                <a:sym typeface="Symbol" panose="05050102010706020507" pitchFamily="18" charset="2"/>
              </a:rPr>
              <a:t> </a:t>
            </a:r>
            <a:r>
              <a:rPr lang="zh-CN" altLang="en-US" noProof="1">
                <a:solidFill>
                  <a:srgbClr val="FF7C80"/>
                </a:solidFill>
              </a:rPr>
              <a:t>单向连通 </a:t>
            </a:r>
            <a:r>
              <a:rPr lang="en-US" altLang="zh-CN" noProof="1">
                <a:solidFill>
                  <a:srgbClr val="FF7C80"/>
                </a:solidFill>
                <a:sym typeface="Symbol" panose="05050102010706020507" pitchFamily="18" charset="2"/>
              </a:rPr>
              <a:t> </a:t>
            </a:r>
            <a:r>
              <a:rPr lang="zh-CN" altLang="en-US" noProof="1">
                <a:solidFill>
                  <a:srgbClr val="FF7C80"/>
                </a:solidFill>
              </a:rPr>
              <a:t>弱连通</a:t>
            </a:r>
            <a:endParaRPr lang="zh-CN" altLang="en-US" noProof="1">
              <a:solidFill>
                <a:srgbClr val="FF7C80"/>
              </a:solidFill>
              <a:sym typeface="Symbol" panose="05050102010706020507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700808"/>
            <a:ext cx="11089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7.3.3  </a:t>
            </a:r>
            <a:r>
              <a:rPr lang="zh-CN" altLang="en-US" sz="2400" noProof="1">
                <a:solidFill>
                  <a:schemeClr val="bg1"/>
                </a:solidFill>
              </a:rPr>
              <a:t>如图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zh-CN" altLang="en-US" sz="2400" noProof="1">
                <a:solidFill>
                  <a:schemeClr val="bg1"/>
                </a:solidFill>
              </a:rPr>
              <a:t>考察他们的连通性。</a:t>
            </a:r>
          </a:p>
        </p:txBody>
      </p:sp>
      <p:pic>
        <p:nvPicPr>
          <p:cNvPr id="13" name="图片 1187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2780928"/>
            <a:ext cx="72009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983482" y="5229200"/>
            <a:ext cx="90730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None/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i="1" noProof="1">
                <a:solidFill>
                  <a:srgbClr val="FFFF00"/>
                </a:solidFill>
              </a:rPr>
              <a:t>G</a:t>
            </a:r>
            <a:r>
              <a:rPr lang="en-US" altLang="zh-CN" sz="2400" baseline="-25000" noProof="1">
                <a:solidFill>
                  <a:srgbClr val="FFFF00"/>
                </a:solidFill>
              </a:rPr>
              <a:t>1</a:t>
            </a:r>
            <a:r>
              <a:rPr lang="zh-CN" altLang="en-US" sz="2400" noProof="1">
                <a:solidFill>
                  <a:srgbClr val="FFFF00"/>
                </a:solidFill>
              </a:rPr>
              <a:t>强连通</a:t>
            </a:r>
            <a:r>
              <a:rPr lang="en-US" altLang="zh-CN" sz="2400" noProof="1">
                <a:solidFill>
                  <a:srgbClr val="FFFF00"/>
                </a:solidFill>
              </a:rPr>
              <a:t>, </a:t>
            </a:r>
            <a:r>
              <a:rPr lang="en-US" altLang="zh-CN" sz="2400" i="1" noProof="1">
                <a:solidFill>
                  <a:srgbClr val="FFFF00"/>
                </a:solidFill>
              </a:rPr>
              <a:t>G</a:t>
            </a:r>
            <a:r>
              <a:rPr lang="en-US" altLang="zh-CN" sz="2400" baseline="-25000" noProof="1">
                <a:solidFill>
                  <a:srgbClr val="FFFF00"/>
                </a:solidFill>
              </a:rPr>
              <a:t>2</a:t>
            </a:r>
            <a:r>
              <a:rPr lang="zh-CN" altLang="en-US" sz="2400" noProof="1">
                <a:solidFill>
                  <a:srgbClr val="FFFF00"/>
                </a:solidFill>
              </a:rPr>
              <a:t>单向连通但非强连通</a:t>
            </a:r>
            <a:r>
              <a:rPr lang="en-US" altLang="zh-CN" sz="2400" noProof="1">
                <a:solidFill>
                  <a:srgbClr val="FFFF00"/>
                </a:solidFill>
              </a:rPr>
              <a:t>, </a:t>
            </a:r>
            <a:r>
              <a:rPr lang="en-US" altLang="zh-CN" sz="2400" i="1" noProof="1">
                <a:solidFill>
                  <a:srgbClr val="FFFF00"/>
                </a:solidFill>
              </a:rPr>
              <a:t>G</a:t>
            </a:r>
            <a:r>
              <a:rPr lang="en-US" altLang="zh-CN" sz="2400" baseline="-25000" noProof="1">
                <a:solidFill>
                  <a:srgbClr val="FFFF00"/>
                </a:solidFill>
              </a:rPr>
              <a:t>3</a:t>
            </a:r>
            <a:r>
              <a:rPr lang="zh-CN" altLang="en-US" sz="2400" noProof="1">
                <a:solidFill>
                  <a:srgbClr val="FFFF00"/>
                </a:solidFill>
              </a:rPr>
              <a:t>是弱连通但非单向连通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9" y="1630266"/>
            <a:ext cx="8514356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定理</a:t>
            </a:r>
            <a:r>
              <a:rPr lang="en-US" altLang="zh-CN" dirty="0"/>
              <a:t>7.3.2  </a:t>
            </a:r>
            <a:r>
              <a:rPr lang="zh-CN" altLang="en-US" sz="2400" noProof="1">
                <a:solidFill>
                  <a:schemeClr val="bg1"/>
                </a:solidFill>
              </a:rPr>
              <a:t>有向图强连通 </a:t>
            </a:r>
            <a:r>
              <a:rPr lang="en-US" altLang="zh-CN" sz="2400" noProof="1">
                <a:solidFill>
                  <a:schemeClr val="bg1"/>
                </a:solidFill>
                <a:sym typeface="Symbol" panose="05050102010706020507" pitchFamily="18" charset="2"/>
              </a:rPr>
              <a:t> </a:t>
            </a:r>
            <a:r>
              <a:rPr lang="zh-CN" altLang="en-US" sz="2400" noProof="1">
                <a:solidFill>
                  <a:schemeClr val="bg1"/>
                </a:solidFill>
              </a:rPr>
              <a:t>存在包含图的所有顶点的回路 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1119" y="2502686"/>
            <a:ext cx="131841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31504" y="2502686"/>
            <a:ext cx="9512646" cy="356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的一条包含所有顶点的回路。显然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上的任意两个顶点都是相互可达的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从而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的任意两个顶点都是相互可达的。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中任意的两个顶点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则存在从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的通路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和从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的通路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处连接起来就得到包含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的回路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。若存在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不在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则同样可得到包含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的回路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。回路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有公共顶点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将它们在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处连接起来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扩充为新的回路</a:t>
            </a:r>
            <a:r>
              <a:rPr lang="en-US" altLang="zh-CN" sz="22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。重复上述过程有限次后即得到包含所有顶点的回路。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图的连通性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8" y="1630266"/>
            <a:ext cx="10895482" cy="108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定理</a:t>
            </a:r>
            <a:r>
              <a:rPr lang="en-US" altLang="zh-CN" dirty="0"/>
              <a:t>7.3.3 </a:t>
            </a:r>
            <a:r>
              <a:rPr lang="zh-CN" altLang="en-US" sz="2400" noProof="1">
                <a:solidFill>
                  <a:schemeClr val="bg1"/>
                </a:solidFill>
              </a:rPr>
              <a:t>简单图</a:t>
            </a:r>
            <a:r>
              <a:rPr lang="en-US" altLang="zh-CN" sz="2400" i="1" noProof="1">
                <a:solidFill>
                  <a:schemeClr val="bg1"/>
                </a:solidFill>
              </a:rPr>
              <a:t>G</a:t>
            </a:r>
            <a:r>
              <a:rPr lang="en-US" altLang="zh-CN" sz="2400" noProof="1">
                <a:solidFill>
                  <a:schemeClr val="bg1"/>
                </a:solidFill>
              </a:rPr>
              <a:t>=(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E</a:t>
            </a:r>
            <a:r>
              <a:rPr lang="en-US" altLang="zh-CN" sz="2400" noProof="1">
                <a:solidFill>
                  <a:schemeClr val="bg1"/>
                </a:solidFill>
              </a:rPr>
              <a:t>), 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noProof="1">
                <a:solidFill>
                  <a:schemeClr val="bg1"/>
                </a:solidFill>
              </a:rPr>
              <a:t>={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1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2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noProof="1">
                <a:solidFill>
                  <a:schemeClr val="bg1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},</a:t>
            </a:r>
            <a:r>
              <a:rPr lang="zh-CN" altLang="en-US" sz="2400" noProof="1">
                <a:solidFill>
                  <a:schemeClr val="bg1"/>
                </a:solidFill>
              </a:rPr>
              <a:t>邻接矩阵是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noProof="1">
                <a:solidFill>
                  <a:schemeClr val="bg1"/>
                </a:solidFill>
              </a:rPr>
              <a:t>=(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ij</a:t>
            </a:r>
            <a:r>
              <a:rPr lang="en-US" altLang="zh-CN" sz="2400" noProof="1">
                <a:solidFill>
                  <a:schemeClr val="bg1"/>
                </a:solidFill>
              </a:rPr>
              <a:t>)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×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zh-CN" altLang="en-US" sz="2400" noProof="1">
                <a:solidFill>
                  <a:schemeClr val="bg1"/>
                </a:solidFill>
              </a:rPr>
              <a:t>。若令</a:t>
            </a:r>
            <a:r>
              <a:rPr lang="en-US" altLang="zh-CN" sz="2400" noProof="1">
                <a:solidFill>
                  <a:schemeClr val="bg1"/>
                </a:solidFill>
              </a:rPr>
              <a:t>(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ij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(</a:t>
            </a:r>
            <a:r>
              <a:rPr lang="en-US" altLang="zh-CN" sz="2400" i="1" baseline="30000" noProof="1">
                <a:solidFill>
                  <a:schemeClr val="bg1"/>
                </a:solidFill>
              </a:rPr>
              <a:t>m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)</a:t>
            </a:r>
            <a:r>
              <a:rPr lang="en-US" altLang="zh-CN" sz="2400" noProof="1">
                <a:solidFill>
                  <a:schemeClr val="bg1"/>
                </a:solidFill>
              </a:rPr>
              <a:t>)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×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=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i="1" baseline="30000" noProof="1">
                <a:solidFill>
                  <a:schemeClr val="bg1"/>
                </a:solidFill>
              </a:rPr>
              <a:t>m</a:t>
            </a:r>
            <a:r>
              <a:rPr lang="en-US" altLang="zh-CN" sz="2400" noProof="1">
                <a:solidFill>
                  <a:schemeClr val="bg1"/>
                </a:solidFill>
              </a:rPr>
              <a:t>(</a:t>
            </a:r>
            <a:r>
              <a:rPr lang="en-US" altLang="zh-CN" sz="2400" i="1" noProof="1">
                <a:solidFill>
                  <a:schemeClr val="bg1"/>
                </a:solidFill>
              </a:rPr>
              <a:t>m</a:t>
            </a:r>
            <a:r>
              <a:rPr lang="en-US" altLang="zh-CN" sz="2400" noProof="1">
                <a:solidFill>
                  <a:schemeClr val="bg1"/>
                </a:solidFill>
              </a:rPr>
              <a:t>≥1),</a:t>
            </a:r>
            <a:r>
              <a:rPr lang="zh-CN" altLang="en-US" sz="2400" noProof="1">
                <a:solidFill>
                  <a:schemeClr val="bg1"/>
                </a:solidFill>
              </a:rPr>
              <a:t>则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ij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(</a:t>
            </a:r>
            <a:r>
              <a:rPr lang="en-US" altLang="zh-CN" sz="2400" i="1" baseline="30000" noProof="1">
                <a:solidFill>
                  <a:schemeClr val="bg1"/>
                </a:solidFill>
              </a:rPr>
              <a:t>m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)</a:t>
            </a:r>
            <a:r>
              <a:rPr lang="zh-CN" altLang="en-US" sz="2400" noProof="1">
                <a:solidFill>
                  <a:schemeClr val="bg1"/>
                </a:solidFill>
              </a:rPr>
              <a:t>为</a:t>
            </a:r>
            <a:r>
              <a:rPr lang="en-US" altLang="zh-CN" sz="2400" i="1" noProof="1">
                <a:solidFill>
                  <a:schemeClr val="bg1"/>
                </a:solidFill>
              </a:rPr>
              <a:t>G</a:t>
            </a:r>
            <a:r>
              <a:rPr lang="zh-CN" altLang="en-US" sz="2400" noProof="1">
                <a:solidFill>
                  <a:schemeClr val="bg1"/>
                </a:solidFill>
              </a:rPr>
              <a:t>中从顶点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i</a:t>
            </a:r>
            <a:r>
              <a:rPr lang="zh-CN" altLang="en-US" sz="2400" noProof="1">
                <a:solidFill>
                  <a:schemeClr val="bg1"/>
                </a:solidFill>
              </a:rPr>
              <a:t>到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j</a:t>
            </a:r>
            <a:r>
              <a:rPr lang="zh-CN" altLang="en-US" sz="2400" noProof="1">
                <a:solidFill>
                  <a:schemeClr val="bg1"/>
                </a:solidFill>
              </a:rPr>
              <a:t>长度为</a:t>
            </a:r>
            <a:r>
              <a:rPr lang="en-US" altLang="zh-CN" sz="2400" i="1" noProof="1">
                <a:solidFill>
                  <a:schemeClr val="bg1"/>
                </a:solidFill>
              </a:rPr>
              <a:t>m</a:t>
            </a:r>
            <a:r>
              <a:rPr lang="zh-CN" altLang="en-US" sz="2400" noProof="1">
                <a:solidFill>
                  <a:schemeClr val="bg1"/>
                </a:solidFill>
              </a:rPr>
              <a:t>的不同的通路的条数。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7368" y="3017519"/>
            <a:ext cx="131841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59496" y="2961297"/>
            <a:ext cx="9433048" cy="260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使用归纳法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时结论显然成立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时结论成立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考察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的情形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由归纳假设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从顶点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长度为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的不同通路的条数是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en-US" altLang="zh-CN" sz="2000" b="0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而由邻接矩阵的定义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长度为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的不同通路的条数是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pj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从顶点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经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然后直接到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长度为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的不同通路的条数为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en-US" altLang="zh-CN" sz="2000" b="0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﹒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pj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。于是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从顶点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0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长度为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的不同通路的条数为：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063552" y="5565856"/>
                <a:ext cx="2762426" cy="791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1600" b="0" i="1" noProof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noProof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1600" b="0" i="1" noProof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noProof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b="0" i="1" noProof="1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noProof="1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noProof="1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noProof="1" smtClean="0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altLang="zh-CN" sz="1600" b="0" i="1" noProof="1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noProof="1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1600" b="0" i="1" noProof="1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lang="en-US" altLang="zh-CN" sz="1600" b="0" i="1" noProof="1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600" b="0" i="1" noProof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noProof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b="0" i="1" noProof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𝑝𝑗</m:t>
                          </m:r>
                        </m:sub>
                      </m:sSub>
                      <m:r>
                        <a:rPr lang="en-US" altLang="zh-CN" b="0" i="1" noProof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noProof="1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noProof="1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noProof="1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CN" b="0" i="1" noProof="1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b="0" i="1" noProof="1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b="0" i="1" noProof="1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5565856"/>
                <a:ext cx="2762426" cy="791563"/>
              </a:xfrm>
              <a:prstGeom prst="rect">
                <a:avLst/>
              </a:prstGeom>
              <a:blipFill rotWithShape="1">
                <a:blip r:embed="rId2"/>
                <a:stretch>
                  <a:fillRect l="-16" t="-10" r="22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276020" y="3569150"/>
                <a:ext cx="3816424" cy="791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1600" b="0" i="1" noProof="1"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b="0" i="1" noProof="1" smtClean="0"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1600" b="0" i="1" baseline="30000" noProof="1" smtClean="0"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600" b="0" i="1" noProof="1" smtClean="0"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1600" b="0" i="1" noProof="1" smtClean="0"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US" altLang="zh-CN" sz="1600" b="0" i="1" noProof="1"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b="0" i="1" noProof="1">
                                  <a:solidFill>
                                    <a:srgbClr val="CCFFCC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noProof="1">
                                  <a:solidFill>
                                    <a:srgbClr val="CCFFCC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noProof="1">
                                  <a:solidFill>
                                    <a:srgbClr val="CCFFCC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noProof="1" smtClean="0">
                                  <a:solidFill>
                                    <a:srgbClr val="CCFFCC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altLang="zh-CN" sz="1600" b="0" i="1" noProof="1">
                                  <a:solidFill>
                                    <a:srgbClr val="CCFFCC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noProof="1">
                                  <a:solidFill>
                                    <a:srgbClr val="CCFFCC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1600" b="0" i="1" noProof="1">
                                  <a:solidFill>
                                    <a:srgbClr val="CCFFCC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lang="en-US" altLang="zh-CN" sz="1600" b="0" i="1" noProof="1" smtClean="0">
                          <a:solidFill>
                            <a:srgbClr val="CCFFCC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b="0" i="1" noProof="1" smtClean="0">
                              <a:solidFill>
                                <a:srgbClr val="CCFFCC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𝑝𝑗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CCFFCC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020" y="3569150"/>
                <a:ext cx="3816424" cy="791563"/>
              </a:xfrm>
              <a:prstGeom prst="rect">
                <a:avLst/>
              </a:prstGeom>
              <a:blipFill rotWithShape="1">
                <a:blip r:embed="rId3"/>
                <a:stretch>
                  <a:fillRect l="-8" t="-699" r="10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7.3.3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矩阵计算与连通性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700808"/>
            <a:ext cx="11089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7.3.3 </a:t>
            </a:r>
            <a:r>
              <a:rPr lang="zh-CN" altLang="en-US" noProof="1">
                <a:solidFill>
                  <a:schemeClr val="bg1"/>
                </a:solidFill>
              </a:rPr>
              <a:t>有向图</a:t>
            </a:r>
            <a:r>
              <a:rPr lang="en-US" altLang="zh-CN" i="1" noProof="1">
                <a:solidFill>
                  <a:schemeClr val="bg1"/>
                </a:solidFill>
              </a:rPr>
              <a:t>G</a:t>
            </a:r>
            <a:r>
              <a:rPr lang="zh-CN" altLang="en-US" noProof="1">
                <a:solidFill>
                  <a:schemeClr val="bg1"/>
                </a:solidFill>
              </a:rPr>
              <a:t>如图所示。</a:t>
            </a:r>
            <a:endParaRPr lang="en-US" altLang="zh-CN" noProof="1"/>
          </a:p>
        </p:txBody>
      </p:sp>
      <p:pic>
        <p:nvPicPr>
          <p:cNvPr id="10" name="图片 13006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90" y="1854266"/>
            <a:ext cx="2478155" cy="173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576067" y="5729401"/>
            <a:ext cx="93926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3</a:t>
            </a:r>
            <a:r>
              <a:rPr lang="zh-CN" altLang="en-US" sz="2400" noProof="1">
                <a:solidFill>
                  <a:schemeClr val="bg1"/>
                </a:solidFill>
              </a:rPr>
              <a:t>到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1</a:t>
            </a:r>
            <a:r>
              <a:rPr lang="zh-CN" altLang="en-US" sz="2400" noProof="1">
                <a:solidFill>
                  <a:schemeClr val="bg1"/>
                </a:solidFill>
              </a:rPr>
              <a:t>长度为</a:t>
            </a:r>
            <a:r>
              <a:rPr lang="en-US" altLang="zh-CN" sz="2400" noProof="1">
                <a:solidFill>
                  <a:schemeClr val="bg1"/>
                </a:solidFill>
              </a:rPr>
              <a:t>1,</a:t>
            </a:r>
            <a:r>
              <a:rPr lang="zh-CN" altLang="en-US" sz="2400" noProof="1">
                <a:solidFill>
                  <a:schemeClr val="bg1"/>
                </a:solidFill>
              </a:rPr>
              <a:t> </a:t>
            </a:r>
            <a:r>
              <a:rPr lang="en-US" altLang="zh-CN" sz="2400" noProof="1">
                <a:solidFill>
                  <a:schemeClr val="bg1"/>
                </a:solidFill>
              </a:rPr>
              <a:t>2, 3</a:t>
            </a:r>
            <a:r>
              <a:rPr lang="zh-CN" altLang="en-US" sz="2400" noProof="1">
                <a:solidFill>
                  <a:schemeClr val="bg1"/>
                </a:solidFill>
              </a:rPr>
              <a:t>和</a:t>
            </a:r>
            <a:r>
              <a:rPr lang="en-US" altLang="zh-CN" sz="2400" noProof="1">
                <a:solidFill>
                  <a:schemeClr val="bg1"/>
                </a:solidFill>
              </a:rPr>
              <a:t>4</a:t>
            </a:r>
            <a:r>
              <a:rPr lang="zh-CN" altLang="en-US" sz="2400" noProof="1">
                <a:solidFill>
                  <a:schemeClr val="bg1"/>
                </a:solidFill>
              </a:rPr>
              <a:t>的不同通路的数目分别是</a:t>
            </a:r>
            <a:r>
              <a:rPr lang="en-US" altLang="zh-CN" sz="2400" noProof="1">
                <a:solidFill>
                  <a:schemeClr val="bg1"/>
                </a:solidFill>
              </a:rPr>
              <a:t>1, 1, 2</a:t>
            </a:r>
            <a:r>
              <a:rPr lang="zh-CN" altLang="en-US" sz="2400" noProof="1">
                <a:solidFill>
                  <a:schemeClr val="bg1"/>
                </a:solidFill>
              </a:rPr>
              <a:t>和</a:t>
            </a:r>
            <a:r>
              <a:rPr lang="en-US" altLang="zh-CN" sz="2400" noProof="1">
                <a:solidFill>
                  <a:schemeClr val="bg1"/>
                </a:solidFill>
              </a:rPr>
              <a:t>3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51384" y="3767696"/>
            <a:ext cx="4707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sz="2400" noProof="1">
                <a:solidFill>
                  <a:schemeClr val="bg1"/>
                </a:solidFill>
              </a:rPr>
              <a:t>邻接矩阵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zh-CN" altLang="en-US" sz="2400" noProof="1">
                <a:solidFill>
                  <a:schemeClr val="bg1"/>
                </a:solidFill>
              </a:rPr>
              <a:t>及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2</a:t>
            </a:r>
            <a:r>
              <a:rPr lang="en-US" altLang="zh-CN" sz="2400" noProof="1">
                <a:solidFill>
                  <a:schemeClr val="bg1"/>
                </a:solidFill>
              </a:rPr>
              <a:t>, 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3</a:t>
            </a:r>
            <a:r>
              <a:rPr lang="zh-CN" altLang="en-US" sz="2400" noProof="1">
                <a:solidFill>
                  <a:schemeClr val="bg1"/>
                </a:solidFill>
              </a:rPr>
              <a:t>和</a:t>
            </a:r>
            <a:r>
              <a:rPr lang="en-US" altLang="zh-CN" sz="2400" i="1" noProof="1">
                <a:solidFill>
                  <a:schemeClr val="bg1"/>
                </a:solidFill>
              </a:rPr>
              <a:t>A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4</a:t>
            </a:r>
            <a:r>
              <a:rPr lang="zh-CN" altLang="en-US" sz="2400" noProof="1">
                <a:solidFill>
                  <a:schemeClr val="bg1"/>
                </a:solidFill>
              </a:rPr>
              <a:t>分别为：</a:t>
            </a:r>
            <a:endParaRPr lang="en-US" altLang="zh-CN" sz="24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76067" y="4412431"/>
                <a:ext cx="2170081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67" y="4412431"/>
                <a:ext cx="2170081" cy="113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320314" y="4412431"/>
                <a:ext cx="2234330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314" y="4412431"/>
                <a:ext cx="2234330" cy="113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2916066" y="4412431"/>
                <a:ext cx="2234330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066" y="4412431"/>
                <a:ext cx="2234330" cy="1133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7724563" y="4412431"/>
                <a:ext cx="2234330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563" y="4412431"/>
                <a:ext cx="2234330" cy="1133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7.3.3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矩阵计算与连通性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166929" y="4971681"/>
            <a:ext cx="28803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615201" y="4971681"/>
            <a:ext cx="28803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6028941" y="4979704"/>
            <a:ext cx="28803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8439737" y="4971681"/>
            <a:ext cx="28803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9BF7F8-25FC-4D9F-832A-63A7DAD95BF4}"/>
              </a:ext>
            </a:extLst>
          </p:cNvPr>
          <p:cNvSpPr txBox="1"/>
          <p:nvPr/>
        </p:nvSpPr>
        <p:spPr>
          <a:xfrm>
            <a:off x="7616166" y="2398557"/>
            <a:ext cx="38524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noProof="1">
                <a:solidFill>
                  <a:schemeClr val="bg1"/>
                </a:solidFill>
              </a:rPr>
              <a:t>求</a:t>
            </a:r>
            <a:r>
              <a:rPr lang="en-US" altLang="zh-CN" sz="2000" i="1" noProof="1">
                <a:solidFill>
                  <a:schemeClr val="bg1"/>
                </a:solidFill>
              </a:rPr>
              <a:t>v</a:t>
            </a:r>
            <a:r>
              <a:rPr lang="en-US" altLang="zh-CN" sz="2000" baseline="-25000" noProof="1">
                <a:solidFill>
                  <a:schemeClr val="bg1"/>
                </a:solidFill>
              </a:rPr>
              <a:t>3</a:t>
            </a:r>
            <a:r>
              <a:rPr lang="zh-CN" altLang="en-US" sz="2000" noProof="1">
                <a:solidFill>
                  <a:schemeClr val="bg1"/>
                </a:solidFill>
              </a:rPr>
              <a:t>到</a:t>
            </a:r>
            <a:r>
              <a:rPr lang="en-US" altLang="zh-CN" sz="2000" i="1" noProof="1">
                <a:solidFill>
                  <a:schemeClr val="bg1"/>
                </a:solidFill>
              </a:rPr>
              <a:t>v</a:t>
            </a:r>
            <a:r>
              <a:rPr lang="en-US" altLang="zh-CN" sz="2000" baseline="-25000" noProof="1">
                <a:solidFill>
                  <a:schemeClr val="bg1"/>
                </a:solidFill>
              </a:rPr>
              <a:t>1</a:t>
            </a:r>
            <a:r>
              <a:rPr lang="zh-CN" altLang="en-US" sz="2200" dirty="0">
                <a:solidFill>
                  <a:schemeClr val="bg1"/>
                </a:solidFill>
              </a:rPr>
              <a:t>长度为</a:t>
            </a:r>
            <a:r>
              <a:rPr lang="en-US" altLang="zh-CN" sz="2200" dirty="0">
                <a:solidFill>
                  <a:schemeClr val="bg1"/>
                </a:solidFill>
              </a:rPr>
              <a:t>1,2,3</a:t>
            </a:r>
            <a:r>
              <a:rPr lang="zh-CN" altLang="en-US" sz="2200" dirty="0">
                <a:solidFill>
                  <a:schemeClr val="bg1"/>
                </a:solidFill>
              </a:rPr>
              <a:t>和</a:t>
            </a:r>
            <a:r>
              <a:rPr lang="en-US" altLang="zh-CN" sz="2200" dirty="0">
                <a:solidFill>
                  <a:schemeClr val="bg1"/>
                </a:solidFill>
              </a:rPr>
              <a:t>4</a:t>
            </a:r>
            <a:r>
              <a:rPr lang="zh-CN" altLang="en-US" sz="2200" dirty="0">
                <a:solidFill>
                  <a:schemeClr val="bg1"/>
                </a:solidFill>
              </a:rPr>
              <a:t>的不同通路的数目？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2" grpId="0" animBg="1"/>
      <p:bldP spid="15" grpId="0" animBg="1"/>
      <p:bldP spid="16" grpId="0" animBg="1"/>
      <p:bldP spid="17" grpId="0" animBg="1"/>
      <p:bldP spid="3" grpId="0" animBg="1"/>
      <p:bldP spid="12" grpId="0" animBg="1"/>
      <p:bldP spid="13" grpId="0" animBg="1"/>
      <p:bldP spid="19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52406" y="1522346"/>
            <a:ext cx="11044193" cy="102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7.3.7</a:t>
            </a:r>
            <a:r>
              <a:rPr lang="zh-CN" altLang="en-US" sz="2400" dirty="0"/>
              <a:t>  </a:t>
            </a:r>
            <a:r>
              <a:rPr lang="zh-CN" altLang="en-US" dirty="0"/>
              <a:t>可达矩阵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noProof="1">
                <a:solidFill>
                  <a:schemeClr val="bg1"/>
                </a:solidFill>
              </a:rPr>
              <a:t>      </a:t>
            </a:r>
            <a:r>
              <a:rPr lang="zh-CN" altLang="zh-CN" sz="2400" noProof="1">
                <a:solidFill>
                  <a:schemeClr val="bg1"/>
                </a:solidFill>
              </a:rPr>
              <a:t>图</a:t>
            </a:r>
            <a:r>
              <a:rPr lang="en-US" altLang="zh-CN" sz="2400" i="1" noProof="1">
                <a:solidFill>
                  <a:schemeClr val="bg1"/>
                </a:solidFill>
              </a:rPr>
              <a:t>G</a:t>
            </a:r>
            <a:r>
              <a:rPr lang="en-US" altLang="zh-CN" sz="2400" noProof="1">
                <a:solidFill>
                  <a:schemeClr val="bg1"/>
                </a:solidFill>
              </a:rPr>
              <a:t>=(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E</a:t>
            </a:r>
            <a:r>
              <a:rPr lang="en-US" altLang="zh-CN" sz="2400" noProof="1">
                <a:solidFill>
                  <a:schemeClr val="bg1"/>
                </a:solidFill>
              </a:rPr>
              <a:t>), 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noProof="1">
                <a:solidFill>
                  <a:schemeClr val="bg1"/>
                </a:solidFill>
              </a:rPr>
              <a:t>={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1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2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noProof="1">
                <a:solidFill>
                  <a:schemeClr val="bg1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}, </a:t>
            </a:r>
            <a:r>
              <a:rPr lang="zh-CN" altLang="en-US" sz="2400" noProof="1">
                <a:solidFill>
                  <a:schemeClr val="bg1"/>
                </a:solidFill>
              </a:rPr>
              <a:t>可达矩阵</a:t>
            </a:r>
            <a:r>
              <a:rPr lang="en-US" altLang="zh-CN" sz="2400" i="1" noProof="1">
                <a:solidFill>
                  <a:schemeClr val="bg1"/>
                </a:solidFill>
              </a:rPr>
              <a:t>P</a:t>
            </a:r>
            <a:r>
              <a:rPr lang="en-US" altLang="zh-CN" sz="2400" noProof="1">
                <a:solidFill>
                  <a:schemeClr val="bg1"/>
                </a:solidFill>
              </a:rPr>
              <a:t>=(</a:t>
            </a:r>
            <a:r>
              <a:rPr lang="en-US" altLang="zh-CN" sz="2400" i="1" noProof="1">
                <a:solidFill>
                  <a:schemeClr val="bg1"/>
                </a:solidFill>
              </a:rPr>
              <a:t>p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ij</a:t>
            </a:r>
            <a:r>
              <a:rPr lang="en-US" altLang="zh-CN" sz="2400" noProof="1">
                <a:solidFill>
                  <a:schemeClr val="bg1"/>
                </a:solidFill>
              </a:rPr>
              <a:t>)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×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endParaRPr lang="zh-CN" altLang="en-US" sz="2400" i="1" noProof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3604" y="4041594"/>
            <a:ext cx="9348569" cy="2343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可达矩阵的计算方法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None/>
            </a:pPr>
            <a:r>
              <a:rPr lang="zh-CN" altLang="en-US" sz="1600" noProof="1"/>
              <a:t>        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ij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None/>
            </a:pP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ij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长度不大于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包括长度为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不同通路的数目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连通或可达 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ij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≠0</a:t>
            </a:r>
          </a:p>
        </p:txBody>
      </p:sp>
      <p:graphicFrame>
        <p:nvGraphicFramePr>
          <p:cNvPr id="8" name="对象 131085"/>
          <p:cNvGraphicFramePr/>
          <p:nvPr/>
        </p:nvGraphicFramePr>
        <p:xfrm>
          <a:off x="6030228" y="4273235"/>
          <a:ext cx="1064939" cy="1038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r:id="rId3" imgW="289560" imgH="329565" progId="">
                  <p:embed/>
                </p:oleObj>
              </mc:Choice>
              <mc:Fallback>
                <p:oleObj r:id="rId3" imgW="289560" imgH="329565" progId="">
                  <p:embed/>
                  <p:pic>
                    <p:nvPicPr>
                      <p:cNvPr id="0" name="Picture 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228" y="4273235"/>
                        <a:ext cx="1064939" cy="10387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631504" y="2795776"/>
                <a:ext cx="1317348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/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2795776"/>
                <a:ext cx="1317348" cy="1179105"/>
              </a:xfrm>
              <a:prstGeom prst="rect">
                <a:avLst/>
              </a:prstGeom>
              <a:blipFill rotWithShape="1">
                <a:blip r:embed="rId5"/>
                <a:stretch>
                  <a:fillRect l="-14" t="-43" r="4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3088532" y="2659484"/>
            <a:ext cx="3242106" cy="728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是可达的</a:t>
            </a:r>
            <a:r>
              <a:rPr lang="en-US" altLang="zh-CN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是有向图</a:t>
            </a:r>
            <a:endParaRPr lang="en-US" altLang="zh-CN" sz="18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是连通的</a:t>
            </a:r>
            <a:r>
              <a:rPr lang="en-US" altLang="zh-CN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是无向图</a:t>
            </a:r>
            <a:endParaRPr lang="en-US" altLang="zh-CN" sz="18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88532" y="3516738"/>
            <a:ext cx="646331" cy="3963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否则</a:t>
            </a:r>
            <a:endParaRPr lang="en-US" altLang="zh-CN" sz="18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7.3.3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矩阵计算与连通性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52406" y="1522346"/>
            <a:ext cx="11044193" cy="102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7.3.7</a:t>
            </a:r>
            <a:r>
              <a:rPr lang="zh-CN" altLang="en-US" sz="2400" dirty="0"/>
              <a:t>  </a:t>
            </a:r>
            <a:r>
              <a:rPr lang="zh-CN" altLang="en-US" dirty="0"/>
              <a:t>可达矩阵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noProof="1">
                <a:solidFill>
                  <a:schemeClr val="bg1"/>
                </a:solidFill>
              </a:rPr>
              <a:t>      </a:t>
            </a:r>
            <a:r>
              <a:rPr lang="zh-CN" altLang="zh-CN" sz="2400" noProof="1">
                <a:solidFill>
                  <a:schemeClr val="bg1"/>
                </a:solidFill>
              </a:rPr>
              <a:t>图</a:t>
            </a:r>
            <a:r>
              <a:rPr lang="en-US" altLang="zh-CN" sz="2400" i="1" noProof="1">
                <a:solidFill>
                  <a:schemeClr val="bg1"/>
                </a:solidFill>
              </a:rPr>
              <a:t>G</a:t>
            </a:r>
            <a:r>
              <a:rPr lang="en-US" altLang="zh-CN" sz="2400" noProof="1">
                <a:solidFill>
                  <a:schemeClr val="bg1"/>
                </a:solidFill>
              </a:rPr>
              <a:t>=(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E</a:t>
            </a:r>
            <a:r>
              <a:rPr lang="en-US" altLang="zh-CN" sz="2400" noProof="1">
                <a:solidFill>
                  <a:schemeClr val="bg1"/>
                </a:solidFill>
              </a:rPr>
              <a:t>), 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noProof="1">
                <a:solidFill>
                  <a:schemeClr val="bg1"/>
                </a:solidFill>
              </a:rPr>
              <a:t>={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1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2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noProof="1">
                <a:solidFill>
                  <a:schemeClr val="bg1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noProof="1">
                <a:solidFill>
                  <a:schemeClr val="bg1"/>
                </a:solidFill>
              </a:rPr>
              <a:t>,</a:t>
            </a:r>
            <a:r>
              <a:rPr lang="en-US" altLang="zh-CN" sz="2400" i="1" noProof="1">
                <a:solidFill>
                  <a:schemeClr val="bg1"/>
                </a:solidFill>
              </a:rPr>
              <a:t>v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}, </a:t>
            </a:r>
            <a:r>
              <a:rPr lang="zh-CN" altLang="en-US" sz="2400" noProof="1">
                <a:solidFill>
                  <a:schemeClr val="bg1"/>
                </a:solidFill>
              </a:rPr>
              <a:t>可达矩阵</a:t>
            </a:r>
            <a:r>
              <a:rPr lang="en-US" altLang="zh-CN" sz="2400" i="1" noProof="1">
                <a:solidFill>
                  <a:schemeClr val="bg1"/>
                </a:solidFill>
              </a:rPr>
              <a:t>P</a:t>
            </a:r>
            <a:r>
              <a:rPr lang="en-US" altLang="zh-CN" sz="2400" noProof="1">
                <a:solidFill>
                  <a:schemeClr val="bg1"/>
                </a:solidFill>
              </a:rPr>
              <a:t>=(</a:t>
            </a:r>
            <a:r>
              <a:rPr lang="en-US" altLang="zh-CN" sz="2400" i="1" noProof="1">
                <a:solidFill>
                  <a:schemeClr val="bg1"/>
                </a:solidFill>
              </a:rPr>
              <a:t>p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ij</a:t>
            </a:r>
            <a:r>
              <a:rPr lang="en-US" altLang="zh-CN" sz="2400" noProof="1">
                <a:solidFill>
                  <a:schemeClr val="bg1"/>
                </a:solidFill>
              </a:rPr>
              <a:t>)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r>
              <a:rPr lang="en-US" altLang="zh-CN" sz="2400" baseline="-25000" noProof="1">
                <a:solidFill>
                  <a:schemeClr val="bg1"/>
                </a:solidFill>
              </a:rPr>
              <a:t>×</a:t>
            </a:r>
            <a:r>
              <a:rPr lang="en-US" altLang="zh-CN" sz="2400" i="1" baseline="-25000" noProof="1">
                <a:solidFill>
                  <a:schemeClr val="bg1"/>
                </a:solidFill>
              </a:rPr>
              <a:t>n</a:t>
            </a:r>
            <a:endParaRPr lang="zh-CN" altLang="en-US" sz="2400" i="1" noProof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0920" y="4226493"/>
            <a:ext cx="10305600" cy="1227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求最短通路（不同顶点）的</a:t>
            </a:r>
            <a:r>
              <a:rPr lang="zh-CN" altLang="en-US" sz="2800" b="0" noProof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长度</a:t>
            </a:r>
          </a:p>
          <a:p>
            <a:pPr>
              <a:lnSpc>
                <a:spcPct val="150000"/>
              </a:lnSpc>
              <a:buSzPct val="100000"/>
            </a:pPr>
            <a:r>
              <a:rPr lang="zh-CN" altLang="en-US" sz="1600" noProof="1"/>
              <a:t>       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依次计算邻接矩阵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baseline="30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，对应位置谁先非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，最短通路就是几。</a:t>
            </a:r>
            <a:endParaRPr lang="en-US" altLang="zh-CN" sz="2400" b="0" baseline="3000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631504" y="2795776"/>
                <a:ext cx="1317348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e/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2795776"/>
                <a:ext cx="1317348" cy="1179105"/>
              </a:xfrm>
              <a:prstGeom prst="rect">
                <a:avLst/>
              </a:prstGeom>
              <a:blipFill rotWithShape="1">
                <a:blip r:embed="rId2"/>
                <a:stretch>
                  <a:fillRect l="-14" t="-43" r="4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3088532" y="2659484"/>
            <a:ext cx="3242106" cy="728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是可达的</a:t>
            </a:r>
            <a:r>
              <a:rPr lang="en-US" altLang="zh-CN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是有向图</a:t>
            </a:r>
            <a:endParaRPr lang="en-US" altLang="zh-CN" sz="18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8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18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是连通的</a:t>
            </a:r>
            <a:r>
              <a:rPr lang="en-US" altLang="zh-CN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en-US" altLang="zh-CN" sz="18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是无向图</a:t>
            </a:r>
            <a:endParaRPr lang="en-US" altLang="zh-CN" sz="18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88532" y="3530419"/>
            <a:ext cx="646331" cy="3963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否则</a:t>
            </a:r>
            <a:endParaRPr lang="en-US" altLang="zh-CN" sz="18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7.3.3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矩阵计算与连通性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153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14, *15, 16, 17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52425" y="1652364"/>
            <a:ext cx="11576223" cy="23762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设简单无向图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)≥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≥1),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有长度为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的基本通路</a:t>
            </a:r>
            <a:r>
              <a:rPr lang="zh-CN" altLang="pt-BR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证明：若无向图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没有长度为奇数的基本回路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没有任何长度为奇数的回路。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证明：在任何无向图中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任何奇数度的顶点都有通路到某个其他的奇数度顶点。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分别求出下列三个无向图的各个连通分量。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2356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4122477"/>
            <a:ext cx="7763400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1966</Words>
  <Application>Microsoft Office PowerPoint</Application>
  <PresentationFormat>宽屏</PresentationFormat>
  <Paragraphs>158</Paragraphs>
  <Slides>19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华文细黑</vt:lpstr>
      <vt:lpstr>楷体_GB2312</vt:lpstr>
      <vt:lpstr>宋体</vt:lpstr>
      <vt:lpstr>微软雅黑</vt:lpstr>
      <vt:lpstr>Arial</vt:lpstr>
      <vt:lpstr>Calibri</vt:lpstr>
      <vt:lpstr>Cambria Math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890</cp:revision>
  <dcterms:created xsi:type="dcterms:W3CDTF">2008-05-09T05:16:00Z</dcterms:created>
  <dcterms:modified xsi:type="dcterms:W3CDTF">2026-06-01T01:24:08Z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2F581FA0E35649D99877480D5C75ADC6_12</vt:lpwstr>
  </property>
  <property fmtid="{D5CDD505-2E9C-101B-9397-08002B2CF9AE}" pid="3" name="KSOProductBuildVer">
    <vt:lpwstr>2052-12.1.0.16729</vt:lpwstr>
  </property>
</Properties>
</file>