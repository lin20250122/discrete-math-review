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7" r:id="rId2"/>
    <p:sldId id="377" r:id="rId3"/>
    <p:sldId id="338" r:id="rId4"/>
    <p:sldId id="418" r:id="rId5"/>
    <p:sldId id="419" r:id="rId6"/>
    <p:sldId id="420" r:id="rId7"/>
    <p:sldId id="421" r:id="rId8"/>
    <p:sldId id="331" r:id="rId9"/>
    <p:sldId id="329" r:id="rId10"/>
    <p:sldId id="295" r:id="rId11"/>
    <p:sldId id="422" r:id="rId12"/>
    <p:sldId id="319" r:id="rId13"/>
    <p:sldId id="279" r:id="rId14"/>
    <p:sldId id="320" r:id="rId15"/>
    <p:sldId id="318" r:id="rId16"/>
    <p:sldId id="330" r:id="rId17"/>
    <p:sldId id="399" r:id="rId18"/>
  </p:sldIdLst>
  <p:sldSz cx="12192000" cy="6858000"/>
  <p:notesSz cx="6858000" cy="9144000"/>
  <p:custDataLst>
    <p:tags r:id="rId20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7C80"/>
    <a:srgbClr val="FFCC99"/>
    <a:srgbClr val="FFCCFF"/>
    <a:srgbClr val="FFFF00"/>
    <a:srgbClr val="FF3300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98" autoAdjust="0"/>
    <p:restoredTop sz="79369" autoAdjust="0"/>
  </p:normalViewPr>
  <p:slideViewPr>
    <p:cSldViewPr showGuides="1">
      <p:cViewPr varScale="1">
        <p:scale>
          <a:sx n="62" d="100"/>
          <a:sy n="62" d="100"/>
        </p:scale>
        <p:origin x="82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>
                <a:latin typeface="Arial" panose="020B0604020202020204" pitchFamily="34" charset="0"/>
              </a:defRPr>
            </a:lvl1pPr>
          </a:lstStyle>
          <a:p>
            <a:fld id="{BADCFBF9-860F-4F90-B134-F893524A9FE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对于任何正整数 𝑛 ，关系 𝑅 的 𝑛 次幂的逆等于 𝑅 的逆的 𝑛 次幂。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都小于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时，成立；</a:t>
            </a:r>
            <a:endParaRPr lang="en-US" altLang="zh-CN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的符号相反时，不成立，可以举反例；</a:t>
            </a:r>
            <a:endParaRPr lang="en-US" altLang="zh-CN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023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17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F6A5AF-1443-405D-A63C-1DA2EF827E5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>
            <a:spLocks noChangeArrowheads="1"/>
          </p:cNvSpPr>
          <p:nvPr userDrawn="1"/>
        </p:nvSpPr>
        <p:spPr bwMode="auto">
          <a:xfrm>
            <a:off x="11208568" y="24879"/>
            <a:ext cx="90281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1400" b="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离散数学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1424" y="50195"/>
            <a:ext cx="10972800" cy="1143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003399"/>
                </a:solidFill>
              </a:defRPr>
            </a:lvl1pPr>
          </a:lstStyle>
          <a:p>
            <a:fld id="{9D73877B-74AE-4634-8955-8B92B699D7D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1CD6DC-2977-469C-827E-1A1841E80F8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2FC91A-76FC-48FB-8078-168CC0EC637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>
            <a:spLocks noChangeArrowheads="1"/>
          </p:cNvSpPr>
          <p:nvPr userDrawn="1"/>
        </p:nvSpPr>
        <p:spPr bwMode="auto">
          <a:xfrm>
            <a:off x="10920536" y="11309"/>
            <a:ext cx="122569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14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4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14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关系</a:t>
            </a:r>
            <a:endParaRPr lang="en-US" altLang="zh-CN" sz="1400" b="0" dirty="0">
              <a:solidFill>
                <a:srgbClr val="7F7F7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472F5C-1417-4827-93CA-7FE37B1FF37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圆角矩形 4"/>
          <p:cNvSpPr>
            <a:spLocks noChangeArrowheads="1"/>
          </p:cNvSpPr>
          <p:nvPr userDrawn="1"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024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102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6AE5D76-CF1E-454F-94A9-D4EC84D65F17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页脚占位符 1025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17" y="6503989"/>
            <a:ext cx="812800" cy="238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400" b="0">
                <a:solidFill>
                  <a:srgbClr val="7F7F7F"/>
                </a:solidFill>
                <a:latin typeface="Arial" panose="020B0604020202020204" pitchFamily="34" charset="0"/>
              </a:defRPr>
            </a:lvl1pPr>
          </a:lstStyle>
          <a:p>
            <a:fld id="{56FB0DFF-F635-4648-B05A-78129B270A74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 txBox="1">
            <a:spLocks noChangeArrowheads="1"/>
          </p:cNvSpPr>
          <p:nvPr/>
        </p:nvSpPr>
        <p:spPr bwMode="auto">
          <a:xfrm>
            <a:off x="2135188" y="1773238"/>
            <a:ext cx="7772400" cy="1583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5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第五章 关系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495600" y="4149080"/>
            <a:ext cx="7772400" cy="1727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华东师范大学计算机科学与技术学院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主讲教师：卢兴见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1127448" y="1988840"/>
            <a:ext cx="302433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基本要求</a:t>
            </a:r>
            <a:endParaRPr lang="en-US" altLang="zh-CN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35560" y="2709842"/>
            <a:ext cx="9001000" cy="719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20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二元关系</a:t>
            </a:r>
            <a:r>
              <a:rPr lang="zh-CN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运算及其性质</a:t>
            </a:r>
            <a:endParaRPr lang="en-US" altLang="zh-CN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76462" y="3792091"/>
            <a:ext cx="355138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eaLnBrk="1" hangingPunct="1">
              <a:spcBef>
                <a:spcPct val="20000"/>
              </a:spcBef>
              <a:buNone/>
              <a:defRPr sz="32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zh-CN" dirty="0"/>
              <a:t>教学重点和难点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2135560" y="4440163"/>
            <a:ext cx="9001000" cy="719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20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二元关系的运算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性质的证明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关系的运算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5" grpId="0" uiExpand="1" build="p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4943872" y="116632"/>
            <a:ext cx="48245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本节内容要点</a:t>
            </a: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1703512" y="2578391"/>
            <a:ext cx="29388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5.2.1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关系的基本运算</a:t>
            </a:r>
            <a:endParaRPr lang="zh-CN" altLang="en-US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828529" y="4722016"/>
            <a:ext cx="31118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5.2.2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关系运算的性质</a:t>
            </a:r>
            <a:endParaRPr lang="zh-CN" altLang="en-US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AutoShape 6"/>
          <p:cNvSpPr/>
          <p:nvPr/>
        </p:nvSpPr>
        <p:spPr bwMode="auto">
          <a:xfrm>
            <a:off x="4673973" y="1931064"/>
            <a:ext cx="358775" cy="1756320"/>
          </a:xfrm>
          <a:prstGeom prst="leftBrace">
            <a:avLst>
              <a:gd name="adj1" fmla="val 3220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5013698" y="1747395"/>
            <a:ext cx="3602582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逆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复合</a:t>
            </a: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幂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限制</a:t>
            </a:r>
          </a:p>
        </p:txBody>
      </p:sp>
      <p:sp>
        <p:nvSpPr>
          <p:cNvPr id="6" name="AutoShape 8"/>
          <p:cNvSpPr/>
          <p:nvPr/>
        </p:nvSpPr>
        <p:spPr bwMode="auto">
          <a:xfrm>
            <a:off x="4642397" y="4653136"/>
            <a:ext cx="328613" cy="807543"/>
          </a:xfrm>
          <a:prstGeom prst="leftBrace">
            <a:avLst>
              <a:gd name="adj1" fmla="val 3216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5011723" y="4445016"/>
            <a:ext cx="471983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关于逆与复合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定理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5.2.1</a:t>
            </a: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关于幂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定理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5.2.2,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个推论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" grpId="0"/>
      <p:bldP spid="3" grpId="0"/>
      <p:bldP spid="4" grpId="0" animBg="1"/>
      <p:bldP spid="5" grpId="0"/>
      <p:bldP spid="6" grpId="0" animBg="1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889902" y="4115036"/>
            <a:ext cx="4988997" cy="538994"/>
          </a:xfr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Clr>
                <a:srgbClr val="FF9900"/>
              </a:buClr>
              <a:buSzPct val="80000"/>
              <a:buFont typeface="Wingdings" panose="05000000000000000000" pitchFamily="2" charset="2"/>
              <a:buNone/>
            </a:pPr>
            <a:r>
              <a:rPr lang="pt-BR" altLang="zh-CN" sz="22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en-US" altLang="zh-CN" sz="2200" b="0" i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200" b="0" baseline="300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-1 </a:t>
            </a:r>
            <a:r>
              <a:rPr kumimoji="1" lang="pt-BR" altLang="zh-CN" sz="2200" kern="12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={(1,</a:t>
            </a:r>
            <a:r>
              <a:rPr kumimoji="1" lang="pt-BR" altLang="zh-CN" sz="2200" i="1" kern="12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pt-BR" altLang="zh-CN" sz="2200" kern="12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(2,</a:t>
            </a:r>
            <a:r>
              <a:rPr kumimoji="1" lang="pt-BR" altLang="zh-CN" sz="2200" i="1" kern="12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1" lang="pt-BR" altLang="zh-CN" sz="2200" kern="12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),(1,</a:t>
            </a:r>
            <a:r>
              <a:rPr kumimoji="1" lang="pt-BR" altLang="zh-CN" sz="2200" i="1" kern="12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1" lang="pt-BR" altLang="zh-CN" sz="2200" kern="12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)}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5.2.1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关系的基本运算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07368" y="1581594"/>
            <a:ext cx="392443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关系的集合运算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960096" y="2122076"/>
            <a:ext cx="4918803" cy="104797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 eaLnBrk="1" hangingPunct="1">
              <a:lnSpc>
                <a:spcPct val="150000"/>
              </a:lnSpc>
              <a:buClr>
                <a:srgbClr val="FF9900"/>
              </a:buClr>
              <a:buSzPct val="80000"/>
              <a:buFont typeface="Wingdings" panose="05000000000000000000" pitchFamily="2" charset="2"/>
              <a:buChar char="l"/>
              <a:defRPr sz="22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marL="0" indent="0">
              <a:buNone/>
            </a:pPr>
            <a:r>
              <a:rPr lang="en-US" altLang="zh-CN" i="1" dirty="0">
                <a:solidFill>
                  <a:srgbClr val="92D050"/>
                </a:solidFill>
              </a:rPr>
              <a:t>X</a:t>
            </a:r>
            <a:r>
              <a:rPr lang="en-US" altLang="zh-CN" dirty="0">
                <a:solidFill>
                  <a:srgbClr val="92D050"/>
                </a:solidFill>
              </a:rPr>
              <a:t>={</a:t>
            </a:r>
            <a:r>
              <a:rPr lang="en-US" altLang="zh-CN" i="1" dirty="0" err="1">
                <a:solidFill>
                  <a:srgbClr val="92D050"/>
                </a:solidFill>
              </a:rPr>
              <a:t>a</a:t>
            </a:r>
            <a:r>
              <a:rPr lang="en-US" altLang="zh-CN" dirty="0" err="1">
                <a:solidFill>
                  <a:srgbClr val="92D050"/>
                </a:solidFill>
              </a:rPr>
              <a:t>,</a:t>
            </a:r>
            <a:r>
              <a:rPr lang="en-US" altLang="zh-CN" i="1" dirty="0" err="1">
                <a:solidFill>
                  <a:srgbClr val="92D050"/>
                </a:solidFill>
              </a:rPr>
              <a:t>b</a:t>
            </a:r>
            <a:r>
              <a:rPr lang="en-US" altLang="zh-CN" dirty="0" err="1">
                <a:solidFill>
                  <a:srgbClr val="92D050"/>
                </a:solidFill>
              </a:rPr>
              <a:t>,</a:t>
            </a:r>
            <a:r>
              <a:rPr lang="en-US" altLang="zh-CN" i="1" dirty="0" err="1">
                <a:solidFill>
                  <a:srgbClr val="92D050"/>
                </a:solidFill>
              </a:rPr>
              <a:t>c</a:t>
            </a:r>
            <a:r>
              <a:rPr lang="en-US" altLang="zh-CN" dirty="0">
                <a:solidFill>
                  <a:srgbClr val="92D050"/>
                </a:solidFill>
              </a:rPr>
              <a:t>},</a:t>
            </a:r>
            <a:r>
              <a:rPr lang="en-US" altLang="zh-CN" i="1" dirty="0">
                <a:solidFill>
                  <a:srgbClr val="92D050"/>
                </a:solidFill>
              </a:rPr>
              <a:t>Y</a:t>
            </a:r>
            <a:r>
              <a:rPr lang="en-US" altLang="zh-CN" dirty="0">
                <a:solidFill>
                  <a:srgbClr val="92D050"/>
                </a:solidFill>
              </a:rPr>
              <a:t>={1,2}, </a:t>
            </a:r>
            <a:r>
              <a:rPr lang="pt-BR" altLang="zh-CN" i="1" dirty="0">
                <a:solidFill>
                  <a:srgbClr val="92D050"/>
                </a:solidFill>
              </a:rPr>
              <a:t>R</a:t>
            </a:r>
            <a:r>
              <a:rPr lang="pt-BR" altLang="zh-CN" dirty="0">
                <a:solidFill>
                  <a:srgbClr val="92D050"/>
                </a:solidFill>
              </a:rPr>
              <a:t>={(</a:t>
            </a:r>
            <a:r>
              <a:rPr lang="pt-BR" altLang="zh-CN" i="1" dirty="0">
                <a:solidFill>
                  <a:srgbClr val="92D050"/>
                </a:solidFill>
              </a:rPr>
              <a:t>a</a:t>
            </a:r>
            <a:r>
              <a:rPr lang="pt-BR" altLang="zh-CN" dirty="0">
                <a:solidFill>
                  <a:srgbClr val="92D050"/>
                </a:solidFill>
              </a:rPr>
              <a:t>,1),(</a:t>
            </a:r>
            <a:r>
              <a:rPr lang="pt-BR" altLang="zh-CN" i="1" dirty="0">
                <a:solidFill>
                  <a:srgbClr val="92D050"/>
                </a:solidFill>
              </a:rPr>
              <a:t>b</a:t>
            </a:r>
            <a:r>
              <a:rPr lang="pt-BR" altLang="zh-CN" dirty="0">
                <a:solidFill>
                  <a:srgbClr val="92D050"/>
                </a:solidFill>
              </a:rPr>
              <a:t>,2),(</a:t>
            </a:r>
            <a:r>
              <a:rPr lang="pt-BR" altLang="zh-CN" i="1" dirty="0">
                <a:solidFill>
                  <a:srgbClr val="92D050"/>
                </a:solidFill>
              </a:rPr>
              <a:t>c</a:t>
            </a:r>
            <a:r>
              <a:rPr lang="pt-BR" altLang="zh-CN" dirty="0">
                <a:solidFill>
                  <a:srgbClr val="92D050"/>
                </a:solidFill>
              </a:rPr>
              <a:t>,1)}</a:t>
            </a:r>
          </a:p>
          <a:p>
            <a:pPr marL="0" indent="0">
              <a:buNone/>
            </a:pPr>
            <a:r>
              <a:rPr lang="pt-BR" altLang="zh-CN" dirty="0">
                <a:solidFill>
                  <a:srgbClr val="92D050"/>
                </a:solidFill>
              </a:rPr>
              <a:t>(1) </a:t>
            </a:r>
            <a:r>
              <a:rPr lang="pt-BR" altLang="zh-CN" i="1" dirty="0">
                <a:solidFill>
                  <a:srgbClr val="92D050"/>
                </a:solidFill>
              </a:rPr>
              <a:t>R</a:t>
            </a:r>
            <a:r>
              <a:rPr lang="en-US" altLang="zh-CN" baseline="-25000" dirty="0">
                <a:solidFill>
                  <a:srgbClr val="92D050"/>
                </a:solidFill>
              </a:rPr>
              <a:t>1</a:t>
            </a:r>
            <a:r>
              <a:rPr lang="pt-BR" altLang="zh-CN" dirty="0">
                <a:solidFill>
                  <a:srgbClr val="92D050"/>
                </a:solidFill>
              </a:rPr>
              <a:t>=</a:t>
            </a:r>
            <a:r>
              <a:rPr lang="pt-BR" altLang="zh-CN" i="1" dirty="0">
                <a:solidFill>
                  <a:srgbClr val="92D050"/>
                </a:solidFill>
              </a:rPr>
              <a:t>X</a:t>
            </a:r>
            <a:r>
              <a:rPr lang="pt-BR" altLang="zh-CN" dirty="0">
                <a:solidFill>
                  <a:srgbClr val="92D050"/>
                </a:solidFill>
              </a:rPr>
              <a:t>×</a:t>
            </a:r>
            <a:r>
              <a:rPr lang="pt-BR" altLang="zh-CN" i="1" dirty="0">
                <a:solidFill>
                  <a:srgbClr val="92D050"/>
                </a:solidFill>
              </a:rPr>
              <a:t>Y</a:t>
            </a:r>
            <a:r>
              <a:rPr lang="pt-BR" altLang="zh-CN" dirty="0">
                <a:solidFill>
                  <a:srgbClr val="92D050"/>
                </a:solidFill>
              </a:rPr>
              <a:t>-</a:t>
            </a:r>
            <a:r>
              <a:rPr lang="pt-BR" altLang="zh-CN" i="1" dirty="0">
                <a:solidFill>
                  <a:srgbClr val="92D050"/>
                </a:solidFill>
              </a:rPr>
              <a:t>R</a:t>
            </a:r>
            <a:r>
              <a:rPr lang="pt-BR" altLang="zh-CN" dirty="0">
                <a:solidFill>
                  <a:srgbClr val="92D050"/>
                </a:solidFill>
              </a:rPr>
              <a:t>={(</a:t>
            </a:r>
            <a:r>
              <a:rPr lang="pt-BR" altLang="zh-CN" i="1" dirty="0">
                <a:solidFill>
                  <a:srgbClr val="92D050"/>
                </a:solidFill>
              </a:rPr>
              <a:t>a</a:t>
            </a:r>
            <a:r>
              <a:rPr lang="pt-BR" altLang="zh-CN" dirty="0">
                <a:solidFill>
                  <a:srgbClr val="92D050"/>
                </a:solidFill>
              </a:rPr>
              <a:t>,2), (</a:t>
            </a:r>
            <a:r>
              <a:rPr lang="pt-BR" altLang="zh-CN" i="1" dirty="0">
                <a:solidFill>
                  <a:srgbClr val="92D050"/>
                </a:solidFill>
              </a:rPr>
              <a:t>b</a:t>
            </a:r>
            <a:r>
              <a:rPr lang="pt-BR" altLang="zh-CN" dirty="0">
                <a:solidFill>
                  <a:srgbClr val="92D050"/>
                </a:solidFill>
              </a:rPr>
              <a:t>,1),(</a:t>
            </a:r>
            <a:r>
              <a:rPr lang="pt-BR" altLang="zh-CN" i="1" dirty="0">
                <a:solidFill>
                  <a:srgbClr val="92D050"/>
                </a:solidFill>
              </a:rPr>
              <a:t>c</a:t>
            </a:r>
            <a:r>
              <a:rPr lang="pt-BR" altLang="zh-CN" dirty="0">
                <a:solidFill>
                  <a:srgbClr val="92D050"/>
                </a:solidFill>
              </a:rPr>
              <a:t>,2)} </a:t>
            </a:r>
            <a:endParaRPr lang="zh-CN" altLang="en-US" dirty="0">
              <a:solidFill>
                <a:srgbClr val="92D05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12683" y="4114267"/>
            <a:ext cx="6103397" cy="1047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FF9900"/>
              </a:buClr>
              <a:buSzPct val="80000"/>
              <a:defRPr/>
            </a:pP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的逆关系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200" b="0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的二元关系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,{(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)|(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  <a:buClr>
                <a:srgbClr val="FF9900"/>
              </a:buClr>
              <a:buSzPct val="80000"/>
              <a:defRPr/>
            </a:pP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的关系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84061" y="5614481"/>
            <a:ext cx="288032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注意补与逆的不同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686367" y="4988977"/>
            <a:ext cx="6203643" cy="104817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eaLnBrk="1" hangingPunct="1">
              <a:lnSpc>
                <a:spcPct val="150000"/>
              </a:lnSpc>
              <a:buClr>
                <a:srgbClr val="FF9900"/>
              </a:buClr>
              <a:buSzPct val="80000"/>
              <a:buFont typeface="Wingdings" panose="05000000000000000000" pitchFamily="2" charset="2"/>
              <a:buNone/>
              <a:defRPr sz="22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>
                <a:solidFill>
                  <a:srgbClr val="92D050"/>
                </a:solidFill>
              </a:rPr>
              <a:t>实数集上的小于关系</a:t>
            </a:r>
            <a:r>
              <a:rPr lang="en-US" altLang="zh-CN" dirty="0">
                <a:solidFill>
                  <a:srgbClr val="92D050"/>
                </a:solidFill>
              </a:rPr>
              <a:t>“&lt;”</a:t>
            </a:r>
            <a:r>
              <a:rPr lang="zh-CN" altLang="en-US" dirty="0">
                <a:solidFill>
                  <a:srgbClr val="92D050"/>
                </a:solidFill>
              </a:rPr>
              <a:t>的逆是大于关系</a:t>
            </a:r>
            <a:r>
              <a:rPr lang="en-US" altLang="zh-CN" dirty="0">
                <a:solidFill>
                  <a:srgbClr val="92D050"/>
                </a:solidFill>
              </a:rPr>
              <a:t>“&gt;”</a:t>
            </a:r>
          </a:p>
          <a:p>
            <a:r>
              <a:rPr lang="zh-CN" altLang="en-US" dirty="0">
                <a:solidFill>
                  <a:srgbClr val="92D050"/>
                </a:solidFill>
              </a:rPr>
              <a:t>实数集上的小于关系</a:t>
            </a:r>
            <a:r>
              <a:rPr lang="en-US" altLang="zh-CN" dirty="0">
                <a:solidFill>
                  <a:srgbClr val="92D050"/>
                </a:solidFill>
              </a:rPr>
              <a:t>“&lt;”</a:t>
            </a:r>
            <a:r>
              <a:rPr lang="zh-CN" altLang="en-US" dirty="0">
                <a:solidFill>
                  <a:srgbClr val="92D050"/>
                </a:solidFill>
              </a:rPr>
              <a:t>的补是大于等于</a:t>
            </a:r>
            <a:r>
              <a:rPr lang="en-US" altLang="zh-CN" dirty="0">
                <a:solidFill>
                  <a:srgbClr val="92D050"/>
                </a:solidFill>
              </a:rPr>
              <a:t>“</a:t>
            </a:r>
            <a:r>
              <a:rPr lang="zh-CN" altLang="en-US" dirty="0">
                <a:solidFill>
                  <a:srgbClr val="92D050"/>
                </a:solidFill>
              </a:rPr>
              <a:t>≥</a:t>
            </a:r>
            <a:r>
              <a:rPr lang="en-US" altLang="zh-CN" dirty="0">
                <a:solidFill>
                  <a:srgbClr val="92D050"/>
                </a:solidFill>
              </a:rPr>
              <a:t>”</a:t>
            </a:r>
            <a:endParaRPr lang="zh-CN" altLang="en-US" dirty="0">
              <a:solidFill>
                <a:srgbClr val="92D05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20065" y="2104814"/>
            <a:ext cx="2808312" cy="1047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1" hangingPunct="1">
              <a:lnSpc>
                <a:spcPct val="150000"/>
              </a:lnSpc>
              <a:buClr>
                <a:srgbClr val="FF9900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∪、∩、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</a:t>
            </a:r>
            <a:endParaRPr lang="zh-CN" altLang="en-US" sz="22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eaLnBrk="1" hangingPunct="1">
              <a:lnSpc>
                <a:spcPct val="150000"/>
              </a:lnSpc>
              <a:buClr>
                <a:srgbClr val="FF9900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全集为全关系  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405868" y="3462786"/>
            <a:ext cx="403244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定义</a:t>
            </a:r>
            <a:r>
              <a:rPr lang="en-US" altLang="zh-CN" dirty="0"/>
              <a:t>5.2.1  </a:t>
            </a:r>
            <a:r>
              <a:rPr lang="zh-CN" altLang="en-US" dirty="0"/>
              <a:t>关系的逆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5588987" y="2211284"/>
            <a:ext cx="13711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5.2.1</a:t>
            </a:r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build="p"/>
      <p:bldP spid="4" grpId="0"/>
      <p:bldP spid="6" grpId="0"/>
      <p:bldP spid="12" grpId="0" animBg="1"/>
      <p:bldP spid="20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055440" y="2234353"/>
            <a:ext cx="9433049" cy="1132811"/>
          </a:xfr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的复合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的关系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的关系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的关系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={(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)|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1" lang="en-US" altLang="zh-CN" sz="2400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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400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400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</p:txBody>
      </p:sp>
      <p:pic>
        <p:nvPicPr>
          <p:cNvPr id="6148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632" y="3643678"/>
            <a:ext cx="5473674" cy="1908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5.2.1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关系的基本运算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567608" y="5733256"/>
            <a:ext cx="7373476" cy="579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0" indent="0" eaLnBrk="1" hangingPunct="1">
              <a:lnSpc>
                <a:spcPct val="150000"/>
              </a:lnSpc>
              <a:buNone/>
              <a:defRPr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b="0" dirty="0">
                <a:solidFill>
                  <a:srgbClr val="FF7C80"/>
                </a:solidFill>
              </a:rPr>
              <a:t>类比函数的复合  </a:t>
            </a:r>
            <a:r>
              <a:rPr lang="en-US" altLang="zh-CN" b="0" dirty="0">
                <a:solidFill>
                  <a:srgbClr val="FF7C80"/>
                </a:solidFill>
              </a:rPr>
              <a:t>(</a:t>
            </a:r>
            <a:r>
              <a:rPr lang="en-US" altLang="zh-CN" b="0" i="1" dirty="0" err="1">
                <a:solidFill>
                  <a:srgbClr val="FF7C80"/>
                </a:solidFill>
              </a:rPr>
              <a:t>f</a:t>
            </a:r>
            <a:r>
              <a:rPr lang="en-US" altLang="zh-CN" b="0" dirty="0" err="1">
                <a:solidFill>
                  <a:srgbClr val="FF7C80"/>
                </a:solidFill>
                <a:sym typeface="Symbol" panose="05050102010706020507" pitchFamily="18" charset="2"/>
              </a:rPr>
              <a:t></a:t>
            </a:r>
            <a:r>
              <a:rPr lang="en-US" altLang="zh-CN" b="0" i="1" dirty="0" err="1">
                <a:solidFill>
                  <a:srgbClr val="FF7C80"/>
                </a:solidFill>
              </a:rPr>
              <a:t>g</a:t>
            </a:r>
            <a:r>
              <a:rPr lang="en-US" altLang="zh-CN" b="0" dirty="0">
                <a:solidFill>
                  <a:srgbClr val="FF7C80"/>
                </a:solidFill>
              </a:rPr>
              <a:t>)=</a:t>
            </a:r>
            <a:r>
              <a:rPr lang="en-US" altLang="zh-CN" b="0" i="1" dirty="0">
                <a:solidFill>
                  <a:srgbClr val="FF7C80"/>
                </a:solidFill>
              </a:rPr>
              <a:t>g</a:t>
            </a:r>
            <a:r>
              <a:rPr lang="en-US" altLang="zh-CN" b="0" dirty="0">
                <a:solidFill>
                  <a:srgbClr val="FF7C80"/>
                </a:solidFill>
              </a:rPr>
              <a:t>(</a:t>
            </a:r>
            <a:r>
              <a:rPr lang="en-US" altLang="zh-CN" b="0" i="1" dirty="0">
                <a:solidFill>
                  <a:srgbClr val="FF7C80"/>
                </a:solidFill>
              </a:rPr>
              <a:t>f</a:t>
            </a:r>
            <a:r>
              <a:rPr lang="en-US" altLang="zh-CN" b="0" dirty="0">
                <a:solidFill>
                  <a:srgbClr val="FF7C80"/>
                </a:solidFill>
              </a:rPr>
              <a:t>(</a:t>
            </a:r>
            <a:r>
              <a:rPr lang="en-US" altLang="zh-CN" b="0" i="1" dirty="0">
                <a:solidFill>
                  <a:srgbClr val="FF7C80"/>
                </a:solidFill>
              </a:rPr>
              <a:t>a</a:t>
            </a:r>
            <a:r>
              <a:rPr lang="en-US" altLang="zh-CN" b="0" dirty="0">
                <a:solidFill>
                  <a:srgbClr val="FF7C80"/>
                </a:solidFill>
              </a:rPr>
              <a:t>))</a:t>
            </a:r>
            <a:r>
              <a:rPr lang="zh-CN" altLang="en-US" b="0" dirty="0">
                <a:solidFill>
                  <a:srgbClr val="FF7C80"/>
                </a:solidFill>
              </a:rPr>
              <a:t>与</a:t>
            </a:r>
            <a:r>
              <a:rPr lang="en-US" altLang="zh-CN" b="0" dirty="0">
                <a:solidFill>
                  <a:srgbClr val="FF7C80"/>
                </a:solidFill>
              </a:rPr>
              <a:t>(</a:t>
            </a:r>
            <a:r>
              <a:rPr lang="en-US" altLang="zh-CN" b="0" i="1" dirty="0">
                <a:solidFill>
                  <a:srgbClr val="FF7C80"/>
                </a:solidFill>
              </a:rPr>
              <a:t>R</a:t>
            </a:r>
            <a:r>
              <a:rPr lang="en-US" altLang="zh-CN" b="0" dirty="0">
                <a:solidFill>
                  <a:srgbClr val="FF7C80"/>
                </a:solidFill>
                <a:sym typeface="Symbol" panose="05050102010706020507" pitchFamily="18" charset="2"/>
              </a:rPr>
              <a:t></a:t>
            </a:r>
            <a:r>
              <a:rPr lang="en-US" altLang="zh-CN" b="0" i="1" dirty="0">
                <a:solidFill>
                  <a:srgbClr val="FF7C80"/>
                </a:solidFill>
              </a:rPr>
              <a:t>S</a:t>
            </a:r>
            <a:r>
              <a:rPr lang="en-US" altLang="zh-CN" b="0" dirty="0">
                <a:solidFill>
                  <a:srgbClr val="FF7C80"/>
                </a:solidFill>
              </a:rPr>
              <a:t>)=</a:t>
            </a:r>
            <a:r>
              <a:rPr lang="en-US" altLang="zh-CN" b="0" i="1" dirty="0">
                <a:solidFill>
                  <a:srgbClr val="FF7C80"/>
                </a:solidFill>
              </a:rPr>
              <a:t>S</a:t>
            </a:r>
            <a:r>
              <a:rPr lang="en-US" altLang="zh-CN" b="0" dirty="0">
                <a:solidFill>
                  <a:srgbClr val="FF7C80"/>
                </a:solidFill>
              </a:rPr>
              <a:t>(</a:t>
            </a:r>
            <a:r>
              <a:rPr lang="en-US" altLang="zh-CN" b="0" i="1" dirty="0">
                <a:solidFill>
                  <a:srgbClr val="FF7C80"/>
                </a:solidFill>
              </a:rPr>
              <a:t>R</a:t>
            </a:r>
            <a:r>
              <a:rPr lang="en-US" altLang="zh-CN" b="0" dirty="0">
                <a:solidFill>
                  <a:srgbClr val="FF7C80"/>
                </a:solidFill>
              </a:rPr>
              <a:t>(</a:t>
            </a:r>
            <a:r>
              <a:rPr lang="en-US" altLang="zh-CN" b="0" i="1" dirty="0">
                <a:solidFill>
                  <a:srgbClr val="FF7C80"/>
                </a:solidFill>
              </a:rPr>
              <a:t>a</a:t>
            </a:r>
            <a:r>
              <a:rPr lang="en-US" altLang="zh-CN" b="0" dirty="0">
                <a:solidFill>
                  <a:srgbClr val="FF7C80"/>
                </a:solidFill>
              </a:rPr>
              <a:t>))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07368" y="1721795"/>
            <a:ext cx="6094476" cy="313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定义</a:t>
            </a:r>
            <a:r>
              <a:rPr lang="en-US" altLang="zh-CN" dirty="0"/>
              <a:t>5.2.2  </a:t>
            </a:r>
            <a:r>
              <a:rPr lang="zh-CN" altLang="en-US" dirty="0"/>
              <a:t>关系的复合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631504" y="1696113"/>
            <a:ext cx="7442323" cy="1509753"/>
          </a:xfrm>
        </p:spPr>
        <p:txBody>
          <a:bodyPr/>
          <a:lstStyle/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={1,2,3,4,5}, 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是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上的关系</a:t>
            </a:r>
          </a:p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       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={(1,2),(4,1),(2,3)}, 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={(4,3),(2,5),(2,3),(1,3)}</a:t>
            </a:r>
          </a:p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       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={(1,5),(1,3),(4,3)}, 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=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</a:t>
            </a:r>
            <a:endParaRPr lang="en-US" altLang="zh-CN" sz="24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5.2.1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关系的基本运算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631504" y="3756983"/>
            <a:ext cx="5256584" cy="24942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eaLnBrk="1" hangingPunct="1">
              <a:lnSpc>
                <a:spcPct val="120000"/>
              </a:lnSpc>
              <a:defRPr sz="22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i="1" dirty="0"/>
              <a:t>X</a:t>
            </a:r>
            <a:r>
              <a:rPr lang="en-US" altLang="zh-CN" dirty="0"/>
              <a:t>={1,2,3}, </a:t>
            </a:r>
            <a:r>
              <a:rPr lang="en-US" altLang="zh-CN" i="1" dirty="0"/>
              <a:t>Y</a:t>
            </a:r>
            <a:r>
              <a:rPr lang="en-US" altLang="zh-CN" dirty="0"/>
              <a:t>={1,2,3,4}, </a:t>
            </a:r>
            <a:r>
              <a:rPr lang="zh-CN" altLang="en-US" dirty="0"/>
              <a:t> </a:t>
            </a:r>
            <a:r>
              <a:rPr lang="en-US" altLang="zh-CN" i="1" dirty="0"/>
              <a:t>Z</a:t>
            </a:r>
            <a:r>
              <a:rPr lang="en-US" altLang="zh-CN" dirty="0"/>
              <a:t>={0,1,2}</a:t>
            </a:r>
          </a:p>
          <a:p>
            <a:r>
              <a:rPr lang="en-US" altLang="zh-CN" dirty="0"/>
              <a:t>         </a:t>
            </a:r>
            <a:r>
              <a:rPr lang="en-US" altLang="zh-CN" i="1" dirty="0"/>
              <a:t>R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X</a:t>
            </a:r>
            <a:r>
              <a:rPr lang="en-US" altLang="en-US" dirty="0"/>
              <a:t>×</a:t>
            </a:r>
            <a:r>
              <a:rPr lang="en-US" altLang="zh-CN" i="1" dirty="0"/>
              <a:t>Y</a:t>
            </a:r>
            <a:r>
              <a:rPr lang="zh-CN" altLang="en-US" dirty="0"/>
              <a:t>，</a:t>
            </a:r>
            <a:r>
              <a:rPr lang="en-US" altLang="zh-CN" i="1" dirty="0"/>
              <a:t>S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Y</a:t>
            </a:r>
            <a:r>
              <a:rPr lang="en-US" altLang="zh-CN" dirty="0"/>
              <a:t>×</a:t>
            </a:r>
            <a:r>
              <a:rPr lang="en-US" altLang="zh-CN" i="1" dirty="0"/>
              <a:t>Z</a:t>
            </a:r>
          </a:p>
          <a:p>
            <a:r>
              <a:rPr lang="en-US" altLang="zh-CN" dirty="0"/>
              <a:t>         </a:t>
            </a:r>
            <a:r>
              <a:rPr lang="en-US" altLang="zh-CN" i="1" dirty="0"/>
              <a:t>R</a:t>
            </a:r>
            <a:r>
              <a:rPr lang="en-US" altLang="zh-CN" dirty="0"/>
              <a:t>={(1,1), (1,4), (2,3), (3,1), (3,4)}</a:t>
            </a:r>
          </a:p>
          <a:p>
            <a:r>
              <a:rPr lang="en-US" altLang="zh-CN" dirty="0"/>
              <a:t>         </a:t>
            </a:r>
            <a:r>
              <a:rPr lang="en-US" altLang="zh-CN" i="1" dirty="0"/>
              <a:t>S</a:t>
            </a:r>
            <a:r>
              <a:rPr lang="en-US" altLang="zh-CN" dirty="0"/>
              <a:t>={(1,0), (2,0), (3,1), (3,2), (4,1)}</a:t>
            </a:r>
          </a:p>
          <a:p>
            <a:r>
              <a:rPr lang="en-US" altLang="zh-CN" dirty="0"/>
              <a:t>         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S</a:t>
            </a:r>
            <a:r>
              <a:rPr lang="en-US" altLang="zh-CN" dirty="0"/>
              <a:t>={(1,0),(1,1),(2,1),(2,2),(3,0),(3,1)}</a:t>
            </a:r>
          </a:p>
          <a:p>
            <a:r>
              <a:rPr lang="en-US" altLang="zh-CN" dirty="0">
                <a:sym typeface="Symbol" panose="05050102010706020507" pitchFamily="18" charset="2"/>
              </a:rPr>
              <a:t>         </a:t>
            </a:r>
            <a:r>
              <a:rPr lang="en-US" altLang="zh-CN" i="1" dirty="0">
                <a:sym typeface="Symbol" panose="05050102010706020507" pitchFamily="18" charset="2"/>
              </a:rPr>
              <a:t>S</a:t>
            </a:r>
            <a:r>
              <a:rPr lang="en-US" altLang="zh-CN" dirty="0"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ym typeface="Symbol" panose="05050102010706020507" pitchFamily="18" charset="2"/>
              </a:rPr>
              <a:t>R</a:t>
            </a:r>
            <a:r>
              <a:rPr lang="zh-CN" altLang="en-US" dirty="0">
                <a:sym typeface="Symbol" panose="05050102010706020507" pitchFamily="18" charset="2"/>
              </a:rPr>
              <a:t>无定义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63352" y="3767575"/>
            <a:ext cx="12961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5.2.3</a:t>
            </a:r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63352" y="1705731"/>
            <a:ext cx="1440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5.2.2</a:t>
            </a:r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888088" y="4399660"/>
            <a:ext cx="5256584" cy="1208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marL="457200" indent="-457200" eaLnBrk="1" hangingPunct="1">
              <a:lnSpc>
                <a:spcPct val="150000"/>
              </a:lnSpc>
              <a:spcBef>
                <a:spcPct val="20000"/>
              </a:spcBef>
              <a:buClr>
                <a:srgbClr val="FF7C80"/>
              </a:buClr>
              <a:buSzPct val="80000"/>
              <a:buFont typeface="Wingdings" panose="05000000000000000000" pitchFamily="2" charset="2"/>
              <a:buChar char="l"/>
              <a:defRPr sz="2400" b="0">
                <a:solidFill>
                  <a:schemeClr val="accent1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en-US" altLang="zh-CN" sz="2200" dirty="0">
                <a:solidFill>
                  <a:schemeClr val="bg1"/>
                </a:solidFill>
              </a:rPr>
              <a:t>(1)</a:t>
            </a:r>
            <a:r>
              <a:rPr lang="zh-CN" altLang="en-US" sz="2200" dirty="0">
                <a:solidFill>
                  <a:schemeClr val="bg1"/>
                </a:solidFill>
              </a:rPr>
              <a:t> </a:t>
            </a:r>
            <a:r>
              <a:rPr lang="zh-CN" altLang="en-US" sz="2200" dirty="0">
                <a:solidFill>
                  <a:schemeClr val="bg1"/>
                </a:solidFill>
                <a:sym typeface="Symbol" panose="05050102010706020507" pitchFamily="18" charset="2"/>
              </a:rPr>
              <a:t>的交换律不成立</a:t>
            </a:r>
          </a:p>
          <a:p>
            <a:pPr marL="0" indent="0">
              <a:buNone/>
            </a:pPr>
            <a:r>
              <a:rPr lang="en-US" altLang="zh-CN" sz="2200" dirty="0">
                <a:solidFill>
                  <a:schemeClr val="bg1"/>
                </a:solidFill>
                <a:sym typeface="Symbol" panose="05050102010706020507" pitchFamily="18" charset="2"/>
              </a:rPr>
              <a:t>(2)</a:t>
            </a:r>
            <a:r>
              <a:rPr lang="zh-CN" altLang="en-US" sz="2200" dirty="0">
                <a:solidFill>
                  <a:schemeClr val="bg1"/>
                </a:solidFill>
                <a:sym typeface="Symbol" panose="05050102010706020507" pitchFamily="18" charset="2"/>
              </a:rPr>
              <a:t>并非任意两个关系都可以进行复合</a:t>
            </a:r>
          </a:p>
        </p:txBody>
      </p:sp>
      <p:sp>
        <p:nvSpPr>
          <p:cNvPr id="10" name="矩形: 圆角 9"/>
          <p:cNvSpPr/>
          <p:nvPr/>
        </p:nvSpPr>
        <p:spPr bwMode="auto">
          <a:xfrm>
            <a:off x="6816080" y="4206598"/>
            <a:ext cx="5040560" cy="1652796"/>
          </a:xfrm>
          <a:prstGeom prst="roundRect">
            <a:avLst>
              <a:gd name="adj" fmla="val 11833"/>
            </a:avLst>
          </a:prstGeom>
          <a:noFill/>
          <a:ln w="28575" cap="flat" cmpd="sng" algn="ctr">
            <a:solidFill>
              <a:srgbClr val="FF7C8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785286" y="3767575"/>
            <a:ext cx="949122" cy="644440"/>
            <a:chOff x="8785286" y="3767575"/>
            <a:chExt cx="949122" cy="644440"/>
          </a:xfrm>
        </p:grpSpPr>
        <p:sp>
          <p:nvSpPr>
            <p:cNvPr id="12" name="矩形: 圆角 11"/>
            <p:cNvSpPr/>
            <p:nvPr/>
          </p:nvSpPr>
          <p:spPr bwMode="auto">
            <a:xfrm>
              <a:off x="8791795" y="3828185"/>
              <a:ext cx="936104" cy="523220"/>
            </a:xfrm>
            <a:prstGeom prst="roundRect">
              <a:avLst/>
            </a:prstGeom>
            <a:solidFill>
              <a:srgbClr val="FFCC9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" name="Rectangle 2"/>
            <p:cNvSpPr txBox="1">
              <a:spLocks noChangeArrowheads="1"/>
            </p:cNvSpPr>
            <p:nvPr/>
          </p:nvSpPr>
          <p:spPr bwMode="auto">
            <a:xfrm>
              <a:off x="8785286" y="3767575"/>
              <a:ext cx="949122" cy="64444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3"/>
            </a:fontRef>
          </p:style>
          <p:txBody>
            <a:bodyPr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None/>
              </a:pPr>
              <a:r>
                <a:rPr lang="zh-CN" altLang="en-US" sz="2600" b="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注意</a:t>
              </a:r>
              <a:endParaRPr lang="zh-CN" altLang="en-US" sz="2400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739640" y="3096483"/>
            <a:ext cx="7596719" cy="3240360"/>
          </a:xfrm>
        </p:spPr>
        <p:txBody>
          <a:bodyPr/>
          <a:lstStyle/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两个复合</a:t>
            </a:r>
            <a:r>
              <a:rPr lang="en-US" altLang="zh-C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都有定义 </a:t>
            </a:r>
          </a:p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利用集合包含关系的反对称性证明</a:t>
            </a:r>
            <a:r>
              <a:rPr lang="en-US" altLang="zh-C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  <a:p>
            <a:pPr marL="400050" lvl="1" indent="0" eaLnBrk="1" hangingPunct="1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(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lang="en-US" altLang="zh-C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使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lang="en-US" altLang="zh-C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(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</a:p>
          <a:p>
            <a:pPr marL="400050" lvl="1" indent="0" eaLnBrk="1" hangingPunct="1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zh-CN" alt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由</a:t>
            </a:r>
            <a:r>
              <a:rPr lang="en-US" altLang="zh-C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的定义有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从而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</a:p>
          <a:p>
            <a:pPr marL="400050" lvl="1" indent="0" eaLnBrk="1" hangingPunct="1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于是</a:t>
            </a:r>
            <a:r>
              <a:rPr lang="en-US" altLang="zh-C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endParaRPr kumimoji="1" lang="zh-CN" altLang="pt-BR" sz="2000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400050" lvl="1" indent="0" eaLnBrk="1" hangingPunct="1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(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则</a:t>
            </a:r>
            <a:r>
              <a:rPr lang="zh-CN" alt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由</a:t>
            </a:r>
            <a:r>
              <a:rPr lang="en-US" altLang="zh-C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的定义有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lang="en-US" altLang="zh-C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从而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x,y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lang="en-US" altLang="zh-C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</a:p>
          <a:p>
            <a:pPr marL="400050" lvl="1" indent="0" eaLnBrk="1" hangingPunct="1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于是</a:t>
            </a:r>
            <a:r>
              <a:rPr lang="en-US" altLang="zh-C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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</a:p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综上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得证 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5.2.1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关系的基本运算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739640" y="1618118"/>
            <a:ext cx="8136904" cy="4629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eaLnBrk="1" hangingPunct="1">
              <a:lnSpc>
                <a:spcPct val="120000"/>
              </a:lnSpc>
              <a:defRPr sz="22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i="1" dirty="0"/>
              <a:t>R</a:t>
            </a:r>
            <a:r>
              <a:rPr lang="zh-CN" altLang="en-US" dirty="0"/>
              <a:t>是全体人的集合上的夫妻关系</a:t>
            </a:r>
            <a:r>
              <a:rPr lang="en-US" altLang="zh-CN" dirty="0"/>
              <a:t>, </a:t>
            </a:r>
            <a:r>
              <a:rPr lang="en-US" altLang="zh-CN" i="1" dirty="0"/>
              <a:t>S</a:t>
            </a:r>
            <a:r>
              <a:rPr lang="zh-CN" altLang="en-US" dirty="0"/>
              <a:t>是母子关系</a:t>
            </a:r>
            <a:r>
              <a:rPr lang="en-US" altLang="zh-CN" dirty="0"/>
              <a:t>, 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S</a:t>
            </a:r>
            <a:r>
              <a:rPr lang="zh-CN" altLang="en-US" dirty="0"/>
              <a:t>是父子关系 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746535" y="2550001"/>
            <a:ext cx="4797903" cy="4629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eaLnBrk="1" hangingPunct="1">
              <a:lnSpc>
                <a:spcPct val="120000"/>
              </a:lnSpc>
              <a:defRPr sz="22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i="1" dirty="0"/>
              <a:t>R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X</a:t>
            </a:r>
            <a:r>
              <a:rPr lang="en-US" altLang="en-US" dirty="0"/>
              <a:t>×</a:t>
            </a:r>
            <a:r>
              <a:rPr lang="en-US" altLang="zh-CN" i="1" dirty="0"/>
              <a:t>Y</a:t>
            </a:r>
            <a:r>
              <a:rPr lang="en-US" altLang="zh-CN" dirty="0"/>
              <a:t>, </a:t>
            </a:r>
            <a:r>
              <a:rPr lang="zh-CN" altLang="en-US" dirty="0"/>
              <a:t>证明：</a:t>
            </a:r>
            <a:r>
              <a:rPr lang="en-US" altLang="zh-CN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 </a:t>
            </a:r>
            <a:r>
              <a:rPr lang="en-US" altLang="zh-CN" dirty="0"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R</a:t>
            </a:r>
            <a:r>
              <a:rPr lang="en-US" altLang="zh-CN" dirty="0"/>
              <a:t>=</a:t>
            </a:r>
            <a:r>
              <a:rPr lang="en-US" altLang="zh-CN" i="1" dirty="0"/>
              <a:t>R</a:t>
            </a:r>
            <a:r>
              <a:rPr lang="en-US" altLang="zh-CN" dirty="0"/>
              <a:t>, 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</a:t>
            </a:r>
            <a:r>
              <a:rPr lang="en-US" altLang="zh-CN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 </a:t>
            </a:r>
            <a:r>
              <a:rPr lang="en-US" altLang="zh-CN" dirty="0"/>
              <a:t>=</a:t>
            </a:r>
            <a:r>
              <a:rPr lang="en-US" altLang="zh-CN" i="1" dirty="0"/>
              <a:t>R</a:t>
            </a:r>
            <a:r>
              <a:rPr lang="en-US" altLang="zh-CN" dirty="0"/>
              <a:t>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07368" y="2519865"/>
            <a:ext cx="13322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5.2.5</a:t>
            </a:r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97112" y="1618118"/>
            <a:ext cx="15664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5.2.4</a:t>
            </a:r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文本框 8"/>
          <p:cNvSpPr txBox="1"/>
          <p:nvPr/>
        </p:nvSpPr>
        <p:spPr>
          <a:xfrm rot="20428278">
            <a:off x="9048329" y="5580372"/>
            <a:ext cx="288032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注意关系是集合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5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5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5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000"/>
                            </p:stCondLst>
                            <p:childTnLst>
                              <p:par>
                                <p:cTn id="5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65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5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5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0"/>
                            </p:stCondLst>
                            <p:childTnLst>
                              <p:par>
                                <p:cTn id="6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655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55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655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655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55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55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5" grpId="0"/>
      <p:bldP spid="7" grpId="0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708733" y="3484485"/>
            <a:ext cx="6043452" cy="2879948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zh-CN" altLang="en-US" sz="2800" b="1" dirty="0">
                <a:latin typeface="Times New Roman" panose="02020603050405020304" pitchFamily="18" charset="0"/>
              </a:rPr>
              <a:t>  </a:t>
            </a:r>
            <a:r>
              <a:rPr lang="en-US" altLang="zh-CN" sz="2400" i="1" dirty="0">
                <a:latin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</a:rPr>
              <a:t>={1,2,3,4}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</a:rPr>
              <a:t>={(1,2),(2,3),(3,4)}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</a:rPr>
              <a:t>         </a:t>
            </a:r>
            <a:r>
              <a:rPr lang="en-US" altLang="zh-CN" sz="2400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0</a:t>
            </a:r>
            <a:r>
              <a:rPr lang="en-US" altLang="zh-CN" sz="2400" dirty="0">
                <a:latin typeface="Times New Roman" panose="02020603050405020304" pitchFamily="18" charset="0"/>
              </a:rPr>
              <a:t>=</a:t>
            </a:r>
            <a:r>
              <a:rPr lang="en-US" altLang="zh-CN" sz="2400" i="1" dirty="0">
                <a:latin typeface="Times New Roman" panose="02020603050405020304" pitchFamily="18" charset="0"/>
              </a:rPr>
              <a:t>I</a:t>
            </a:r>
            <a:r>
              <a:rPr lang="en-US" altLang="zh-CN" sz="2400" i="1" baseline="-25000" dirty="0">
                <a:latin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</a:rPr>
              <a:t>={(1,1),(2,2),(3,3),(4,4)}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</a:rPr>
              <a:t>         </a:t>
            </a:r>
            <a:r>
              <a:rPr lang="en-US" altLang="zh-CN" sz="2400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</a:rPr>
              <a:t>=</a:t>
            </a:r>
            <a:r>
              <a:rPr lang="en-US" altLang="zh-CN" sz="2400" i="1" dirty="0">
                <a:latin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</a:rPr>
              <a:t>={(1,2),(2,3),(3,4)}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</a:rPr>
              <a:t>         </a:t>
            </a:r>
            <a:r>
              <a:rPr lang="en-US" altLang="zh-CN" sz="2400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</a:rPr>
              <a:t>=</a:t>
            </a:r>
            <a:r>
              <a:rPr lang="en-US" altLang="zh-CN" sz="2400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400" i="1" dirty="0">
                <a:latin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</a:rPr>
              <a:t>={(1,3),(2,4)}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</a:rPr>
              <a:t>         </a:t>
            </a:r>
            <a:r>
              <a:rPr lang="en-US" altLang="zh-CN" sz="2400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</a:rPr>
              <a:t>=</a:t>
            </a:r>
            <a:r>
              <a:rPr lang="en-US" altLang="zh-CN" sz="2400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400" i="1" dirty="0">
                <a:latin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</a:rPr>
              <a:t>={(1,4)}</a:t>
            </a:r>
            <a:endParaRPr lang="zh-CN" altLang="pt-BR" sz="2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pt-BR" altLang="zh-CN" sz="2400" dirty="0">
                <a:latin typeface="Times New Roman" panose="02020603050405020304" pitchFamily="18" charset="0"/>
              </a:rPr>
              <a:t>         </a:t>
            </a:r>
            <a:r>
              <a:rPr lang="pt-BR" altLang="zh-CN" sz="2400" i="1" dirty="0">
                <a:latin typeface="Times New Roman" panose="02020603050405020304" pitchFamily="18" charset="0"/>
              </a:rPr>
              <a:t>R</a:t>
            </a:r>
            <a:r>
              <a:rPr lang="pt-BR" altLang="zh-CN" sz="2400" baseline="30000" dirty="0">
                <a:latin typeface="Times New Roman" panose="02020603050405020304" pitchFamily="18" charset="0"/>
              </a:rPr>
              <a:t>4</a:t>
            </a:r>
            <a:r>
              <a:rPr lang="pt-BR" altLang="zh-CN" sz="2400" dirty="0">
                <a:latin typeface="Times New Roman" panose="02020603050405020304" pitchFamily="18" charset="0"/>
              </a:rPr>
              <a:t>=</a:t>
            </a:r>
            <a:r>
              <a:rPr lang="pt-BR" altLang="zh-CN" sz="2400" i="1" dirty="0">
                <a:latin typeface="Times New Roman" panose="02020603050405020304" pitchFamily="18" charset="0"/>
              </a:rPr>
              <a:t>R</a:t>
            </a:r>
            <a:r>
              <a:rPr lang="pt-BR" altLang="zh-CN" sz="2400" baseline="30000" dirty="0">
                <a:latin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pt-BR" altLang="zh-CN" sz="2400" i="1" dirty="0">
                <a:latin typeface="Times New Roman" panose="02020603050405020304" pitchFamily="18" charset="0"/>
              </a:rPr>
              <a:t>R</a:t>
            </a:r>
            <a:r>
              <a:rPr lang="pt-BR" altLang="zh-CN" sz="2400" dirty="0">
                <a:latin typeface="Times New Roman" panose="02020603050405020304" pitchFamily="18" charset="0"/>
              </a:rPr>
              <a:t>=</a:t>
            </a:r>
            <a:r>
              <a:rPr lang="pt-BR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</a:t>
            </a:r>
            <a:endParaRPr lang="zh-CN" altLang="pt-BR" sz="2400" i="1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pt-BR" altLang="zh-CN" sz="2400" dirty="0">
                <a:latin typeface="Times New Roman" panose="02020603050405020304" pitchFamily="18" charset="0"/>
              </a:rPr>
              <a:t>         </a:t>
            </a:r>
            <a:r>
              <a:rPr lang="pt-BR" altLang="zh-CN" sz="2400" i="1" dirty="0">
                <a:latin typeface="Times New Roman" panose="02020603050405020304" pitchFamily="18" charset="0"/>
              </a:rPr>
              <a:t>R</a:t>
            </a:r>
            <a:r>
              <a:rPr lang="pt-BR" altLang="zh-CN" sz="2400" i="1" baseline="30000" dirty="0">
                <a:latin typeface="Times New Roman" panose="02020603050405020304" pitchFamily="18" charset="0"/>
              </a:rPr>
              <a:t>n</a:t>
            </a:r>
            <a:r>
              <a:rPr lang="pt-BR" altLang="zh-CN" sz="2400" dirty="0">
                <a:latin typeface="Times New Roman" panose="02020603050405020304" pitchFamily="18" charset="0"/>
              </a:rPr>
              <a:t>= </a:t>
            </a:r>
            <a:r>
              <a:rPr lang="pt-BR" altLang="zh-CN" sz="2400" i="1" dirty="0">
                <a:latin typeface="Times New Roman" panose="02020603050405020304" pitchFamily="18" charset="0"/>
              </a:rPr>
              <a:t>R</a:t>
            </a:r>
            <a:r>
              <a:rPr lang="pt-BR" altLang="zh-CN" sz="2400" i="1" baseline="30000" dirty="0">
                <a:latin typeface="Times New Roman" panose="02020603050405020304" pitchFamily="18" charset="0"/>
              </a:rPr>
              <a:t>n</a:t>
            </a:r>
            <a:r>
              <a:rPr lang="pt-BR" altLang="zh-CN" sz="24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pt-BR" altLang="zh-CN" sz="2400" i="1" dirty="0">
                <a:latin typeface="Times New Roman" panose="02020603050405020304" pitchFamily="18" charset="0"/>
              </a:rPr>
              <a:t>R</a:t>
            </a:r>
            <a:r>
              <a:rPr lang="pt-BR" altLang="zh-CN" sz="2400" dirty="0">
                <a:latin typeface="Times New Roman" panose="02020603050405020304" pitchFamily="18" charset="0"/>
              </a:rPr>
              <a:t>=</a:t>
            </a:r>
            <a:r>
              <a:rPr lang="pt-BR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pt-BR" altLang="zh-CN" sz="2400" i="1" dirty="0">
                <a:latin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</a:rPr>
              <a:t>=</a:t>
            </a:r>
            <a:r>
              <a:rPr lang="pt-BR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pt-BR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pt-BR" altLang="zh-CN" sz="2400" i="1" dirty="0">
                <a:latin typeface="Times New Roman" panose="02020603050405020304" pitchFamily="18" charset="0"/>
              </a:rPr>
              <a:t>n</a:t>
            </a:r>
            <a:r>
              <a:rPr lang="pt-BR" altLang="zh-CN" sz="2400" dirty="0">
                <a:latin typeface="Times New Roman" panose="02020603050405020304" pitchFamily="18" charset="0"/>
              </a:rPr>
              <a:t>&gt;4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endParaRPr lang="zh-CN" altLang="pt-BR" sz="2400" dirty="0">
              <a:latin typeface="Times New Roman" panose="02020603050405020304" pitchFamily="18" charset="0"/>
            </a:endParaRP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1524001" y="2905711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2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7303926"/>
              </p:ext>
            </p:extLst>
          </p:nvPr>
        </p:nvGraphicFramePr>
        <p:xfrm>
          <a:off x="3575050" y="2216150"/>
          <a:ext cx="3538538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1" name="Equation" r:id="rId3" imgW="1383030" imgH="341630" progId="Equation.DSMT4">
                  <p:embed/>
                </p:oleObj>
              </mc:Choice>
              <mc:Fallback>
                <p:oleObj name="Equation" r:id="rId3" imgW="1383030" imgH="34163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2216150"/>
                        <a:ext cx="3538538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5.2.1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关系的基本运算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07368" y="1746643"/>
            <a:ext cx="6094520" cy="313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定义</a:t>
            </a:r>
            <a:r>
              <a:rPr lang="en-US" altLang="zh-CN" dirty="0"/>
              <a:t>5.2.3  </a:t>
            </a:r>
            <a:r>
              <a:rPr lang="zh-CN" altLang="en-US" dirty="0"/>
              <a:t>关系的幂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39416" y="2371444"/>
            <a:ext cx="3240360" cy="4629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eaLnBrk="1" hangingPunct="1">
              <a:lnSpc>
                <a:spcPct val="120000"/>
              </a:lnSpc>
              <a:defRPr sz="22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i="1" dirty="0"/>
              <a:t>R</a:t>
            </a:r>
            <a:r>
              <a:rPr lang="zh-CN" altLang="en-US" dirty="0"/>
              <a:t>是</a:t>
            </a:r>
            <a:r>
              <a:rPr lang="en-US" altLang="zh-CN" i="1" dirty="0"/>
              <a:t>X</a:t>
            </a:r>
            <a:r>
              <a:rPr lang="zh-CN" altLang="en-US" dirty="0"/>
              <a:t>上的关系</a:t>
            </a:r>
            <a:r>
              <a:rPr lang="en-US" altLang="zh-CN" dirty="0"/>
              <a:t>, </a:t>
            </a:r>
            <a:r>
              <a:rPr lang="en-US" altLang="zh-CN" i="1" dirty="0" err="1"/>
              <a:t>n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sym typeface="Symbol" panose="05050102010706020507" pitchFamily="18" charset="2"/>
              </a:rPr>
              <a:t>N</a:t>
            </a:r>
            <a:endParaRPr lang="en-US" altLang="zh-CN" i="1" dirty="0">
              <a:sym typeface="Symbol" panose="05050102010706020507" pitchFamily="18" charset="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43372" y="3429000"/>
            <a:ext cx="14041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5.2.6</a:t>
            </a:r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文本框 3">
            <a:extLst>
              <a:ext uri="{FF2B5EF4-FFF2-40B4-BE49-F238E27FC236}">
                <a16:creationId xmlns:a16="http://schemas.microsoft.com/office/drawing/2014/main" id="{C42F1DBE-09AB-4F92-880F-2C53AB6239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1998" y="2771080"/>
            <a:ext cx="338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bg1"/>
                </a:solidFill>
              </a:rPr>
              <a:t>+</a:t>
            </a:r>
            <a:endParaRPr lang="zh-CN" alt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0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08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08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08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08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08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08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08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08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08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08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08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08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08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08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08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208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08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08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199456" y="2382234"/>
            <a:ext cx="8785225" cy="1107996"/>
          </a:xfr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2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2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kumimoji="1" lang="en-US" altLang="zh-CN" sz="22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zh-CN" altLang="en-US" sz="22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上的限制：</a:t>
            </a:r>
            <a:r>
              <a:rPr kumimoji="1" lang="en-US" altLang="zh-CN" sz="22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2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kumimoji="1" lang="en-US" altLang="zh-CN" sz="22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2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上的关系</a:t>
            </a:r>
            <a:r>
              <a:rPr kumimoji="1" lang="en-US" altLang="zh-CN" sz="22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2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2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1" lang="en-US" altLang="zh-CN" sz="22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2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{(</a:t>
            </a:r>
            <a:r>
              <a:rPr kumimoji="1" lang="en-US" altLang="zh-CN" sz="22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200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2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2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kumimoji="1" lang="en-US" altLang="zh-CN" sz="22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</a:t>
            </a:r>
            <a:r>
              <a:rPr kumimoji="1" lang="en-US" altLang="zh-CN" sz="22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200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2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200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2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2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2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且</a:t>
            </a:r>
            <a:r>
              <a:rPr kumimoji="1" lang="en-US" altLang="zh-CN" sz="22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2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200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2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2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1" lang="en-US" altLang="zh-CN" sz="22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2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2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 </a:t>
            </a: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1524001" y="2905711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5.2.1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关系的基本运算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51384" y="1740828"/>
            <a:ext cx="6094520" cy="28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定义</a:t>
            </a:r>
            <a:r>
              <a:rPr lang="en-US" altLang="zh-CN" dirty="0"/>
              <a:t>5.2.4  </a:t>
            </a:r>
            <a:r>
              <a:rPr lang="zh-CN" altLang="en-US" dirty="0"/>
              <a:t>关系在子集上的限制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8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8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8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87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87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87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5.2.2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关系的基本性质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495600" y="1545128"/>
            <a:ext cx="6336704" cy="334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关系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关系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关系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= 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b="0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∩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∩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b="0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(4) (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= 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b="0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endParaRPr lang="en-US" altLang="zh-CN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(5) (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  (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复合的结合律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35360" y="1621912"/>
            <a:ext cx="240066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定理</a:t>
            </a:r>
            <a:r>
              <a:rPr lang="en-US" altLang="zh-CN" dirty="0"/>
              <a:t>5.2.1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063552" y="2414876"/>
            <a:ext cx="9385092" cy="3822435"/>
          </a:xfrm>
        </p:spPr>
        <p:txBody>
          <a:bodyPr/>
          <a:lstStyle/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证明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(5),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只证明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)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(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关系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)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(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到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</a:p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关系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到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关系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到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)(</a:t>
            </a:r>
            <a:r>
              <a:rPr lang="en-US" altLang="zh-CN" sz="22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2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), (</a:t>
            </a:r>
            <a:r>
              <a:rPr lang="en-US" altLang="zh-CN" sz="22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2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)(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)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</a:t>
            </a:r>
            <a:r>
              <a:rPr lang="en-US" altLang="zh-CN" sz="22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使得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2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2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(</a:t>
            </a:r>
            <a:r>
              <a:rPr lang="en-US" altLang="zh-CN" sz="22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2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</a:p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                    </a:t>
            </a:r>
            <a:r>
              <a:rPr lang="en-US" altLang="zh-CN" sz="22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使得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2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2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(</a:t>
            </a:r>
            <a:r>
              <a:rPr lang="en-US" altLang="zh-CN" sz="22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2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(</a:t>
            </a:r>
            <a:r>
              <a:rPr lang="en-US" altLang="zh-CN" sz="22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2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</a:p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                    (</a:t>
            </a:r>
            <a:r>
              <a:rPr lang="en-US" altLang="zh-CN" sz="22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2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(</a:t>
            </a:r>
            <a:r>
              <a:rPr lang="en-US" altLang="zh-CN" sz="22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2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</a:p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                    (</a:t>
            </a:r>
            <a:r>
              <a:rPr lang="en-US" altLang="zh-CN" sz="22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2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(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∴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)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(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2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5.2.2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关系的基本性质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495600" y="1653720"/>
            <a:ext cx="6336704" cy="496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(5)(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  (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复合的结合律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35360" y="1621912"/>
            <a:ext cx="223224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定理</a:t>
            </a:r>
            <a:r>
              <a:rPr lang="en-US" altLang="zh-CN" dirty="0"/>
              <a:t>5.2.1 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839416" y="2409677"/>
            <a:ext cx="14162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证明：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8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8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8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86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86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86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686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86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86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7000"/>
                            </p:stCondLst>
                            <p:childTnLst>
                              <p:par>
                                <p:cTn id="5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86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86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86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895632" y="3129016"/>
            <a:ext cx="8785225" cy="3368073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关于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使用数学归纳法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结论显然成立。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假设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时结论成立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时结论也成立。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(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i="1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00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0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i="1" baseline="30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endParaRPr lang="en-US" altLang="zh-CN" sz="2000" i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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，使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i="1" baseline="30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(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元组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,…,</a:t>
            </a:r>
            <a:r>
              <a:rPr lang="en-US" altLang="zh-CN" sz="20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i="1" baseline="-25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i="1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00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i="1" baseline="-25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=0,1, </a:t>
            </a:r>
            <a:r>
              <a:rPr lang="en-US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-1, (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(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归纳假设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+2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元组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,…,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0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i="1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00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+1+1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0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=0,1, </a:t>
            </a:r>
            <a:r>
              <a:rPr lang="en-US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由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(2),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结论对任意</a:t>
            </a:r>
            <a:r>
              <a:rPr lang="en-US" altLang="zh-CN" sz="20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都成立 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5.2.2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关系的基本性质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35360" y="1691936"/>
            <a:ext cx="60945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定理</a:t>
            </a:r>
            <a:r>
              <a:rPr lang="en-US" altLang="zh-CN" dirty="0"/>
              <a:t>5.2.2 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2495600" y="1652726"/>
            <a:ext cx="8568952" cy="1368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30000"/>
              </a:lnSpc>
              <a:defRPr/>
            </a:pP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上的关系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2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), (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200" b="0" i="1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200" b="0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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元组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,…,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i="1" baseline="-25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i="1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200" b="0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</a:p>
          <a:p>
            <a:pPr marL="0" indent="0" eaLnBrk="1" hangingPunct="1">
              <a:lnSpc>
                <a:spcPct val="130000"/>
              </a:lnSpc>
              <a:buNone/>
              <a:defRPr/>
            </a:pPr>
            <a:r>
              <a:rPr lang="en-US" altLang="zh-CN" sz="2200" b="0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                   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i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i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2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=0,1, </a:t>
            </a:r>
            <a:r>
              <a:rPr lang="en-US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-1, 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i="1" baseline="-25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51384" y="3076788"/>
            <a:ext cx="14162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证明：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0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0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0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0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0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0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0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0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0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0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0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0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03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03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03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003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03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03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7000"/>
                            </p:stCondLst>
                            <p:childTnLst>
                              <p:par>
                                <p:cTn id="5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003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03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003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000"/>
                            </p:stCondLst>
                            <p:childTnLst>
                              <p:par>
                                <p:cTn id="6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003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03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03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000"/>
                            </p:stCondLst>
                            <p:childTnLst>
                              <p:par>
                                <p:cTn id="7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003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003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03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559496" y="3420861"/>
            <a:ext cx="5472608" cy="1943101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kumimoji="1" lang="zh-CN" altLang="en-US" sz="2200" kern="1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讨论</a:t>
            </a:r>
            <a:r>
              <a:rPr kumimoji="1" lang="en-US" altLang="zh-CN" sz="2200" i="1" kern="12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kumimoji="1" lang="en-US" altLang="zh-CN" sz="2200" kern="12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200" i="1" kern="12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200" kern="1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的二种取值情况：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kumimoji="1" lang="en-US" altLang="zh-CN" sz="2200" kern="1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kumimoji="1" lang="en-US" altLang="zh-CN" sz="2200" i="1" kern="1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kumimoji="1" lang="zh-CN" altLang="en-US" sz="2200" kern="1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200" i="1" kern="1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200" kern="1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中至少有一个为</a:t>
            </a:r>
            <a:r>
              <a:rPr kumimoji="1" lang="en-US" altLang="zh-CN" sz="2200" kern="1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200" kern="1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：结论显然成立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kumimoji="1" lang="en-US" altLang="zh-CN" sz="2200" kern="1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kumimoji="1" lang="en-US" altLang="zh-CN" sz="2200" i="1" kern="12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kumimoji="1" lang="en-US" altLang="zh-CN" sz="2200" kern="12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200" i="1" kern="12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200" kern="12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200" i="1" kern="12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200" kern="1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：由定理</a:t>
            </a:r>
            <a:r>
              <a:rPr kumimoji="1" lang="en-US" altLang="zh-CN" sz="2200" kern="1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5.2.2</a:t>
            </a:r>
            <a:r>
              <a:rPr kumimoji="1" lang="zh-CN" altLang="en-US" sz="2200" kern="1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直接证明</a:t>
            </a:r>
            <a:r>
              <a:rPr kumimoji="1" lang="zh-CN" altLang="en-US" sz="2200" kern="1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</a:t>
            </a:r>
            <a:endParaRPr kumimoji="1" lang="zh-CN" altLang="en-US" sz="2200" kern="120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5.2.2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关系的基本性质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07368" y="1772816"/>
            <a:ext cx="613003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推论</a:t>
            </a:r>
            <a:r>
              <a:rPr lang="en-US" altLang="zh-CN" dirty="0"/>
              <a:t>1 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2022874" y="1700987"/>
            <a:ext cx="6130030" cy="1168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eaLnBrk="1" hangingPunct="1">
              <a:lnSpc>
                <a:spcPct val="120000"/>
              </a:lnSpc>
              <a:spcBef>
                <a:spcPts val="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 sz="2000" b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1085850" indent="-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400"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2pPr>
            <a:lvl3pPr marL="1646555" indent="-3810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000"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3pPr>
            <a:lvl4pPr marL="2168525" indent="-3429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4pPr>
            <a:lvl5pPr marL="269113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5pPr>
            <a:lvl6pPr marL="314833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6pPr>
            <a:lvl7pPr marL="360553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7pPr>
            <a:lvl8pPr marL="406273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8pPr>
            <a:lvl9pPr marL="451993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i="1" dirty="0"/>
              <a:t>X</a:t>
            </a:r>
            <a:r>
              <a:rPr lang="zh-CN" altLang="en-US" sz="2400" dirty="0"/>
              <a:t>上的关系</a:t>
            </a:r>
            <a:r>
              <a:rPr lang="en-US" altLang="zh-CN" sz="2400" i="1" dirty="0"/>
              <a:t>R</a:t>
            </a:r>
            <a:r>
              <a:rPr lang="en-US" altLang="zh-CN" sz="2400" dirty="0"/>
              <a:t>, </a:t>
            </a:r>
            <a:r>
              <a:rPr lang="zh-CN" altLang="en-US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/>
              <a:t>m</a:t>
            </a:r>
            <a:r>
              <a:rPr lang="en-US" altLang="zh-CN" sz="2400" dirty="0" err="1"/>
              <a:t>,</a:t>
            </a:r>
            <a:r>
              <a:rPr lang="en-US" altLang="zh-CN" sz="2400" i="1" dirty="0" err="1"/>
              <a:t>n</a:t>
            </a:r>
            <a:r>
              <a:rPr lang="en-US" altLang="zh-CN" sz="2400" dirty="0" err="1">
                <a:sym typeface="Symbol" panose="05050102010706020507" pitchFamily="18" charset="2"/>
              </a:rPr>
              <a:t></a:t>
            </a:r>
            <a:r>
              <a:rPr lang="en-US" altLang="zh-CN" sz="2400" i="1" dirty="0" err="1"/>
              <a:t>N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zh-CN" sz="2400" i="1" dirty="0"/>
              <a:t>               </a:t>
            </a:r>
            <a:r>
              <a:rPr lang="en-US" altLang="zh-CN" sz="2400" i="1" dirty="0" err="1"/>
              <a:t>R</a:t>
            </a:r>
            <a:r>
              <a:rPr lang="en-US" altLang="zh-CN" sz="2400" i="1" baseline="30000" dirty="0" err="1"/>
              <a:t>m</a:t>
            </a:r>
            <a:r>
              <a:rPr lang="en-US" altLang="zh-CN" sz="2400" baseline="30000" dirty="0" err="1"/>
              <a:t>+</a:t>
            </a:r>
            <a:r>
              <a:rPr lang="en-US" altLang="zh-CN" sz="2400" i="1" baseline="30000" dirty="0" err="1"/>
              <a:t>n</a:t>
            </a:r>
            <a:r>
              <a:rPr lang="en-US" altLang="zh-CN" sz="2400" dirty="0"/>
              <a:t>=</a:t>
            </a:r>
            <a:r>
              <a:rPr lang="en-US" altLang="zh-CN" sz="2400" i="1" dirty="0" err="1"/>
              <a:t>R</a:t>
            </a:r>
            <a:r>
              <a:rPr lang="en-US" altLang="zh-CN" sz="2400" i="1" baseline="30000" dirty="0" err="1"/>
              <a:t>m</a:t>
            </a:r>
            <a:r>
              <a:rPr lang="en-US" altLang="zh-CN" sz="2400" dirty="0" err="1">
                <a:sym typeface="Symbol" panose="05050102010706020507" pitchFamily="18" charset="2"/>
              </a:rPr>
              <a:t></a:t>
            </a:r>
            <a:r>
              <a:rPr lang="en-US" altLang="zh-CN" sz="2400" i="1" dirty="0" err="1"/>
              <a:t>R</a:t>
            </a:r>
            <a:r>
              <a:rPr lang="en-US" altLang="zh-CN" sz="2400" i="1" baseline="30000" dirty="0" err="1"/>
              <a:t>n</a:t>
            </a:r>
            <a:endParaRPr lang="en-US" altLang="zh-CN" sz="2400" i="1" baseline="30000" dirty="0"/>
          </a:p>
        </p:txBody>
      </p:sp>
      <p:sp>
        <p:nvSpPr>
          <p:cNvPr id="14" name="文本框 13"/>
          <p:cNvSpPr txBox="1"/>
          <p:nvPr/>
        </p:nvSpPr>
        <p:spPr>
          <a:xfrm>
            <a:off x="479376" y="3437139"/>
            <a:ext cx="14162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证明：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609406" y="4874528"/>
            <a:ext cx="5256584" cy="1208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marL="457200" indent="-457200" eaLnBrk="1" hangingPunct="1">
              <a:lnSpc>
                <a:spcPct val="150000"/>
              </a:lnSpc>
              <a:spcBef>
                <a:spcPct val="20000"/>
              </a:spcBef>
              <a:buClr>
                <a:srgbClr val="FF7C80"/>
              </a:buClr>
              <a:buSzPct val="80000"/>
              <a:buFont typeface="Wingdings" panose="05000000000000000000" pitchFamily="2" charset="2"/>
              <a:buChar char="l"/>
              <a:defRPr sz="2400" b="0">
                <a:solidFill>
                  <a:schemeClr val="accent1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0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i="1" baseline="30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m+n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0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i="1" baseline="30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i="1" baseline="30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是否都成立？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0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0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都小于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0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0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的符号相反</a:t>
            </a:r>
          </a:p>
        </p:txBody>
      </p:sp>
      <p:sp>
        <p:nvSpPr>
          <p:cNvPr id="16" name="矩形: 圆角 15"/>
          <p:cNvSpPr/>
          <p:nvPr/>
        </p:nvSpPr>
        <p:spPr bwMode="auto">
          <a:xfrm>
            <a:off x="6537398" y="4681466"/>
            <a:ext cx="5040560" cy="1652796"/>
          </a:xfrm>
          <a:prstGeom prst="roundRect">
            <a:avLst>
              <a:gd name="adj" fmla="val 11833"/>
            </a:avLst>
          </a:prstGeom>
          <a:noFill/>
          <a:ln w="28575" cap="flat" cmpd="sng" algn="ctr">
            <a:solidFill>
              <a:srgbClr val="FF7C8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8506604" y="4242443"/>
            <a:ext cx="949122" cy="644440"/>
            <a:chOff x="8785286" y="3767575"/>
            <a:chExt cx="949122" cy="644440"/>
          </a:xfrm>
        </p:grpSpPr>
        <p:sp>
          <p:nvSpPr>
            <p:cNvPr id="18" name="矩形: 圆角 17"/>
            <p:cNvSpPr/>
            <p:nvPr/>
          </p:nvSpPr>
          <p:spPr bwMode="auto">
            <a:xfrm>
              <a:off x="8791795" y="3828185"/>
              <a:ext cx="936104" cy="523220"/>
            </a:xfrm>
            <a:prstGeom prst="roundRect">
              <a:avLst/>
            </a:prstGeom>
            <a:solidFill>
              <a:srgbClr val="FFCC9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Rectangle 2"/>
            <p:cNvSpPr txBox="1">
              <a:spLocks noChangeArrowheads="1"/>
            </p:cNvSpPr>
            <p:nvPr/>
          </p:nvSpPr>
          <p:spPr bwMode="auto">
            <a:xfrm>
              <a:off x="8785286" y="3767575"/>
              <a:ext cx="949122" cy="64444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3"/>
            </a:fontRef>
          </p:style>
          <p:txBody>
            <a:bodyPr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None/>
              </a:pPr>
              <a:r>
                <a:rPr lang="zh-CN" altLang="en-US" sz="2600" b="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思考</a:t>
              </a:r>
              <a:endParaRPr lang="zh-CN" altLang="en-US" sz="2400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49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000"/>
                            </p:stCondLst>
                            <p:childTnLst>
                              <p:par>
                                <p:cTn id="6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4" grpId="0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8" name="Rectangle 4"/>
          <p:cNvSpPr>
            <a:spLocks noChangeArrowheads="1"/>
          </p:cNvSpPr>
          <p:nvPr/>
        </p:nvSpPr>
        <p:spPr bwMode="auto">
          <a:xfrm>
            <a:off x="832482" y="3696822"/>
            <a:ext cx="11024158" cy="2468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1085850" indent="-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646555" indent="-3810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2168525" indent="-3429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69113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314833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360553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406273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451993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不妨设</a:t>
            </a:r>
            <a:r>
              <a: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000" b="0" i="1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000" b="0" i="1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000" b="0" i="1" baseline="30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000" b="0" baseline="30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</a:t>
            </a:r>
            <a:r>
              <a: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lang="zh-CN" altLang="en-US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元组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,…,</a:t>
            </a:r>
            <a:r>
              <a:rPr lang="en-US" altLang="zh-CN" sz="2000" b="0" i="1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i="1" baseline="-25000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i="1" baseline="30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000" b="0" baseline="30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  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i="1" baseline="-25000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改造序列</a:t>
            </a:r>
            <a:r>
              <a: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,…,</a:t>
            </a:r>
            <a:r>
              <a:rPr lang="en-US" altLang="zh-CN" sz="2000" b="0" i="1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i="1" baseline="-25000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删除子序列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使其中没有相同的元素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且保持相邻元素对满足关系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的性质。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若</a:t>
            </a:r>
            <a:r>
              <a: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000" b="0" i="1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i="1" baseline="-25000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000" b="0" i="1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则删除子序列</a:t>
            </a:r>
            <a:r>
              <a: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0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+1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,…,</a:t>
            </a:r>
            <a:r>
              <a: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 sz="20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endParaRPr lang="en-US" altLang="zh-CN" sz="20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假设最终得到的新序列的长度是</a:t>
            </a:r>
            <a:r>
              <a: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zh-CN" altLang="en-US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。由于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|=</a:t>
            </a:r>
            <a:r>
              <a: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且新序列中没有重复元素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所以</a:t>
            </a:r>
            <a:r>
              <a:rPr lang="en-US" altLang="zh-CN" sz="2000" b="0" i="1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000" b="0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≤</a:t>
            </a:r>
            <a:r>
              <a:rPr lang="en-US" altLang="zh-CN" sz="2000" b="0" i="1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新序列的第一个元素未改变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前端加上</a:t>
            </a:r>
            <a:r>
              <a: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所得到的序列中相邻的元素对满足关系</a:t>
            </a:r>
            <a:r>
              <a: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于是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000" b="0" i="1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0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000" b="0" i="1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0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lang="en-US" altLang="zh-CN" sz="2000" b="0" i="1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000" b="0" i="1" baseline="30000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14340" name="Rectangle 7"/>
          <p:cNvSpPr>
            <a:spLocks noChangeArrowheads="1"/>
          </p:cNvSpPr>
          <p:nvPr/>
        </p:nvSpPr>
        <p:spPr bwMode="auto">
          <a:xfrm>
            <a:off x="1524001" y="2905711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341" name="Rectangle 9"/>
          <p:cNvSpPr>
            <a:spLocks noChangeArrowheads="1"/>
          </p:cNvSpPr>
          <p:nvPr/>
        </p:nvSpPr>
        <p:spPr bwMode="auto">
          <a:xfrm>
            <a:off x="1524001" y="2905711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342" name="Rectangle 11"/>
          <p:cNvSpPr>
            <a:spLocks noChangeArrowheads="1"/>
          </p:cNvSpPr>
          <p:nvPr/>
        </p:nvSpPr>
        <p:spPr bwMode="auto">
          <a:xfrm>
            <a:off x="1524001" y="2905711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343" name="Rectangle 13"/>
          <p:cNvSpPr>
            <a:spLocks noChangeArrowheads="1"/>
          </p:cNvSpPr>
          <p:nvPr/>
        </p:nvSpPr>
        <p:spPr bwMode="auto">
          <a:xfrm>
            <a:off x="1524001" y="2802523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5.2.2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关系的基本性质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35360" y="1661195"/>
            <a:ext cx="2088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>
                <a:sym typeface="Symbol" panose="05050102010706020507" pitchFamily="18" charset="2"/>
              </a:rPr>
              <a:t>推论</a:t>
            </a:r>
            <a:r>
              <a:rPr lang="en-US" altLang="zh-CN" dirty="0">
                <a:sym typeface="Symbol" panose="05050102010706020507" pitchFamily="18" charset="2"/>
              </a:rPr>
              <a:t>2 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2031991" y="1611838"/>
            <a:ext cx="8456498" cy="1554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None/>
              <a:defRPr/>
            </a:pP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：有限集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|=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2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上的关系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2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2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2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endParaRPr lang="en-US" altLang="zh-CN" sz="2200" b="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(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2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,y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200" b="0" i="1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200" b="0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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2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2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≤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使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2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200" b="0" i="1" baseline="30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endParaRPr lang="en-US" altLang="zh-CN" sz="2200" b="0" i="1" baseline="30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01924" y="3167390"/>
            <a:ext cx="41099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sym typeface="Symbol" panose="05050102010706020507" pitchFamily="18" charset="2"/>
              </a:rPr>
              <a:t>证明：</a:t>
            </a:r>
            <a:r>
              <a:rPr lang="en-US" altLang="zh-CN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anose="05050102010706020507" pitchFamily="18" charset="2"/>
              </a:rPr>
              <a:t>m ≤n</a:t>
            </a:r>
            <a:r>
              <a:rPr lang="zh-CN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anose="05050102010706020507" pitchFamily="18" charset="2"/>
              </a:rPr>
              <a:t>时显然成立。</a:t>
            </a:r>
            <a:endParaRPr lang="en-US" altLang="zh-CN" sz="200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49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3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3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3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3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3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3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34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34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34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34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34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34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34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34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34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34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34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34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616366" y="2286066"/>
            <a:ext cx="8713787" cy="1457778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：有限集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|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|=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1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上的关系</a:t>
            </a:r>
          </a:p>
          <a:p>
            <a:pPr marL="0" indent="0" eaLnBrk="1" hangingPunct="1">
              <a:defRPr/>
            </a:pP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defRPr/>
            </a:pP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5364" name="Rectangle 9"/>
          <p:cNvSpPr>
            <a:spLocks noChangeArrowheads="1"/>
          </p:cNvSpPr>
          <p:nvPr/>
        </p:nvSpPr>
        <p:spPr bwMode="auto">
          <a:xfrm>
            <a:off x="1524001" y="3088273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5.2.2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关系的基本性质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39925" y="3872055"/>
            <a:ext cx="136815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sym typeface="Symbol" panose="05050102010706020507" pitchFamily="18" charset="2"/>
              </a:rPr>
              <a:t>证明：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51384" y="1651511"/>
            <a:ext cx="609452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>
                <a:sym typeface="Symbol" panose="05050102010706020507" pitchFamily="18" charset="2"/>
              </a:rPr>
              <a:t>推论</a:t>
            </a:r>
            <a:r>
              <a:rPr lang="en-US" altLang="zh-CN" dirty="0">
                <a:sym typeface="Symbol" panose="05050102010706020507" pitchFamily="18" charset="2"/>
              </a:rPr>
              <a:t>3 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1903210" y="3872055"/>
            <a:ext cx="316835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eaLnBrk="1" hangingPunct="1">
              <a:lnSpc>
                <a:spcPct val="120000"/>
              </a:lnSpc>
              <a:spcBef>
                <a:spcPts val="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 sz="2000" b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1085850" indent="-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400"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2pPr>
            <a:lvl3pPr marL="1646555" indent="-3810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000"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3pPr>
            <a:lvl4pPr marL="2168525" indent="-3429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4pPr>
            <a:lvl5pPr marL="269113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5pPr>
            <a:lvl6pPr marL="314833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6pPr>
            <a:lvl7pPr marL="360553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7pPr>
            <a:lvl8pPr marL="406273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8pPr>
            <a:lvl9pPr marL="4519930" indent="-3429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</a:defRPr>
            </a:lvl9pPr>
          </a:lstStyle>
          <a:p>
            <a:r>
              <a:rPr lang="zh-CN" altLang="en-US" sz="2400" dirty="0">
                <a:sym typeface="Symbol" panose="05050102010706020507" pitchFamily="18" charset="2"/>
              </a:rPr>
              <a:t>由推论</a:t>
            </a:r>
            <a:r>
              <a:rPr lang="en-US" altLang="zh-CN" sz="2400" dirty="0"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sym typeface="Symbol" panose="05050102010706020507" pitchFamily="18" charset="2"/>
              </a:rPr>
              <a:t>直接得到。 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708732" y="2847851"/>
                <a:ext cx="1540293" cy="5906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⋃"/>
                          <m:supHide m:val="on"/>
                          <m:ctrlPr>
                            <a:rPr lang="zh-CN" altLang="en-US" sz="1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altLang="zh-CN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1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en-US" altLang="zh-CN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p>
                          </m:sSup>
                        </m:e>
                      </m:nary>
                      <m:r>
                        <a:rPr lang="en-US" altLang="zh-CN" sz="1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⋃"/>
                          <m:ctrlPr>
                            <a:rPr lang="en-US" altLang="zh-CN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en-US" altLang="zh-CN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8732" y="2847851"/>
                <a:ext cx="1540293" cy="5906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9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0" grpId="0" build="p"/>
      <p:bldP spid="8" grpId="0"/>
      <p:bldP spid="10" grpId="0"/>
      <p:bldP spid="12" grpId="0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559496" y="2288889"/>
            <a:ext cx="5832648" cy="3816424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(2)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∩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endParaRPr lang="en-US" altLang="zh-CN" sz="2400" i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(3)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¬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endParaRPr lang="en-US" altLang="zh-CN" sz="2400" i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(4)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¬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endParaRPr lang="en-US" altLang="zh-CN" sz="2400" i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(5)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i="1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(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的矩阵是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(6)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 </a:t>
            </a:r>
            <a:r>
              <a:rPr lang="zh-CN" altLang="en-US" sz="2400" dirty="0">
                <a:latin typeface="Times New Roman" panose="02020603050405020304" pitchFamily="18" charset="0"/>
              </a:rPr>
              <a:t>（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矩阵乘法，逻辑加</a:t>
            </a:r>
            <a:r>
              <a:rPr lang="zh-CN" altLang="en-US" sz="2400" dirty="0">
                <a:latin typeface="Times New Roman" panose="02020603050405020304" pitchFamily="18" charset="0"/>
              </a:rPr>
              <a:t>）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endParaRPr lang="en-US" altLang="zh-CN" sz="2400" i="1" baseline="-25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5.2.2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关系的基本性质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01703" y="1765669"/>
            <a:ext cx="613003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关系运算与矩阵运算</a:t>
            </a:r>
            <a:r>
              <a:rPr lang="en-US" altLang="zh-CN" dirty="0"/>
              <a:t>*</a:t>
            </a:r>
            <a:r>
              <a:rPr lang="zh-CN" altLang="en-US" dirty="0"/>
              <a:t> 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07C5773-2F8D-405D-9BF7-5D0F37F87BE4}"/>
              </a:ext>
            </a:extLst>
          </p:cNvPr>
          <p:cNvCxnSpPr/>
          <p:nvPr/>
        </p:nvCxnSpPr>
        <p:spPr>
          <a:xfrm>
            <a:off x="2135560" y="4293096"/>
            <a:ext cx="252412" cy="0"/>
          </a:xfrm>
          <a:prstGeom prst="line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9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9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9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98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98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98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98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98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98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98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98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98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98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98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98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5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98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98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98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 txBox="1">
            <a:spLocks noChangeArrowheads="1"/>
          </p:cNvSpPr>
          <p:nvPr/>
        </p:nvSpPr>
        <p:spPr bwMode="auto">
          <a:xfrm>
            <a:off x="4871864" y="116632"/>
            <a:ext cx="73201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作业</a:t>
            </a:r>
            <a:endParaRPr lang="en-US" altLang="zh-CN" sz="40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36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104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6, 7(2)</a:t>
            </a:r>
            <a:endParaRPr lang="zh-CN" altLang="en-US" sz="36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7368" y="1556791"/>
            <a:ext cx="11449272" cy="1133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的二元关系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的二元关系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证明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pt-BR" altLang="zh-CN" sz="2400" b="0" baseline="30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)-1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 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pt-BR" altLang="zh-CN" sz="2400" b="0" baseline="30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pt-BR" altLang="zh-CN" sz="2400" b="0" baseline="30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都是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pt-BR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上的关系。证明：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∩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S)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∩(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T)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(R∩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)∩(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pt-BR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pt-BR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/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UxMDZlMWMxNThhZTg1OTc1ODg1MTk0MzVmZTYzZ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8.6|1.5|3.5|3.1|3.7|5.1|2.8|4.3|3.9|3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2077</Words>
  <Application>Microsoft Office PowerPoint</Application>
  <PresentationFormat>宽屏</PresentationFormat>
  <Paragraphs>167</Paragraphs>
  <Slides>17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楷体_GB2312</vt:lpstr>
      <vt:lpstr>宋体</vt:lpstr>
      <vt:lpstr>微软雅黑</vt:lpstr>
      <vt:lpstr>Arial</vt:lpstr>
      <vt:lpstr>Cambria Math</vt:lpstr>
      <vt:lpstr>Garamond</vt:lpstr>
      <vt:lpstr>Symbol</vt:lpstr>
      <vt:lpstr>Tahoma</vt:lpstr>
      <vt:lpstr>Times New Roman</vt:lpstr>
      <vt:lpstr>Wingdings</vt:lpstr>
      <vt:lpstr>默认设计模板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番茄花园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番茄花园</dc:creator>
  <cp:lastModifiedBy>86186</cp:lastModifiedBy>
  <cp:revision>814</cp:revision>
  <dcterms:created xsi:type="dcterms:W3CDTF">2008-05-09T05:16:00Z</dcterms:created>
  <dcterms:modified xsi:type="dcterms:W3CDTF">2026-04-13T00:48:27Z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3AABF522276446F78A9D515BC51FC34C_13</vt:lpwstr>
  </property>
  <property fmtid="{D5CDD505-2E9C-101B-9397-08002B2CF9AE}" pid="3" name="KSOProductBuildVer">
    <vt:lpwstr>2052-12.1.0.16388</vt:lpwstr>
  </property>
</Properties>
</file>