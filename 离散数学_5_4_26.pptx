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377" r:id="rId3"/>
    <p:sldId id="338" r:id="rId4"/>
    <p:sldId id="435" r:id="rId5"/>
    <p:sldId id="440" r:id="rId6"/>
    <p:sldId id="436" r:id="rId7"/>
    <p:sldId id="441" r:id="rId8"/>
    <p:sldId id="437" r:id="rId9"/>
    <p:sldId id="438" r:id="rId10"/>
    <p:sldId id="442" r:id="rId11"/>
    <p:sldId id="439" r:id="rId12"/>
    <p:sldId id="443" r:id="rId13"/>
    <p:sldId id="295" r:id="rId14"/>
    <p:sldId id="444" r:id="rId15"/>
    <p:sldId id="319" r:id="rId16"/>
    <p:sldId id="279" r:id="rId17"/>
    <p:sldId id="320" r:id="rId18"/>
    <p:sldId id="445" r:id="rId19"/>
    <p:sldId id="399" r:id="rId20"/>
    <p:sldId id="446" r:id="rId21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FF"/>
    <a:srgbClr val="FFCC9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6608" autoAdjust="0"/>
  </p:normalViewPr>
  <p:slideViewPr>
    <p:cSldViewPr showGuides="1">
      <p:cViewPr varScale="1">
        <p:scale>
          <a:sx n="68" d="100"/>
          <a:sy n="68" d="100"/>
        </p:scale>
        <p:origin x="67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1313869" y="23591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920536" y="11309"/>
            <a:ext cx="12256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关系</a:t>
            </a:r>
            <a:endParaRPr lang="en-US" altLang="zh-CN" sz="1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F952A-F37A-4A09-BB2E-170EDBA7CE7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第五章 关系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23592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42099" y="2388382"/>
            <a:ext cx="9001000" cy="1458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等价关系和划分是对象类的数学模型</a:t>
            </a:r>
          </a:p>
          <a:p>
            <a:r>
              <a:rPr lang="zh-CN" altLang="en-US" dirty="0"/>
              <a:t>等价关系和划分是描述同一件事情的不同方式</a:t>
            </a:r>
            <a:r>
              <a:rPr lang="en-US" altLang="zh-CN" dirty="0"/>
              <a:t>(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23937" y="4241606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10733" y="4722090"/>
            <a:ext cx="3456384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等价关系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划分和商集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等价关系和划分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386789" y="2578391"/>
            <a:ext cx="35519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关系与等价类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828529" y="4722016"/>
            <a:ext cx="3111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划分与等价关系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6"/>
          <p:cNvSpPr/>
          <p:nvPr/>
        </p:nvSpPr>
        <p:spPr bwMode="auto">
          <a:xfrm>
            <a:off x="4673973" y="1931064"/>
            <a:ext cx="358775" cy="175632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13698" y="1747395"/>
            <a:ext cx="360258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等价关系与等价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等价类与代表元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等价类的性质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商集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736401" y="4415599"/>
            <a:ext cx="296347" cy="1224136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086648" y="4168018"/>
            <a:ext cx="311189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划分与划分块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等价关系与划分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划分与等价关系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9416" y="4725144"/>
            <a:ext cx="8713787" cy="11348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kumimoji="1" lang="zh-CN" altLang="en-US" sz="2400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上自反、对称、传递的关系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是等价关系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360" y="1695476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用等价关系描述元素的分类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99456" y="2155858"/>
            <a:ext cx="9361040" cy="168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0" hangingPunc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b="0" dirty="0"/>
              <a:t>(1) </a:t>
            </a:r>
            <a:r>
              <a:rPr lang="zh-CN" altLang="en-US" b="0" dirty="0"/>
              <a:t>两个元素相互之间有关系 </a:t>
            </a:r>
            <a:r>
              <a:rPr lang="zh-CN" altLang="en-US" b="0" dirty="0">
                <a:sym typeface="Symbol" panose="05050102010706020507" pitchFamily="18" charset="2"/>
              </a:rPr>
              <a:t> 它们属于</a:t>
            </a:r>
            <a:r>
              <a:rPr lang="zh-CN" altLang="en-US" b="0" dirty="0"/>
              <a:t>同一类</a:t>
            </a:r>
          </a:p>
          <a:p>
            <a:r>
              <a:rPr lang="en-US" altLang="zh-CN" b="0" dirty="0"/>
              <a:t>(2) </a:t>
            </a:r>
            <a:r>
              <a:rPr lang="zh-CN" altLang="en-US" b="0" dirty="0"/>
              <a:t>每个元素构成一类：恒等关系</a:t>
            </a:r>
          </a:p>
          <a:p>
            <a:r>
              <a:rPr lang="zh-CN" altLang="en-US" b="0" dirty="0"/>
              <a:t>      整个集合构成一类：全关系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91344" y="4108998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5.4.1  </a:t>
            </a:r>
            <a:r>
              <a:rPr lang="zh-CN" altLang="en-US" dirty="0"/>
              <a:t>等价关系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177" y="2276872"/>
            <a:ext cx="11125646" cy="279685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恒等关系和全关系都是等价关系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实数集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上的≤关系不是等价关系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学生集合上定义关系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的姓氏相同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是等价关系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学生集合上定义关系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xSy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具有相同的父亲或母亲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不是等价关系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7368" y="1744524"/>
            <a:ext cx="1512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5.4.1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40896" y="2420888"/>
            <a:ext cx="9144000" cy="224196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等价类</a:t>
            </a:r>
            <a:r>
              <a:rPr kumimoji="1" lang="fr-FR" altLang="zh-CN" sz="2400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fr-FR" altLang="zh-CN" sz="2400" i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fr-FR" altLang="zh-CN" sz="2400" i="1" kern="12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fr-F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yRx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上的等价关系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endParaRPr kumimoji="1" lang="zh-CN" altLang="fr-FR" sz="24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等价类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fr-F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代表元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9144" y="1772816"/>
            <a:ext cx="64371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5.4.2  </a:t>
            </a:r>
            <a:r>
              <a:rPr lang="zh-CN" altLang="en-US" dirty="0"/>
              <a:t>等价类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9416" y="2480335"/>
            <a:ext cx="10800184" cy="334995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fr-F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mod m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fr-F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上的等价关系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上模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同余关系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所在的等价类：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[0]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4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={3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4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={3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[2]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4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={3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 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Z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的不同的等价类只有这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个：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…=[-6]=[-3]=[0]=[3]=[6]=…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…=[-5]=[-2]=[1]=[4]=[7]=…</a:t>
            </a:r>
            <a:endParaRPr kumimoji="1" lang="zh-CN" altLang="pt-BR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…=[-4]=[-1]=[2]=[5]=[8]=…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3512" y="1551714"/>
            <a:ext cx="6094268" cy="66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0" hangingPunc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0" dirty="0">
                <a:solidFill>
                  <a:srgbClr val="FFCCFF"/>
                </a:solidFill>
              </a:rPr>
              <a:t>模</a:t>
            </a:r>
            <a:r>
              <a:rPr lang="en-US" altLang="zh-CN" sz="2800" b="0" i="1" dirty="0">
                <a:solidFill>
                  <a:srgbClr val="FFCCFF"/>
                </a:solidFill>
              </a:rPr>
              <a:t>m</a:t>
            </a:r>
            <a:r>
              <a:rPr lang="zh-CN" altLang="en-US" sz="2800" b="0" dirty="0">
                <a:solidFill>
                  <a:srgbClr val="FFCCFF"/>
                </a:solidFill>
              </a:rPr>
              <a:t>的同余关系</a:t>
            </a:r>
            <a:r>
              <a:rPr lang="fr-FR" altLang="zh-CN" sz="2800" b="0" i="1" dirty="0">
                <a:solidFill>
                  <a:srgbClr val="FFCCFF"/>
                </a:solidFill>
              </a:rPr>
              <a:t>R</a:t>
            </a:r>
            <a:r>
              <a:rPr lang="fr-FR" altLang="zh-CN" sz="2800" i="1" baseline="-25000" dirty="0">
                <a:solidFill>
                  <a:srgbClr val="FFCCFF"/>
                </a:solidFill>
              </a:rPr>
              <a:t>m</a:t>
            </a:r>
            <a:r>
              <a:rPr lang="zh-CN" altLang="en-US" sz="2800" b="0" dirty="0">
                <a:solidFill>
                  <a:srgbClr val="FFCCFF"/>
                </a:solidFill>
              </a:rPr>
              <a:t>和同余类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7368" y="1700808"/>
            <a:ext cx="16561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5.4.2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82564" y="2394996"/>
            <a:ext cx="4752528" cy="196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0" hangingPunc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</a:pPr>
            <a:r>
              <a:rPr lang="pt-BR" altLang="zh-CN" b="0" i="1" dirty="0"/>
              <a:t>R</a:t>
            </a:r>
            <a:r>
              <a:rPr lang="zh-CN" altLang="pt-BR" b="0" dirty="0"/>
              <a:t>：集合</a:t>
            </a:r>
            <a:r>
              <a:rPr lang="pt-BR" altLang="zh-CN" b="0" i="1" dirty="0"/>
              <a:t>X</a:t>
            </a:r>
            <a:r>
              <a:rPr lang="zh-CN" altLang="pt-BR" b="0" dirty="0"/>
              <a:t>上的等价关系</a:t>
            </a:r>
            <a:r>
              <a:rPr lang="en-US" altLang="zh-CN" b="0" dirty="0"/>
              <a:t>, </a:t>
            </a:r>
            <a:r>
              <a:rPr lang="zh-CN" altLang="pt-BR" b="0" dirty="0">
                <a:sym typeface="Symbol" panose="05050102010706020507" pitchFamily="18" charset="2"/>
              </a:rPr>
              <a:t></a:t>
            </a:r>
            <a:r>
              <a:rPr lang="pt-BR" altLang="zh-CN" b="0" i="1" dirty="0"/>
              <a:t>x</a:t>
            </a:r>
            <a:r>
              <a:rPr lang="pt-BR" altLang="zh-CN" b="0" dirty="0"/>
              <a:t>,</a:t>
            </a:r>
            <a:r>
              <a:rPr lang="pt-BR" altLang="zh-CN" b="0" i="1" dirty="0"/>
              <a:t>y</a:t>
            </a:r>
            <a:r>
              <a:rPr lang="pt-BR" altLang="zh-CN" b="0" dirty="0">
                <a:sym typeface="Symbol" panose="05050102010706020507" pitchFamily="18" charset="2"/>
              </a:rPr>
              <a:t></a:t>
            </a:r>
            <a:r>
              <a:rPr lang="pt-BR" altLang="zh-CN" b="0" i="1" dirty="0"/>
              <a:t>X</a:t>
            </a:r>
            <a:endParaRPr lang="zh-CN" altLang="pt-BR" b="0" i="1" dirty="0"/>
          </a:p>
          <a:p>
            <a:pPr>
              <a:lnSpc>
                <a:spcPct val="130000"/>
              </a:lnSpc>
            </a:pPr>
            <a:r>
              <a:rPr lang="en-US" altLang="zh-CN" b="0" dirty="0"/>
              <a:t>(</a:t>
            </a:r>
            <a:r>
              <a:rPr lang="pt-BR" altLang="zh-CN" b="0" dirty="0"/>
              <a:t>1</a:t>
            </a:r>
            <a:r>
              <a:rPr lang="en-US" altLang="zh-CN" b="0" dirty="0"/>
              <a:t>)</a:t>
            </a:r>
            <a:r>
              <a:rPr lang="pt-BR" altLang="zh-CN" b="0" i="1" dirty="0"/>
              <a:t>xRy</a:t>
            </a:r>
            <a:r>
              <a:rPr lang="pt-BR" altLang="zh-CN" b="0" dirty="0"/>
              <a:t> </a:t>
            </a:r>
            <a:r>
              <a:rPr lang="pt-BR" altLang="zh-CN" b="0" dirty="0">
                <a:sym typeface="Symbol" panose="05050102010706020507" pitchFamily="18" charset="2"/>
              </a:rPr>
              <a:t> </a:t>
            </a:r>
            <a:r>
              <a:rPr lang="pt-BR" altLang="zh-CN" b="0" dirty="0"/>
              <a:t>[</a:t>
            </a:r>
            <a:r>
              <a:rPr lang="pt-BR" altLang="zh-CN" b="0" i="1" dirty="0"/>
              <a:t>x</a:t>
            </a:r>
            <a:r>
              <a:rPr lang="pt-BR" altLang="zh-CN" b="0" dirty="0"/>
              <a:t>]</a:t>
            </a:r>
            <a:r>
              <a:rPr lang="pt-BR" altLang="zh-CN" b="0" i="1" baseline="-25000" dirty="0"/>
              <a:t>R</a:t>
            </a:r>
            <a:r>
              <a:rPr lang="pt-BR" altLang="zh-CN" b="0" dirty="0"/>
              <a:t>=[</a:t>
            </a:r>
            <a:r>
              <a:rPr lang="pt-BR" altLang="zh-CN" b="0" i="1" dirty="0"/>
              <a:t>y</a:t>
            </a:r>
            <a:r>
              <a:rPr lang="pt-BR" altLang="zh-CN" b="0" dirty="0"/>
              <a:t>]</a:t>
            </a:r>
            <a:r>
              <a:rPr lang="pt-BR" altLang="zh-CN" b="0" i="1" baseline="-25000" dirty="0"/>
              <a:t>R</a:t>
            </a:r>
            <a:endParaRPr lang="zh-CN" altLang="pt-BR" b="0" i="1" baseline="-25000" dirty="0"/>
          </a:p>
          <a:p>
            <a:pPr>
              <a:lnSpc>
                <a:spcPct val="130000"/>
              </a:lnSpc>
            </a:pPr>
            <a:r>
              <a:rPr lang="en-US" altLang="zh-CN" b="0" dirty="0"/>
              <a:t>(</a:t>
            </a:r>
            <a:r>
              <a:rPr lang="pt-BR" altLang="zh-CN" b="0" dirty="0"/>
              <a:t>2</a:t>
            </a:r>
            <a:r>
              <a:rPr lang="en-US" altLang="zh-CN" b="0" dirty="0"/>
              <a:t>)</a:t>
            </a:r>
            <a:r>
              <a:rPr lang="zh-CN" altLang="pt-BR" b="0" dirty="0">
                <a:sym typeface="Symbol" panose="05050102010706020507" pitchFamily="18" charset="2"/>
              </a:rPr>
              <a:t></a:t>
            </a:r>
            <a:r>
              <a:rPr lang="pt-BR" altLang="zh-CN" b="0" i="1" dirty="0"/>
              <a:t>xRy </a:t>
            </a:r>
            <a:r>
              <a:rPr lang="pt-BR" altLang="zh-CN" b="0" dirty="0">
                <a:sym typeface="Symbol" panose="05050102010706020507" pitchFamily="18" charset="2"/>
              </a:rPr>
              <a:t> </a:t>
            </a:r>
            <a:r>
              <a:rPr lang="pt-BR" altLang="zh-CN" b="0" dirty="0"/>
              <a:t>[</a:t>
            </a:r>
            <a:r>
              <a:rPr lang="pt-BR" altLang="zh-CN" b="0" i="1" dirty="0"/>
              <a:t>x</a:t>
            </a:r>
            <a:r>
              <a:rPr lang="pt-BR" altLang="zh-CN" b="0" dirty="0"/>
              <a:t>]</a:t>
            </a:r>
            <a:r>
              <a:rPr lang="pt-BR" altLang="zh-CN" b="0" i="1" baseline="-25000" dirty="0"/>
              <a:t>R</a:t>
            </a:r>
            <a:r>
              <a:rPr lang="pt-BR" altLang="zh-CN" b="0" dirty="0"/>
              <a:t>∩[</a:t>
            </a:r>
            <a:r>
              <a:rPr lang="pt-BR" altLang="zh-CN" b="0" i="1" dirty="0"/>
              <a:t>y</a:t>
            </a:r>
            <a:r>
              <a:rPr lang="pt-BR" altLang="zh-CN" b="0" dirty="0"/>
              <a:t>]</a:t>
            </a:r>
            <a:r>
              <a:rPr lang="pt-BR" altLang="zh-CN" b="0" i="1" baseline="-25000" dirty="0"/>
              <a:t>R</a:t>
            </a:r>
            <a:r>
              <a:rPr lang="pt-BR" altLang="zh-CN" b="0" dirty="0"/>
              <a:t>=</a:t>
            </a:r>
            <a:r>
              <a:rPr lang="pt-BR" altLang="zh-CN" b="0" i="1" dirty="0">
                <a:sym typeface="Symbol" panose="05050102010706020507" pitchFamily="18" charset="2"/>
              </a:rPr>
              <a:t></a:t>
            </a:r>
            <a:endParaRPr lang="pt-BR" altLang="pt-BR" b="0" i="1" dirty="0"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</a:pPr>
            <a:r>
              <a:rPr lang="en-US" altLang="zh-CN" b="0" dirty="0"/>
              <a:t>(</a:t>
            </a:r>
            <a:r>
              <a:rPr lang="pt-BR" altLang="zh-CN" b="0" dirty="0"/>
              <a:t>3</a:t>
            </a:r>
            <a:r>
              <a:rPr lang="en-US" altLang="zh-CN" b="0" dirty="0"/>
              <a:t>)</a:t>
            </a:r>
            <a:r>
              <a:rPr lang="zh-CN" altLang="pt-BR" b="0" dirty="0"/>
              <a:t>         </a:t>
            </a:r>
            <a:r>
              <a:rPr lang="pt-BR" altLang="zh-CN" b="0" dirty="0"/>
              <a:t>=</a:t>
            </a:r>
            <a:r>
              <a:rPr lang="pt-BR" altLang="zh-CN" b="0" i="1" dirty="0"/>
              <a:t>X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03912" y="2650110"/>
            <a:ext cx="6696744" cy="32694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zRx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zRy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 </a:t>
            </a:r>
            <a:r>
              <a:rPr kumimoji="1" lang="pt-BR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。采用反证法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]∩[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]≠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]∩[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]≠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]∩[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zRx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zRy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xRz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zRy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这与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矛盾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]∩[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∴左右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右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左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∴右左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综上</a:t>
            </a:r>
            <a:r>
              <a:rPr kumimoji="1" lang="en-US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左</a:t>
            </a:r>
            <a:r>
              <a:rPr kumimoji="1" lang="pt-BR" altLang="zh-CN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zh-CN" altLang="pt-BR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右</a:t>
            </a:r>
            <a:endParaRPr kumimoji="1" lang="zh-CN" alt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400174"/>
              </p:ext>
            </p:extLst>
          </p:nvPr>
        </p:nvGraphicFramePr>
        <p:xfrm>
          <a:off x="983432" y="3895399"/>
          <a:ext cx="792162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3" imgW="358775" imgH="260350" progId="Equation.DSMT4">
                  <p:embed/>
                </p:oleObj>
              </mc:Choice>
              <mc:Fallback>
                <p:oleObj name="Equation" r:id="rId3" imgW="358775" imgH="26035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895399"/>
                        <a:ext cx="792162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7368" y="1764144"/>
            <a:ext cx="25202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dirty="0"/>
              <a:t>定理</a:t>
            </a:r>
            <a:r>
              <a:rPr lang="en-US" altLang="zh-CN" dirty="0"/>
              <a:t>5.4.1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118511" y="2057028"/>
            <a:ext cx="1397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99456" y="2276872"/>
            <a:ext cx="9952242" cy="334995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等价类中的任意元素都可以作为该等价类的代表元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kumimoji="1" lang="zh-CN" altLang="pt-BR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400" b="1" i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pt-BR" altLang="zh-CN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[</a:t>
            </a:r>
            <a:r>
              <a:rPr kumimoji="1" lang="pt-BR" altLang="zh-CN" sz="2400" b="1" i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pt-BR" altLang="zh-CN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kumimoji="1" lang="en-US" altLang="zh-CN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pt-BR" altLang="zh-CN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1" lang="pt-BR" altLang="zh-CN" sz="2400" b="1" i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pt-BR" altLang="zh-CN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]=[</a:t>
            </a:r>
            <a:r>
              <a:rPr kumimoji="1" lang="pt-BR" altLang="zh-CN" sz="2400" b="1" i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pt-BR" altLang="zh-CN" sz="2400" b="1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kumimoji="1" lang="zh-CN" altLang="pt-BR" sz="2400" b="1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任意两个等价类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或者相等或者没有公共元素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等价类是由所有那些相互等价的元素组成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等价类中的元素相互等价</a:t>
            </a:r>
            <a:r>
              <a:rPr kumimoji="1" lang="en-US" altLang="zh-CN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任何与该等价类中的某个元素等价的元素都在该等价类中</a:t>
            </a:r>
            <a:r>
              <a:rPr kumimoji="1" lang="en-US" altLang="zh-CN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且其外的元素都不与其中的元素等价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5548" name="Rectangle 12"/>
          <p:cNvSpPr>
            <a:spLocks noChangeArrowheads="1"/>
          </p:cNvSpPr>
          <p:nvPr/>
        </p:nvSpPr>
        <p:spPr bwMode="auto">
          <a:xfrm>
            <a:off x="1524001" y="315336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5360" y="1765342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等价类的性质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83432" y="2242284"/>
            <a:ext cx="10801200" cy="334880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学生集合上的等价关系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的姓氏相同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若共有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个不同的姓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则关于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的不同的等价类恰有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所有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2400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姓的学生构成其中的一个类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[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]=[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张四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   [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张四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同余类恰有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个：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[0]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[2]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它们两两不交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[0]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={3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={3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[2]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={3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 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kumimoji="1" lang="fr-F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[0]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[2]=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[1]∩[2]=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,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[1]∩[0]=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,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[0]∩[2]=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65548" name="Rectangle 12"/>
          <p:cNvSpPr>
            <a:spLocks noChangeArrowheads="1"/>
          </p:cNvSpPr>
          <p:nvPr/>
        </p:nvSpPr>
        <p:spPr bwMode="auto">
          <a:xfrm>
            <a:off x="1524001" y="315336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07368" y="1700808"/>
            <a:ext cx="1584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5.4.3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11424" y="2204864"/>
            <a:ext cx="8628620" cy="168886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的商集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的所有等价类所组成的集合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={[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kumimoji="1" lang="pt-BR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fr-F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pt-BR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1700808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5.4.3  </a:t>
            </a:r>
            <a:r>
              <a:rPr lang="zh-CN" altLang="pt-BR" dirty="0"/>
              <a:t>商集 </a:t>
            </a: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47628" y="4281413"/>
            <a:ext cx="4680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0" i="1" kern="120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4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lang="en-US" altLang="zh-CN" sz="2400" b="0" i="1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-2500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的商集</a:t>
            </a:r>
            <a:r>
              <a:rPr lang="en-US" altLang="zh-CN" sz="2400" b="0" i="1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Z/R</a:t>
            </a:r>
            <a:r>
              <a:rPr lang="en-US" altLang="zh-CN" sz="2400" b="0" baseline="-2500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pt-BR" altLang="zh-CN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={[0],[1],[2]}</a:t>
            </a:r>
            <a:endParaRPr lang="zh-CN" altLang="en-US" sz="2400" b="0" dirty="0">
              <a:solidFill>
                <a:srgbClr val="FF7C8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79376" y="1546424"/>
            <a:ext cx="1512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例</a:t>
            </a:r>
            <a:r>
              <a:rPr lang="en-US" altLang="zh-CN" dirty="0"/>
              <a:t>5.4.4</a:t>
            </a: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等价关系和等价类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991544" y="1546424"/>
            <a:ext cx="8785225" cy="334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字符串集合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*</a:t>
            </a:r>
            <a:endParaRPr kumimoji="1" lang="zh-CN" altLang="en-US" sz="24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：字符集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字母表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kumimoji="1" lang="zh-CN" altLang="en-US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：空串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：串</a:t>
            </a:r>
            <a:r>
              <a:rPr kumimoji="1" lang="zh-CN" altLang="en-US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的长度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)=0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*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：所有的字符串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</a:t>
            </a:r>
            <a:r>
              <a:rPr kumimoji="1" lang="en-US" altLang="zh-CN" sz="2400" b="0" kern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 *-{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*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R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*/</a:t>
            </a:r>
            <a:r>
              <a:rPr kumimoji="1" lang="en-US" altLang="zh-CN" sz="2400" b="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zh-CN" altLang="en-US" sz="24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：是无限集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03512" y="2411272"/>
            <a:ext cx="8642350" cy="279685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pt-BR" sz="2400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</a:t>
            </a:r>
            <a:r>
              <a:rPr kumimoji="1" lang="zh-CN" altLang="pt-BR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zh-CN" altLang="pt-BR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zh-CN" altLang="pt-BR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zh-CN" altLang="pt-BR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kumimoji="1" lang="zh-CN" altLang="pt-BR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zh-CN" altLang="pt-BR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划分块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划分中的元素</a:t>
            </a:r>
            <a:endParaRPr kumimoji="1" lang="zh-CN" altLang="en-US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384" y="1649872"/>
            <a:ext cx="90730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5.4.4 </a:t>
            </a:r>
            <a:r>
              <a:rPr lang="zh-CN" altLang="pt-BR" dirty="0">
                <a:solidFill>
                  <a:schemeClr val="bg1"/>
                </a:solidFill>
              </a:rPr>
              <a:t>集合</a:t>
            </a:r>
            <a:r>
              <a:rPr lang="pt-BR" altLang="zh-CN" i="1" dirty="0">
                <a:solidFill>
                  <a:schemeClr val="bg1"/>
                </a:solidFill>
              </a:rPr>
              <a:t>X</a:t>
            </a:r>
            <a:r>
              <a:rPr lang="zh-CN" altLang="pt-BR" dirty="0">
                <a:solidFill>
                  <a:schemeClr val="bg1"/>
                </a:solidFill>
              </a:rPr>
              <a:t>的</a:t>
            </a:r>
            <a:r>
              <a:rPr lang="zh-CN" altLang="en-US" dirty="0">
                <a:solidFill>
                  <a:schemeClr val="bg1"/>
                </a:solidFill>
              </a:rPr>
              <a:t>划分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zh-CN" altLang="en-US" dirty="0">
                <a:solidFill>
                  <a:schemeClr val="bg1"/>
                </a:solidFill>
              </a:rPr>
              <a:t>集合元素分类的数学模型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endParaRPr lang="pt-BR" altLang="zh-CN" dirty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0699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划分和等价关系</a:t>
            </a:r>
          </a:p>
        </p:txBody>
      </p:sp>
      <p:pic>
        <p:nvPicPr>
          <p:cNvPr id="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432" y="2805787"/>
            <a:ext cx="3851920" cy="240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98277" y="1628800"/>
            <a:ext cx="8642350" cy="11337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{1,2,3,4,5,6},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{1,3,4},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{2,6},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kumimoji="1" lang="zh-CN" altLang="pt-BR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的一个划分</a:t>
            </a:r>
          </a:p>
        </p:txBody>
      </p:sp>
      <p:pic>
        <p:nvPicPr>
          <p:cNvPr id="68618" name="Picture 10"/>
          <p:cNvPicPr>
            <a:picLocks noChangeAspect="1" noChangeArrowheads="1"/>
          </p:cNvPicPr>
          <p:nvPr/>
        </p:nvPicPr>
        <p:blipFill>
          <a:blip r:embed="rId2">
            <a:lum bright="-30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3057500"/>
            <a:ext cx="33845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35360" y="1628800"/>
            <a:ext cx="144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5.4.5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699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划分和等价关系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58396" y="1978078"/>
            <a:ext cx="11089306" cy="1684244"/>
          </a:xfr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={1,2,3}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上不同的划分共有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个：只有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个划分块的划分有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个、具有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个划分块的划分有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个、具有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个划分块的划分有</a:t>
            </a:r>
            <a:r>
              <a:rPr kumimoji="1" lang="pt-BR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个。</a:t>
            </a:r>
            <a:r>
              <a:rPr lang="zh-CN" alt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pt-BR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={{1,2,3}}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pt-BR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={{1},{2,3}}</a:t>
            </a:r>
            <a:r>
              <a:rPr lang="zh-CN" alt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，</a:t>
            </a:r>
            <a:r>
              <a:rPr lang="pt-BR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={{2},{1,3}}</a:t>
            </a:r>
            <a:r>
              <a:rPr lang="zh-CN" alt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，</a:t>
            </a:r>
            <a:r>
              <a:rPr lang="pt-BR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={{3},{2,1}}</a:t>
            </a:r>
            <a:r>
              <a:rPr lang="zh-CN" alt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</a:t>
            </a:r>
            <a:r>
              <a:rPr lang="pt-BR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={{1},{2},{3}}</a:t>
            </a:r>
            <a:endParaRPr lang="zh-CN" altLang="pt-BR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0037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86" y="3888448"/>
            <a:ext cx="16192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71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37" y="3888449"/>
            <a:ext cx="15843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72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99" y="3888448"/>
            <a:ext cx="1655762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73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49" y="3888448"/>
            <a:ext cx="1655762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74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12" y="3888449"/>
            <a:ext cx="15843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42378" y="1665219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5.5.6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55440" y="5805264"/>
            <a:ext cx="6187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Z/R</a:t>
            </a:r>
            <a:r>
              <a:rPr lang="pt-BR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={[0]</a:t>
            </a:r>
            <a:r>
              <a:rPr lang="pt-BR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4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,[1]</a:t>
            </a:r>
            <a:r>
              <a:rPr lang="pt-BR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4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,[2]</a:t>
            </a:r>
            <a:r>
              <a:rPr lang="pt-BR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4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  <a:r>
              <a:rPr lang="zh-CN" altLang="pt-BR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pt-BR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的一个划分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087888" y="330699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划分和等价关系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1524001" y="30200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200" name="Rectangle 48"/>
          <p:cNvSpPr>
            <a:spLocks noChangeArrowheads="1"/>
          </p:cNvSpPr>
          <p:nvPr/>
        </p:nvSpPr>
        <p:spPr bwMode="auto">
          <a:xfrm>
            <a:off x="1524001" y="308827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79376" y="1716003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5.4.2  </a:t>
            </a:r>
            <a:r>
              <a:rPr lang="zh-CN" altLang="pt-BR" sz="2400" dirty="0">
                <a:solidFill>
                  <a:schemeClr val="bg1"/>
                </a:solidFill>
              </a:rPr>
              <a:t>商集</a:t>
            </a:r>
            <a:r>
              <a:rPr lang="pt-BR" altLang="zh-CN" sz="2400" i="1" dirty="0">
                <a:solidFill>
                  <a:schemeClr val="bg1"/>
                </a:solidFill>
              </a:rPr>
              <a:t>X/R</a:t>
            </a:r>
            <a:r>
              <a:rPr lang="zh-CN" altLang="pt-BR" sz="2400" dirty="0">
                <a:solidFill>
                  <a:schemeClr val="bg1"/>
                </a:solidFill>
              </a:rPr>
              <a:t>是划分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30810" y="2499535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由定理</a:t>
            </a:r>
            <a:r>
              <a:rPr lang="en-US" altLang="zh-CN" dirty="0"/>
              <a:t>5.4.1</a:t>
            </a:r>
            <a:r>
              <a:rPr lang="zh-CN" altLang="en-US" dirty="0"/>
              <a:t>直接给出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9644" y="4419214"/>
            <a:ext cx="24083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dirty="0"/>
              <a:t>定理</a:t>
            </a:r>
            <a:r>
              <a:rPr lang="pt-BR" altLang="zh-CN" dirty="0"/>
              <a:t>5.4.3 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858022" y="4441187"/>
            <a:ext cx="7371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pt-BR" i="1" dirty="0">
                <a:sym typeface="Symbol" panose="05050102010706020507" pitchFamily="18" charset="2"/>
              </a:rPr>
              <a:t></a:t>
            </a:r>
            <a:r>
              <a:rPr lang="zh-CN" altLang="pt-BR" dirty="0">
                <a:sym typeface="Symbol" panose="05050102010706020507" pitchFamily="18" charset="2"/>
              </a:rPr>
              <a:t>：</a:t>
            </a:r>
            <a:r>
              <a:rPr lang="zh-CN" altLang="pt-BR" dirty="0"/>
              <a:t>集合</a:t>
            </a:r>
            <a:r>
              <a:rPr lang="pt-BR" altLang="zh-CN" i="1" dirty="0"/>
              <a:t>X</a:t>
            </a:r>
            <a:r>
              <a:rPr lang="zh-CN" altLang="pt-BR" dirty="0"/>
              <a:t>的划分</a:t>
            </a:r>
            <a:r>
              <a:rPr lang="en-US" altLang="zh-CN" dirty="0"/>
              <a:t>, </a:t>
            </a:r>
            <a:r>
              <a:rPr lang="zh-CN" altLang="pt-BR" dirty="0"/>
              <a:t>如下定义的关系</a:t>
            </a:r>
            <a:r>
              <a:rPr lang="pt-BR" altLang="zh-CN" i="1" dirty="0"/>
              <a:t>R</a:t>
            </a:r>
            <a:r>
              <a:rPr lang="zh-CN" altLang="pt-BR" dirty="0"/>
              <a:t>是等价关系：</a:t>
            </a:r>
          </a:p>
          <a:p>
            <a:r>
              <a:rPr lang="pt-BR" altLang="zh-CN" dirty="0"/>
              <a:t>        </a:t>
            </a:r>
            <a:r>
              <a:rPr lang="pt-BR" altLang="zh-CN" i="1" dirty="0"/>
              <a:t>R</a:t>
            </a:r>
            <a:r>
              <a:rPr lang="pt-BR" altLang="zh-CN" dirty="0"/>
              <a:t>={(</a:t>
            </a:r>
            <a:r>
              <a:rPr lang="pt-BR" altLang="zh-CN" i="1" dirty="0"/>
              <a:t>x</a:t>
            </a:r>
            <a:r>
              <a:rPr lang="pt-BR" altLang="zh-CN" dirty="0"/>
              <a:t>,</a:t>
            </a:r>
            <a:r>
              <a:rPr lang="pt-BR" altLang="zh-CN" i="1" dirty="0"/>
              <a:t>y</a:t>
            </a:r>
            <a:r>
              <a:rPr lang="pt-BR" altLang="zh-CN" dirty="0"/>
              <a:t>) | </a:t>
            </a:r>
            <a:r>
              <a:rPr lang="pt-BR" altLang="zh-CN" i="1" dirty="0"/>
              <a:t>x</a:t>
            </a:r>
            <a:r>
              <a:rPr lang="pt-BR" altLang="zh-CN" dirty="0"/>
              <a:t>,</a:t>
            </a:r>
            <a:r>
              <a:rPr lang="pt-BR" altLang="zh-CN" i="1" dirty="0"/>
              <a:t>y</a:t>
            </a:r>
            <a:r>
              <a:rPr lang="zh-CN" altLang="pt-BR" dirty="0"/>
              <a:t>属于</a:t>
            </a:r>
            <a:r>
              <a:rPr lang="zh-CN" altLang="pt-BR" i="1" dirty="0">
                <a:sym typeface="Symbol" panose="05050102010706020507" pitchFamily="18" charset="2"/>
              </a:rPr>
              <a:t></a:t>
            </a:r>
            <a:r>
              <a:rPr lang="zh-CN" altLang="pt-BR" dirty="0"/>
              <a:t>的同一个划分块</a:t>
            </a:r>
            <a:r>
              <a:rPr lang="pt-BR" altLang="zh-CN" dirty="0"/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80165" y="5432252"/>
            <a:ext cx="1429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显然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28866" y="2475907"/>
            <a:ext cx="1397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03845" y="5370697"/>
            <a:ext cx="1397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8" y="330699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划分和等价关系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5" grpId="0"/>
      <p:bldP spid="49200" grpId="0"/>
      <p:bldP spid="7" grpId="0"/>
      <p:bldP spid="9" grpId="0"/>
      <p:bldP spid="11" grpId="0"/>
      <p:bldP spid="13" grpId="0"/>
      <p:bldP spid="15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2" y="4077072"/>
            <a:ext cx="7848872" cy="13086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7C80"/>
                </a:solidFill>
              </a:rPr>
              <a:t>等价关系和划分是集合元素分类的两种描述方法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7C80"/>
                </a:solidFill>
              </a:rPr>
              <a:t>   二者本质上是同一事物的两个不同方面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95400" y="2060848"/>
                <a:ext cx="3971032" cy="909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2400" b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⟶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⟶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𝑅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𝑅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dirty="0"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⟶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⟶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π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sub>
                        </m:sSub>
                      </m:sub>
                    </m:sSub>
                  </m:oMath>
                </a14:m>
                <a:endParaRPr lang="zh-CN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2060848"/>
                <a:ext cx="3971032" cy="909031"/>
              </a:xfrm>
              <a:prstGeom prst="rect">
                <a:avLst/>
              </a:prstGeom>
              <a:blipFill rotWithShape="1">
                <a:blip r:embed="rId2"/>
                <a:stretch>
                  <a:fillRect l="-2" t="-30" r="11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799856" y="1869192"/>
            <a:ext cx="716754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  <a:tabLst>
                <a:tab pos="0" algn="l"/>
              </a:tabLst>
            </a:pP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两个记号</a:t>
            </a:r>
          </a:p>
          <a:p>
            <a:pPr marL="0" indent="0">
              <a:buFontTx/>
              <a:buNone/>
              <a:tabLst>
                <a:tab pos="0" algn="l"/>
              </a:tabLst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pt-BR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0" lang="pt-BR" altLang="zh-CN" sz="2400" b="0" i="1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0" lang="pt-BR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X/R </a:t>
            </a:r>
            <a:r>
              <a:rPr kumimoji="0" lang="zh-CN" altLang="pt-BR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pt-BR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kumimoji="0" lang="pt-BR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上的等价关系</a:t>
            </a:r>
          </a:p>
          <a:p>
            <a:pPr marL="0" indent="0">
              <a:buFontTx/>
              <a:buNone/>
              <a:tabLst>
                <a:tab pos="0" algn="l"/>
              </a:tabLst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pt-BR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pt-BR" altLang="zh-CN" sz="2400" b="0" i="1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kumimoji="0" lang="zh-CN" altLang="pt-BR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按照定理</a:t>
            </a:r>
            <a:r>
              <a:rPr kumimoji="0" lang="pt-BR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5.4.3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的方式导出的等价关系</a:t>
            </a:r>
          </a:p>
          <a:p>
            <a:pPr marL="0" indent="0">
              <a:buFontTx/>
              <a:buNone/>
              <a:tabLst>
                <a:tab pos="0" algn="l"/>
              </a:tabLst>
            </a:pPr>
            <a:r>
              <a:rPr kumimoji="0" lang="zh-CN" altLang="pt-BR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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kumimoji="0" lang="pt-BR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kumimoji="0" lang="zh-CN" altLang="pt-BR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的划分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699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划分和等价关系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1781775" y="1628800"/>
            <a:ext cx="8713787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108585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646555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2168525" indent="-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69113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31483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6055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40627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5199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FF9900"/>
              </a:buClr>
              <a:buNone/>
            </a:pPr>
            <a:r>
              <a:rPr lang="pt-BR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={1,2,3}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pt-BR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上不同的等价关系共有</a:t>
            </a:r>
            <a:r>
              <a:rPr lang="pt-BR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因为划分有</a:t>
            </a:r>
            <a:r>
              <a:rPr lang="pt-BR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pt-BR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5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个等价关系可分别由前例的</a:t>
            </a:r>
            <a:r>
              <a:rPr lang="pt-BR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pt-BR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个划分得到：</a:t>
            </a:r>
            <a:endParaRPr lang="en-US" altLang="zh-CN" sz="24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                   R</a:t>
            </a:r>
            <a:r>
              <a:rPr kumimoji="0" lang="pt-BR" altLang="zh-CN" sz="2400" b="0" baseline="-2500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1</a:t>
            </a: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={(1,1),(2,2),(3,3),(1,2),(1,3),(2,1),(2,3),(3,1),(3,2)} </a:t>
            </a:r>
            <a:endParaRPr kumimoji="0" lang="zh-CN" altLang="pt-BR" sz="2400" b="0" dirty="0">
              <a:solidFill>
                <a:srgbClr val="FFFFFF"/>
              </a:solidFill>
              <a:effectLst/>
              <a:sym typeface="Symbol" panose="05050102010706020507" pitchFamily="18" charset="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                   R</a:t>
            </a:r>
            <a:r>
              <a:rPr kumimoji="0" lang="pt-BR" altLang="zh-CN" sz="2400" b="0" baseline="-2500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2</a:t>
            </a: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={(1,1),(2,2),(3,3),(2,3),(3,2)}</a:t>
            </a:r>
            <a:endParaRPr kumimoji="0" lang="zh-CN" altLang="pt-BR" sz="2400" b="0" dirty="0">
              <a:solidFill>
                <a:srgbClr val="FFFFFF"/>
              </a:solidFill>
              <a:effectLst/>
              <a:sym typeface="Symbol" panose="05050102010706020507" pitchFamily="18" charset="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                   R</a:t>
            </a:r>
            <a:r>
              <a:rPr kumimoji="0" lang="pt-BR" altLang="zh-CN" sz="2400" b="0" baseline="-2500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3</a:t>
            </a: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={(1,1),(2,2),(3,3),(1,3),(3,1)}</a:t>
            </a:r>
            <a:endParaRPr kumimoji="0" lang="zh-CN" altLang="pt-BR" sz="2400" b="0" dirty="0">
              <a:solidFill>
                <a:srgbClr val="FFFFFF"/>
              </a:solidFill>
              <a:effectLst/>
              <a:sym typeface="Symbol" panose="05050102010706020507" pitchFamily="18" charset="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                   R</a:t>
            </a:r>
            <a:r>
              <a:rPr kumimoji="0" lang="pt-BR" altLang="zh-CN" sz="2400" b="0" baseline="-2500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4</a:t>
            </a: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={(1,1),(2,2),(3,3),(1,2),(2,1)}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                   R</a:t>
            </a:r>
            <a:r>
              <a:rPr kumimoji="0" lang="pt-BR" altLang="zh-CN" sz="2400" b="0" baseline="-2500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5</a:t>
            </a:r>
            <a:r>
              <a:rPr kumimoji="0" lang="pt-BR" altLang="zh-CN" sz="2400" b="0" dirty="0">
                <a:solidFill>
                  <a:srgbClr val="FFFFFF"/>
                </a:solidFill>
                <a:effectLst/>
                <a:sym typeface="Symbol" panose="05050102010706020507" pitchFamily="18" charset="2"/>
              </a:rPr>
              <a:t> ={(1,1),(2,2),(3,3)}</a:t>
            </a:r>
            <a:endParaRPr lang="zh-CN" altLang="pt-BR" sz="24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360" y="1700808"/>
            <a:ext cx="14393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5.5.7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8" y="330699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划分和等价关系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33142"/>
            <a:ext cx="446449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105:  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25,29,30,31</a:t>
            </a:r>
            <a:endParaRPr lang="zh-CN" alt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376" y="1607195"/>
            <a:ext cx="11449272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是所有人组成的集合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如下定义的关系哪些是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上的等价关系？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){(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的兄弟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){(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的年龄相差不超过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岁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(3){(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有相同的祖父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pt-BR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相识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pt-BR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会说同一种语言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  <a:endParaRPr lang="en-US" altLang="zh-CN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上的等价关系，则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是否也都是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上的等价关系？为什么？ 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79376" y="1607195"/>
                <a:ext cx="11449272" cy="4669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3. 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={(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 | 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是不为零的实数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上的关系：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pt-BR" altLang="zh-CN" sz="2400" b="0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pt-BR" altLang="zh-CN" sz="2400" b="0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当且仅当且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b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且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·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&gt;0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上的等价关系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并给出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[(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)]</a:t>
                </a:r>
                <a:r>
                  <a:rPr lang="pt-BR" altLang="zh-CN" sz="2400" b="0" i="1" baseline="-250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的几何解释。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4. 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下面哪些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Z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的子集簇构成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Z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的划分？为什么？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偶数集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奇数集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正整数集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负整数集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能被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整除的整数的集合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被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除余数为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被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除余数为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小于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-100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绝对值不超过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100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大于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100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不能被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整除的整数的集合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偶数集合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被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除余数为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的整数的集合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607195"/>
                <a:ext cx="11449272" cy="4669155"/>
              </a:xfrm>
              <a:prstGeom prst="rect">
                <a:avLst/>
              </a:prstGeom>
              <a:blipFill rotWithShape="1">
                <a:blip r:embed="rId4"/>
                <a:stretch>
                  <a:fillRect l="-5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871864" y="133142"/>
            <a:ext cx="446449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105:  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25,29,30,31</a:t>
            </a:r>
            <a:endParaRPr lang="zh-CN" alt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1884</Words>
  <Application>Microsoft Office PowerPoint</Application>
  <PresentationFormat>宽屏</PresentationFormat>
  <Paragraphs>157</Paragraphs>
  <Slides>20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楷体_GB2312</vt:lpstr>
      <vt:lpstr>宋体</vt:lpstr>
      <vt:lpstr>微软雅黑</vt:lpstr>
      <vt:lpstr>Arial</vt:lpstr>
      <vt:lpstr>Cambria Math</vt:lpstr>
      <vt:lpstr>Garamond</vt:lpstr>
      <vt:lpstr>Symbol</vt:lpstr>
      <vt:lpstr>Tahoma</vt:lpstr>
      <vt:lpstr>Times New Roman</vt:lpstr>
      <vt:lpstr>Wingdings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826</cp:revision>
  <dcterms:created xsi:type="dcterms:W3CDTF">2021-10-31T14:44:00Z</dcterms:created>
  <dcterms:modified xsi:type="dcterms:W3CDTF">2026-04-20T01:41:09Z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F4BCDFC539F740BA925AA9F800BD5BC4_13</vt:lpwstr>
  </property>
</Properties>
</file>