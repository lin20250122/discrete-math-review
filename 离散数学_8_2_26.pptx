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4.xml" ContentType="application/vnd.openxmlformats-officedocument.presentationml.tags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5"/>
  </p:notesMasterIdLst>
  <p:sldIdLst>
    <p:sldId id="452" r:id="rId2"/>
    <p:sldId id="377" r:id="rId3"/>
    <p:sldId id="338" r:id="rId4"/>
    <p:sldId id="423" r:id="rId5"/>
    <p:sldId id="451" r:id="rId6"/>
    <p:sldId id="418" r:id="rId7"/>
    <p:sldId id="281" r:id="rId8"/>
    <p:sldId id="445" r:id="rId9"/>
    <p:sldId id="446" r:id="rId10"/>
    <p:sldId id="447" r:id="rId11"/>
    <p:sldId id="449" r:id="rId12"/>
    <p:sldId id="450" r:id="rId13"/>
    <p:sldId id="456" r:id="rId14"/>
    <p:sldId id="448" r:id="rId15"/>
    <p:sldId id="441" r:id="rId16"/>
    <p:sldId id="443" r:id="rId17"/>
    <p:sldId id="453" r:id="rId18"/>
    <p:sldId id="444" r:id="rId19"/>
    <p:sldId id="429" r:id="rId20"/>
    <p:sldId id="454" r:id="rId21"/>
    <p:sldId id="455" r:id="rId22"/>
    <p:sldId id="442" r:id="rId23"/>
    <p:sldId id="399" r:id="rId24"/>
  </p:sldIdLst>
  <p:sldSz cx="12192000" cy="6858000"/>
  <p:notesSz cx="6858000" cy="9144000"/>
  <p:custDataLst>
    <p:tags r:id="rId26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7C80"/>
    <a:srgbClr val="CCFFCC"/>
    <a:srgbClr val="FFCC99"/>
    <a:srgbClr val="1A4589"/>
    <a:srgbClr val="FFFF00"/>
    <a:srgbClr val="FFCCFF"/>
    <a:srgbClr val="FF3300"/>
    <a:srgbClr val="003399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98" autoAdjust="0"/>
    <p:restoredTop sz="77661" autoAdjust="0"/>
  </p:normalViewPr>
  <p:slideViewPr>
    <p:cSldViewPr showGuides="1">
      <p:cViewPr varScale="1">
        <p:scale>
          <a:sx n="57" d="100"/>
          <a:sy n="57" d="100"/>
        </p:scale>
        <p:origin x="1094" y="53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spcBef>
                <a:spcPct val="0"/>
              </a:spcBef>
              <a:defRPr kumimoji="0"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spcBef>
                <a:spcPct val="0"/>
              </a:spcBef>
              <a:defRPr kumimoji="0"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89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55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spcBef>
                <a:spcPct val="0"/>
              </a:spcBef>
              <a:defRPr kumimoji="0"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55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kumimoji="0" sz="1200" b="0">
                <a:latin typeface="Arial" panose="020B0604020202020204" pitchFamily="34" charset="0"/>
              </a:defRPr>
            </a:lvl1pPr>
          </a:lstStyle>
          <a:p>
            <a:fld id="{BADCFBF9-860F-4F90-B134-F893524A9FE6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由于添加 </a:t>
            </a:r>
            <a:r>
              <a:rPr lang="en-US" altLang="zh-CN" dirty="0"/>
              <a:t>{</a:t>
            </a:r>
            <a:r>
              <a:rPr lang="en-US" altLang="zh-CN" dirty="0" err="1"/>
              <a:t>u,v</a:t>
            </a:r>
            <a:r>
              <a:rPr lang="en-US" altLang="zh-CN" dirty="0"/>
              <a:t>}</a:t>
            </a:r>
            <a:r>
              <a:rPr lang="zh-CN" altLang="en-US" dirty="0"/>
              <a:t>使得 </a:t>
            </a:r>
            <a:r>
              <a:rPr lang="en-US" altLang="zh-CN" dirty="0">
                <a:effectLst/>
              </a:rPr>
              <a:t>G1</a:t>
            </a:r>
            <a:r>
              <a:rPr lang="zh-CN" altLang="en-US" dirty="0"/>
              <a:t>存在哈密尔顿回路，这意味着， </a:t>
            </a:r>
            <a:r>
              <a:rPr lang="en-US" altLang="zh-CN" dirty="0">
                <a:effectLst/>
              </a:rPr>
              <a:t>G1</a:t>
            </a:r>
            <a:r>
              <a:rPr lang="zh-CN" altLang="en-US" dirty="0"/>
              <a:t>中的每条哈密尔顿回路都要包括 </a:t>
            </a:r>
            <a:r>
              <a:rPr lang="en-US" altLang="zh-CN" dirty="0">
                <a:effectLst/>
              </a:rPr>
              <a:t>{</a:t>
            </a:r>
            <a:r>
              <a:rPr lang="en-US" altLang="zh-CN" dirty="0" err="1">
                <a:effectLst/>
              </a:rPr>
              <a:t>u,v</a:t>
            </a:r>
            <a:r>
              <a:rPr lang="en-US" altLang="zh-CN" dirty="0">
                <a:effectLst/>
              </a:rPr>
              <a:t>}</a:t>
            </a:r>
            <a:r>
              <a:rPr lang="zh-CN" altLang="en-US" dirty="0"/>
              <a:t>，所以在 </a:t>
            </a:r>
            <a:r>
              <a:rPr lang="en-US" altLang="zh-CN" dirty="0">
                <a:effectLst/>
              </a:rPr>
              <a:t>G </a:t>
            </a:r>
            <a:r>
              <a:rPr lang="zh-CN" altLang="en-US" dirty="0"/>
              <a:t>中一定存在一条 </a:t>
            </a:r>
            <a:r>
              <a:rPr lang="en-US" altLang="zh-CN" dirty="0"/>
              <a:t>u </a:t>
            </a:r>
            <a:r>
              <a:rPr lang="zh-CN" altLang="en-US" dirty="0"/>
              <a:t>到 </a:t>
            </a:r>
            <a:r>
              <a:rPr lang="en-US" altLang="zh-CN" dirty="0">
                <a:effectLst/>
              </a:rPr>
              <a:t>v</a:t>
            </a:r>
            <a:r>
              <a:rPr lang="en-US" altLang="zh-CN" dirty="0"/>
              <a:t> </a:t>
            </a:r>
            <a:r>
              <a:rPr lang="zh-CN" altLang="en-US" dirty="0"/>
              <a:t>的哈密尔顿通路。我们令这条路径为 </a:t>
            </a:r>
            <a:r>
              <a:rPr lang="en-US" altLang="zh-CN" dirty="0">
                <a:effectLst/>
              </a:rPr>
              <a:t>u=v1,v2,…,</a:t>
            </a:r>
            <a:r>
              <a:rPr lang="en-US" altLang="zh-CN" dirty="0" err="1">
                <a:effectLst/>
              </a:rPr>
              <a:t>vn</a:t>
            </a:r>
            <a:r>
              <a:rPr lang="en-US" altLang="zh-CN" dirty="0">
                <a:effectLst/>
              </a:rPr>
              <a:t>=v</a:t>
            </a:r>
            <a:r>
              <a:rPr lang="zh-CN" altLang="en-US" dirty="0"/>
              <a:t>。此时我们令集合 </a:t>
            </a:r>
          </a:p>
          <a:p>
            <a:r>
              <a:rPr lang="en-US" altLang="zh-CN" dirty="0">
                <a:effectLst/>
              </a:rPr>
              <a:t>P={vi|i≥2,vi is adjacent to v1} Q={vi|i≥2,vi−1 is adjacent to </a:t>
            </a:r>
            <a:r>
              <a:rPr lang="en-US" altLang="zh-CN" dirty="0" err="1">
                <a:effectLst/>
              </a:rPr>
              <a:t>vn</a:t>
            </a:r>
            <a:r>
              <a:rPr lang="en-US" altLang="zh-CN" dirty="0">
                <a:effectLst/>
              </a:rPr>
              <a:t>}</a:t>
            </a:r>
            <a:r>
              <a:rPr lang="en-US" altLang="zh-CN" dirty="0"/>
              <a:t> </a:t>
            </a:r>
            <a:r>
              <a:rPr lang="zh-CN" altLang="en-US" dirty="0"/>
              <a:t>即 </a:t>
            </a:r>
            <a:r>
              <a:rPr lang="en-US" altLang="zh-CN" dirty="0">
                <a:effectLst/>
              </a:rPr>
              <a:t>P </a:t>
            </a:r>
            <a:r>
              <a:rPr lang="zh-CN" altLang="en-US" dirty="0"/>
              <a:t>指的是 </a:t>
            </a:r>
            <a:r>
              <a:rPr lang="en-US" altLang="zh-CN" dirty="0">
                <a:effectLst/>
              </a:rPr>
              <a:t>v1 </a:t>
            </a:r>
            <a:r>
              <a:rPr lang="zh-CN" altLang="en-US" dirty="0"/>
              <a:t>相邻的顶点， </a:t>
            </a:r>
            <a:r>
              <a:rPr lang="en-US" altLang="zh-CN" dirty="0"/>
              <a:t>Q </a:t>
            </a:r>
            <a:r>
              <a:rPr lang="zh-CN" altLang="en-US" dirty="0"/>
              <a:t>指的是 </a:t>
            </a:r>
            <a:r>
              <a:rPr lang="en-US" altLang="zh-CN" dirty="0" err="1">
                <a:effectLst/>
              </a:rPr>
              <a:t>vn</a:t>
            </a:r>
            <a:r>
              <a:rPr lang="en-US" altLang="zh-CN" dirty="0">
                <a:effectLst/>
              </a:rPr>
              <a:t> </a:t>
            </a:r>
            <a:r>
              <a:rPr lang="zh-CN" altLang="en-US" dirty="0"/>
              <a:t>相邻的顶点的在哈密顿通路上的前驱顶点。</a:t>
            </a:r>
            <a:endParaRPr lang="en-US" altLang="zh-CN" dirty="0"/>
          </a:p>
          <a:p>
            <a:r>
              <a:rPr lang="zh-CN" altLang="en-US" dirty="0"/>
              <a:t>考虑这两个集合的大小 </a:t>
            </a:r>
            <a:r>
              <a:rPr lang="en-US" altLang="zh-CN" dirty="0">
                <a:effectLst/>
              </a:rPr>
              <a:t>|P|+|Q|≥|V| </a:t>
            </a:r>
            <a:r>
              <a:rPr lang="zh-CN" altLang="en-US" dirty="0"/>
              <a:t>而 </a:t>
            </a:r>
            <a:r>
              <a:rPr lang="en-US" altLang="zh-CN" dirty="0">
                <a:effectLst/>
              </a:rPr>
              <a:t>P∪Q={v2,…,</a:t>
            </a:r>
            <a:r>
              <a:rPr lang="en-US" altLang="zh-CN" dirty="0" err="1">
                <a:effectLst/>
              </a:rPr>
              <a:t>vn</a:t>
            </a:r>
            <a:r>
              <a:rPr lang="en-US" altLang="zh-CN" dirty="0">
                <a:effectLst/>
              </a:rPr>
              <a:t>}</a:t>
            </a:r>
            <a:r>
              <a:rPr lang="en-US" altLang="zh-CN" dirty="0"/>
              <a:t> </a:t>
            </a:r>
            <a:r>
              <a:rPr lang="zh-CN" altLang="en-US" dirty="0"/>
              <a:t>，故根据鸽笼原理，一定存在顶点 </a:t>
            </a:r>
            <a:r>
              <a:rPr lang="en-US" altLang="zh-CN" dirty="0" err="1">
                <a:effectLst/>
              </a:rPr>
              <a:t>vp∈P</a:t>
            </a:r>
            <a:r>
              <a:rPr lang="en-US" altLang="zh-CN" dirty="0">
                <a:effectLst/>
              </a:rPr>
              <a:t>, Q </a:t>
            </a:r>
            <a:r>
              <a:rPr lang="zh-CN" altLang="en-US" dirty="0"/>
              <a:t>即存在边 </a:t>
            </a:r>
            <a:r>
              <a:rPr lang="en-US" altLang="zh-CN" dirty="0">
                <a:effectLst/>
              </a:rPr>
              <a:t>(v1,vp)</a:t>
            </a:r>
            <a:r>
              <a:rPr lang="zh-CN" altLang="en-US" dirty="0"/>
              <a:t>和 </a:t>
            </a:r>
            <a:r>
              <a:rPr lang="en-US" altLang="zh-CN" dirty="0">
                <a:effectLst/>
              </a:rPr>
              <a:t>(vp−1,vp)</a:t>
            </a:r>
            <a:r>
              <a:rPr lang="zh-CN" altLang="en-US" dirty="0"/>
              <a:t>。此时我们能够构造哈密顿回路： </a:t>
            </a:r>
          </a:p>
          <a:p>
            <a:r>
              <a:rPr lang="en-US" altLang="zh-CN" dirty="0">
                <a:effectLst/>
              </a:rPr>
              <a:t>vp,v1,v2,…,vp−1,vn,vn−1,…,</a:t>
            </a:r>
            <a:r>
              <a:rPr lang="en-US" altLang="zh-CN" dirty="0" err="1">
                <a:effectLst/>
              </a:rPr>
              <a:t>vp</a:t>
            </a:r>
            <a:r>
              <a:rPr lang="en-US" altLang="zh-CN" dirty="0">
                <a:effectLst/>
              </a:rPr>
              <a:t> </a:t>
            </a:r>
          </a:p>
          <a:p>
            <a:r>
              <a:rPr lang="zh-CN" altLang="en-US" dirty="0"/>
              <a:t>即</a:t>
            </a:r>
            <a:r>
              <a:rPr lang="en-US" altLang="zh-CN" dirty="0"/>
              <a:t>G</a:t>
            </a:r>
            <a:r>
              <a:rPr lang="zh-CN" altLang="en-US" dirty="0"/>
              <a:t>是哈密顿图。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哈密顿图的另一个充分条件：图的最小度不小于顶点数的一半；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772773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711865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23</a:t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7F6A5AF-1443-405D-A63C-1DA2EF827E5F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8"/>
          <p:cNvSpPr txBox="1">
            <a:spLocks noChangeArrowheads="1"/>
          </p:cNvSpPr>
          <p:nvPr userDrawn="1"/>
        </p:nvSpPr>
        <p:spPr bwMode="auto">
          <a:xfrm>
            <a:off x="10970762" y="-24"/>
            <a:ext cx="12170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zh-CN" altLang="en-US" sz="2000" dirty="0">
                <a:solidFill>
                  <a:srgbClr val="7F7F7F"/>
                </a:solidFill>
              </a:rPr>
              <a:t>离散数学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1424" y="50195"/>
            <a:ext cx="10972800" cy="1143000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rgbClr val="003399"/>
                </a:solidFill>
              </a:defRPr>
            </a:lvl1pPr>
          </a:lstStyle>
          <a:p>
            <a:fld id="{9D73877B-74AE-4634-8955-8B92B699D7D7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1CD6DC-2977-469C-827E-1A1841E80F85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12FC91A-76FC-48FB-8078-168CC0EC6377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"/>
          <p:cNvSpPr txBox="1">
            <a:spLocks noChangeArrowheads="1"/>
          </p:cNvSpPr>
          <p:nvPr userDrawn="1"/>
        </p:nvSpPr>
        <p:spPr bwMode="auto">
          <a:xfrm>
            <a:off x="9332713" y="11309"/>
            <a:ext cx="283551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zh-CN" altLang="en-US" sz="1800" b="0" dirty="0">
                <a:solidFill>
                  <a:srgbClr val="7F7F7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sz="1800" b="0" dirty="0">
                <a:solidFill>
                  <a:srgbClr val="7F7F7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8</a:t>
            </a:r>
            <a:r>
              <a:rPr lang="zh-CN" altLang="en-US" sz="1800" b="0" dirty="0">
                <a:solidFill>
                  <a:srgbClr val="7F7F7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章  具有特殊性质的图</a:t>
            </a:r>
            <a:endParaRPr lang="en-US" altLang="zh-CN" sz="1800" b="0" dirty="0">
              <a:solidFill>
                <a:srgbClr val="7F7F7F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9472F5C-1417-4827-93CA-7FE37B1FF370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7" name="圆角矩形 4"/>
          <p:cNvSpPr>
            <a:spLocks noChangeArrowheads="1"/>
          </p:cNvSpPr>
          <p:nvPr userDrawn="1"/>
        </p:nvSpPr>
        <p:spPr bwMode="auto">
          <a:xfrm>
            <a:off x="263352" y="1556791"/>
            <a:ext cx="11665296" cy="4943673"/>
          </a:xfrm>
          <a:prstGeom prst="roundRect">
            <a:avLst>
              <a:gd name="adj" fmla="val 5406"/>
            </a:avLst>
          </a:prstGeom>
          <a:noFill/>
          <a:ln w="38100" algn="ctr">
            <a:solidFill>
              <a:srgbClr val="92D05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6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72200" y="1825626"/>
            <a:ext cx="5181600" cy="209867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72200" y="4076701"/>
            <a:ext cx="5181600" cy="210026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日期占位符 1024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1024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57F430B-EE82-42A8-8247-264A130FA584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8" name="页脚占位符 1025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日期占位符 1024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1024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6AE5D76-CF1E-454F-94A9-D4EC84D65F17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页脚占位符 1025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9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117" y="6503989"/>
            <a:ext cx="812800" cy="2381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kumimoji="0" sz="1400" b="0">
                <a:solidFill>
                  <a:srgbClr val="7F7F7F"/>
                </a:solidFill>
                <a:latin typeface="Arial" panose="020B0604020202020204" pitchFamily="34" charset="0"/>
              </a:defRPr>
            </a:lvl1pPr>
          </a:lstStyle>
          <a:p>
            <a:fld id="{56FB0DFF-F635-4648-B05A-78129B270A74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bg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bg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bg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5.xml"/><Relationship Id="rId1" Type="http://schemas.openxmlformats.org/officeDocument/2006/relationships/themeOverride" Target="../theme/themeOverrid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4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 txBox="1">
            <a:spLocks noChangeArrowheads="1"/>
          </p:cNvSpPr>
          <p:nvPr/>
        </p:nvSpPr>
        <p:spPr bwMode="auto">
          <a:xfrm>
            <a:off x="2135188" y="1773238"/>
            <a:ext cx="8713340" cy="15837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5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楷体_GB2312"/>
              </a:rPr>
              <a:t>第八章 具有特殊性质的图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2605658" y="4221088"/>
            <a:ext cx="7772400" cy="17277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50000"/>
              </a:lnSpc>
              <a:buFontTx/>
              <a:buNone/>
            </a:pPr>
            <a:r>
              <a:rPr lang="zh-CN" altLang="en-US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华东师范大学计算机科学与技术学院</a:t>
            </a:r>
            <a:endParaRPr lang="en-US" altLang="zh-CN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50000"/>
              </a:lnSpc>
              <a:buFontTx/>
              <a:buNone/>
            </a:pPr>
            <a:r>
              <a:rPr lang="zh-CN" altLang="en-US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主讲教师：卢兴见</a:t>
            </a:r>
            <a:endParaRPr lang="en-US" altLang="zh-CN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3"/>
          <p:cNvSpPr txBox="1">
            <a:spLocks noChangeArrowheads="1"/>
          </p:cNvSpPr>
          <p:nvPr/>
        </p:nvSpPr>
        <p:spPr bwMode="auto">
          <a:xfrm>
            <a:off x="1127448" y="1988840"/>
            <a:ext cx="3024336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None/>
            </a:pPr>
            <a:r>
              <a:rPr lang="zh-CN" altLang="en-US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基本要求</a:t>
            </a:r>
            <a:endParaRPr lang="en-US" altLang="zh-CN" b="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135560" y="2709842"/>
            <a:ext cx="9001000" cy="7193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eaLnBrk="1" hangingPunct="1">
              <a:lnSpc>
                <a:spcPct val="200000"/>
              </a:lnSpc>
              <a:defRPr/>
            </a:pP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理解哈密顿图的基本概念</a:t>
            </a:r>
            <a:endParaRPr lang="en-US" altLang="zh-CN" sz="24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1176462" y="3792091"/>
            <a:ext cx="3551386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eaLnBrk="1" hangingPunct="1">
              <a:spcBef>
                <a:spcPct val="20000"/>
              </a:spcBef>
              <a:buNone/>
              <a:defRPr sz="32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zh-CN" dirty="0"/>
              <a:t>教学重点和难点</a:t>
            </a:r>
            <a:endParaRPr lang="en-US" altLang="zh-CN" dirty="0"/>
          </a:p>
        </p:txBody>
      </p:sp>
      <p:sp>
        <p:nvSpPr>
          <p:cNvPr id="6" name="文本框 5"/>
          <p:cNvSpPr txBox="1"/>
          <p:nvPr/>
        </p:nvSpPr>
        <p:spPr>
          <a:xfrm>
            <a:off x="2135560" y="4440163"/>
            <a:ext cx="9001000" cy="7193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eaLnBrk="1" hangingPunct="1">
              <a:lnSpc>
                <a:spcPct val="200000"/>
              </a:lnSpc>
              <a:defRPr/>
            </a:pP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哈密顿图的性质和应用</a:t>
            </a: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8.2</a:t>
            </a:r>
            <a:r>
              <a:rPr lang="zh-CN" altLang="en-US" sz="3600" b="0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哈密顿图</a:t>
            </a:r>
            <a:endParaRPr lang="zh-CN" altLang="en-US" sz="3600" b="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uiExpand="1" build="p"/>
      <p:bldP spid="5" grpId="0" uiExpand="1" build="p"/>
      <p:bldP spid="6" grpId="0"/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2"/>
          <p:cNvSpPr txBox="1">
            <a:spLocks noChangeArrowheads="1"/>
          </p:cNvSpPr>
          <p:nvPr/>
        </p:nvSpPr>
        <p:spPr bwMode="auto">
          <a:xfrm>
            <a:off x="4943872" y="116632"/>
            <a:ext cx="4824536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4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本节内容要点</a:t>
            </a:r>
          </a:p>
        </p:txBody>
      </p:sp>
      <p:sp>
        <p:nvSpPr>
          <p:cNvPr id="2" name="Text Box 4"/>
          <p:cNvSpPr txBox="1">
            <a:spLocks noChangeArrowheads="1"/>
          </p:cNvSpPr>
          <p:nvPr/>
        </p:nvSpPr>
        <p:spPr bwMode="auto">
          <a:xfrm>
            <a:off x="1415480" y="1948264"/>
            <a:ext cx="298477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en-US" altLang="zh-CN" sz="24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8.2.1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哈密顿图的概念</a:t>
            </a:r>
          </a:p>
        </p:txBody>
      </p:sp>
      <p:sp>
        <p:nvSpPr>
          <p:cNvPr id="3" name="Text Box 5"/>
          <p:cNvSpPr txBox="1">
            <a:spLocks noChangeArrowheads="1"/>
          </p:cNvSpPr>
          <p:nvPr/>
        </p:nvSpPr>
        <p:spPr bwMode="auto">
          <a:xfrm>
            <a:off x="623392" y="3256926"/>
            <a:ext cx="377685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en-US" altLang="zh-CN" sz="24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8.2.2 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无向哈密顿图的性质</a:t>
            </a:r>
          </a:p>
        </p:txBody>
      </p:sp>
      <p:sp>
        <p:nvSpPr>
          <p:cNvPr id="4" name="AutoShape 6"/>
          <p:cNvSpPr/>
          <p:nvPr/>
        </p:nvSpPr>
        <p:spPr bwMode="auto">
          <a:xfrm>
            <a:off x="4306288" y="1717084"/>
            <a:ext cx="239687" cy="1219200"/>
          </a:xfrm>
          <a:prstGeom prst="leftBrace">
            <a:avLst>
              <a:gd name="adj1" fmla="val 32203"/>
              <a:gd name="adj2" fmla="val 50000"/>
            </a:avLst>
          </a:prstGeom>
          <a:noFill/>
          <a:ln w="9525">
            <a:solidFill>
              <a:srgbClr val="FFFF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>
              <a:solidFill>
                <a:srgbClr val="FFC000"/>
              </a:solidFill>
              <a:latin typeface="Tahoma" panose="020B0604030504040204" pitchFamily="34" charset="0"/>
            </a:endParaRPr>
          </a:p>
        </p:txBody>
      </p:sp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4583832" y="1574359"/>
            <a:ext cx="7052119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哈密顿</a:t>
            </a: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通路</a:t>
            </a:r>
          </a:p>
        </p:txBody>
      </p:sp>
      <p:sp>
        <p:nvSpPr>
          <p:cNvPr id="6" name="AutoShape 8"/>
          <p:cNvSpPr/>
          <p:nvPr/>
        </p:nvSpPr>
        <p:spPr bwMode="auto">
          <a:xfrm>
            <a:off x="4248318" y="3241558"/>
            <a:ext cx="239687" cy="744959"/>
          </a:xfrm>
          <a:prstGeom prst="leftBrace">
            <a:avLst>
              <a:gd name="adj1" fmla="val 32163"/>
              <a:gd name="adj2" fmla="val 50000"/>
            </a:avLst>
          </a:prstGeom>
          <a:noFill/>
          <a:ln w="9525">
            <a:solidFill>
              <a:srgbClr val="FFFF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>
              <a:solidFill>
                <a:srgbClr val="FFC000"/>
              </a:solidFill>
              <a:latin typeface="Tahoma" panose="020B0604030504040204" pitchFamily="34" charset="0"/>
            </a:endParaRPr>
          </a:p>
        </p:txBody>
      </p:sp>
      <p:sp>
        <p:nvSpPr>
          <p:cNvPr id="12" name="Text Box 9"/>
          <p:cNvSpPr txBox="1">
            <a:spLocks noChangeArrowheads="1"/>
          </p:cNvSpPr>
          <p:nvPr/>
        </p:nvSpPr>
        <p:spPr bwMode="auto">
          <a:xfrm>
            <a:off x="4519339" y="3084792"/>
            <a:ext cx="4513857" cy="938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充要条件及必要条件</a:t>
            </a:r>
            <a:endParaRPr lang="en-US" altLang="zh-CN" sz="22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充分条件</a:t>
            </a:r>
          </a:p>
        </p:txBody>
      </p:sp>
      <p:sp>
        <p:nvSpPr>
          <p:cNvPr id="15" name="Text Box 7"/>
          <p:cNvSpPr txBox="1">
            <a:spLocks noChangeArrowheads="1"/>
          </p:cNvSpPr>
          <p:nvPr/>
        </p:nvSpPr>
        <p:spPr bwMode="auto">
          <a:xfrm>
            <a:off x="4583832" y="2051701"/>
            <a:ext cx="7052119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哈密顿</a:t>
            </a: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回路</a:t>
            </a:r>
            <a:endParaRPr lang="zh-CN" altLang="en-US" sz="2200" b="0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" name="Text Box 7"/>
          <p:cNvSpPr txBox="1">
            <a:spLocks noChangeArrowheads="1"/>
          </p:cNvSpPr>
          <p:nvPr/>
        </p:nvSpPr>
        <p:spPr bwMode="auto">
          <a:xfrm>
            <a:off x="4545975" y="2602724"/>
            <a:ext cx="140601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哈密顿</a:t>
            </a: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图</a:t>
            </a:r>
          </a:p>
        </p:txBody>
      </p:sp>
      <p:sp>
        <p:nvSpPr>
          <p:cNvPr id="11" name="Text Box 5"/>
          <p:cNvSpPr txBox="1">
            <a:spLocks noChangeArrowheads="1"/>
          </p:cNvSpPr>
          <p:nvPr/>
        </p:nvSpPr>
        <p:spPr bwMode="auto">
          <a:xfrm>
            <a:off x="2410722" y="4323627"/>
            <a:ext cx="204004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en-US" altLang="zh-CN" sz="24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*8.2.3 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格雷码</a:t>
            </a:r>
          </a:p>
        </p:txBody>
      </p:sp>
      <p:sp>
        <p:nvSpPr>
          <p:cNvPr id="13" name="AutoShape 8"/>
          <p:cNvSpPr/>
          <p:nvPr/>
        </p:nvSpPr>
        <p:spPr bwMode="auto">
          <a:xfrm>
            <a:off x="4217746" y="4182359"/>
            <a:ext cx="270259" cy="763014"/>
          </a:xfrm>
          <a:prstGeom prst="leftBrace">
            <a:avLst>
              <a:gd name="adj1" fmla="val 32163"/>
              <a:gd name="adj2" fmla="val 49149"/>
            </a:avLst>
          </a:prstGeom>
          <a:noFill/>
          <a:ln w="9525">
            <a:solidFill>
              <a:srgbClr val="FFFF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>
              <a:solidFill>
                <a:srgbClr val="FFC000"/>
              </a:solidFill>
              <a:latin typeface="Tahoma" panose="020B0604030504040204" pitchFamily="34" charset="0"/>
            </a:endParaRPr>
          </a:p>
        </p:txBody>
      </p:sp>
      <p:sp>
        <p:nvSpPr>
          <p:cNvPr id="14" name="Text Box 9"/>
          <p:cNvSpPr txBox="1">
            <a:spLocks noChangeArrowheads="1"/>
          </p:cNvSpPr>
          <p:nvPr/>
        </p:nvSpPr>
        <p:spPr bwMode="auto">
          <a:xfrm>
            <a:off x="4495513" y="4146907"/>
            <a:ext cx="1528479" cy="938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定义</a:t>
            </a:r>
            <a:endParaRPr lang="en-US" altLang="zh-CN" sz="22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简单应用</a:t>
            </a:r>
          </a:p>
        </p:txBody>
      </p:sp>
      <p:sp>
        <p:nvSpPr>
          <p:cNvPr id="21" name="Text Box 5"/>
          <p:cNvSpPr txBox="1">
            <a:spLocks noChangeArrowheads="1"/>
          </p:cNvSpPr>
          <p:nvPr/>
        </p:nvSpPr>
        <p:spPr bwMode="auto">
          <a:xfrm>
            <a:off x="2208269" y="5560784"/>
            <a:ext cx="204004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zh-CN" altLang="en-US" sz="24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*</a:t>
            </a:r>
            <a:r>
              <a:rPr lang="en-US" altLang="zh-CN" sz="24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8.2.4 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竞赛图</a:t>
            </a:r>
          </a:p>
        </p:txBody>
      </p:sp>
      <p:sp>
        <p:nvSpPr>
          <p:cNvPr id="22" name="AutoShape 8"/>
          <p:cNvSpPr/>
          <p:nvPr/>
        </p:nvSpPr>
        <p:spPr bwMode="auto">
          <a:xfrm>
            <a:off x="4155872" y="5491021"/>
            <a:ext cx="270259" cy="763014"/>
          </a:xfrm>
          <a:prstGeom prst="leftBrace">
            <a:avLst>
              <a:gd name="adj1" fmla="val 32163"/>
              <a:gd name="adj2" fmla="val 49149"/>
            </a:avLst>
          </a:prstGeom>
          <a:noFill/>
          <a:ln w="9525">
            <a:solidFill>
              <a:srgbClr val="FFFF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>
              <a:solidFill>
                <a:srgbClr val="FFC000"/>
              </a:solidFill>
              <a:latin typeface="Tahoma" panose="020B0604030504040204" pitchFamily="34" charset="0"/>
            </a:endParaRPr>
          </a:p>
        </p:txBody>
      </p:sp>
      <p:sp>
        <p:nvSpPr>
          <p:cNvPr id="23" name="Text Box 9"/>
          <p:cNvSpPr txBox="1">
            <a:spLocks noChangeArrowheads="1"/>
          </p:cNvSpPr>
          <p:nvPr/>
        </p:nvSpPr>
        <p:spPr bwMode="auto">
          <a:xfrm>
            <a:off x="4433792" y="5318417"/>
            <a:ext cx="2625955" cy="938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定义</a:t>
            </a:r>
            <a:endParaRPr lang="en-US" altLang="zh-CN" sz="22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性质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5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000"/>
                            </p:stCondLst>
                            <p:childTnLst>
                              <p:par>
                                <p:cTn id="7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500"/>
                            </p:stCondLst>
                            <p:childTnLst>
                              <p:par>
                                <p:cTn id="7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" grpId="0"/>
      <p:bldP spid="3" grpId="0"/>
      <p:bldP spid="4" grpId="0" animBg="1"/>
      <p:bldP spid="5" grpId="0"/>
      <p:bldP spid="6" grpId="0" animBg="1"/>
      <p:bldP spid="15" grpId="0"/>
      <p:bldP spid="16" grpId="0"/>
      <p:bldP spid="11" grpId="0"/>
      <p:bldP spid="13" grpId="0" animBg="1"/>
      <p:bldP spid="21" grpId="0"/>
      <p:bldP spid="2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文本占位符 14337"/>
          <p:cNvSpPr>
            <a:spLocks noGrp="1"/>
          </p:cNvSpPr>
          <p:nvPr>
            <p:ph type="body" sz="half" idx="4294967295"/>
          </p:nvPr>
        </p:nvSpPr>
        <p:spPr>
          <a:xfrm>
            <a:off x="839416" y="2280730"/>
            <a:ext cx="10945216" cy="1639570"/>
          </a:xfrm>
        </p:spPr>
        <p:txBody>
          <a:bodyPr/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altLang="zh-CN" sz="2400" kern="200" spc="200" noProof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(1)</a:t>
            </a:r>
            <a:r>
              <a:rPr lang="zh-CN" altLang="en-US" sz="2400" dirty="0">
                <a:solidFill>
                  <a:srgbClr val="FFC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爱尔兰数学家哈密顿在</a:t>
            </a:r>
            <a:r>
              <a:rPr lang="en-US" altLang="zh-CN" sz="2400" dirty="0">
                <a:solidFill>
                  <a:srgbClr val="FFC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1859</a:t>
            </a:r>
            <a:r>
              <a:rPr lang="zh-CN" altLang="en-US" sz="2400" dirty="0">
                <a:solidFill>
                  <a:srgbClr val="FFC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年引入。</a:t>
            </a:r>
            <a:endParaRPr lang="en-US" altLang="zh-CN" sz="2400" dirty="0">
              <a:solidFill>
                <a:srgbClr val="FFC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30000"/>
              </a:lnSpc>
              <a:spcBef>
                <a:spcPts val="1200"/>
              </a:spcBef>
              <a:buNone/>
            </a:pPr>
            <a:r>
              <a:rPr lang="en-US" altLang="zh-CN" sz="2400" kern="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(2) </a:t>
            </a:r>
            <a:r>
              <a:rPr lang="zh-CN" alt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一正十二面体的</a:t>
            </a:r>
            <a:r>
              <a:rPr lang="en-US" altLang="zh-CN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20</a:t>
            </a:r>
            <a:r>
              <a:rPr lang="zh-CN" alt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个顶点表示</a:t>
            </a:r>
            <a:r>
              <a:rPr lang="en-US" altLang="zh-CN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20</a:t>
            </a:r>
            <a:r>
              <a:rPr lang="zh-CN" alt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个世界名城</a:t>
            </a:r>
            <a:r>
              <a:rPr lang="en-US" altLang="zh-CN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棱表示城市之间的交通线路</a:t>
            </a:r>
            <a:r>
              <a:rPr lang="en-US" altLang="zh-CN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要求寻找一条从某一城市出发</a:t>
            </a:r>
            <a:r>
              <a:rPr lang="en-US" altLang="zh-CN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经过各城市一次且仅一次</a:t>
            </a:r>
            <a:r>
              <a:rPr lang="en-US" altLang="zh-CN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最后回到原地的旅行线路。</a:t>
            </a:r>
            <a:endParaRPr lang="en-US" altLang="zh-CN" sz="2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35360" y="1734601"/>
            <a:ext cx="741682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noProof="1"/>
              <a:t>哈密顿图的由来：周游世界</a:t>
            </a:r>
            <a:endParaRPr lang="en-US" altLang="zh-CN" noProof="1"/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8.2.1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哈密顿图的概念</a:t>
            </a:r>
          </a:p>
        </p:txBody>
      </p:sp>
      <p:pic>
        <p:nvPicPr>
          <p:cNvPr id="7" name="Picture 2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3672" y="4002728"/>
            <a:ext cx="5358607" cy="23065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文本框 9"/>
          <p:cNvSpPr txBox="1"/>
          <p:nvPr/>
        </p:nvSpPr>
        <p:spPr>
          <a:xfrm>
            <a:off x="1631504" y="4703735"/>
            <a:ext cx="1152128" cy="525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lnSpc>
                <a:spcPct val="130000"/>
              </a:lnSpc>
              <a:buNone/>
            </a:pPr>
            <a:r>
              <a:rPr kumimoji="1" lang="zh-CN" altLang="en-US" sz="2400" b="0" kern="200" spc="2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如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图。</a:t>
            </a:r>
            <a:endParaRPr kumimoji="1" lang="zh-CN" altLang="en-US" sz="2400" b="0" kern="200" spc="200" noProof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4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4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4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43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43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43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文本占位符 14337"/>
          <p:cNvSpPr>
            <a:spLocks noGrp="1"/>
          </p:cNvSpPr>
          <p:nvPr>
            <p:ph type="body" sz="half" idx="4294967295"/>
          </p:nvPr>
        </p:nvSpPr>
        <p:spPr>
          <a:xfrm>
            <a:off x="983432" y="2280731"/>
            <a:ext cx="10585176" cy="1652326"/>
          </a:xfrm>
        </p:spPr>
        <p:txBody>
          <a:bodyPr/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altLang="zh-CN" sz="2400" kern="200" spc="200" noProof="1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(1)</a:t>
            </a:r>
            <a:r>
              <a:rPr lang="zh-CN" altLang="en-US" sz="2400" dirty="0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哈密顿通路：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包含所有顶点的基本通路；（</a:t>
            </a:r>
            <a:r>
              <a:rPr lang="zh-CN" altLang="en-US" sz="2400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经过每个顶点一次且仅一次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endParaRPr lang="en-US" altLang="zh-CN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30000"/>
              </a:lnSpc>
              <a:buNone/>
            </a:pPr>
            <a:r>
              <a:rPr lang="en-US" altLang="zh-CN" sz="2400" kern="200" spc="200" noProof="1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(2)</a:t>
            </a:r>
            <a:r>
              <a:rPr lang="zh-CN" altLang="en-US" sz="2400" dirty="0">
                <a:solidFill>
                  <a:srgbClr val="CCFFC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哈密顿回路：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包含所有顶点的基本回路；（</a:t>
            </a:r>
            <a:r>
              <a:rPr lang="zh-CN" altLang="en-US" sz="2400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经过每个顶点一次且仅一次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 </a:t>
            </a:r>
            <a:endParaRPr lang="en-US" altLang="zh-CN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30000"/>
              </a:lnSpc>
              <a:buNone/>
            </a:pPr>
            <a:r>
              <a:rPr kumimoji="1" lang="en-US" altLang="zh-CN" sz="2400" kern="200" spc="200" noProof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(3)</a:t>
            </a:r>
            <a:r>
              <a:rPr lang="zh-CN" altLang="en-US" sz="2400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哈密顿图：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含哈密顿回路的图。</a:t>
            </a:r>
            <a:endParaRPr kumimoji="1" lang="zh-CN" altLang="en-US" sz="2400" kern="200" spc="200" noProof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35360" y="1734601"/>
            <a:ext cx="741682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noProof="1"/>
              <a:t>定义</a:t>
            </a:r>
            <a:r>
              <a:rPr lang="en-US" altLang="zh-CN" noProof="1"/>
              <a:t>8.2.1 </a:t>
            </a:r>
            <a:r>
              <a:rPr lang="zh-CN" altLang="en-US" noProof="1"/>
              <a:t>哈密顿图</a:t>
            </a:r>
            <a:endParaRPr lang="en-US" altLang="zh-CN" noProof="1"/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8.2.1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哈密顿图的概念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335360" y="4381224"/>
            <a:ext cx="1108923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dirty="0"/>
              <a:t>图是哈密顿图 </a:t>
            </a:r>
            <a:r>
              <a:rPr lang="zh-CN" altLang="en-US" dirty="0">
                <a:sym typeface="Symbol" panose="05050102010706020507" pitchFamily="18" charset="2"/>
              </a:rPr>
              <a:t> </a:t>
            </a:r>
            <a:r>
              <a:rPr lang="zh-CN" altLang="en-US" sz="2400" dirty="0">
                <a:solidFill>
                  <a:schemeClr val="bg1"/>
                </a:solidFill>
              </a:rPr>
              <a:t>能在其中找到一条经过图上每个顶点一次且仅一次的回路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4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4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4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43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43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43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43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3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43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79376" y="1487080"/>
            <a:ext cx="10585176" cy="1428756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indent="0" eaLnBrk="0" hangingPunct="0">
              <a:spcBef>
                <a:spcPct val="20000"/>
              </a:spcBef>
              <a:buNone/>
              <a:defRPr kumimoji="0" sz="2800" b="0" kern="0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  <a:defRPr/>
            </a:pPr>
            <a:r>
              <a:rPr lang="zh-CN" altLang="en-US" noProof="1"/>
              <a:t>例</a:t>
            </a:r>
            <a:r>
              <a:rPr lang="en-US" altLang="zh-CN" noProof="1"/>
              <a:t>8.2.1   </a:t>
            </a:r>
            <a:r>
              <a:rPr lang="en-US" altLang="zh-CN" sz="2400" noProof="1">
                <a:solidFill>
                  <a:schemeClr val="bg1"/>
                </a:solidFill>
              </a:rPr>
              <a:t>(1) </a:t>
            </a:r>
            <a:r>
              <a:rPr lang="zh-CN" altLang="en-US" sz="2400" dirty="0">
                <a:solidFill>
                  <a:schemeClr val="bg1"/>
                </a:solidFill>
                <a:sym typeface="Symbol" panose="05050102010706020507" pitchFamily="18" charset="2"/>
              </a:rPr>
              <a:t></a:t>
            </a:r>
            <a:r>
              <a:rPr lang="en-US" altLang="zh-CN" sz="2400" i="1" dirty="0" err="1">
                <a:solidFill>
                  <a:schemeClr val="bg1"/>
                </a:solidFill>
              </a:rPr>
              <a:t>n</a:t>
            </a:r>
            <a:r>
              <a:rPr lang="en-US" altLang="zh-CN" sz="2400" dirty="0" err="1">
                <a:solidFill>
                  <a:schemeClr val="bg1"/>
                </a:solidFill>
                <a:sym typeface="Symbol" panose="05050102010706020507" pitchFamily="18" charset="2"/>
              </a:rPr>
              <a:t></a:t>
            </a:r>
            <a:r>
              <a:rPr lang="en-US" altLang="zh-CN" sz="2400" i="1" dirty="0" err="1">
                <a:solidFill>
                  <a:schemeClr val="bg1"/>
                </a:solidFill>
                <a:sym typeface="Symbol" panose="05050102010706020507" pitchFamily="18" charset="2"/>
              </a:rPr>
              <a:t>N</a:t>
            </a:r>
            <a:r>
              <a:rPr lang="en-US" altLang="zh-CN" sz="2400" dirty="0">
                <a:solidFill>
                  <a:schemeClr val="bg1"/>
                </a:solidFill>
                <a:sym typeface="Symbol" panose="05050102010706020507" pitchFamily="18" charset="2"/>
              </a:rPr>
              <a:t>, </a:t>
            </a:r>
            <a:r>
              <a:rPr lang="en-US" altLang="zh-CN" sz="2400" i="1" dirty="0">
                <a:solidFill>
                  <a:schemeClr val="bg1"/>
                </a:solidFill>
                <a:sym typeface="Symbol" panose="05050102010706020507" pitchFamily="18" charset="2"/>
              </a:rPr>
              <a:t>n</a:t>
            </a:r>
            <a:r>
              <a:rPr lang="en-US" altLang="zh-CN" sz="2400" dirty="0">
                <a:solidFill>
                  <a:schemeClr val="bg1"/>
                </a:solidFill>
              </a:rPr>
              <a:t>≥3, </a:t>
            </a:r>
            <a:r>
              <a:rPr lang="en-US" altLang="zh-CN" sz="2400" i="1" dirty="0" err="1">
                <a:solidFill>
                  <a:schemeClr val="bg1"/>
                </a:solidFill>
              </a:rPr>
              <a:t>K</a:t>
            </a:r>
            <a:r>
              <a:rPr lang="en-US" altLang="zh-CN" sz="2400" i="1" baseline="-25000" dirty="0" err="1">
                <a:solidFill>
                  <a:schemeClr val="bg1"/>
                </a:solidFill>
              </a:rPr>
              <a:t>n</a:t>
            </a:r>
            <a:r>
              <a:rPr lang="zh-CN" altLang="en-US" sz="2400" dirty="0">
                <a:solidFill>
                  <a:schemeClr val="bg1"/>
                </a:solidFill>
              </a:rPr>
              <a:t>是哈密顿图</a:t>
            </a:r>
          </a:p>
          <a:p>
            <a:pPr>
              <a:lnSpc>
                <a:spcPct val="150000"/>
              </a:lnSpc>
              <a:spcBef>
                <a:spcPts val="0"/>
              </a:spcBef>
              <a:defRPr/>
            </a:pPr>
            <a:r>
              <a:rPr lang="en-US" altLang="zh-CN" sz="2400" dirty="0">
                <a:solidFill>
                  <a:schemeClr val="bg1"/>
                </a:solidFill>
              </a:rPr>
              <a:t>                 (2) 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sz="2400" i="1" dirty="0">
                <a:solidFill>
                  <a:schemeClr val="bg1"/>
                </a:solidFill>
              </a:rPr>
              <a:t>G</a:t>
            </a:r>
            <a:r>
              <a:rPr lang="en-US" altLang="zh-CN" sz="2400" baseline="-25000" dirty="0">
                <a:solidFill>
                  <a:schemeClr val="bg1"/>
                </a:solidFill>
              </a:rPr>
              <a:t>1</a:t>
            </a:r>
            <a:r>
              <a:rPr lang="zh-CN" altLang="en-US" sz="2400" dirty="0">
                <a:solidFill>
                  <a:schemeClr val="bg1"/>
                </a:solidFill>
              </a:rPr>
              <a:t>和</a:t>
            </a:r>
            <a:r>
              <a:rPr lang="en-US" altLang="zh-CN" sz="2400" i="1" dirty="0">
                <a:solidFill>
                  <a:schemeClr val="bg1"/>
                </a:solidFill>
              </a:rPr>
              <a:t>G</a:t>
            </a:r>
            <a:r>
              <a:rPr lang="en-US" altLang="zh-CN" sz="2400" baseline="-25000" dirty="0">
                <a:solidFill>
                  <a:schemeClr val="bg1"/>
                </a:solidFill>
              </a:rPr>
              <a:t>2</a:t>
            </a:r>
            <a:r>
              <a:rPr lang="zh-CN" altLang="en-US" sz="2400" dirty="0">
                <a:solidFill>
                  <a:schemeClr val="bg1"/>
                </a:solidFill>
              </a:rPr>
              <a:t>都不是哈密顿图</a:t>
            </a:r>
          </a:p>
        </p:txBody>
      </p:sp>
      <p:pic>
        <p:nvPicPr>
          <p:cNvPr id="12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5600" y="3047406"/>
            <a:ext cx="4500562" cy="1884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8.2.1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哈密顿图的概念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2408140" y="5063338"/>
            <a:ext cx="5328592" cy="1152128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indent="0" eaLnBrk="0" hangingPunct="0">
              <a:spcBef>
                <a:spcPct val="20000"/>
              </a:spcBef>
              <a:buNone/>
              <a:defRPr kumimoji="0" sz="2800" b="0" kern="0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US" altLang="zh-CN" sz="2400" i="1" dirty="0">
                <a:solidFill>
                  <a:schemeClr val="bg1"/>
                </a:solidFill>
              </a:rPr>
              <a:t>G</a:t>
            </a:r>
            <a:r>
              <a:rPr lang="en-US" altLang="zh-CN" sz="2400" baseline="-25000" dirty="0">
                <a:solidFill>
                  <a:schemeClr val="bg1"/>
                </a:solidFill>
              </a:rPr>
              <a:t>1</a:t>
            </a:r>
            <a:r>
              <a:rPr lang="zh-CN" altLang="en-US" sz="2400" dirty="0">
                <a:solidFill>
                  <a:schemeClr val="bg1"/>
                </a:solidFill>
              </a:rPr>
              <a:t>有哈密顿通路</a:t>
            </a:r>
            <a:r>
              <a:rPr lang="en-US" altLang="zh-CN" sz="2400" dirty="0">
                <a:solidFill>
                  <a:schemeClr val="bg1"/>
                </a:solidFill>
              </a:rPr>
              <a:t>, </a:t>
            </a:r>
            <a:r>
              <a:rPr lang="zh-CN" altLang="en-US" sz="2400" dirty="0">
                <a:solidFill>
                  <a:schemeClr val="bg1"/>
                </a:solidFill>
              </a:rPr>
              <a:t>无哈密顿回路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2400" i="1" dirty="0">
                <a:solidFill>
                  <a:schemeClr val="bg1"/>
                </a:solidFill>
              </a:rPr>
              <a:t>G</a:t>
            </a:r>
            <a:r>
              <a:rPr lang="en-US" altLang="zh-CN" sz="2400" baseline="-25000" dirty="0">
                <a:solidFill>
                  <a:schemeClr val="bg1"/>
                </a:solidFill>
              </a:rPr>
              <a:t>2</a:t>
            </a:r>
            <a:r>
              <a:rPr lang="zh-CN" altLang="en-US" sz="2400" dirty="0">
                <a:solidFill>
                  <a:schemeClr val="bg1"/>
                </a:solidFill>
              </a:rPr>
              <a:t>无哈密顿通路和哈密顿回路</a:t>
            </a:r>
          </a:p>
          <a:p>
            <a:pPr>
              <a:lnSpc>
                <a:spcPct val="150000"/>
              </a:lnSpc>
            </a:pPr>
            <a:endParaRPr lang="en-US" altLang="zh-CN"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12641"/>
          <p:cNvSpPr txBox="1"/>
          <p:nvPr/>
        </p:nvSpPr>
        <p:spPr>
          <a:xfrm>
            <a:off x="479377" y="1556792"/>
            <a:ext cx="816278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noProof="1"/>
              <a:t>定理</a:t>
            </a:r>
            <a:r>
              <a:rPr lang="en-US" altLang="zh-CN" noProof="1"/>
              <a:t>8. 2. 1  </a:t>
            </a:r>
            <a:r>
              <a:rPr lang="zh-CN" altLang="en-US" noProof="1"/>
              <a:t>哈密顿图的必要条件</a:t>
            </a:r>
          </a:p>
        </p:txBody>
      </p:sp>
      <p:sp>
        <p:nvSpPr>
          <p:cNvPr id="8" name="文本占位符 112641"/>
          <p:cNvSpPr txBox="1"/>
          <p:nvPr/>
        </p:nvSpPr>
        <p:spPr>
          <a:xfrm>
            <a:off x="911424" y="2001469"/>
            <a:ext cx="9099243" cy="5963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342900" indent="-342900" eaLnBrk="0" hangingPunct="0">
              <a:lnSpc>
                <a:spcPct val="130000"/>
              </a:lnSpc>
              <a:buNone/>
              <a:defRPr sz="24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dirty="0"/>
              <a:t>连通无向图</a:t>
            </a:r>
            <a:r>
              <a:rPr lang="en-US" altLang="zh-CN" i="1" dirty="0"/>
              <a:t>G</a:t>
            </a:r>
            <a:r>
              <a:rPr lang="en-US" altLang="zh-CN" dirty="0"/>
              <a:t>=(</a:t>
            </a:r>
            <a:r>
              <a:rPr lang="en-US" altLang="zh-CN" i="1" dirty="0"/>
              <a:t>V</a:t>
            </a:r>
            <a:r>
              <a:rPr lang="en-US" altLang="zh-CN" dirty="0"/>
              <a:t>,</a:t>
            </a:r>
            <a:r>
              <a:rPr lang="en-US" altLang="zh-CN" i="1" dirty="0"/>
              <a:t>E</a:t>
            </a:r>
            <a:r>
              <a:rPr lang="en-US" altLang="zh-CN" dirty="0"/>
              <a:t>)</a:t>
            </a:r>
            <a:r>
              <a:rPr lang="zh-CN" altLang="en-US" dirty="0"/>
              <a:t>是哈密顿图 </a:t>
            </a:r>
            <a:r>
              <a:rPr lang="zh-CN" altLang="en-US" dirty="0">
                <a:sym typeface="Symbol" panose="05050102010706020507" pitchFamily="18" charset="2"/>
              </a:rPr>
              <a:t> </a:t>
            </a:r>
            <a:r>
              <a:rPr lang="en-US" altLang="zh-CN" i="1" dirty="0"/>
              <a:t>S</a:t>
            </a:r>
            <a:r>
              <a:rPr lang="en-US" altLang="zh-CN" dirty="0">
                <a:sym typeface="Symbol" panose="05050102010706020507" pitchFamily="18" charset="2"/>
              </a:rPr>
              <a:t></a:t>
            </a:r>
            <a:r>
              <a:rPr lang="en-US" altLang="zh-CN" i="1" dirty="0"/>
              <a:t>V</a:t>
            </a:r>
            <a:r>
              <a:rPr lang="en-US" altLang="zh-CN" dirty="0"/>
              <a:t>, </a:t>
            </a:r>
            <a:r>
              <a:rPr lang="en-US" altLang="zh-CN" i="1" dirty="0"/>
              <a:t>S</a:t>
            </a:r>
            <a:r>
              <a:rPr lang="en-US" altLang="zh-CN" dirty="0"/>
              <a:t>≠</a:t>
            </a:r>
            <a:r>
              <a:rPr lang="en-US" altLang="zh-CN" i="1" dirty="0">
                <a:sym typeface="Symbol" panose="05050102010706020507" pitchFamily="18" charset="2"/>
              </a:rPr>
              <a:t></a:t>
            </a:r>
            <a:r>
              <a:rPr lang="en-US" altLang="zh-CN" dirty="0"/>
              <a:t>, </a:t>
            </a:r>
            <a:r>
              <a:rPr lang="en-US" altLang="zh-CN" i="1" dirty="0"/>
              <a:t>ω</a:t>
            </a:r>
            <a:r>
              <a:rPr lang="en-US" altLang="zh-CN" dirty="0"/>
              <a:t>(</a:t>
            </a:r>
            <a:r>
              <a:rPr lang="en-US" altLang="zh-CN" i="1" dirty="0"/>
              <a:t>G</a:t>
            </a:r>
            <a:r>
              <a:rPr lang="en-US" altLang="zh-CN" dirty="0"/>
              <a:t>-</a:t>
            </a:r>
            <a:r>
              <a:rPr lang="en-US" altLang="zh-CN" i="1" dirty="0"/>
              <a:t>S</a:t>
            </a:r>
            <a:r>
              <a:rPr lang="en-US" altLang="zh-CN" dirty="0"/>
              <a:t>)≤|</a:t>
            </a:r>
            <a:r>
              <a:rPr lang="en-US" altLang="zh-CN" i="1" dirty="0"/>
              <a:t>S</a:t>
            </a:r>
            <a:r>
              <a:rPr lang="en-US" altLang="zh-CN" dirty="0"/>
              <a:t>| </a:t>
            </a: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8.2.2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无向哈密顿图的性质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395863" y="2561406"/>
            <a:ext cx="1159393" cy="525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0" lang="zh-CN" altLang="en-US" sz="2400" b="0" kern="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证明：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1343473" y="2683420"/>
            <a:ext cx="9721079" cy="37874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342900" indent="-342900" eaLnBrk="0" hangingPunct="0">
              <a:lnSpc>
                <a:spcPct val="130000"/>
              </a:lnSpc>
              <a:buNone/>
              <a:defRPr sz="24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pPr marL="0" indent="0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000" dirty="0"/>
              <a:t>哈密顿图</a:t>
            </a:r>
            <a:r>
              <a:rPr lang="en-US" altLang="zh-CN" sz="2000" i="1" dirty="0"/>
              <a:t>G</a:t>
            </a:r>
            <a:r>
              <a:rPr lang="en-US" altLang="zh-CN" sz="2000" dirty="0"/>
              <a:t>=(</a:t>
            </a:r>
            <a:r>
              <a:rPr lang="en-US" altLang="zh-CN" sz="2000" i="1" dirty="0"/>
              <a:t>V</a:t>
            </a:r>
            <a:r>
              <a:rPr lang="en-US" altLang="zh-CN" sz="2000" dirty="0"/>
              <a:t>,</a:t>
            </a:r>
            <a:r>
              <a:rPr lang="en-US" altLang="zh-CN" sz="2000" i="1" dirty="0"/>
              <a:t>E</a:t>
            </a:r>
            <a:r>
              <a:rPr lang="en-US" altLang="zh-CN" sz="2000" dirty="0"/>
              <a:t>)</a:t>
            </a:r>
          </a:p>
          <a:p>
            <a:pPr marL="0" indent="0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i="1" dirty="0"/>
              <a:t>C</a:t>
            </a:r>
            <a:r>
              <a:rPr lang="zh-CN" altLang="en-US" sz="2000" dirty="0"/>
              <a:t>是哈密顿回路</a:t>
            </a:r>
            <a:r>
              <a:rPr lang="en-US" altLang="zh-CN" sz="2000" dirty="0"/>
              <a:t>, </a:t>
            </a:r>
            <a:r>
              <a:rPr lang="en-US" altLang="zh-CN" sz="2000" i="1" dirty="0"/>
              <a:t>S</a:t>
            </a:r>
            <a:r>
              <a:rPr lang="en-US" altLang="zh-CN" sz="2000" dirty="0">
                <a:sym typeface="Symbol" panose="05050102010706020507" pitchFamily="18" charset="2"/>
              </a:rPr>
              <a:t></a:t>
            </a:r>
            <a:r>
              <a:rPr lang="en-US" altLang="zh-CN" sz="2000" i="1" dirty="0"/>
              <a:t>V</a:t>
            </a:r>
            <a:r>
              <a:rPr lang="en-US" altLang="zh-CN" sz="2000" dirty="0"/>
              <a:t>, </a:t>
            </a:r>
            <a:r>
              <a:rPr lang="en-US" altLang="zh-CN" sz="2000" i="1" dirty="0"/>
              <a:t>S</a:t>
            </a:r>
            <a:r>
              <a:rPr lang="en-US" altLang="zh-CN" sz="2000" dirty="0"/>
              <a:t>≠</a:t>
            </a:r>
            <a:r>
              <a:rPr lang="en-US" altLang="zh-CN" sz="2000" i="1" dirty="0">
                <a:sym typeface="Symbol" panose="05050102010706020507" pitchFamily="18" charset="2"/>
              </a:rPr>
              <a:t></a:t>
            </a:r>
            <a:r>
              <a:rPr lang="en-US" altLang="zh-CN" sz="2000" dirty="0">
                <a:sym typeface="Symbol" panose="05050102010706020507" pitchFamily="18" charset="2"/>
              </a:rPr>
              <a:t>, </a:t>
            </a:r>
            <a:r>
              <a:rPr lang="en-US" altLang="zh-CN" sz="2000" i="1" dirty="0"/>
              <a:t>C</a:t>
            </a:r>
            <a:r>
              <a:rPr lang="zh-CN" altLang="en-US" sz="2000" dirty="0"/>
              <a:t>的边集</a:t>
            </a:r>
            <a:r>
              <a:rPr lang="en-US" altLang="zh-CN" sz="2000" i="1" dirty="0"/>
              <a:t>E</a:t>
            </a:r>
            <a:r>
              <a:rPr lang="en-US" altLang="zh-CN" sz="2000" i="1" baseline="-25000" dirty="0"/>
              <a:t>C</a:t>
            </a:r>
            <a:r>
              <a:rPr lang="en-US" altLang="zh-CN" sz="2000" dirty="0">
                <a:sym typeface="Symbol" panose="05050102010706020507" pitchFamily="18" charset="2"/>
              </a:rPr>
              <a:t></a:t>
            </a:r>
            <a:r>
              <a:rPr lang="en-US" altLang="zh-CN" sz="2000" i="1" dirty="0"/>
              <a:t>E</a:t>
            </a:r>
            <a:r>
              <a:rPr lang="en-US" altLang="zh-CN" sz="2000" dirty="0"/>
              <a:t>, </a:t>
            </a:r>
            <a:r>
              <a:rPr lang="en-US" altLang="zh-CN" sz="2000" i="1" dirty="0"/>
              <a:t>G</a:t>
            </a:r>
            <a:r>
              <a:rPr lang="en-US" altLang="zh-CN" sz="2000" i="1" baseline="-25000" dirty="0"/>
              <a:t>C</a:t>
            </a:r>
            <a:r>
              <a:rPr lang="en-US" altLang="zh-CN" sz="2000" dirty="0"/>
              <a:t>=</a:t>
            </a:r>
            <a:r>
              <a:rPr lang="en-US" altLang="zh-CN" sz="2000" i="1" dirty="0"/>
              <a:t>G</a:t>
            </a:r>
            <a:r>
              <a:rPr lang="en-US" altLang="zh-CN" sz="2000" dirty="0"/>
              <a:t>(</a:t>
            </a:r>
            <a:r>
              <a:rPr lang="en-US" altLang="zh-CN" sz="2000" i="1" dirty="0"/>
              <a:t>E</a:t>
            </a:r>
            <a:r>
              <a:rPr lang="en-US" altLang="zh-CN" sz="2000" i="1" baseline="-25000" dirty="0"/>
              <a:t>C</a:t>
            </a:r>
            <a:r>
              <a:rPr lang="en-US" altLang="zh-CN" sz="2000" dirty="0"/>
              <a:t>)=(</a:t>
            </a:r>
            <a:r>
              <a:rPr lang="en-US" altLang="zh-CN" sz="2000" i="1" dirty="0"/>
              <a:t>V</a:t>
            </a:r>
            <a:r>
              <a:rPr lang="en-US" altLang="zh-CN" sz="2000" dirty="0"/>
              <a:t>,</a:t>
            </a:r>
            <a:r>
              <a:rPr lang="en-US" altLang="zh-CN" sz="2000" i="1" dirty="0"/>
              <a:t>E</a:t>
            </a:r>
            <a:r>
              <a:rPr lang="en-US" altLang="zh-CN" sz="2000" i="1" baseline="-25000" dirty="0"/>
              <a:t>C</a:t>
            </a:r>
            <a:r>
              <a:rPr lang="en-US" altLang="zh-CN" sz="2000" dirty="0"/>
              <a:t>)</a:t>
            </a:r>
            <a:r>
              <a:rPr lang="zh-CN" altLang="en-US" sz="2000" dirty="0"/>
              <a:t>是生成子图</a:t>
            </a:r>
          </a:p>
          <a:p>
            <a:pPr marL="0" indent="0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i="1" dirty="0"/>
              <a:t>E</a:t>
            </a:r>
            <a:r>
              <a:rPr lang="en-US" altLang="zh-CN" sz="2000" i="1" baseline="-25000" dirty="0"/>
              <a:t>C</a:t>
            </a:r>
            <a:r>
              <a:rPr lang="en-US" altLang="zh-CN" sz="2000" dirty="0">
                <a:sym typeface="Symbol" panose="05050102010706020507" pitchFamily="18" charset="2"/>
              </a:rPr>
              <a:t></a:t>
            </a:r>
            <a:r>
              <a:rPr lang="en-US" altLang="zh-CN" sz="2000" i="1" dirty="0"/>
              <a:t>E </a:t>
            </a:r>
            <a:r>
              <a:rPr lang="en-US" altLang="zh-CN" sz="2000" dirty="0">
                <a:sym typeface="Symbol" panose="05050102010706020507" pitchFamily="18" charset="2"/>
              </a:rPr>
              <a:t> </a:t>
            </a:r>
            <a:r>
              <a:rPr lang="en-US" altLang="zh-CN" sz="2000" i="1" dirty="0"/>
              <a:t>ω</a:t>
            </a:r>
            <a:r>
              <a:rPr lang="en-US" altLang="zh-CN" sz="2000" dirty="0"/>
              <a:t>(</a:t>
            </a:r>
            <a:r>
              <a:rPr lang="en-US" altLang="zh-CN" sz="2000" i="1" dirty="0"/>
              <a:t>G</a:t>
            </a:r>
            <a:r>
              <a:rPr lang="en-US" altLang="zh-CN" sz="2000" dirty="0"/>
              <a:t>-</a:t>
            </a:r>
            <a:r>
              <a:rPr lang="en-US" altLang="zh-CN" sz="2000" i="1" dirty="0"/>
              <a:t>S</a:t>
            </a:r>
            <a:r>
              <a:rPr lang="en-US" altLang="zh-CN" sz="2000" dirty="0"/>
              <a:t>)≤</a:t>
            </a:r>
            <a:r>
              <a:rPr lang="en-US" altLang="zh-CN" sz="2000" i="1" dirty="0"/>
              <a:t>ω</a:t>
            </a:r>
            <a:r>
              <a:rPr lang="en-US" altLang="zh-CN" sz="2000" dirty="0"/>
              <a:t>(</a:t>
            </a:r>
            <a:r>
              <a:rPr lang="en-US" altLang="zh-CN" sz="2000" i="1" dirty="0"/>
              <a:t>G</a:t>
            </a:r>
            <a:r>
              <a:rPr lang="en-US" altLang="zh-CN" sz="2000" i="1" baseline="-25000" dirty="0"/>
              <a:t>C</a:t>
            </a:r>
            <a:r>
              <a:rPr lang="en-US" altLang="zh-CN" sz="2000" dirty="0"/>
              <a:t>-</a:t>
            </a:r>
            <a:r>
              <a:rPr lang="en-US" altLang="zh-CN" sz="2000" i="1" dirty="0"/>
              <a:t>S</a:t>
            </a:r>
            <a:r>
              <a:rPr lang="en-US" altLang="zh-CN" sz="2000" dirty="0"/>
              <a:t>), </a:t>
            </a:r>
            <a:r>
              <a:rPr lang="en-US" altLang="zh-CN" sz="2000" i="1" dirty="0"/>
              <a:t>ω</a:t>
            </a:r>
            <a:r>
              <a:rPr lang="en-US" altLang="zh-CN" sz="2000" dirty="0"/>
              <a:t>(</a:t>
            </a:r>
            <a:r>
              <a:rPr lang="en-US" altLang="zh-CN" sz="2000" i="1" dirty="0"/>
              <a:t>G</a:t>
            </a:r>
            <a:r>
              <a:rPr lang="en-US" altLang="zh-CN" sz="2000" i="1" baseline="-25000" dirty="0"/>
              <a:t>C</a:t>
            </a:r>
            <a:r>
              <a:rPr lang="en-US" altLang="zh-CN" sz="2000" dirty="0"/>
              <a:t>-</a:t>
            </a:r>
            <a:r>
              <a:rPr lang="en-US" altLang="zh-CN" sz="2000" i="1" dirty="0"/>
              <a:t>S</a:t>
            </a:r>
            <a:r>
              <a:rPr lang="en-US" altLang="zh-CN" sz="2000" dirty="0"/>
              <a:t>)≤|</a:t>
            </a:r>
            <a:r>
              <a:rPr lang="en-US" altLang="zh-CN" sz="2000" i="1" dirty="0"/>
              <a:t>S</a:t>
            </a:r>
            <a:r>
              <a:rPr lang="en-US" altLang="zh-CN" sz="2000" dirty="0"/>
              <a:t>| </a:t>
            </a:r>
            <a:r>
              <a:rPr lang="en-US" altLang="zh-CN" sz="2000" dirty="0">
                <a:sym typeface="Symbol" panose="05050102010706020507" pitchFamily="18" charset="2"/>
              </a:rPr>
              <a:t> </a:t>
            </a:r>
            <a:r>
              <a:rPr lang="en-US" altLang="zh-CN" sz="2000" i="1" dirty="0"/>
              <a:t>ω</a:t>
            </a:r>
            <a:r>
              <a:rPr lang="en-US" altLang="zh-CN" sz="2000" dirty="0"/>
              <a:t>(</a:t>
            </a:r>
            <a:r>
              <a:rPr lang="en-US" altLang="zh-CN" sz="2000" i="1" dirty="0"/>
              <a:t>G</a:t>
            </a:r>
            <a:r>
              <a:rPr lang="en-US" altLang="zh-CN" sz="2000" dirty="0"/>
              <a:t>-</a:t>
            </a:r>
            <a:r>
              <a:rPr lang="en-US" altLang="zh-CN" sz="2000" i="1" dirty="0"/>
              <a:t>S</a:t>
            </a:r>
            <a:r>
              <a:rPr lang="en-US" altLang="zh-CN" sz="2000" dirty="0"/>
              <a:t>)≤|</a:t>
            </a:r>
            <a:r>
              <a:rPr lang="en-US" altLang="zh-CN" sz="2000" i="1" dirty="0"/>
              <a:t>S</a:t>
            </a:r>
            <a:r>
              <a:rPr lang="en-US" altLang="zh-CN" sz="2000" dirty="0"/>
              <a:t>| </a:t>
            </a:r>
          </a:p>
          <a:p>
            <a:pPr marL="0" indent="0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000" dirty="0"/>
              <a:t>对</a:t>
            </a:r>
            <a:r>
              <a:rPr lang="en-US" altLang="zh-CN" sz="2000" dirty="0"/>
              <a:t>|</a:t>
            </a:r>
            <a:r>
              <a:rPr lang="en-US" altLang="zh-CN" sz="2000" i="1" dirty="0">
                <a:sym typeface="Symbol" panose="05050102010706020507" pitchFamily="18" charset="2"/>
              </a:rPr>
              <a:t>S</a:t>
            </a:r>
            <a:r>
              <a:rPr lang="en-US" altLang="zh-CN" sz="2000" dirty="0">
                <a:sym typeface="Symbol" panose="05050102010706020507" pitchFamily="18" charset="2"/>
              </a:rPr>
              <a:t>|</a:t>
            </a:r>
            <a:r>
              <a:rPr lang="zh-CN" altLang="en-US" sz="2000" dirty="0"/>
              <a:t>用归纳法证明</a:t>
            </a:r>
            <a:r>
              <a:rPr lang="en-US" altLang="zh-CN" sz="2000" i="1" dirty="0"/>
              <a:t>ω</a:t>
            </a:r>
            <a:r>
              <a:rPr lang="en-US" altLang="zh-CN" sz="2000" dirty="0"/>
              <a:t>(G</a:t>
            </a:r>
            <a:r>
              <a:rPr lang="en-US" altLang="zh-CN" sz="2000" baseline="-25000" dirty="0"/>
              <a:t>C</a:t>
            </a:r>
            <a:r>
              <a:rPr lang="en-US" altLang="zh-CN" sz="2000" dirty="0"/>
              <a:t>-</a:t>
            </a:r>
            <a:r>
              <a:rPr lang="en-US" altLang="zh-CN" sz="2000" i="1" dirty="0"/>
              <a:t>S</a:t>
            </a:r>
            <a:r>
              <a:rPr lang="en-US" altLang="zh-CN" sz="2000" dirty="0"/>
              <a:t>)≤|</a:t>
            </a:r>
            <a:r>
              <a:rPr lang="en-US" altLang="zh-CN" sz="2000" i="1" dirty="0"/>
              <a:t>S</a:t>
            </a:r>
            <a:r>
              <a:rPr lang="en-US" altLang="zh-CN" sz="2000" dirty="0"/>
              <a:t>| </a:t>
            </a:r>
          </a:p>
          <a:p>
            <a:pPr marL="0" indent="0">
              <a:lnSpc>
                <a:spcPct val="110000"/>
              </a:lnSpc>
              <a:buClr>
                <a:srgbClr val="FF9900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000" dirty="0"/>
              <a:t>(1) |</a:t>
            </a:r>
            <a:r>
              <a:rPr lang="en-US" altLang="zh-CN" sz="2000" i="1" dirty="0">
                <a:sym typeface="Symbol" panose="05050102010706020507" pitchFamily="18" charset="2"/>
              </a:rPr>
              <a:t>S</a:t>
            </a:r>
            <a:r>
              <a:rPr lang="en-US" altLang="zh-CN" sz="2000" dirty="0">
                <a:sym typeface="Symbol" panose="05050102010706020507" pitchFamily="18" charset="2"/>
              </a:rPr>
              <a:t>|=1</a:t>
            </a:r>
            <a:r>
              <a:rPr lang="zh-CN" altLang="en-US" sz="2000" dirty="0">
                <a:sym typeface="Symbol" panose="05050102010706020507" pitchFamily="18" charset="2"/>
              </a:rPr>
              <a:t>。显然</a:t>
            </a:r>
            <a:r>
              <a:rPr lang="en-US" altLang="zh-CN" sz="2000" dirty="0">
                <a:sym typeface="Symbol" panose="05050102010706020507" pitchFamily="18" charset="2"/>
              </a:rPr>
              <a:t>, </a:t>
            </a:r>
            <a:r>
              <a:rPr lang="en-US" altLang="zh-CN" sz="2000" i="1" dirty="0">
                <a:sym typeface="Symbol" panose="05050102010706020507" pitchFamily="18" charset="2"/>
              </a:rPr>
              <a:t>G</a:t>
            </a:r>
            <a:r>
              <a:rPr lang="en-US" altLang="zh-CN" sz="2000" i="1" baseline="-25000" dirty="0">
                <a:sym typeface="Symbol" panose="05050102010706020507" pitchFamily="18" charset="2"/>
              </a:rPr>
              <a:t>C</a:t>
            </a:r>
            <a:r>
              <a:rPr lang="en-US" altLang="zh-CN" sz="2000" dirty="0">
                <a:sym typeface="Symbol" panose="05050102010706020507" pitchFamily="18" charset="2"/>
              </a:rPr>
              <a:t>-</a:t>
            </a:r>
            <a:r>
              <a:rPr lang="en-US" altLang="zh-CN" sz="2000" i="1" dirty="0">
                <a:sym typeface="Symbol" panose="05050102010706020507" pitchFamily="18" charset="2"/>
              </a:rPr>
              <a:t>S</a:t>
            </a:r>
            <a:r>
              <a:rPr lang="zh-CN" altLang="en-US" sz="2000" dirty="0">
                <a:sym typeface="Symbol" panose="05050102010706020507" pitchFamily="18" charset="2"/>
              </a:rPr>
              <a:t>是连通图</a:t>
            </a:r>
            <a:r>
              <a:rPr lang="en-US" altLang="zh-CN" sz="2000" dirty="0">
                <a:sym typeface="Symbol" panose="05050102010706020507" pitchFamily="18" charset="2"/>
              </a:rPr>
              <a:t>, </a:t>
            </a:r>
            <a:r>
              <a:rPr lang="en-US" altLang="zh-CN" sz="2000" i="1" dirty="0">
                <a:sym typeface="Symbol" panose="05050102010706020507" pitchFamily="18" charset="2"/>
              </a:rPr>
              <a:t>ω</a:t>
            </a:r>
            <a:r>
              <a:rPr lang="en-US" altLang="zh-CN" sz="2000" dirty="0">
                <a:sym typeface="Symbol" panose="05050102010706020507" pitchFamily="18" charset="2"/>
              </a:rPr>
              <a:t>(</a:t>
            </a:r>
            <a:r>
              <a:rPr lang="en-US" altLang="zh-CN" sz="2000" i="1" dirty="0">
                <a:sym typeface="Symbol" panose="05050102010706020507" pitchFamily="18" charset="2"/>
              </a:rPr>
              <a:t>G</a:t>
            </a:r>
            <a:r>
              <a:rPr lang="en-US" altLang="zh-CN" sz="2000" i="1" baseline="-25000" dirty="0">
                <a:sym typeface="Symbol" panose="05050102010706020507" pitchFamily="18" charset="2"/>
              </a:rPr>
              <a:t>C</a:t>
            </a:r>
            <a:r>
              <a:rPr lang="en-US" altLang="zh-CN" sz="2000" i="1" dirty="0">
                <a:sym typeface="Symbol" panose="05050102010706020507" pitchFamily="18" charset="2"/>
              </a:rPr>
              <a:t>-S</a:t>
            </a:r>
            <a:r>
              <a:rPr lang="en-US" altLang="zh-CN" sz="2000" dirty="0">
                <a:sym typeface="Symbol" panose="05050102010706020507" pitchFamily="18" charset="2"/>
              </a:rPr>
              <a:t>)=1=|</a:t>
            </a:r>
            <a:r>
              <a:rPr lang="en-US" altLang="zh-CN" sz="2000" i="1" dirty="0">
                <a:sym typeface="Symbol" panose="05050102010706020507" pitchFamily="18" charset="2"/>
              </a:rPr>
              <a:t>S</a:t>
            </a:r>
            <a:r>
              <a:rPr lang="en-US" altLang="zh-CN" sz="2000" dirty="0">
                <a:sym typeface="Symbol" panose="05050102010706020507" pitchFamily="18" charset="2"/>
              </a:rPr>
              <a:t>|</a:t>
            </a:r>
          </a:p>
          <a:p>
            <a:pPr marL="0" indent="0">
              <a:lnSpc>
                <a:spcPct val="110000"/>
              </a:lnSpc>
              <a:buClr>
                <a:srgbClr val="FF9900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000" dirty="0"/>
              <a:t>(2) </a:t>
            </a:r>
            <a:r>
              <a:rPr lang="zh-CN" altLang="en-US" sz="2000" dirty="0">
                <a:sym typeface="Symbol" panose="05050102010706020507" pitchFamily="18" charset="2"/>
              </a:rPr>
              <a:t>假设</a:t>
            </a:r>
            <a:r>
              <a:rPr lang="en-US" altLang="zh-CN" sz="2000" dirty="0">
                <a:sym typeface="Symbol" panose="05050102010706020507" pitchFamily="18" charset="2"/>
              </a:rPr>
              <a:t>|</a:t>
            </a:r>
            <a:r>
              <a:rPr lang="en-US" altLang="zh-CN" sz="2000" i="1" dirty="0">
                <a:sym typeface="Symbol" panose="05050102010706020507" pitchFamily="18" charset="2"/>
              </a:rPr>
              <a:t>S</a:t>
            </a:r>
            <a:r>
              <a:rPr lang="en-US" altLang="zh-CN" sz="2000" dirty="0">
                <a:sym typeface="Symbol" panose="05050102010706020507" pitchFamily="18" charset="2"/>
              </a:rPr>
              <a:t>|=</a:t>
            </a:r>
            <a:r>
              <a:rPr lang="en-US" altLang="zh-CN" sz="2000" i="1" dirty="0">
                <a:sym typeface="Symbol" panose="05050102010706020507" pitchFamily="18" charset="2"/>
              </a:rPr>
              <a:t>n</a:t>
            </a:r>
            <a:r>
              <a:rPr lang="zh-CN" altLang="en-US" sz="2000" dirty="0">
                <a:sym typeface="Symbol" panose="05050102010706020507" pitchFamily="18" charset="2"/>
              </a:rPr>
              <a:t>时</a:t>
            </a:r>
            <a:r>
              <a:rPr lang="en-US" altLang="zh-CN" sz="2000" dirty="0">
                <a:sym typeface="Symbol" panose="05050102010706020507" pitchFamily="18" charset="2"/>
              </a:rPr>
              <a:t>, </a:t>
            </a:r>
            <a:r>
              <a:rPr lang="en-US" altLang="zh-CN" sz="2000" i="1" dirty="0">
                <a:sym typeface="Symbol" panose="05050102010706020507" pitchFamily="18" charset="2"/>
              </a:rPr>
              <a:t>ω</a:t>
            </a:r>
            <a:r>
              <a:rPr lang="en-US" altLang="zh-CN" sz="2000" dirty="0">
                <a:sym typeface="Symbol" panose="05050102010706020507" pitchFamily="18" charset="2"/>
              </a:rPr>
              <a:t>(</a:t>
            </a:r>
            <a:r>
              <a:rPr lang="en-US" altLang="zh-CN" sz="2000" i="1" dirty="0">
                <a:sym typeface="Symbol" panose="05050102010706020507" pitchFamily="18" charset="2"/>
              </a:rPr>
              <a:t>G</a:t>
            </a:r>
            <a:r>
              <a:rPr lang="en-US" altLang="zh-CN" sz="2000" i="1" baseline="-25000" dirty="0">
                <a:sym typeface="Symbol" panose="05050102010706020507" pitchFamily="18" charset="2"/>
              </a:rPr>
              <a:t>C</a:t>
            </a:r>
            <a:r>
              <a:rPr lang="en-US" altLang="zh-CN" sz="2000" i="1" dirty="0">
                <a:sym typeface="Symbol" panose="05050102010706020507" pitchFamily="18" charset="2"/>
              </a:rPr>
              <a:t>-S</a:t>
            </a:r>
            <a:r>
              <a:rPr lang="en-US" altLang="zh-CN" sz="2000" dirty="0">
                <a:sym typeface="Symbol" panose="05050102010706020507" pitchFamily="18" charset="2"/>
              </a:rPr>
              <a:t>)≤|</a:t>
            </a:r>
            <a:r>
              <a:rPr lang="en-US" altLang="zh-CN" sz="2000" i="1" dirty="0">
                <a:sym typeface="Symbol" panose="05050102010706020507" pitchFamily="18" charset="2"/>
              </a:rPr>
              <a:t>S</a:t>
            </a:r>
            <a:r>
              <a:rPr lang="en-US" altLang="zh-CN" sz="2000" dirty="0">
                <a:sym typeface="Symbol" panose="05050102010706020507" pitchFamily="18" charset="2"/>
              </a:rPr>
              <a:t>|</a:t>
            </a:r>
            <a:r>
              <a:rPr lang="zh-CN" altLang="en-US" sz="2000" dirty="0">
                <a:sym typeface="Symbol" panose="05050102010706020507" pitchFamily="18" charset="2"/>
              </a:rPr>
              <a:t>成立 </a:t>
            </a:r>
          </a:p>
          <a:p>
            <a:pPr marL="0" indent="0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000" dirty="0"/>
              <a:t>当</a:t>
            </a:r>
            <a:r>
              <a:rPr lang="en-US" altLang="zh-CN" sz="2000" dirty="0"/>
              <a:t>|</a:t>
            </a:r>
            <a:r>
              <a:rPr lang="en-US" altLang="zh-CN" sz="2000" i="1" dirty="0"/>
              <a:t>S</a:t>
            </a:r>
            <a:r>
              <a:rPr lang="en-US" altLang="zh-CN" sz="2000" dirty="0"/>
              <a:t>|=</a:t>
            </a:r>
            <a:r>
              <a:rPr lang="en-US" altLang="zh-CN" sz="2000" i="1" dirty="0"/>
              <a:t>n</a:t>
            </a:r>
            <a:r>
              <a:rPr lang="en-US" altLang="zh-CN" sz="2000" dirty="0"/>
              <a:t>+1</a:t>
            </a:r>
            <a:r>
              <a:rPr lang="zh-CN" altLang="en-US" sz="2000" dirty="0"/>
              <a:t>时</a:t>
            </a:r>
            <a:r>
              <a:rPr lang="en-US" altLang="zh-CN" sz="2000" dirty="0"/>
              <a:t>, </a:t>
            </a:r>
            <a:r>
              <a:rPr lang="zh-CN" altLang="en-US" sz="2000" dirty="0"/>
              <a:t>不妨设</a:t>
            </a:r>
            <a:r>
              <a:rPr lang="en-US" altLang="zh-CN" sz="2000" i="1" dirty="0"/>
              <a:t>S</a:t>
            </a:r>
            <a:r>
              <a:rPr lang="en-US" altLang="zh-CN" sz="2000" dirty="0"/>
              <a:t>={</a:t>
            </a:r>
            <a:r>
              <a:rPr lang="en-US" altLang="zh-CN" sz="2000" i="1" dirty="0"/>
              <a:t>s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,</a:t>
            </a:r>
            <a:r>
              <a:rPr lang="en-US" altLang="zh-CN" sz="2000" i="1" dirty="0"/>
              <a:t>s</a:t>
            </a:r>
            <a:r>
              <a:rPr lang="en-US" altLang="zh-CN" sz="2000" baseline="-25000" dirty="0"/>
              <a:t>2</a:t>
            </a:r>
            <a:r>
              <a:rPr lang="en-US" altLang="zh-CN" sz="2000" dirty="0"/>
              <a:t>,…,</a:t>
            </a:r>
            <a:r>
              <a:rPr lang="en-US" altLang="zh-CN" sz="2000" i="1" dirty="0"/>
              <a:t>s</a:t>
            </a:r>
            <a:r>
              <a:rPr lang="en-US" altLang="zh-CN" sz="2000" i="1" baseline="-25000" dirty="0"/>
              <a:t>n</a:t>
            </a:r>
            <a:r>
              <a:rPr lang="en-US" altLang="zh-CN" sz="2000" baseline="-25000" dirty="0"/>
              <a:t>+1</a:t>
            </a:r>
            <a:r>
              <a:rPr lang="en-US" altLang="zh-CN" sz="2000" dirty="0"/>
              <a:t>}, </a:t>
            </a:r>
            <a:r>
              <a:rPr lang="zh-CN" altLang="en-US" sz="2000" dirty="0"/>
              <a:t>并令</a:t>
            </a:r>
            <a:r>
              <a:rPr lang="en-US" altLang="zh-CN" sz="2000" i="1" dirty="0"/>
              <a:t>S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={</a:t>
            </a:r>
            <a:r>
              <a:rPr lang="en-US" altLang="zh-CN" sz="2000" i="1" dirty="0"/>
              <a:t>s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,</a:t>
            </a:r>
            <a:r>
              <a:rPr lang="en-US" altLang="zh-CN" sz="2000" i="1" dirty="0"/>
              <a:t>s</a:t>
            </a:r>
            <a:r>
              <a:rPr lang="en-US" altLang="zh-CN" sz="2000" baseline="-25000" dirty="0"/>
              <a:t>2</a:t>
            </a:r>
            <a:r>
              <a:rPr lang="en-US" altLang="zh-CN" sz="2000" dirty="0"/>
              <a:t>,…,</a:t>
            </a:r>
            <a:r>
              <a:rPr lang="en-US" altLang="zh-CN" sz="2000" i="1" dirty="0" err="1"/>
              <a:t>s</a:t>
            </a:r>
            <a:r>
              <a:rPr lang="en-US" altLang="zh-CN" sz="2000" i="1" baseline="-25000" dirty="0" err="1"/>
              <a:t>n</a:t>
            </a:r>
            <a:r>
              <a:rPr lang="en-US" altLang="zh-CN" sz="2000" dirty="0"/>
              <a:t>}</a:t>
            </a:r>
          </a:p>
          <a:p>
            <a:pPr marL="0" indent="0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dirty="0"/>
              <a:t>(</a:t>
            </a:r>
            <a:r>
              <a:rPr lang="en-US" altLang="zh-CN" sz="2000" i="1" dirty="0"/>
              <a:t>a</a:t>
            </a:r>
            <a:r>
              <a:rPr lang="en-US" altLang="zh-CN" sz="2000" dirty="0"/>
              <a:t>)</a:t>
            </a:r>
            <a:r>
              <a:rPr lang="en-US" altLang="zh-CN" sz="2000" i="1" dirty="0"/>
              <a:t>s</a:t>
            </a:r>
            <a:r>
              <a:rPr lang="en-US" altLang="zh-CN" sz="2000" i="1" baseline="-25000" dirty="0"/>
              <a:t>n</a:t>
            </a:r>
            <a:r>
              <a:rPr lang="en-US" altLang="zh-CN" sz="2000" baseline="-25000" dirty="0"/>
              <a:t>+1</a:t>
            </a:r>
            <a:r>
              <a:rPr lang="zh-CN" altLang="en-US" sz="2000" dirty="0"/>
              <a:t>与</a:t>
            </a:r>
            <a:r>
              <a:rPr lang="en-US" altLang="zh-CN" sz="2000" i="1" dirty="0"/>
              <a:t>S</a:t>
            </a:r>
            <a:r>
              <a:rPr lang="en-US" altLang="zh-CN" sz="2000" baseline="-25000" dirty="0"/>
              <a:t>1</a:t>
            </a:r>
            <a:r>
              <a:rPr lang="zh-CN" altLang="en-US" sz="2000" dirty="0"/>
              <a:t>中的某个顶点相邻</a:t>
            </a:r>
            <a:r>
              <a:rPr lang="zh-CN" altLang="en-US" sz="2000" dirty="0">
                <a:sym typeface="Symbol" panose="05050102010706020507" pitchFamily="18" charset="2"/>
              </a:rPr>
              <a:t></a:t>
            </a:r>
            <a:r>
              <a:rPr lang="en-US" altLang="zh-CN" sz="2000" i="1" dirty="0"/>
              <a:t>ω</a:t>
            </a:r>
            <a:r>
              <a:rPr lang="en-US" altLang="zh-CN" sz="2000" dirty="0"/>
              <a:t>(</a:t>
            </a:r>
            <a:r>
              <a:rPr lang="en-US" altLang="zh-CN" sz="2000" i="1" dirty="0">
                <a:sym typeface="Symbol" panose="05050102010706020507" pitchFamily="18" charset="2"/>
              </a:rPr>
              <a:t>G</a:t>
            </a:r>
            <a:r>
              <a:rPr lang="en-US" altLang="zh-CN" sz="2000" i="1" baseline="-25000" dirty="0">
                <a:sym typeface="Symbol" panose="05050102010706020507" pitchFamily="18" charset="2"/>
              </a:rPr>
              <a:t>C</a:t>
            </a:r>
            <a:r>
              <a:rPr lang="en-US" altLang="zh-CN" sz="2000" i="1" dirty="0">
                <a:sym typeface="Symbol" panose="05050102010706020507" pitchFamily="18" charset="2"/>
              </a:rPr>
              <a:t>-S</a:t>
            </a:r>
            <a:r>
              <a:rPr lang="en-US" altLang="zh-CN" sz="2000" dirty="0"/>
              <a:t>)=</a:t>
            </a:r>
            <a:r>
              <a:rPr lang="en-US" altLang="zh-CN" sz="2000" i="1" dirty="0"/>
              <a:t>ω</a:t>
            </a:r>
            <a:r>
              <a:rPr lang="en-US" altLang="zh-CN" sz="2000" dirty="0"/>
              <a:t>(</a:t>
            </a:r>
            <a:r>
              <a:rPr lang="en-US" altLang="zh-CN" sz="2000" i="1" dirty="0">
                <a:sym typeface="Symbol" panose="05050102010706020507" pitchFamily="18" charset="2"/>
              </a:rPr>
              <a:t>G</a:t>
            </a:r>
            <a:r>
              <a:rPr lang="en-US" altLang="zh-CN" sz="2000" i="1" baseline="-25000" dirty="0">
                <a:sym typeface="Symbol" panose="05050102010706020507" pitchFamily="18" charset="2"/>
              </a:rPr>
              <a:t>C</a:t>
            </a:r>
            <a:r>
              <a:rPr lang="en-US" altLang="zh-CN" sz="2000" i="1" dirty="0">
                <a:sym typeface="Symbol" panose="05050102010706020507" pitchFamily="18" charset="2"/>
              </a:rPr>
              <a:t>-S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)</a:t>
            </a:r>
          </a:p>
          <a:p>
            <a:pPr marL="0" indent="0">
              <a:lnSpc>
                <a:spcPct val="110000"/>
              </a:lnSpc>
              <a:defRPr/>
            </a:pPr>
            <a:r>
              <a:rPr lang="en-US" altLang="zh-CN" sz="2000" dirty="0"/>
              <a:t>(</a:t>
            </a:r>
            <a:r>
              <a:rPr lang="en-US" altLang="zh-CN" sz="2000" i="1" dirty="0"/>
              <a:t>b</a:t>
            </a:r>
            <a:r>
              <a:rPr lang="en-US" altLang="zh-CN" sz="2000" dirty="0"/>
              <a:t>)</a:t>
            </a:r>
            <a:r>
              <a:rPr lang="en-US" altLang="zh-CN" sz="2000" i="1" dirty="0"/>
              <a:t>s</a:t>
            </a:r>
            <a:r>
              <a:rPr lang="en-US" altLang="zh-CN" sz="2000" i="1" baseline="-25000" dirty="0"/>
              <a:t>n</a:t>
            </a:r>
            <a:r>
              <a:rPr lang="en-US" altLang="zh-CN" sz="2000" baseline="-25000" dirty="0"/>
              <a:t>+1</a:t>
            </a:r>
            <a:r>
              <a:rPr lang="zh-CN" altLang="en-US" sz="2000" dirty="0"/>
              <a:t>不与</a:t>
            </a:r>
            <a:r>
              <a:rPr lang="en-US" altLang="zh-CN" sz="2000" i="1" dirty="0"/>
              <a:t>S</a:t>
            </a:r>
            <a:r>
              <a:rPr lang="en-US" altLang="zh-CN" sz="2000" baseline="-25000" dirty="0"/>
              <a:t>1</a:t>
            </a:r>
            <a:r>
              <a:rPr lang="zh-CN" altLang="en-US" sz="2000" dirty="0"/>
              <a:t>中的任何顶点相邻 </a:t>
            </a:r>
            <a:r>
              <a:rPr lang="zh-CN" altLang="en-US" sz="2000" dirty="0">
                <a:sym typeface="Symbol" panose="05050102010706020507" pitchFamily="18" charset="2"/>
              </a:rPr>
              <a:t> </a:t>
            </a:r>
            <a:r>
              <a:rPr lang="en-US" altLang="zh-CN" sz="2000" i="1" dirty="0"/>
              <a:t>ω</a:t>
            </a:r>
            <a:r>
              <a:rPr lang="en-US" altLang="zh-CN" sz="2000" dirty="0"/>
              <a:t>(</a:t>
            </a:r>
            <a:r>
              <a:rPr lang="en-US" altLang="zh-CN" sz="2000" i="1" dirty="0">
                <a:sym typeface="Symbol" panose="05050102010706020507" pitchFamily="18" charset="2"/>
              </a:rPr>
              <a:t>G</a:t>
            </a:r>
            <a:r>
              <a:rPr lang="en-US" altLang="zh-CN" sz="2000" i="1" baseline="-25000" dirty="0">
                <a:sym typeface="Symbol" panose="05050102010706020507" pitchFamily="18" charset="2"/>
              </a:rPr>
              <a:t>C</a:t>
            </a:r>
            <a:r>
              <a:rPr lang="en-US" altLang="zh-CN" sz="2000" i="1" dirty="0">
                <a:sym typeface="Symbol" panose="05050102010706020507" pitchFamily="18" charset="2"/>
              </a:rPr>
              <a:t>-S</a:t>
            </a:r>
            <a:r>
              <a:rPr lang="en-US" altLang="zh-CN" sz="2000" dirty="0"/>
              <a:t>)=</a:t>
            </a:r>
            <a:r>
              <a:rPr lang="en-US" altLang="zh-CN" sz="2000" i="1" dirty="0"/>
              <a:t>ω</a:t>
            </a:r>
            <a:r>
              <a:rPr lang="en-US" altLang="zh-CN" sz="2000" dirty="0"/>
              <a:t>(</a:t>
            </a:r>
            <a:r>
              <a:rPr lang="en-US" altLang="zh-CN" sz="2000" i="1" dirty="0">
                <a:sym typeface="Symbol" panose="05050102010706020507" pitchFamily="18" charset="2"/>
              </a:rPr>
              <a:t>G</a:t>
            </a:r>
            <a:r>
              <a:rPr lang="en-US" altLang="zh-CN" sz="2000" i="1" baseline="-25000" dirty="0">
                <a:sym typeface="Symbol" panose="05050102010706020507" pitchFamily="18" charset="2"/>
              </a:rPr>
              <a:t>C</a:t>
            </a:r>
            <a:r>
              <a:rPr lang="en-US" altLang="zh-CN" sz="2000" i="1" dirty="0">
                <a:sym typeface="Symbol" panose="05050102010706020507" pitchFamily="18" charset="2"/>
              </a:rPr>
              <a:t>-S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)+1</a:t>
            </a:r>
          </a:p>
          <a:p>
            <a:pPr marL="0" indent="0">
              <a:lnSpc>
                <a:spcPct val="110000"/>
              </a:lnSpc>
              <a:defRPr/>
            </a:pPr>
            <a:r>
              <a:rPr lang="en-US" altLang="zh-CN" sz="2000" dirty="0"/>
              <a:t>(</a:t>
            </a:r>
            <a:r>
              <a:rPr lang="en-US" altLang="zh-CN" sz="2000" i="1" dirty="0"/>
              <a:t>a</a:t>
            </a:r>
            <a:r>
              <a:rPr lang="en-US" altLang="zh-CN" sz="2000" dirty="0"/>
              <a:t>),(</a:t>
            </a:r>
            <a:r>
              <a:rPr lang="en-US" altLang="zh-CN" sz="2000" i="1" dirty="0"/>
              <a:t>b)</a:t>
            </a:r>
            <a:r>
              <a:rPr lang="en-US" altLang="zh-CN" sz="2000" dirty="0"/>
              <a:t> </a:t>
            </a:r>
            <a:r>
              <a:rPr lang="en-US" altLang="zh-CN" sz="2000" dirty="0">
                <a:sym typeface="Symbol" panose="05050102010706020507" pitchFamily="18" charset="2"/>
              </a:rPr>
              <a:t> </a:t>
            </a:r>
            <a:r>
              <a:rPr lang="en-US" altLang="zh-CN" sz="2000" i="1" dirty="0"/>
              <a:t>ω</a:t>
            </a:r>
            <a:r>
              <a:rPr lang="en-US" altLang="zh-CN" sz="2000" dirty="0"/>
              <a:t>(</a:t>
            </a:r>
            <a:r>
              <a:rPr lang="en-US" altLang="zh-CN" sz="2000" i="1" dirty="0">
                <a:sym typeface="Symbol" panose="05050102010706020507" pitchFamily="18" charset="2"/>
              </a:rPr>
              <a:t>G</a:t>
            </a:r>
            <a:r>
              <a:rPr lang="en-US" altLang="zh-CN" sz="2000" i="1" baseline="-25000" dirty="0">
                <a:sym typeface="Symbol" panose="05050102010706020507" pitchFamily="18" charset="2"/>
              </a:rPr>
              <a:t>C</a:t>
            </a:r>
            <a:r>
              <a:rPr lang="en-US" altLang="zh-CN" sz="2000" i="1" dirty="0">
                <a:sym typeface="Symbol" panose="05050102010706020507" pitchFamily="18" charset="2"/>
              </a:rPr>
              <a:t>-S</a:t>
            </a:r>
            <a:r>
              <a:rPr lang="en-US" altLang="zh-CN" sz="2000" dirty="0"/>
              <a:t>) ≤ </a:t>
            </a:r>
            <a:r>
              <a:rPr lang="en-US" altLang="zh-CN" sz="2000" i="1" dirty="0"/>
              <a:t>ω</a:t>
            </a:r>
            <a:r>
              <a:rPr lang="en-US" altLang="zh-CN" sz="2000" dirty="0"/>
              <a:t>(</a:t>
            </a:r>
            <a:r>
              <a:rPr lang="en-US" altLang="zh-CN" sz="2000" i="1" dirty="0">
                <a:sym typeface="Symbol" panose="05050102010706020507" pitchFamily="18" charset="2"/>
              </a:rPr>
              <a:t>G</a:t>
            </a:r>
            <a:r>
              <a:rPr lang="en-US" altLang="zh-CN" sz="2000" i="1" baseline="-25000" dirty="0">
                <a:sym typeface="Symbol" panose="05050102010706020507" pitchFamily="18" charset="2"/>
              </a:rPr>
              <a:t>C</a:t>
            </a:r>
            <a:r>
              <a:rPr lang="en-US" altLang="zh-CN" sz="2000" i="1" dirty="0">
                <a:sym typeface="Symbol" panose="05050102010706020507" pitchFamily="18" charset="2"/>
              </a:rPr>
              <a:t>-S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)+1</a:t>
            </a:r>
          </a:p>
          <a:p>
            <a:pPr marL="0" indent="0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000" dirty="0"/>
              <a:t>归纳假设 </a:t>
            </a:r>
            <a:r>
              <a:rPr lang="zh-CN" altLang="en-US" sz="2000" dirty="0">
                <a:sym typeface="Symbol" panose="05050102010706020507" pitchFamily="18" charset="2"/>
              </a:rPr>
              <a:t> </a:t>
            </a:r>
            <a:r>
              <a:rPr lang="en-US" altLang="zh-CN" sz="2000" i="1" dirty="0"/>
              <a:t>ω</a:t>
            </a:r>
            <a:r>
              <a:rPr lang="en-US" altLang="zh-CN" sz="2000" dirty="0"/>
              <a:t>(</a:t>
            </a:r>
            <a:r>
              <a:rPr lang="en-US" altLang="zh-CN" sz="2000" i="1" dirty="0"/>
              <a:t>G</a:t>
            </a:r>
            <a:r>
              <a:rPr lang="en-US" altLang="zh-CN" sz="2000" i="1" baseline="-25000" dirty="0"/>
              <a:t>C</a:t>
            </a:r>
            <a:r>
              <a:rPr lang="en-US" altLang="zh-CN" sz="2000" dirty="0"/>
              <a:t>-</a:t>
            </a:r>
            <a:r>
              <a:rPr lang="en-US" altLang="zh-CN" sz="2000" i="1" dirty="0"/>
              <a:t>S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)+1≤|</a:t>
            </a:r>
            <a:r>
              <a:rPr lang="en-US" altLang="zh-CN" sz="2000" i="1" dirty="0"/>
              <a:t>S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|+1=|</a:t>
            </a:r>
            <a:r>
              <a:rPr lang="en-US" altLang="zh-CN" sz="2000" i="1" dirty="0"/>
              <a:t>S</a:t>
            </a:r>
            <a:r>
              <a:rPr lang="en-US" altLang="zh-CN" sz="2000" dirty="0"/>
              <a:t>| </a:t>
            </a:r>
            <a:r>
              <a:rPr lang="en-US" altLang="zh-CN" sz="2000" dirty="0">
                <a:sym typeface="Symbol" panose="05050102010706020507" pitchFamily="18" charset="2"/>
              </a:rPr>
              <a:t> </a:t>
            </a:r>
            <a:r>
              <a:rPr lang="en-US" altLang="zh-CN" sz="2000" i="1" dirty="0"/>
              <a:t>ω</a:t>
            </a:r>
            <a:r>
              <a:rPr lang="en-US" altLang="zh-CN" sz="2000" dirty="0"/>
              <a:t>(</a:t>
            </a:r>
            <a:r>
              <a:rPr lang="en-US" altLang="zh-CN" sz="2000" i="1" dirty="0"/>
              <a:t>G</a:t>
            </a:r>
            <a:r>
              <a:rPr lang="en-US" altLang="zh-CN" sz="2000" i="1" baseline="-25000" dirty="0"/>
              <a:t>C</a:t>
            </a:r>
            <a:r>
              <a:rPr lang="en-US" altLang="zh-CN" sz="2000" dirty="0"/>
              <a:t>-</a:t>
            </a:r>
            <a:r>
              <a:rPr lang="en-US" altLang="zh-CN" sz="2000" i="1" dirty="0"/>
              <a:t>S</a:t>
            </a:r>
            <a:r>
              <a:rPr lang="en-US" altLang="zh-CN" sz="2000" dirty="0"/>
              <a:t>)≤|</a:t>
            </a:r>
            <a:r>
              <a:rPr lang="en-US" altLang="zh-CN" sz="2000" i="1" dirty="0"/>
              <a:t>S</a:t>
            </a:r>
            <a:r>
              <a:rPr lang="en-US" altLang="zh-CN" sz="2000" dirty="0"/>
              <a:t>|</a:t>
            </a:r>
            <a:endParaRPr lang="zh-CN" altLang="en-US" sz="2000" dirty="0"/>
          </a:p>
        </p:txBody>
      </p:sp>
      <p:sp>
        <p:nvSpPr>
          <p:cNvPr id="4" name="矩形: 圆角 3"/>
          <p:cNvSpPr/>
          <p:nvPr/>
        </p:nvSpPr>
        <p:spPr bwMode="auto">
          <a:xfrm>
            <a:off x="6240016" y="1251919"/>
            <a:ext cx="5304074" cy="52322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algn="ctr">
              <a:spcBef>
                <a:spcPct val="50000"/>
              </a:spcBef>
            </a:pPr>
            <a:r>
              <a:rPr lang="zh-CN" altLang="en-US" sz="2200" b="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简洁有效的哈密顿图的充要条件尚未发现 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200" b="0" i="0" u="none" strike="noStrike" cap="none" normalizeH="0" baseline="0" dirty="0">
              <a:ln>
                <a:noFill/>
              </a:ln>
              <a:solidFill>
                <a:srgbClr val="7030A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000"/>
                            </p:stCondLst>
                            <p:childTnLst>
                              <p:par>
                                <p:cTn id="4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000"/>
                            </p:stCondLst>
                            <p:childTnLst>
                              <p:par>
                                <p:cTn id="4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0"/>
                            </p:stCondLst>
                            <p:childTnLst>
                              <p:par>
                                <p:cTn id="5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6000"/>
                            </p:stCondLst>
                            <p:childTnLst>
                              <p:par>
                                <p:cTn id="5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7000"/>
                            </p:stCondLst>
                            <p:childTnLst>
                              <p:par>
                                <p:cTn id="6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8000"/>
                            </p:stCondLst>
                            <p:childTnLst>
                              <p:par>
                                <p:cTn id="7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9000"/>
                            </p:stCondLst>
                            <p:childTnLst>
                              <p:par>
                                <p:cTn id="7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10000"/>
                            </p:stCondLst>
                            <p:childTnLst>
                              <p:par>
                                <p:cTn id="8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4" grpId="0"/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79376" y="1700808"/>
            <a:ext cx="10585176" cy="636668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indent="0" eaLnBrk="0" hangingPunct="0">
              <a:spcBef>
                <a:spcPct val="20000"/>
              </a:spcBef>
              <a:buNone/>
              <a:defRPr kumimoji="0" sz="2800" b="0" kern="0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10000"/>
              </a:lnSpc>
            </a:pPr>
            <a:r>
              <a:rPr lang="zh-CN" altLang="en-US" noProof="1"/>
              <a:t>例</a:t>
            </a:r>
            <a:r>
              <a:rPr lang="en-US" altLang="zh-CN" noProof="1"/>
              <a:t>8.2.2 </a:t>
            </a:r>
            <a:r>
              <a:rPr lang="zh-CN" altLang="en-US" sz="2400" dirty="0">
                <a:solidFill>
                  <a:schemeClr val="bg1"/>
                </a:solidFill>
              </a:rPr>
              <a:t>下列图均不是哈密顿图。</a:t>
            </a:r>
            <a:endParaRPr lang="en-US" altLang="zh-CN" sz="2400" dirty="0">
              <a:solidFill>
                <a:schemeClr val="bg1"/>
              </a:solidFill>
            </a:endParaRPr>
          </a:p>
        </p:txBody>
      </p:sp>
      <p:pic>
        <p:nvPicPr>
          <p:cNvPr id="8" name="Picture 2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2290" y="2461932"/>
            <a:ext cx="4619699" cy="1976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2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2728" y="2440584"/>
            <a:ext cx="4511824" cy="1976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8.2.2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无向哈密顿图的性质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623392" y="1772816"/>
            <a:ext cx="10585176" cy="636668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indent="0" eaLnBrk="0" hangingPunct="0">
              <a:spcBef>
                <a:spcPct val="20000"/>
              </a:spcBef>
              <a:buNone/>
              <a:defRPr kumimoji="0" sz="2800" b="0" kern="0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10000"/>
              </a:lnSpc>
            </a:pPr>
            <a:r>
              <a:rPr lang="zh-CN" altLang="en-US" noProof="1"/>
              <a:t>例</a:t>
            </a:r>
            <a:r>
              <a:rPr lang="en-US" altLang="zh-CN" noProof="1"/>
              <a:t>8.2.3  </a:t>
            </a:r>
            <a:r>
              <a:rPr lang="zh-CN" altLang="en-US" dirty="0">
                <a:solidFill>
                  <a:schemeClr val="bg1"/>
                </a:solidFill>
              </a:rPr>
              <a:t>彼得森图满足定理</a:t>
            </a:r>
            <a:r>
              <a:rPr lang="en-US" altLang="zh-CN" dirty="0">
                <a:solidFill>
                  <a:schemeClr val="bg1"/>
                </a:solidFill>
              </a:rPr>
              <a:t>8.2.1</a:t>
            </a:r>
            <a:r>
              <a:rPr lang="zh-CN" altLang="en-US" dirty="0">
                <a:solidFill>
                  <a:schemeClr val="bg1"/>
                </a:solidFill>
              </a:rPr>
              <a:t>的条件</a:t>
            </a:r>
            <a:r>
              <a:rPr lang="en-US" altLang="zh-CN" dirty="0">
                <a:solidFill>
                  <a:schemeClr val="bg1"/>
                </a:solidFill>
              </a:rPr>
              <a:t>, </a:t>
            </a:r>
            <a:r>
              <a:rPr lang="zh-CN" altLang="en-US" dirty="0">
                <a:solidFill>
                  <a:schemeClr val="bg1"/>
                </a:solidFill>
              </a:rPr>
              <a:t>但不是哈密顿图。</a:t>
            </a:r>
            <a:endParaRPr lang="en-US" altLang="zh-CN" sz="2400" dirty="0">
              <a:solidFill>
                <a:schemeClr val="bg1"/>
              </a:solidFill>
            </a:endParaRPr>
          </a:p>
        </p:txBody>
      </p:sp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440" y="2636912"/>
            <a:ext cx="2880320" cy="2586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文本框 10"/>
          <p:cNvSpPr txBox="1"/>
          <p:nvPr/>
        </p:nvSpPr>
        <p:spPr>
          <a:xfrm>
            <a:off x="4079776" y="2636912"/>
            <a:ext cx="7776864" cy="2242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Clr>
                <a:srgbClr val="FF9900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(1) 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去掉任意一个或两个顶点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剩下的图仍然是连通图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;</a:t>
            </a:r>
            <a:endParaRPr lang="zh-CN" altLang="en-US" sz="24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Clr>
                <a:srgbClr val="FF9900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(2) 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去掉任意三个顶点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剩下的图最多只有两个连通分量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;</a:t>
            </a:r>
            <a:endParaRPr lang="zh-CN" altLang="en-US" sz="24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Clr>
                <a:srgbClr val="FF9900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(3) 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去掉任意四个顶点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剩下的图最多只有三个连通分量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;</a:t>
            </a:r>
            <a:endParaRPr lang="zh-CN" altLang="en-US" sz="24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Clr>
                <a:srgbClr val="FF9900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(4) 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去掉任意五个或五个以上顶点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剩余图的阶不超过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5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2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8.2.2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无向哈密顿图的性质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12641"/>
          <p:cNvSpPr txBox="1"/>
          <p:nvPr/>
        </p:nvSpPr>
        <p:spPr>
          <a:xfrm>
            <a:off x="479376" y="1725521"/>
            <a:ext cx="8785225" cy="480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pPr marL="0" indent="0">
              <a:lnSpc>
                <a:spcPct val="90000"/>
              </a:lnSpc>
              <a:buClr>
                <a:srgbClr val="FF9900"/>
              </a:buClr>
              <a:defRPr/>
            </a:pPr>
            <a:r>
              <a:rPr lang="zh-CN" altLang="en-US" dirty="0"/>
              <a:t>   哈密顿图的其他必要条件 </a:t>
            </a:r>
          </a:p>
        </p:txBody>
      </p:sp>
      <p:sp>
        <p:nvSpPr>
          <p:cNvPr id="8" name="文本占位符 112641"/>
          <p:cNvSpPr txBox="1"/>
          <p:nvPr/>
        </p:nvSpPr>
        <p:spPr>
          <a:xfrm>
            <a:off x="983432" y="2226046"/>
            <a:ext cx="9793088" cy="30031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342900" indent="-342900" eaLnBrk="0" hangingPunct="0">
              <a:lnSpc>
                <a:spcPct val="130000"/>
              </a:lnSpc>
              <a:buNone/>
              <a:defRPr sz="24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pPr marL="457200" indent="-457200">
              <a:lnSpc>
                <a:spcPct val="150000"/>
              </a:lnSpc>
              <a:buClr>
                <a:srgbClr val="FF9900"/>
              </a:buClr>
              <a:buAutoNum type="arabicParenBoth"/>
              <a:defRPr/>
            </a:pPr>
            <a:r>
              <a:rPr lang="zh-CN" altLang="en-US" dirty="0"/>
              <a:t>没有</a:t>
            </a:r>
            <a:r>
              <a:rPr lang="en-US" altLang="zh-CN" dirty="0"/>
              <a:t>1</a:t>
            </a:r>
            <a:r>
              <a:rPr lang="zh-CN" altLang="en-US" dirty="0"/>
              <a:t>度的顶点</a:t>
            </a:r>
            <a:r>
              <a:rPr lang="en-US" altLang="zh-CN" dirty="0"/>
              <a:t>;</a:t>
            </a:r>
          </a:p>
          <a:p>
            <a:pPr marL="457200" indent="-457200">
              <a:lnSpc>
                <a:spcPct val="150000"/>
              </a:lnSpc>
              <a:buClr>
                <a:srgbClr val="FF9900"/>
              </a:buClr>
              <a:buAutoNum type="arabicParenBoth"/>
              <a:defRPr/>
            </a:pPr>
            <a:r>
              <a:rPr lang="zh-CN" altLang="en-US" dirty="0"/>
              <a:t>没有割点（割边）；</a:t>
            </a:r>
            <a:endParaRPr lang="en-US" altLang="zh-CN" dirty="0"/>
          </a:p>
          <a:p>
            <a:pPr marL="457200" indent="-457200">
              <a:lnSpc>
                <a:spcPct val="150000"/>
              </a:lnSpc>
              <a:buClr>
                <a:srgbClr val="FF9900"/>
              </a:buClr>
              <a:buAutoNum type="arabicParenBoth"/>
              <a:defRPr/>
            </a:pPr>
            <a:r>
              <a:rPr lang="en-US" altLang="zh-CN" dirty="0"/>
              <a:t>2</a:t>
            </a:r>
            <a:r>
              <a:rPr lang="zh-CN" altLang="en-US" dirty="0"/>
              <a:t>度顶点的关联边必定在哈密顿回路上</a:t>
            </a:r>
            <a:r>
              <a:rPr lang="en-US" altLang="zh-CN" dirty="0"/>
              <a:t>;</a:t>
            </a:r>
          </a:p>
          <a:p>
            <a:pPr marL="457200" indent="-457200">
              <a:lnSpc>
                <a:spcPct val="150000"/>
              </a:lnSpc>
              <a:buClr>
                <a:srgbClr val="FF9900"/>
              </a:buClr>
              <a:buAutoNum type="arabicParenBoth"/>
              <a:defRPr/>
            </a:pPr>
            <a:r>
              <a:rPr lang="zh-CN" altLang="en-US" dirty="0"/>
              <a:t>与一个顶点关联的边中有且仅有两条在哈密顿回路上</a:t>
            </a:r>
            <a:r>
              <a:rPr lang="en-US" altLang="zh-CN" dirty="0"/>
              <a:t>;</a:t>
            </a:r>
          </a:p>
          <a:p>
            <a:pPr marL="457200" indent="-457200">
              <a:lnSpc>
                <a:spcPct val="150000"/>
              </a:lnSpc>
              <a:buClr>
                <a:srgbClr val="FF9900"/>
              </a:buClr>
              <a:buAutoNum type="arabicParenBoth"/>
              <a:defRPr/>
            </a:pPr>
            <a:r>
              <a:rPr lang="zh-CN" altLang="en-US" dirty="0"/>
              <a:t>哈密顿回路中没有小回路。</a:t>
            </a: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8.2.2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无向哈密顿图的性质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79376" y="1700808"/>
            <a:ext cx="10585176" cy="636668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indent="0" eaLnBrk="0" hangingPunct="0">
              <a:spcBef>
                <a:spcPct val="20000"/>
              </a:spcBef>
              <a:buNone/>
              <a:defRPr kumimoji="0" sz="2800" b="0" kern="0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10000"/>
              </a:lnSpc>
            </a:pPr>
            <a:r>
              <a:rPr lang="zh-CN" altLang="en-US" noProof="1"/>
              <a:t>例</a:t>
            </a:r>
            <a:r>
              <a:rPr lang="en-US" altLang="zh-CN" noProof="1"/>
              <a:t>8.2.4 </a:t>
            </a:r>
            <a:r>
              <a:rPr lang="zh-CN" altLang="en-US" sz="2400" dirty="0">
                <a:solidFill>
                  <a:schemeClr val="bg1"/>
                </a:solidFill>
              </a:rPr>
              <a:t>下列图均不是哈密顿图</a:t>
            </a:r>
            <a:endParaRPr lang="en-US" altLang="zh-CN" sz="2400" dirty="0">
              <a:solidFill>
                <a:schemeClr val="bg1"/>
              </a:solidFill>
            </a:endParaRPr>
          </a:p>
        </p:txBody>
      </p:sp>
      <p:pic>
        <p:nvPicPr>
          <p:cNvPr id="8" name="Picture 2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1464" y="2461274"/>
            <a:ext cx="4619699" cy="19341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2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2728" y="2436341"/>
            <a:ext cx="4511824" cy="1976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8.2.2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无向哈密顿图的性质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12641"/>
          <p:cNvSpPr txBox="1"/>
          <p:nvPr/>
        </p:nvSpPr>
        <p:spPr>
          <a:xfrm>
            <a:off x="479376" y="1700808"/>
            <a:ext cx="878522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noProof="1"/>
              <a:t>定理</a:t>
            </a:r>
            <a:r>
              <a:rPr lang="en-US" altLang="zh-CN" noProof="1"/>
              <a:t>8. 2. 2  </a:t>
            </a:r>
            <a:r>
              <a:rPr lang="zh-CN" altLang="en-US" noProof="1"/>
              <a:t>哈密顿图的充分条件</a:t>
            </a:r>
          </a:p>
        </p:txBody>
      </p:sp>
      <p:sp>
        <p:nvSpPr>
          <p:cNvPr id="8" name="文本占位符 112641"/>
          <p:cNvSpPr txBox="1"/>
          <p:nvPr/>
        </p:nvSpPr>
        <p:spPr>
          <a:xfrm>
            <a:off x="792412" y="2224028"/>
            <a:ext cx="10920212" cy="653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342900" indent="-342900" eaLnBrk="0" hangingPunct="0">
              <a:lnSpc>
                <a:spcPct val="130000"/>
              </a:lnSpc>
              <a:buNone/>
              <a:defRPr sz="24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pPr>
              <a:defRPr/>
            </a:pPr>
            <a:r>
              <a:rPr lang="en-US" altLang="zh-CN" i="1" dirty="0">
                <a:sym typeface="+mn-ea"/>
              </a:rPr>
              <a:t>n</a:t>
            </a:r>
            <a:r>
              <a:rPr lang="en-US" altLang="zh-CN" dirty="0">
                <a:sym typeface="+mn-ea"/>
              </a:rPr>
              <a:t>(</a:t>
            </a:r>
            <a:r>
              <a:rPr lang="en-US" altLang="zh-CN" i="1" dirty="0">
                <a:sym typeface="+mn-ea"/>
              </a:rPr>
              <a:t>n</a:t>
            </a:r>
            <a:r>
              <a:rPr lang="en-US" altLang="zh-CN" dirty="0">
                <a:sym typeface="+mn-ea"/>
              </a:rPr>
              <a:t>≥3)</a:t>
            </a:r>
            <a:r>
              <a:rPr lang="zh-CN" altLang="en-US" dirty="0">
                <a:sym typeface="+mn-ea"/>
              </a:rPr>
              <a:t>阶无向简单图</a:t>
            </a:r>
            <a:r>
              <a:rPr lang="en-US" altLang="zh-CN" i="1" dirty="0">
                <a:sym typeface="+mn-ea"/>
              </a:rPr>
              <a:t>G, </a:t>
            </a:r>
            <a:r>
              <a:rPr lang="zh-CN" altLang="en-US" dirty="0">
                <a:sym typeface="+mn-ea"/>
              </a:rPr>
              <a:t>每对不相邻的顶点的度之和都不小于</a:t>
            </a:r>
            <a:r>
              <a:rPr lang="en-US" altLang="zh-CN" i="1" dirty="0">
                <a:sym typeface="+mn-ea"/>
              </a:rPr>
              <a:t>n</a:t>
            </a:r>
            <a:r>
              <a:rPr lang="en-US" altLang="zh-CN" dirty="0">
                <a:sym typeface="+mn-ea"/>
              </a:rPr>
              <a:t> </a:t>
            </a:r>
            <a:r>
              <a:rPr lang="en-US" altLang="zh-CN" dirty="0">
                <a:sym typeface="Symbol" panose="05050102010706020507" pitchFamily="18" charset="2"/>
              </a:rPr>
              <a:t> </a:t>
            </a:r>
            <a:r>
              <a:rPr lang="en-US" altLang="zh-CN" i="1" dirty="0">
                <a:sym typeface="+mn-ea"/>
              </a:rPr>
              <a:t>G</a:t>
            </a:r>
            <a:r>
              <a:rPr lang="zh-CN" altLang="en-US" dirty="0">
                <a:sym typeface="+mn-ea"/>
              </a:rPr>
              <a:t>是哈密顿图。</a:t>
            </a: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8.2.2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无向哈密顿图的性质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793667" y="2848454"/>
            <a:ext cx="1247800" cy="525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0" lang="zh-CN" altLang="en-US" sz="2400" b="0" kern="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证明：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1711760" y="2879532"/>
            <a:ext cx="9845178" cy="1131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342900" indent="-342900" eaLnBrk="0" hangingPunct="0">
              <a:lnSpc>
                <a:spcPct val="130000"/>
              </a:lnSpc>
              <a:buNone/>
              <a:defRPr sz="24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sym typeface="+mn-ea"/>
              </a:rPr>
              <a:t>在</a:t>
            </a:r>
            <a:r>
              <a:rPr lang="en-US" altLang="zh-CN" sz="2400" i="1" dirty="0">
                <a:sym typeface="+mn-ea"/>
              </a:rPr>
              <a:t>G</a:t>
            </a:r>
            <a:r>
              <a:rPr lang="zh-CN" altLang="en-US" sz="2400" dirty="0">
                <a:sym typeface="+mn-ea"/>
              </a:rPr>
              <a:t>的每对不相邻的顶点之间添加一条边</a:t>
            </a:r>
            <a:r>
              <a:rPr lang="en-US" altLang="zh-CN" sz="2400" dirty="0">
                <a:sym typeface="+mn-ea"/>
              </a:rPr>
              <a:t>, </a:t>
            </a:r>
            <a:r>
              <a:rPr lang="zh-CN" altLang="en-US" sz="2400" dirty="0">
                <a:sym typeface="+mn-ea"/>
              </a:rPr>
              <a:t>将</a:t>
            </a:r>
            <a:r>
              <a:rPr lang="en-US" altLang="zh-CN" sz="2400" i="1" dirty="0">
                <a:sym typeface="+mn-ea"/>
              </a:rPr>
              <a:t>G</a:t>
            </a:r>
            <a:r>
              <a:rPr lang="zh-CN" altLang="en-US" sz="2400" dirty="0">
                <a:sym typeface="+mn-ea"/>
              </a:rPr>
              <a:t>补足为</a:t>
            </a:r>
            <a:r>
              <a:rPr lang="en-US" altLang="zh-CN" sz="2400" i="1" dirty="0">
                <a:sym typeface="+mn-ea"/>
              </a:rPr>
              <a:t>n</a:t>
            </a:r>
            <a:r>
              <a:rPr lang="zh-CN" altLang="en-US" sz="2400" dirty="0">
                <a:sym typeface="+mn-ea"/>
              </a:rPr>
              <a:t>阶完全图</a:t>
            </a:r>
            <a:r>
              <a:rPr lang="en-US" altLang="zh-CN" sz="2400" i="1" dirty="0" err="1">
                <a:sym typeface="+mn-ea"/>
              </a:rPr>
              <a:t>K</a:t>
            </a:r>
            <a:r>
              <a:rPr lang="en-US" altLang="zh-CN" sz="2400" i="1" baseline="-25000" dirty="0" err="1">
                <a:sym typeface="+mn-ea"/>
              </a:rPr>
              <a:t>n</a:t>
            </a:r>
            <a:r>
              <a:rPr lang="zh-CN" altLang="en-US" sz="2400" dirty="0">
                <a:sym typeface="+mn-ea"/>
              </a:rPr>
              <a:t>。</a:t>
            </a:r>
            <a:endParaRPr lang="en-US" altLang="zh-CN" sz="2400" dirty="0">
              <a:sym typeface="+mn-ea"/>
            </a:endParaRPr>
          </a:p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sym typeface="+mn-ea"/>
              </a:rPr>
              <a:t>由于</a:t>
            </a:r>
            <a:r>
              <a:rPr lang="en-US" altLang="zh-CN" sz="2400" i="1" dirty="0" err="1">
                <a:sym typeface="+mn-ea"/>
              </a:rPr>
              <a:t>K</a:t>
            </a:r>
            <a:r>
              <a:rPr lang="en-US" altLang="zh-CN" sz="2400" i="1" baseline="-25000" dirty="0" err="1">
                <a:sym typeface="+mn-ea"/>
              </a:rPr>
              <a:t>n</a:t>
            </a:r>
            <a:r>
              <a:rPr lang="zh-CN" altLang="en-US" sz="2400" dirty="0">
                <a:sym typeface="+mn-ea"/>
              </a:rPr>
              <a:t>是哈密顿图</a:t>
            </a:r>
            <a:r>
              <a:rPr lang="en-US" altLang="zh-CN" sz="2400" dirty="0">
                <a:sym typeface="+mn-ea"/>
              </a:rPr>
              <a:t>, </a:t>
            </a:r>
            <a:r>
              <a:rPr lang="zh-CN" altLang="en-US" sz="2400" dirty="0">
                <a:sym typeface="+mn-ea"/>
              </a:rPr>
              <a:t>由下列引理</a:t>
            </a:r>
            <a:r>
              <a:rPr lang="en-US" altLang="zh-CN" sz="2400" i="1" dirty="0">
                <a:sym typeface="+mn-ea"/>
              </a:rPr>
              <a:t>G</a:t>
            </a:r>
            <a:r>
              <a:rPr lang="zh-CN" altLang="en-US" sz="2400" dirty="0">
                <a:sym typeface="+mn-ea"/>
              </a:rPr>
              <a:t>是哈密顿图</a:t>
            </a:r>
            <a:r>
              <a:rPr lang="zh-CN" altLang="en-US" dirty="0">
                <a:sym typeface="+mn-ea"/>
              </a:rPr>
              <a:t>。</a:t>
            </a:r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479376" y="3998346"/>
            <a:ext cx="11305256" cy="10148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zh-CN" altLang="en-US" dirty="0">
                <a:sym typeface="+mn-ea"/>
              </a:rPr>
              <a:t>引理  </a:t>
            </a:r>
            <a:r>
              <a:rPr lang="en-US" altLang="zh-CN" sz="2400" i="1" dirty="0">
                <a:solidFill>
                  <a:schemeClr val="bg1"/>
                </a:solidFill>
                <a:sym typeface="+mn-ea"/>
              </a:rPr>
              <a:t>n</a:t>
            </a:r>
            <a:r>
              <a:rPr lang="zh-CN" altLang="en-US" sz="2400" dirty="0">
                <a:solidFill>
                  <a:schemeClr val="bg1"/>
                </a:solidFill>
                <a:sym typeface="+mn-ea"/>
              </a:rPr>
              <a:t>阶无向简单图</a:t>
            </a:r>
            <a:r>
              <a:rPr lang="en-US" altLang="zh-CN" sz="2400" i="1" dirty="0">
                <a:solidFill>
                  <a:schemeClr val="bg1"/>
                </a:solidFill>
                <a:sym typeface="+mn-ea"/>
              </a:rPr>
              <a:t>G</a:t>
            </a:r>
            <a:r>
              <a:rPr lang="en-US" altLang="zh-CN" sz="2400" dirty="0">
                <a:solidFill>
                  <a:schemeClr val="bg1"/>
                </a:solidFill>
                <a:sym typeface="+mn-ea"/>
              </a:rPr>
              <a:t>, </a:t>
            </a:r>
            <a:r>
              <a:rPr lang="en-US" altLang="zh-CN" sz="2400" i="1" dirty="0">
                <a:solidFill>
                  <a:schemeClr val="bg1"/>
                </a:solidFill>
                <a:sym typeface="+mn-ea"/>
              </a:rPr>
              <a:t>u</a:t>
            </a:r>
            <a:r>
              <a:rPr lang="zh-CN" altLang="en-US" sz="2400" dirty="0">
                <a:solidFill>
                  <a:schemeClr val="bg1"/>
                </a:solidFill>
                <a:sym typeface="+mn-ea"/>
              </a:rPr>
              <a:t>和</a:t>
            </a:r>
            <a:r>
              <a:rPr lang="en-US" altLang="zh-CN" sz="2400" i="1" dirty="0">
                <a:solidFill>
                  <a:schemeClr val="bg1"/>
                </a:solidFill>
                <a:sym typeface="+mn-ea"/>
              </a:rPr>
              <a:t>v</a:t>
            </a:r>
            <a:r>
              <a:rPr lang="zh-CN" altLang="en-US" sz="2400" dirty="0">
                <a:solidFill>
                  <a:schemeClr val="bg1"/>
                </a:solidFill>
                <a:sym typeface="+mn-ea"/>
              </a:rPr>
              <a:t>是</a:t>
            </a:r>
            <a:r>
              <a:rPr lang="en-US" altLang="zh-CN" sz="2400" i="1" dirty="0">
                <a:solidFill>
                  <a:schemeClr val="bg1"/>
                </a:solidFill>
                <a:sym typeface="+mn-ea"/>
              </a:rPr>
              <a:t>G</a:t>
            </a:r>
            <a:r>
              <a:rPr lang="zh-CN" altLang="en-US" sz="2400" dirty="0">
                <a:solidFill>
                  <a:schemeClr val="bg1"/>
                </a:solidFill>
                <a:sym typeface="+mn-ea"/>
              </a:rPr>
              <a:t>的两个不相邻的顶点</a:t>
            </a:r>
            <a:r>
              <a:rPr lang="en-US" altLang="zh-CN" sz="2400" dirty="0">
                <a:solidFill>
                  <a:schemeClr val="bg1"/>
                </a:solidFill>
                <a:sym typeface="+mn-ea"/>
              </a:rPr>
              <a:t>, </a:t>
            </a:r>
            <a:r>
              <a:rPr lang="zh-CN" altLang="en-US" sz="2400" dirty="0">
                <a:solidFill>
                  <a:schemeClr val="bg1"/>
                </a:solidFill>
                <a:sym typeface="+mn-ea"/>
              </a:rPr>
              <a:t>且</a:t>
            </a:r>
            <a:r>
              <a:rPr lang="en-US" altLang="zh-CN" sz="2400" i="1" dirty="0">
                <a:solidFill>
                  <a:schemeClr val="bg1"/>
                </a:solidFill>
                <a:sym typeface="+mn-ea"/>
              </a:rPr>
              <a:t>d</a:t>
            </a:r>
            <a:r>
              <a:rPr lang="en-US" altLang="zh-CN" sz="2400" dirty="0">
                <a:solidFill>
                  <a:schemeClr val="bg1"/>
                </a:solidFill>
                <a:sym typeface="+mn-ea"/>
              </a:rPr>
              <a:t>(</a:t>
            </a:r>
            <a:r>
              <a:rPr lang="en-US" altLang="zh-CN" sz="2400" i="1" dirty="0">
                <a:solidFill>
                  <a:schemeClr val="bg1"/>
                </a:solidFill>
                <a:sym typeface="+mn-ea"/>
              </a:rPr>
              <a:t>u</a:t>
            </a:r>
            <a:r>
              <a:rPr lang="en-US" altLang="zh-CN" sz="2400" dirty="0">
                <a:solidFill>
                  <a:schemeClr val="bg1"/>
                </a:solidFill>
                <a:sym typeface="+mn-ea"/>
              </a:rPr>
              <a:t>)+</a:t>
            </a:r>
            <a:r>
              <a:rPr lang="en-US" altLang="zh-CN" sz="2400" i="1" dirty="0">
                <a:solidFill>
                  <a:schemeClr val="bg1"/>
                </a:solidFill>
                <a:sym typeface="+mn-ea"/>
              </a:rPr>
              <a:t>d</a:t>
            </a:r>
            <a:r>
              <a:rPr lang="en-US" altLang="zh-CN" sz="2400" dirty="0">
                <a:solidFill>
                  <a:schemeClr val="bg1"/>
                </a:solidFill>
                <a:sym typeface="+mn-ea"/>
              </a:rPr>
              <a:t>(</a:t>
            </a:r>
            <a:r>
              <a:rPr lang="en-US" altLang="zh-CN" sz="2400" i="1" dirty="0">
                <a:solidFill>
                  <a:schemeClr val="bg1"/>
                </a:solidFill>
                <a:sym typeface="+mn-ea"/>
              </a:rPr>
              <a:t>v</a:t>
            </a:r>
            <a:r>
              <a:rPr lang="en-US" altLang="zh-CN" sz="2400" dirty="0">
                <a:solidFill>
                  <a:schemeClr val="bg1"/>
                </a:solidFill>
                <a:sym typeface="+mn-ea"/>
              </a:rPr>
              <a:t>)≥</a:t>
            </a:r>
            <a:r>
              <a:rPr lang="en-US" altLang="zh-CN" sz="2400" i="1" dirty="0">
                <a:solidFill>
                  <a:schemeClr val="bg1"/>
                </a:solidFill>
                <a:sym typeface="+mn-ea"/>
              </a:rPr>
              <a:t>n</a:t>
            </a:r>
            <a:r>
              <a:rPr lang="zh-CN" altLang="en-US" sz="2400" dirty="0">
                <a:solidFill>
                  <a:schemeClr val="bg1"/>
                </a:solidFill>
                <a:sym typeface="+mn-ea"/>
              </a:rPr>
              <a:t>。</a:t>
            </a:r>
            <a:r>
              <a:rPr lang="en-US" altLang="zh-CN" sz="2400" i="1" dirty="0">
                <a:solidFill>
                  <a:schemeClr val="bg1"/>
                </a:solidFill>
                <a:sym typeface="+mn-ea"/>
              </a:rPr>
              <a:t>G</a:t>
            </a:r>
            <a:r>
              <a:rPr lang="en-US" altLang="zh-CN" sz="2400" baseline="-25000" dirty="0">
                <a:solidFill>
                  <a:schemeClr val="bg1"/>
                </a:solidFill>
                <a:sym typeface="+mn-ea"/>
              </a:rPr>
              <a:t>1</a:t>
            </a:r>
            <a:r>
              <a:rPr lang="en-US" altLang="zh-CN" sz="2400" dirty="0">
                <a:solidFill>
                  <a:schemeClr val="bg1"/>
                </a:solidFill>
                <a:sym typeface="+mn-ea"/>
              </a:rPr>
              <a:t>=</a:t>
            </a:r>
            <a:r>
              <a:rPr lang="en-US" altLang="zh-CN" sz="2400" i="1" dirty="0">
                <a:solidFill>
                  <a:schemeClr val="bg1"/>
                </a:solidFill>
                <a:sym typeface="+mn-ea"/>
              </a:rPr>
              <a:t>G</a:t>
            </a:r>
            <a:r>
              <a:rPr lang="en-US" altLang="zh-CN" sz="2400" dirty="0">
                <a:solidFill>
                  <a:schemeClr val="bg1"/>
                </a:solidFill>
                <a:sym typeface="+mn-ea"/>
              </a:rPr>
              <a:t>+{</a:t>
            </a:r>
            <a:r>
              <a:rPr lang="en-US" altLang="zh-CN" sz="2400" i="1" dirty="0" err="1">
                <a:solidFill>
                  <a:schemeClr val="bg1"/>
                </a:solidFill>
                <a:sym typeface="+mn-ea"/>
              </a:rPr>
              <a:t>u</a:t>
            </a:r>
            <a:r>
              <a:rPr lang="en-US" altLang="zh-CN" sz="2400" dirty="0" err="1">
                <a:solidFill>
                  <a:schemeClr val="bg1"/>
                </a:solidFill>
                <a:sym typeface="+mn-ea"/>
              </a:rPr>
              <a:t>,</a:t>
            </a:r>
            <a:r>
              <a:rPr lang="en-US" altLang="zh-CN" sz="2400" i="1" dirty="0" err="1">
                <a:solidFill>
                  <a:schemeClr val="bg1"/>
                </a:solidFill>
                <a:sym typeface="+mn-ea"/>
              </a:rPr>
              <a:t>v</a:t>
            </a:r>
            <a:r>
              <a:rPr lang="en-US" altLang="zh-CN" sz="2400" dirty="0">
                <a:solidFill>
                  <a:schemeClr val="bg1"/>
                </a:solidFill>
                <a:sym typeface="+mn-ea"/>
              </a:rPr>
              <a:t>}</a:t>
            </a:r>
            <a:r>
              <a:rPr lang="zh-CN" altLang="en-US" sz="2400" dirty="0">
                <a:solidFill>
                  <a:schemeClr val="bg1"/>
                </a:solidFill>
                <a:sym typeface="+mn-ea"/>
              </a:rPr>
              <a:t>。若</a:t>
            </a:r>
            <a:r>
              <a:rPr lang="en-US" altLang="zh-CN" sz="2400" i="1" dirty="0">
                <a:solidFill>
                  <a:schemeClr val="bg1"/>
                </a:solidFill>
                <a:sym typeface="+mn-ea"/>
              </a:rPr>
              <a:t>G</a:t>
            </a:r>
            <a:r>
              <a:rPr lang="en-US" altLang="zh-CN" sz="2400" baseline="-25000" dirty="0">
                <a:solidFill>
                  <a:schemeClr val="bg1"/>
                </a:solidFill>
                <a:sym typeface="+mn-ea"/>
              </a:rPr>
              <a:t>1</a:t>
            </a:r>
            <a:r>
              <a:rPr lang="zh-CN" altLang="en-US" sz="2400" dirty="0">
                <a:solidFill>
                  <a:schemeClr val="bg1"/>
                </a:solidFill>
                <a:sym typeface="+mn-ea"/>
              </a:rPr>
              <a:t>是哈密顿图</a:t>
            </a:r>
            <a:r>
              <a:rPr lang="en-US" altLang="zh-CN" sz="2400" dirty="0">
                <a:solidFill>
                  <a:schemeClr val="bg1"/>
                </a:solidFill>
                <a:sym typeface="+mn-ea"/>
              </a:rPr>
              <a:t>, </a:t>
            </a:r>
            <a:r>
              <a:rPr lang="zh-CN" altLang="en-US" sz="2400" dirty="0">
                <a:solidFill>
                  <a:schemeClr val="bg1"/>
                </a:solidFill>
                <a:sym typeface="+mn-ea"/>
              </a:rPr>
              <a:t>则</a:t>
            </a:r>
            <a:r>
              <a:rPr lang="en-US" altLang="zh-CN" sz="2400" i="1" dirty="0">
                <a:solidFill>
                  <a:schemeClr val="bg1"/>
                </a:solidFill>
                <a:sym typeface="+mn-ea"/>
              </a:rPr>
              <a:t>G</a:t>
            </a:r>
            <a:r>
              <a:rPr lang="zh-CN" altLang="en-US" sz="2400" dirty="0">
                <a:solidFill>
                  <a:schemeClr val="bg1"/>
                </a:solidFill>
                <a:sym typeface="+mn-ea"/>
              </a:rPr>
              <a:t>也是哈密顿图。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1711760" y="5406770"/>
            <a:ext cx="10081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如图</a:t>
            </a:r>
            <a:endParaRPr lang="zh-CN" altLang="en-US" sz="24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" name="Picture 1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1664" y="5013176"/>
            <a:ext cx="4968552" cy="1403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4" grpId="0"/>
      <p:bldP spid="10" grpId="0"/>
      <p:bldP spid="1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12641"/>
          <p:cNvSpPr txBox="1"/>
          <p:nvPr/>
        </p:nvSpPr>
        <p:spPr>
          <a:xfrm>
            <a:off x="479376" y="1700808"/>
            <a:ext cx="878522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noProof="1"/>
              <a:t>定理</a:t>
            </a:r>
            <a:r>
              <a:rPr lang="en-US" altLang="zh-CN" noProof="1"/>
              <a:t>8. 2. 2  </a:t>
            </a:r>
            <a:r>
              <a:rPr lang="zh-CN" altLang="en-US" noProof="1"/>
              <a:t>哈密顿图的充分条件</a:t>
            </a:r>
          </a:p>
        </p:txBody>
      </p:sp>
      <p:sp>
        <p:nvSpPr>
          <p:cNvPr id="8" name="文本占位符 112641"/>
          <p:cNvSpPr txBox="1"/>
          <p:nvPr/>
        </p:nvSpPr>
        <p:spPr>
          <a:xfrm>
            <a:off x="792412" y="2224028"/>
            <a:ext cx="10920212" cy="653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342900" indent="-342900" eaLnBrk="0" hangingPunct="0">
              <a:lnSpc>
                <a:spcPct val="130000"/>
              </a:lnSpc>
              <a:buNone/>
              <a:defRPr sz="24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pPr>
              <a:defRPr/>
            </a:pPr>
            <a:r>
              <a:rPr lang="en-US" altLang="zh-CN" i="1" dirty="0">
                <a:sym typeface="+mn-ea"/>
              </a:rPr>
              <a:t>n</a:t>
            </a:r>
            <a:r>
              <a:rPr lang="en-US" altLang="zh-CN" dirty="0">
                <a:sym typeface="+mn-ea"/>
              </a:rPr>
              <a:t>(</a:t>
            </a:r>
            <a:r>
              <a:rPr lang="en-US" altLang="zh-CN" i="1" dirty="0">
                <a:sym typeface="+mn-ea"/>
              </a:rPr>
              <a:t>n</a:t>
            </a:r>
            <a:r>
              <a:rPr lang="en-US" altLang="zh-CN" dirty="0">
                <a:sym typeface="+mn-ea"/>
              </a:rPr>
              <a:t>≥3)</a:t>
            </a:r>
            <a:r>
              <a:rPr lang="zh-CN" altLang="en-US" dirty="0">
                <a:sym typeface="+mn-ea"/>
              </a:rPr>
              <a:t>阶无向简单图</a:t>
            </a:r>
            <a:r>
              <a:rPr lang="en-US" altLang="zh-CN" i="1" dirty="0">
                <a:sym typeface="+mn-ea"/>
              </a:rPr>
              <a:t>G</a:t>
            </a:r>
            <a:r>
              <a:rPr lang="zh-CN" altLang="en-US" dirty="0">
                <a:sym typeface="+mn-ea"/>
              </a:rPr>
              <a:t>中</a:t>
            </a:r>
            <a:r>
              <a:rPr lang="en-US" altLang="zh-CN" dirty="0">
                <a:sym typeface="+mn-ea"/>
              </a:rPr>
              <a:t>, </a:t>
            </a:r>
            <a:r>
              <a:rPr lang="zh-CN" altLang="en-US" dirty="0">
                <a:sym typeface="+mn-ea"/>
              </a:rPr>
              <a:t>所有顶点的度数均大于等于</a:t>
            </a:r>
            <a:r>
              <a:rPr lang="en-US" altLang="zh-CN" dirty="0">
                <a:sym typeface="+mn-ea"/>
              </a:rPr>
              <a:t>n/2</a:t>
            </a:r>
            <a:r>
              <a:rPr lang="zh-CN" altLang="en-US" dirty="0">
                <a:sym typeface="+mn-ea"/>
              </a:rPr>
              <a:t>。</a:t>
            </a: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8.2.2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无向哈密顿图的性质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793667" y="2848454"/>
            <a:ext cx="1247800" cy="525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0" lang="zh-CN" altLang="en-US" sz="2400" b="0" kern="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证明：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1711760" y="2879532"/>
            <a:ext cx="9845178" cy="1131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342900" indent="-342900" eaLnBrk="0" hangingPunct="0">
              <a:lnSpc>
                <a:spcPct val="130000"/>
              </a:lnSpc>
              <a:buNone/>
              <a:defRPr sz="24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>
                <a:sym typeface="+mn-ea"/>
              </a:rPr>
              <a:t>略。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47904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551385" y="1772761"/>
            <a:ext cx="9073008" cy="636668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indent="0" eaLnBrk="0" hangingPunct="0">
              <a:spcBef>
                <a:spcPct val="20000"/>
              </a:spcBef>
              <a:buNone/>
              <a:defRPr kumimoji="0" sz="2800" b="0" kern="0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10000"/>
              </a:lnSpc>
            </a:pPr>
            <a:r>
              <a:rPr lang="zh-CN" altLang="en-US" noProof="1"/>
              <a:t>例</a:t>
            </a:r>
            <a:r>
              <a:rPr lang="en-US" altLang="zh-CN" noProof="1"/>
              <a:t>8.2.5 </a:t>
            </a:r>
            <a:r>
              <a:rPr lang="en-US" altLang="zh-CN" dirty="0"/>
              <a:t> </a:t>
            </a:r>
            <a:r>
              <a:rPr lang="en-US" altLang="zh-CN" i="1" dirty="0">
                <a:solidFill>
                  <a:schemeClr val="bg1"/>
                </a:solidFill>
              </a:rPr>
              <a:t>C</a:t>
            </a:r>
            <a:r>
              <a:rPr lang="en-US" altLang="zh-CN" i="1" baseline="-25000" dirty="0">
                <a:solidFill>
                  <a:schemeClr val="bg1"/>
                </a:solidFill>
              </a:rPr>
              <a:t>n</a:t>
            </a:r>
            <a:r>
              <a:rPr lang="en-US" altLang="zh-CN" dirty="0">
                <a:solidFill>
                  <a:schemeClr val="bg1"/>
                </a:solidFill>
              </a:rPr>
              <a:t>(</a:t>
            </a:r>
            <a:r>
              <a:rPr lang="en-US" altLang="zh-CN" i="1" dirty="0">
                <a:solidFill>
                  <a:schemeClr val="bg1"/>
                </a:solidFill>
              </a:rPr>
              <a:t>n</a:t>
            </a:r>
            <a:r>
              <a:rPr lang="en-US" altLang="zh-CN" dirty="0">
                <a:solidFill>
                  <a:schemeClr val="bg1"/>
                </a:solidFill>
              </a:rPr>
              <a:t>&gt;5)</a:t>
            </a:r>
            <a:r>
              <a:rPr lang="zh-CN" altLang="en-US" dirty="0">
                <a:solidFill>
                  <a:schemeClr val="bg1"/>
                </a:solidFill>
              </a:rPr>
              <a:t>是哈密顿图</a:t>
            </a:r>
            <a:r>
              <a:rPr lang="en-US" altLang="zh-CN" dirty="0">
                <a:solidFill>
                  <a:schemeClr val="bg1"/>
                </a:solidFill>
              </a:rPr>
              <a:t>, </a:t>
            </a:r>
            <a:r>
              <a:rPr lang="zh-CN" altLang="en-US" dirty="0">
                <a:solidFill>
                  <a:schemeClr val="bg1"/>
                </a:solidFill>
              </a:rPr>
              <a:t>但不满足定理</a:t>
            </a:r>
            <a:r>
              <a:rPr lang="en-US" altLang="zh-CN" dirty="0">
                <a:solidFill>
                  <a:schemeClr val="bg1"/>
                </a:solidFill>
              </a:rPr>
              <a:t>8.2.2</a:t>
            </a:r>
            <a:r>
              <a:rPr lang="zh-CN" altLang="en-US" dirty="0">
                <a:solidFill>
                  <a:schemeClr val="bg1"/>
                </a:solidFill>
              </a:rPr>
              <a:t>的条件。</a:t>
            </a:r>
            <a:endParaRPr lang="en-US" altLang="zh-CN" sz="2400" dirty="0">
              <a:solidFill>
                <a:schemeClr val="bg1"/>
              </a:solidFill>
            </a:endParaRPr>
          </a:p>
        </p:txBody>
      </p:sp>
      <p:pic>
        <p:nvPicPr>
          <p:cNvPr id="7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3792" y="2634829"/>
            <a:ext cx="2447925" cy="2171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8.2.2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无向哈密顿图的性质</a:t>
            </a:r>
          </a:p>
        </p:txBody>
      </p:sp>
      <p:sp>
        <p:nvSpPr>
          <p:cNvPr id="5" name="文本框 1">
            <a:extLst>
              <a:ext uri="{FF2B5EF4-FFF2-40B4-BE49-F238E27FC236}">
                <a16:creationId xmlns:a16="http://schemas.microsoft.com/office/drawing/2014/main" id="{88263638-5782-4BFD-9B38-4539F8D515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9536" y="5157192"/>
            <a:ext cx="6648450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FFFF00"/>
                </a:solidFill>
              </a:rPr>
              <a:t>对充分条件来说，满足，一定是哈密顿图；</a:t>
            </a:r>
            <a:endParaRPr lang="en-US" altLang="zh-CN" sz="2400" dirty="0">
              <a:solidFill>
                <a:srgbClr val="FFFF00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FFFF00"/>
                </a:solidFill>
              </a:rPr>
              <a:t>                                </a:t>
            </a:r>
            <a:r>
              <a:rPr lang="zh-CN" altLang="en-US" sz="2400" dirty="0">
                <a:solidFill>
                  <a:srgbClr val="FFFF00"/>
                </a:solidFill>
              </a:rPr>
              <a:t>不满足，也可能是哈密顿图；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*8.2.3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格雷码</a:t>
            </a:r>
          </a:p>
        </p:txBody>
      </p:sp>
      <p:sp>
        <p:nvSpPr>
          <p:cNvPr id="8" name="文本占位符 14337"/>
          <p:cNvSpPr txBox="1"/>
          <p:nvPr/>
        </p:nvSpPr>
        <p:spPr bwMode="auto">
          <a:xfrm>
            <a:off x="874713" y="2276872"/>
            <a:ext cx="9901807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342900" indent="-342900" eaLnBrk="0" hangingPunct="0">
              <a:lnSpc>
                <a:spcPct val="130000"/>
              </a:lnSpc>
              <a:buNone/>
              <a:defRPr sz="24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pPr>
              <a:buClr>
                <a:srgbClr val="FF9900"/>
              </a:buClr>
              <a:defRPr/>
            </a:pPr>
            <a:r>
              <a:rPr lang="zh-CN" altLang="en-US" dirty="0">
                <a:sym typeface="+mn-ea"/>
              </a:rPr>
              <a:t>长度为</a:t>
            </a:r>
            <a:r>
              <a:rPr lang="en-US" altLang="zh-CN" i="1" dirty="0">
                <a:sym typeface="+mn-ea"/>
              </a:rPr>
              <a:t>n</a:t>
            </a:r>
            <a:r>
              <a:rPr lang="zh-CN" altLang="en-US" dirty="0">
                <a:sym typeface="+mn-ea"/>
              </a:rPr>
              <a:t>的</a:t>
            </a:r>
            <a:r>
              <a:rPr lang="en-US" altLang="zh-CN" dirty="0">
                <a:sym typeface="+mn-ea"/>
              </a:rPr>
              <a:t>2</a:t>
            </a:r>
            <a:r>
              <a:rPr lang="zh-CN" altLang="en-US" dirty="0">
                <a:sym typeface="+mn-ea"/>
              </a:rPr>
              <a:t>进制编码的序列</a:t>
            </a:r>
            <a:r>
              <a:rPr lang="en-US" altLang="zh-CN" dirty="0">
                <a:sym typeface="+mn-ea"/>
              </a:rPr>
              <a:t>;</a:t>
            </a:r>
            <a:endParaRPr lang="zh-CN" altLang="en-US" dirty="0">
              <a:sym typeface="+mn-ea"/>
            </a:endParaRPr>
          </a:p>
          <a:p>
            <a:pPr>
              <a:buClr>
                <a:srgbClr val="FF9900"/>
              </a:buClr>
              <a:defRPr/>
            </a:pPr>
            <a:r>
              <a:rPr lang="zh-CN" altLang="en-US" dirty="0">
                <a:sym typeface="+mn-ea"/>
              </a:rPr>
              <a:t>相邻的码仅差</a:t>
            </a:r>
            <a:r>
              <a:rPr lang="en-US" altLang="zh-CN" dirty="0">
                <a:sym typeface="+mn-ea"/>
              </a:rPr>
              <a:t>1</a:t>
            </a:r>
            <a:r>
              <a:rPr lang="zh-CN" altLang="en-US" dirty="0">
                <a:sym typeface="+mn-ea"/>
              </a:rPr>
              <a:t>位</a:t>
            </a:r>
            <a:r>
              <a:rPr lang="en-US" altLang="zh-CN" dirty="0">
                <a:sym typeface="+mn-ea"/>
              </a:rPr>
              <a:t>, </a:t>
            </a:r>
            <a:r>
              <a:rPr lang="zh-CN" altLang="en-US" dirty="0">
                <a:sym typeface="+mn-ea"/>
              </a:rPr>
              <a:t>第一个与最后一个码也仅差</a:t>
            </a:r>
            <a:r>
              <a:rPr lang="en-US" altLang="zh-CN" dirty="0">
                <a:sym typeface="+mn-ea"/>
              </a:rPr>
              <a:t>1</a:t>
            </a:r>
            <a:r>
              <a:rPr lang="zh-CN" altLang="en-US" dirty="0">
                <a:sym typeface="+mn-ea"/>
              </a:rPr>
              <a:t>位。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335360" y="1734601"/>
            <a:ext cx="1944216" cy="480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indent="0">
              <a:lnSpc>
                <a:spcPct val="90000"/>
              </a:lnSpc>
              <a:buClr>
                <a:srgbClr val="FF9900"/>
              </a:buClr>
              <a:defRPr/>
            </a:pPr>
            <a:r>
              <a:rPr lang="zh-CN" altLang="en-US" dirty="0"/>
              <a:t>   格雷码</a:t>
            </a:r>
          </a:p>
        </p:txBody>
      </p:sp>
      <p:pic>
        <p:nvPicPr>
          <p:cNvPr id="5" name="图片 1">
            <a:extLst>
              <a:ext uri="{FF2B5EF4-FFF2-40B4-BE49-F238E27FC236}">
                <a16:creationId xmlns:a16="http://schemas.microsoft.com/office/drawing/2014/main" id="{8FBAA18F-DB81-42E8-92F8-0D7871DFF2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0216" y="1700808"/>
            <a:ext cx="3498205" cy="47019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8.2.3*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格雷码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335360" y="2234328"/>
            <a:ext cx="1247800" cy="525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0" lang="zh-CN" altLang="en-US" sz="2400" b="0" kern="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证明：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407368" y="2793755"/>
            <a:ext cx="6696744" cy="34232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342900" indent="-342900" eaLnBrk="0" hangingPunct="0">
              <a:lnSpc>
                <a:spcPct val="130000"/>
              </a:lnSpc>
              <a:buNone/>
              <a:defRPr sz="24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pPr marL="0" indent="0">
              <a:buClr>
                <a:srgbClr val="FF9900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sym typeface="+mn-ea"/>
              </a:rPr>
              <a:t>圆盘等分成</a:t>
            </a:r>
            <a:r>
              <a:rPr lang="en-US" altLang="zh-CN" sz="2400" dirty="0">
                <a:sym typeface="+mn-ea"/>
              </a:rPr>
              <a:t>2</a:t>
            </a:r>
            <a:r>
              <a:rPr lang="en-US" altLang="zh-CN" sz="2400" i="1" baseline="30000" dirty="0">
                <a:sym typeface="+mn-ea"/>
              </a:rPr>
              <a:t>n</a:t>
            </a:r>
            <a:r>
              <a:rPr lang="zh-CN" altLang="en-US" sz="2400" dirty="0">
                <a:sym typeface="+mn-ea"/>
              </a:rPr>
              <a:t>个扇区</a:t>
            </a:r>
            <a:r>
              <a:rPr lang="en-US" altLang="zh-CN" sz="2400" dirty="0">
                <a:sym typeface="+mn-ea"/>
              </a:rPr>
              <a:t>, </a:t>
            </a:r>
            <a:r>
              <a:rPr lang="zh-CN" altLang="en-US" sz="2400" dirty="0">
                <a:sym typeface="+mn-ea"/>
              </a:rPr>
              <a:t>用</a:t>
            </a:r>
            <a:r>
              <a:rPr lang="en-US" altLang="zh-CN" sz="2400" i="1" dirty="0">
                <a:sym typeface="+mn-ea"/>
              </a:rPr>
              <a:t>n</a:t>
            </a:r>
            <a:r>
              <a:rPr lang="en-US" altLang="zh-CN" sz="2400" dirty="0">
                <a:sym typeface="+mn-ea"/>
              </a:rPr>
              <a:t>-</a:t>
            </a:r>
            <a:r>
              <a:rPr lang="zh-CN" altLang="en-US" sz="2400" dirty="0">
                <a:sym typeface="+mn-ea"/>
              </a:rPr>
              <a:t>位串为扇区编码。圆盘又分成</a:t>
            </a:r>
            <a:r>
              <a:rPr lang="en-US" altLang="zh-CN" sz="2400" i="1" dirty="0">
                <a:sym typeface="+mn-ea"/>
              </a:rPr>
              <a:t>n</a:t>
            </a:r>
            <a:r>
              <a:rPr lang="zh-CN" altLang="en-US" sz="2400" dirty="0">
                <a:sym typeface="+mn-ea"/>
              </a:rPr>
              <a:t>个圆环</a:t>
            </a:r>
            <a:r>
              <a:rPr lang="en-US" altLang="zh-CN" sz="2400" dirty="0">
                <a:sym typeface="+mn-ea"/>
              </a:rPr>
              <a:t>, </a:t>
            </a:r>
            <a:r>
              <a:rPr lang="zh-CN" altLang="en-US" sz="2400" dirty="0">
                <a:sym typeface="+mn-ea"/>
              </a:rPr>
              <a:t>扇区被分成</a:t>
            </a:r>
            <a:r>
              <a:rPr lang="en-US" altLang="zh-CN" sz="2400" i="1" dirty="0">
                <a:sym typeface="+mn-ea"/>
              </a:rPr>
              <a:t>n</a:t>
            </a:r>
            <a:r>
              <a:rPr lang="zh-CN" altLang="en-US" sz="2400" dirty="0">
                <a:sym typeface="+mn-ea"/>
              </a:rPr>
              <a:t>块</a:t>
            </a:r>
            <a:r>
              <a:rPr lang="en-US" altLang="zh-CN" sz="2400" dirty="0">
                <a:sym typeface="+mn-ea"/>
              </a:rPr>
              <a:t>, </a:t>
            </a:r>
            <a:r>
              <a:rPr lang="zh-CN" altLang="en-US" sz="2400" dirty="0">
                <a:sym typeface="+mn-ea"/>
              </a:rPr>
              <a:t>通过把各块处理成透明或不透明的来表示</a:t>
            </a:r>
            <a:r>
              <a:rPr lang="en-US" altLang="zh-CN" sz="2400" dirty="0">
                <a:sym typeface="+mn-ea"/>
              </a:rPr>
              <a:t>0</a:t>
            </a:r>
            <a:r>
              <a:rPr lang="zh-CN" altLang="en-US" sz="2400" dirty="0">
                <a:sym typeface="+mn-ea"/>
              </a:rPr>
              <a:t>或</a:t>
            </a:r>
            <a:r>
              <a:rPr lang="en-US" altLang="zh-CN" sz="2400" dirty="0">
                <a:sym typeface="+mn-ea"/>
              </a:rPr>
              <a:t>1, </a:t>
            </a:r>
            <a:r>
              <a:rPr lang="zh-CN" altLang="en-US" sz="2400" dirty="0">
                <a:sym typeface="+mn-ea"/>
              </a:rPr>
              <a:t>与扇区的编码相对应。</a:t>
            </a:r>
            <a:endParaRPr lang="en-US" altLang="zh-CN" sz="2400" dirty="0">
              <a:sym typeface="+mn-ea"/>
            </a:endParaRPr>
          </a:p>
          <a:p>
            <a:pPr marL="0" indent="0">
              <a:buClr>
                <a:srgbClr val="FF9900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sym typeface="+mn-ea"/>
              </a:rPr>
              <a:t>盘下由</a:t>
            </a:r>
            <a:r>
              <a:rPr lang="en-US" altLang="zh-CN" sz="2400" i="1" dirty="0">
                <a:sym typeface="+mn-ea"/>
              </a:rPr>
              <a:t>n</a:t>
            </a:r>
            <a:r>
              <a:rPr lang="zh-CN" altLang="en-US" sz="2400" dirty="0">
                <a:sym typeface="+mn-ea"/>
              </a:rPr>
              <a:t>个光电管</a:t>
            </a:r>
            <a:r>
              <a:rPr lang="en-US" altLang="zh-CN" sz="2400" dirty="0">
                <a:sym typeface="+mn-ea"/>
              </a:rPr>
              <a:t>, </a:t>
            </a:r>
            <a:r>
              <a:rPr lang="zh-CN" altLang="en-US" sz="2400" dirty="0">
                <a:sym typeface="+mn-ea"/>
              </a:rPr>
              <a:t>感应扇区各块是否透明。</a:t>
            </a:r>
            <a:endParaRPr lang="en-US" altLang="zh-CN" sz="2400" dirty="0">
              <a:sym typeface="+mn-ea"/>
            </a:endParaRPr>
          </a:p>
          <a:p>
            <a:pPr marL="0" indent="0">
              <a:buClr>
                <a:srgbClr val="FF9900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sym typeface="+mn-ea"/>
              </a:rPr>
              <a:t>扇区的编码从外围到中心读取。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551384" y="1638235"/>
            <a:ext cx="6093618" cy="533031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indent="0" eaLnBrk="0" hangingPunct="0">
              <a:lnSpc>
                <a:spcPct val="110000"/>
              </a:lnSpc>
              <a:spcBef>
                <a:spcPct val="20000"/>
              </a:spcBef>
              <a:buNone/>
              <a:defRPr kumimoji="0" sz="2800" b="0" kern="0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dirty="0">
                <a:sym typeface="+mn-ea"/>
              </a:rPr>
              <a:t>例</a:t>
            </a:r>
            <a:r>
              <a:rPr lang="en-US" altLang="zh-CN" dirty="0">
                <a:sym typeface="+mn-ea"/>
              </a:rPr>
              <a:t>8.2.6  </a:t>
            </a:r>
            <a:r>
              <a:rPr lang="zh-CN" altLang="en-US" dirty="0">
                <a:sym typeface="+mn-ea"/>
              </a:rPr>
              <a:t>  </a:t>
            </a:r>
            <a:r>
              <a:rPr lang="zh-CN" altLang="en-US" dirty="0">
                <a:solidFill>
                  <a:schemeClr val="bg1"/>
                </a:solidFill>
                <a:sym typeface="+mn-ea"/>
              </a:rPr>
              <a:t>圆盘扇区编码</a:t>
            </a:r>
          </a:p>
        </p:txBody>
      </p:sp>
      <p:pic>
        <p:nvPicPr>
          <p:cNvPr id="10" name="Picture 14"/>
          <p:cNvPicPr>
            <a:picLocks noChangeAspect="1" noChangeArrowheads="1"/>
          </p:cNvPicPr>
          <p:nvPr/>
        </p:nvPicPr>
        <p:blipFill>
          <a:blip r:embed="rId2">
            <a:lum contras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2104" y="4437112"/>
            <a:ext cx="4895630" cy="18025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5"/>
          <p:cNvPicPr>
            <a:picLocks noChangeAspect="1" noChangeArrowheads="1"/>
          </p:cNvPicPr>
          <p:nvPr/>
        </p:nvPicPr>
        <p:blipFill>
          <a:blip r:embed="rId3">
            <a:lum bright="-30000" contras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6280" y="1752224"/>
            <a:ext cx="2266950" cy="222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文本框 1">
            <a:extLst>
              <a:ext uri="{FF2B5EF4-FFF2-40B4-BE49-F238E27FC236}">
                <a16:creationId xmlns:a16="http://schemas.microsoft.com/office/drawing/2014/main" id="{22D060EF-00A7-4713-BC9E-E090E4FAFF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43726" y="4005064"/>
            <a:ext cx="27368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rgbClr val="FFFF00"/>
                </a:solidFill>
              </a:rPr>
              <a:t>注意：此处为非格雷码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50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8.2.3*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格雷码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551384" y="1638235"/>
            <a:ext cx="6093618" cy="533031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indent="0" eaLnBrk="0" hangingPunct="0">
              <a:lnSpc>
                <a:spcPct val="110000"/>
              </a:lnSpc>
              <a:spcBef>
                <a:spcPct val="20000"/>
              </a:spcBef>
              <a:buNone/>
              <a:defRPr kumimoji="0" sz="2800" b="0" kern="0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dirty="0">
                <a:sym typeface="+mn-ea"/>
              </a:rPr>
              <a:t>例</a:t>
            </a:r>
            <a:r>
              <a:rPr lang="en-US" altLang="zh-CN" dirty="0">
                <a:sym typeface="+mn-ea"/>
              </a:rPr>
              <a:t>8.2.6  </a:t>
            </a:r>
            <a:r>
              <a:rPr lang="zh-CN" altLang="en-US" dirty="0">
                <a:sym typeface="+mn-ea"/>
              </a:rPr>
              <a:t>  </a:t>
            </a:r>
            <a:r>
              <a:rPr lang="zh-CN" altLang="en-US" dirty="0">
                <a:solidFill>
                  <a:schemeClr val="bg1"/>
                </a:solidFill>
                <a:sym typeface="+mn-ea"/>
              </a:rPr>
              <a:t>圆盘扇区编码</a:t>
            </a:r>
          </a:p>
        </p:txBody>
      </p:sp>
      <p:grpSp>
        <p:nvGrpSpPr>
          <p:cNvPr id="28" name="组合 7">
            <a:extLst>
              <a:ext uri="{FF2B5EF4-FFF2-40B4-BE49-F238E27FC236}">
                <a16:creationId xmlns:a16="http://schemas.microsoft.com/office/drawing/2014/main" id="{B3281549-2104-4B5B-A153-14FE7107853F}"/>
              </a:ext>
            </a:extLst>
          </p:cNvPr>
          <p:cNvGrpSpPr>
            <a:grpSpLocks/>
          </p:cNvGrpSpPr>
          <p:nvPr/>
        </p:nvGrpSpPr>
        <p:grpSpPr bwMode="auto">
          <a:xfrm>
            <a:off x="1487488" y="2742872"/>
            <a:ext cx="2305050" cy="2079625"/>
            <a:chOff x="756513" y="1124744"/>
            <a:chExt cx="2591351" cy="2592288"/>
          </a:xfrm>
        </p:grpSpPr>
        <p:sp>
          <p:nvSpPr>
            <p:cNvPr id="29" name="文本框 8">
              <a:extLst>
                <a:ext uri="{FF2B5EF4-FFF2-40B4-BE49-F238E27FC236}">
                  <a16:creationId xmlns:a16="http://schemas.microsoft.com/office/drawing/2014/main" id="{D97FFD6B-7392-4C80-8EDA-474D6F15FC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6513" y="1124744"/>
              <a:ext cx="2591351" cy="25922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" name="椭圆 29">
              <a:extLst>
                <a:ext uri="{FF2B5EF4-FFF2-40B4-BE49-F238E27FC236}">
                  <a16:creationId xmlns:a16="http://schemas.microsoft.com/office/drawing/2014/main" id="{9DAB1163-D17B-4DF6-8971-DA753443ED63}"/>
                </a:ext>
              </a:extLst>
            </p:cNvPr>
            <p:cNvSpPr/>
            <p:nvPr/>
          </p:nvSpPr>
          <p:spPr>
            <a:xfrm>
              <a:off x="827900" y="1195982"/>
              <a:ext cx="2448577" cy="2449811"/>
            </a:xfrm>
            <a:prstGeom prst="ellipse">
              <a:avLst/>
            </a:prstGeom>
            <a:solidFill>
              <a:srgbClr val="FFFFFF"/>
            </a:solidFill>
            <a:ln w="12700" cap="flat" cmpd="sng" algn="ctr">
              <a:solidFill>
                <a:srgbClr val="000514"/>
              </a:solidFill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Garamond"/>
                <a:ea typeface="宋体"/>
                <a:cs typeface="+mn-cs"/>
              </a:endParaRPr>
            </a:p>
          </p:txBody>
        </p: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993930EB-F64D-4E4E-9479-4B7060942AE4}"/>
                </a:ext>
              </a:extLst>
            </p:cNvPr>
            <p:cNvCxnSpPr>
              <a:stCxn id="30" idx="7"/>
              <a:endCxn id="30" idx="3"/>
            </p:cNvCxnSpPr>
            <p:nvPr/>
          </p:nvCxnSpPr>
          <p:spPr>
            <a:xfrm flipH="1">
              <a:off x="1186621" y="1556132"/>
              <a:ext cx="1731137" cy="1729511"/>
            </a:xfrm>
            <a:prstGeom prst="line">
              <a:avLst/>
            </a:prstGeom>
            <a:noFill/>
            <a:ln w="6350" cap="flat" cmpd="sng" algn="ctr">
              <a:solidFill>
                <a:srgbClr val="000514"/>
              </a:solidFill>
              <a:prstDash val="solid"/>
              <a:miter lim="800000"/>
            </a:ln>
            <a:effectLst/>
          </p:spPr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83C57790-93CD-47A1-941B-7E63D8493198}"/>
                </a:ext>
              </a:extLst>
            </p:cNvPr>
            <p:cNvCxnSpPr>
              <a:stCxn id="30" idx="1"/>
              <a:endCxn id="30" idx="5"/>
            </p:cNvCxnSpPr>
            <p:nvPr/>
          </p:nvCxnSpPr>
          <p:spPr>
            <a:xfrm>
              <a:off x="1186621" y="1556132"/>
              <a:ext cx="1731137" cy="1729511"/>
            </a:xfrm>
            <a:prstGeom prst="line">
              <a:avLst/>
            </a:prstGeom>
            <a:noFill/>
            <a:ln w="6350" cap="flat" cmpd="sng" algn="ctr">
              <a:solidFill>
                <a:srgbClr val="000514"/>
              </a:solidFill>
              <a:prstDash val="solid"/>
              <a:miter lim="800000"/>
            </a:ln>
            <a:effectLst/>
          </p:spPr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BDA51947-8D86-49A9-BDF4-B874CE55707A}"/>
                </a:ext>
              </a:extLst>
            </p:cNvPr>
            <p:cNvCxnSpPr>
              <a:stCxn id="30" idx="0"/>
              <a:endCxn id="30" idx="4"/>
            </p:cNvCxnSpPr>
            <p:nvPr/>
          </p:nvCxnSpPr>
          <p:spPr>
            <a:xfrm>
              <a:off x="2052189" y="1195982"/>
              <a:ext cx="0" cy="2449811"/>
            </a:xfrm>
            <a:prstGeom prst="line">
              <a:avLst/>
            </a:prstGeom>
            <a:noFill/>
            <a:ln w="6350" cap="flat" cmpd="sng" algn="ctr">
              <a:solidFill>
                <a:srgbClr val="000514"/>
              </a:solidFill>
              <a:prstDash val="solid"/>
              <a:miter lim="800000"/>
            </a:ln>
            <a:effectLst/>
          </p:spPr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84DBA1B5-1566-4AAA-A9CC-A19861259BC6}"/>
                </a:ext>
              </a:extLst>
            </p:cNvPr>
            <p:cNvCxnSpPr>
              <a:stCxn id="30" idx="2"/>
              <a:endCxn id="30" idx="6"/>
            </p:cNvCxnSpPr>
            <p:nvPr/>
          </p:nvCxnSpPr>
          <p:spPr>
            <a:xfrm>
              <a:off x="827900" y="2420887"/>
              <a:ext cx="2448577" cy="0"/>
            </a:xfrm>
            <a:prstGeom prst="line">
              <a:avLst/>
            </a:prstGeom>
            <a:noFill/>
            <a:ln w="6350" cap="flat" cmpd="sng" algn="ctr">
              <a:solidFill>
                <a:srgbClr val="000514"/>
              </a:solidFill>
              <a:prstDash val="solid"/>
              <a:miter lim="800000"/>
            </a:ln>
            <a:effectLst/>
          </p:spPr>
        </p:cxnSp>
        <p:sp>
          <p:nvSpPr>
            <p:cNvPr id="35" name="文本框 14">
              <a:extLst>
                <a:ext uri="{FF2B5EF4-FFF2-40B4-BE49-F238E27FC236}">
                  <a16:creationId xmlns:a16="http://schemas.microsoft.com/office/drawing/2014/main" id="{D8BBB18B-DF3F-4DBE-829A-954BD3D70F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24478" y="1439488"/>
              <a:ext cx="64807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514"/>
                  </a:solidFill>
                  <a:effectLst/>
                  <a:uLnTx/>
                  <a:uFillTx/>
                  <a:latin typeface="Garamond" panose="02020404030301010803" pitchFamily="18" charset="0"/>
                  <a:ea typeface="宋体" panose="02010600030101010101" pitchFamily="2" charset="-122"/>
                </a:rPr>
                <a:t>000</a:t>
              </a: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" name="文本框 15">
              <a:extLst>
                <a:ext uri="{FF2B5EF4-FFF2-40B4-BE49-F238E27FC236}">
                  <a16:creationId xmlns:a16="http://schemas.microsoft.com/office/drawing/2014/main" id="{A1F74F44-36D8-479A-BC73-04FB873535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57274" y="1916832"/>
              <a:ext cx="64807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0" cap="none" spc="0" normalizeH="0" baseline="0" noProof="0">
                  <a:ln>
                    <a:noFill/>
                  </a:ln>
                  <a:solidFill>
                    <a:srgbClr val="000514"/>
                  </a:solidFill>
                  <a:effectLst/>
                  <a:uLnTx/>
                  <a:uFillTx/>
                  <a:latin typeface="Garamond" panose="02020404030301010803" pitchFamily="18" charset="0"/>
                  <a:ea typeface="宋体" panose="02010600030101010101" pitchFamily="2" charset="-122"/>
                </a:rPr>
                <a:t>001</a:t>
              </a: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7" name="文本框 16">
              <a:extLst>
                <a:ext uri="{FF2B5EF4-FFF2-40B4-BE49-F238E27FC236}">
                  <a16:creationId xmlns:a16="http://schemas.microsoft.com/office/drawing/2014/main" id="{0DDF6B0B-EB3D-40D4-91B6-B951006E1C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57274" y="2556718"/>
              <a:ext cx="64807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0" cap="none" spc="0" normalizeH="0" baseline="0" noProof="0">
                  <a:ln>
                    <a:noFill/>
                  </a:ln>
                  <a:solidFill>
                    <a:srgbClr val="000514"/>
                  </a:solidFill>
                  <a:effectLst/>
                  <a:uLnTx/>
                  <a:uFillTx/>
                  <a:latin typeface="Garamond" panose="02020404030301010803" pitchFamily="18" charset="0"/>
                  <a:ea typeface="宋体" panose="02010600030101010101" pitchFamily="2" charset="-122"/>
                </a:rPr>
                <a:t>011</a:t>
              </a: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8" name="文本框 17">
              <a:extLst>
                <a:ext uri="{FF2B5EF4-FFF2-40B4-BE49-F238E27FC236}">
                  <a16:creationId xmlns:a16="http://schemas.microsoft.com/office/drawing/2014/main" id="{CDB9D408-67AF-4347-A38F-170D5EA92F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89223" y="3012436"/>
              <a:ext cx="64807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0" cap="none" spc="0" normalizeH="0" baseline="0" noProof="0">
                  <a:ln>
                    <a:noFill/>
                  </a:ln>
                  <a:solidFill>
                    <a:srgbClr val="000514"/>
                  </a:solidFill>
                  <a:effectLst/>
                  <a:uLnTx/>
                  <a:uFillTx/>
                  <a:latin typeface="Garamond" panose="02020404030301010803" pitchFamily="18" charset="0"/>
                  <a:ea typeface="宋体" panose="02010600030101010101" pitchFamily="2" charset="-122"/>
                </a:rPr>
                <a:t>010</a:t>
              </a: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" name="文本框 18">
              <a:extLst>
                <a:ext uri="{FF2B5EF4-FFF2-40B4-BE49-F238E27FC236}">
                  <a16:creationId xmlns:a16="http://schemas.microsoft.com/office/drawing/2014/main" id="{B6EB04DC-E682-4AFB-8002-777CA25E59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64655" y="3012436"/>
              <a:ext cx="64807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0" cap="none" spc="0" normalizeH="0" baseline="0" noProof="0">
                  <a:ln>
                    <a:noFill/>
                  </a:ln>
                  <a:solidFill>
                    <a:srgbClr val="000514"/>
                  </a:solidFill>
                  <a:effectLst/>
                  <a:uLnTx/>
                  <a:uFillTx/>
                  <a:latin typeface="Garamond" panose="02020404030301010803" pitchFamily="18" charset="0"/>
                  <a:ea typeface="宋体" panose="02010600030101010101" pitchFamily="2" charset="-122"/>
                </a:rPr>
                <a:t>110</a:t>
              </a: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0" name="文本框 19">
              <a:extLst>
                <a:ext uri="{FF2B5EF4-FFF2-40B4-BE49-F238E27FC236}">
                  <a16:creationId xmlns:a16="http://schemas.microsoft.com/office/drawing/2014/main" id="{00BC4A7D-3DFC-4CBC-A98B-D72D76C6FB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45107" y="2564514"/>
              <a:ext cx="64807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0" cap="none" spc="0" normalizeH="0" baseline="0" noProof="0">
                  <a:ln>
                    <a:noFill/>
                  </a:ln>
                  <a:solidFill>
                    <a:srgbClr val="000514"/>
                  </a:solidFill>
                  <a:effectLst/>
                  <a:uLnTx/>
                  <a:uFillTx/>
                  <a:latin typeface="Garamond" panose="02020404030301010803" pitchFamily="18" charset="0"/>
                  <a:ea typeface="宋体" panose="02010600030101010101" pitchFamily="2" charset="-122"/>
                </a:rPr>
                <a:t>111</a:t>
              </a: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1" name="文本框 20">
              <a:extLst>
                <a:ext uri="{FF2B5EF4-FFF2-40B4-BE49-F238E27FC236}">
                  <a16:creationId xmlns:a16="http://schemas.microsoft.com/office/drawing/2014/main" id="{6A7428C0-1F24-4C64-8BF7-79C5BEE9D7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41456" y="1998519"/>
              <a:ext cx="64807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0" cap="none" spc="0" normalizeH="0" baseline="0" noProof="0">
                  <a:ln>
                    <a:noFill/>
                  </a:ln>
                  <a:solidFill>
                    <a:srgbClr val="000514"/>
                  </a:solidFill>
                  <a:effectLst/>
                  <a:uLnTx/>
                  <a:uFillTx/>
                  <a:latin typeface="Garamond" panose="02020404030301010803" pitchFamily="18" charset="0"/>
                  <a:ea typeface="宋体" panose="02010600030101010101" pitchFamily="2" charset="-122"/>
                </a:rPr>
                <a:t>101</a:t>
              </a: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2" name="文本框 21">
              <a:extLst>
                <a:ext uri="{FF2B5EF4-FFF2-40B4-BE49-F238E27FC236}">
                  <a16:creationId xmlns:a16="http://schemas.microsoft.com/office/drawing/2014/main" id="{43C78980-2889-4E84-8918-635B5B3ABC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12411" y="1449917"/>
              <a:ext cx="64807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0" cap="none" spc="0" normalizeH="0" baseline="0" noProof="0">
                  <a:ln>
                    <a:noFill/>
                  </a:ln>
                  <a:solidFill>
                    <a:srgbClr val="000514"/>
                  </a:solidFill>
                  <a:effectLst/>
                  <a:uLnTx/>
                  <a:uFillTx/>
                  <a:latin typeface="Garamond" panose="02020404030301010803" pitchFamily="18" charset="0"/>
                  <a:ea typeface="宋体" panose="02010600030101010101" pitchFamily="2" charset="-122"/>
                </a:rPr>
                <a:t>100</a:t>
              </a: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514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48" name="组合 22">
            <a:extLst>
              <a:ext uri="{FF2B5EF4-FFF2-40B4-BE49-F238E27FC236}">
                <a16:creationId xmlns:a16="http://schemas.microsoft.com/office/drawing/2014/main" id="{63965A40-DB2A-412B-BDFA-BA34C749455D}"/>
              </a:ext>
            </a:extLst>
          </p:cNvPr>
          <p:cNvGrpSpPr>
            <a:grpSpLocks/>
          </p:cNvGrpSpPr>
          <p:nvPr/>
        </p:nvGrpSpPr>
        <p:grpSpPr bwMode="auto">
          <a:xfrm>
            <a:off x="4498975" y="2529169"/>
            <a:ext cx="6989117" cy="2439126"/>
            <a:chOff x="755576" y="4149080"/>
            <a:chExt cx="7272808" cy="2376264"/>
          </a:xfrm>
        </p:grpSpPr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F7FC5F8D-01E4-47AC-9C36-26DECC651CAB}"/>
                </a:ext>
              </a:extLst>
            </p:cNvPr>
            <p:cNvSpPr/>
            <p:nvPr/>
          </p:nvSpPr>
          <p:spPr>
            <a:xfrm>
              <a:off x="755576" y="4149080"/>
              <a:ext cx="7272808" cy="2376264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solidFill>
                <a:srgbClr val="0099CC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/>
                <a:ea typeface="宋体"/>
                <a:cs typeface="+mn-cs"/>
              </a:endParaRPr>
            </a:p>
          </p:txBody>
        </p:sp>
        <p:pic>
          <p:nvPicPr>
            <p:cNvPr id="50" name="图片 24">
              <a:extLst>
                <a:ext uri="{FF2B5EF4-FFF2-40B4-BE49-F238E27FC236}">
                  <a16:creationId xmlns:a16="http://schemas.microsoft.com/office/drawing/2014/main" id="{8079EF39-DEDC-4BA3-ABDF-74F5717B06E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5197" y="4276761"/>
              <a:ext cx="2201786" cy="21065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1" name="图片 25">
              <a:extLst>
                <a:ext uri="{FF2B5EF4-FFF2-40B4-BE49-F238E27FC236}">
                  <a16:creationId xmlns:a16="http://schemas.microsoft.com/office/drawing/2014/main" id="{BD812414-FBF5-4972-90D4-F9DD9701ABB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02687" y="4257093"/>
              <a:ext cx="2237356" cy="21405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2" name="图片 26">
              <a:extLst>
                <a:ext uri="{FF2B5EF4-FFF2-40B4-BE49-F238E27FC236}">
                  <a16:creationId xmlns:a16="http://schemas.microsoft.com/office/drawing/2014/main" id="{A9CA2E2C-A3AE-418F-8FB8-3CC528C4B3C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19044" y="4232342"/>
              <a:ext cx="2265324" cy="2167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3" name="矩形 1">
            <a:extLst>
              <a:ext uri="{FF2B5EF4-FFF2-40B4-BE49-F238E27FC236}">
                <a16:creationId xmlns:a16="http://schemas.microsoft.com/office/drawing/2014/main" id="{F0C0BF91-7B04-4F25-87EC-A20A1CFEF6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5440" y="5326526"/>
            <a:ext cx="1029798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FFFF00"/>
                </a:solidFill>
                <a:sym typeface="+mn-ea"/>
              </a:rPr>
              <a:t>此处为格雷码，由于相邻编码之间只有一位发生变化，可以将读数错误减到最少：大大减少了由一个状态到下一个状态时电路的模糊状态</a:t>
            </a:r>
            <a:endParaRPr lang="zh-CN" altLang="en-US" sz="2400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0513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*8.2.3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格雷码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335360" y="1734601"/>
            <a:ext cx="864096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defRPr/>
            </a:pPr>
            <a:r>
              <a:rPr lang="zh-CN" altLang="en-US" dirty="0">
                <a:sym typeface="+mn-ea"/>
              </a:rPr>
              <a:t>用</a:t>
            </a:r>
            <a:r>
              <a:rPr lang="en-US" altLang="zh-CN" i="1" dirty="0" err="1">
                <a:sym typeface="+mn-ea"/>
              </a:rPr>
              <a:t>Q</a:t>
            </a:r>
            <a:r>
              <a:rPr lang="en-US" altLang="zh-CN" i="1" baseline="-25000" dirty="0" err="1">
                <a:sym typeface="+mn-ea"/>
              </a:rPr>
              <a:t>n</a:t>
            </a:r>
            <a:r>
              <a:rPr lang="zh-CN" altLang="en-US" dirty="0">
                <a:sym typeface="+mn-ea"/>
              </a:rPr>
              <a:t>为格雷码建模</a:t>
            </a:r>
            <a:r>
              <a:rPr lang="en-US" altLang="zh-CN" dirty="0">
                <a:sym typeface="+mn-ea"/>
              </a:rPr>
              <a:t>, </a:t>
            </a:r>
            <a:r>
              <a:rPr lang="zh-CN" altLang="en-US" dirty="0">
                <a:sym typeface="+mn-ea"/>
              </a:rPr>
              <a:t>格雷码就是</a:t>
            </a:r>
            <a:r>
              <a:rPr lang="en-US" altLang="zh-CN" i="1" dirty="0" err="1">
                <a:sym typeface="+mn-ea"/>
              </a:rPr>
              <a:t>Q</a:t>
            </a:r>
            <a:r>
              <a:rPr lang="en-US" altLang="zh-CN" i="1" baseline="-25000" dirty="0" err="1">
                <a:sym typeface="+mn-ea"/>
              </a:rPr>
              <a:t>n</a:t>
            </a:r>
            <a:r>
              <a:rPr lang="zh-CN" altLang="en-US" dirty="0">
                <a:sym typeface="+mn-ea"/>
              </a:rPr>
              <a:t>的哈密顿回路</a:t>
            </a:r>
          </a:p>
        </p:txBody>
      </p:sp>
      <p:pic>
        <p:nvPicPr>
          <p:cNvPr id="13" name="Picture 1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2639" y="2920355"/>
            <a:ext cx="2645458" cy="2263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文本框 14"/>
          <p:cNvSpPr txBox="1"/>
          <p:nvPr/>
        </p:nvSpPr>
        <p:spPr>
          <a:xfrm>
            <a:off x="789261" y="2278979"/>
            <a:ext cx="7151264" cy="580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(1)  </a:t>
            </a:r>
            <a:r>
              <a:rPr lang="en-US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n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＝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3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的情况如下图所示。       </a:t>
            </a:r>
            <a:endParaRPr lang="zh-CN" altLang="en-US" sz="24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18803" y="5422645"/>
            <a:ext cx="77048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buNone/>
              <a:defRPr sz="24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>
                <a:sym typeface="+mn-ea"/>
              </a:rPr>
              <a:t>(2)</a:t>
            </a:r>
            <a:r>
              <a:rPr lang="zh-CN" altLang="en-US" dirty="0">
                <a:sym typeface="+mn-ea"/>
              </a:rPr>
              <a:t> </a:t>
            </a:r>
            <a:r>
              <a:rPr lang="en-US" altLang="zh-CN" i="1" dirty="0" err="1">
                <a:sym typeface="+mn-ea"/>
              </a:rPr>
              <a:t>Q</a:t>
            </a:r>
            <a:r>
              <a:rPr lang="en-US" altLang="zh-CN" i="1" baseline="-25000" dirty="0" err="1">
                <a:sym typeface="+mn-ea"/>
              </a:rPr>
              <a:t>n</a:t>
            </a:r>
            <a:r>
              <a:rPr lang="en-US" altLang="zh-CN" dirty="0">
                <a:sym typeface="+mn-ea"/>
              </a:rPr>
              <a:t> (</a:t>
            </a:r>
            <a:r>
              <a:rPr lang="en-US" altLang="zh-CN" i="1" dirty="0">
                <a:sym typeface="+mn-ea"/>
              </a:rPr>
              <a:t>n</a:t>
            </a:r>
            <a:r>
              <a:rPr lang="en-US" altLang="zh-CN" dirty="0">
                <a:sym typeface="+mn-ea"/>
              </a:rPr>
              <a:t>≥2)</a:t>
            </a:r>
            <a:r>
              <a:rPr lang="zh-CN" altLang="en-US" dirty="0">
                <a:sym typeface="+mn-ea"/>
              </a:rPr>
              <a:t>是哈密顿图 </a:t>
            </a:r>
            <a:r>
              <a:rPr lang="zh-CN" altLang="en-US" dirty="0">
                <a:sym typeface="Symbol" panose="05050102010706020507" pitchFamily="18" charset="2"/>
              </a:rPr>
              <a:t> </a:t>
            </a:r>
            <a:r>
              <a:rPr lang="zh-CN" altLang="en-US" dirty="0">
                <a:sym typeface="+mn-ea"/>
              </a:rPr>
              <a:t>长度为</a:t>
            </a:r>
            <a:r>
              <a:rPr lang="en-US" altLang="zh-CN" i="1" dirty="0">
                <a:sym typeface="+mn-ea"/>
              </a:rPr>
              <a:t>n</a:t>
            </a:r>
            <a:r>
              <a:rPr lang="en-US" altLang="zh-CN" dirty="0">
                <a:sym typeface="+mn-ea"/>
              </a:rPr>
              <a:t> (</a:t>
            </a:r>
            <a:r>
              <a:rPr lang="en-US" altLang="zh-CN" i="1" dirty="0">
                <a:sym typeface="+mn-ea"/>
              </a:rPr>
              <a:t>n</a:t>
            </a:r>
            <a:r>
              <a:rPr lang="en-US" altLang="zh-CN" dirty="0">
                <a:sym typeface="+mn-ea"/>
              </a:rPr>
              <a:t>≥2)</a:t>
            </a:r>
            <a:r>
              <a:rPr lang="zh-CN" altLang="en-US" dirty="0">
                <a:sym typeface="+mn-ea"/>
              </a:rPr>
              <a:t>的格雷码存在。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4358285" y="3416248"/>
            <a:ext cx="6573552" cy="11348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粗边指出了一条哈密顿回路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, 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所对应的格雷码是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(000,001,011,010,110,111,101,100)</a:t>
            </a:r>
            <a:endParaRPr lang="zh-CN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1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矩形 103430"/>
          <p:cNvSpPr>
            <a:spLocks noChangeArrowheads="1"/>
          </p:cNvSpPr>
          <p:nvPr/>
        </p:nvSpPr>
        <p:spPr bwMode="auto">
          <a:xfrm>
            <a:off x="1524000" y="30749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4341" name="矩形 103432"/>
          <p:cNvSpPr>
            <a:spLocks noChangeArrowheads="1"/>
          </p:cNvSpPr>
          <p:nvPr/>
        </p:nvSpPr>
        <p:spPr bwMode="auto">
          <a:xfrm>
            <a:off x="1524000" y="30749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4343" name="矩形 103434"/>
          <p:cNvSpPr>
            <a:spLocks noChangeArrowheads="1"/>
          </p:cNvSpPr>
          <p:nvPr/>
        </p:nvSpPr>
        <p:spPr bwMode="auto">
          <a:xfrm>
            <a:off x="1524000" y="30749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5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*8.2.4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竞赛图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460363" y="1751549"/>
            <a:ext cx="799288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dirty="0">
                <a:sym typeface="+mn-ea"/>
              </a:rPr>
              <a:t>竞赛图：</a:t>
            </a:r>
            <a:r>
              <a:rPr lang="zh-CN" altLang="en-US" dirty="0">
                <a:solidFill>
                  <a:schemeClr val="bg1"/>
                </a:solidFill>
                <a:sym typeface="+mn-ea"/>
              </a:rPr>
              <a:t>有向图</a:t>
            </a:r>
            <a:r>
              <a:rPr lang="en-US" altLang="zh-CN" dirty="0">
                <a:solidFill>
                  <a:schemeClr val="bg1"/>
                </a:solidFill>
                <a:sym typeface="+mn-ea"/>
              </a:rPr>
              <a:t>, </a:t>
            </a:r>
            <a:r>
              <a:rPr lang="zh-CN" altLang="en-US" dirty="0">
                <a:solidFill>
                  <a:schemeClr val="bg1"/>
                </a:solidFill>
                <a:sym typeface="+mn-ea"/>
              </a:rPr>
              <a:t>底图是无向完全图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484746" y="2679961"/>
            <a:ext cx="11299886" cy="249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dirty="0">
                <a:sym typeface="+mn-ea"/>
              </a:rPr>
              <a:t>循环赛的竞赛图模型</a:t>
            </a:r>
          </a:p>
          <a:p>
            <a:pPr marL="685800" lvl="2" indent="0">
              <a:lnSpc>
                <a:spcPct val="150000"/>
              </a:lnSpc>
              <a:spcBef>
                <a:spcPts val="1800"/>
              </a:spcBef>
              <a:buNone/>
            </a:pPr>
            <a:r>
              <a:rPr lang="zh-CN" altLang="en-US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顶点：表示队</a:t>
            </a:r>
          </a:p>
          <a:p>
            <a:pPr marL="685800" lvl="2" indent="0">
              <a:lnSpc>
                <a:spcPct val="150000"/>
              </a:lnSpc>
              <a:buNone/>
            </a:pPr>
            <a:r>
              <a:rPr lang="zh-CN" altLang="en-US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有向边：第一个顶点到第二个顶点有一条有向边</a:t>
            </a:r>
            <a:r>
              <a:rPr lang="zh-CN" altLang="en-US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zh-CN" altLang="en-US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第一个队打败了第二个队</a:t>
            </a:r>
            <a:endParaRPr lang="en-US" altLang="zh-CN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  <a:p>
            <a:pPr marL="685800" lvl="2" indent="0">
              <a:lnSpc>
                <a:spcPct val="150000"/>
              </a:lnSpc>
              <a:buNone/>
            </a:pPr>
            <a:r>
              <a:rPr lang="zh-CN" altLang="en-US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有向哈密顿通路：排名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*8.2.4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竞赛图</a:t>
            </a:r>
          </a:p>
        </p:txBody>
      </p:sp>
      <p:grpSp>
        <p:nvGrpSpPr>
          <p:cNvPr id="108" name="组合 107">
            <a:extLst>
              <a:ext uri="{FF2B5EF4-FFF2-40B4-BE49-F238E27FC236}">
                <a16:creationId xmlns:a16="http://schemas.microsoft.com/office/drawing/2014/main" id="{F3B24B70-49F2-4C04-9AE4-CB74EFA4C5C5}"/>
              </a:ext>
            </a:extLst>
          </p:cNvPr>
          <p:cNvGrpSpPr>
            <a:grpSpLocks/>
          </p:cNvGrpSpPr>
          <p:nvPr/>
        </p:nvGrpSpPr>
        <p:grpSpPr bwMode="auto">
          <a:xfrm>
            <a:off x="4727848" y="1772816"/>
            <a:ext cx="2114550" cy="1425575"/>
            <a:chOff x="2064" y="912"/>
            <a:chExt cx="1488" cy="1005"/>
          </a:xfrm>
        </p:grpSpPr>
        <p:sp>
          <p:nvSpPr>
            <p:cNvPr id="109" name="等腰三角形 46082">
              <a:extLst>
                <a:ext uri="{FF2B5EF4-FFF2-40B4-BE49-F238E27FC236}">
                  <a16:creationId xmlns:a16="http://schemas.microsoft.com/office/drawing/2014/main" id="{F60F37F1-3951-4C0E-BFEB-16A2EDC4A3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1063"/>
              <a:ext cx="1008" cy="603"/>
            </a:xfrm>
            <a:prstGeom prst="triangle">
              <a:avLst>
                <a:gd name="adj" fmla="val 50000"/>
              </a:avLst>
            </a:prstGeom>
            <a:noFill/>
            <a:ln w="9525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0" name="直接连接符 46083">
              <a:extLst>
                <a:ext uri="{FF2B5EF4-FFF2-40B4-BE49-F238E27FC236}">
                  <a16:creationId xmlns:a16="http://schemas.microsoft.com/office/drawing/2014/main" id="{E16EC1CE-6E31-4119-BA13-0C1C7C1B6A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1666"/>
              <a:ext cx="240" cy="0"/>
            </a:xfrm>
            <a:prstGeom prst="line">
              <a:avLst/>
            </a:prstGeom>
            <a:noFill/>
            <a:ln w="9525">
              <a:solidFill>
                <a:srgbClr val="FF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</a:endParaRPr>
            </a:p>
          </p:txBody>
        </p:sp>
        <p:sp>
          <p:nvSpPr>
            <p:cNvPr id="111" name="直接连接符 46084">
              <a:extLst>
                <a:ext uri="{FF2B5EF4-FFF2-40B4-BE49-F238E27FC236}">
                  <a16:creationId xmlns:a16="http://schemas.microsoft.com/office/drawing/2014/main" id="{04CC890C-C5D7-41BF-A958-54BD93E2C9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2" y="1214"/>
              <a:ext cx="144" cy="150"/>
            </a:xfrm>
            <a:prstGeom prst="line">
              <a:avLst/>
            </a:prstGeom>
            <a:noFill/>
            <a:ln w="9525">
              <a:solidFill>
                <a:srgbClr val="FF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</a:endParaRPr>
            </a:p>
          </p:txBody>
        </p:sp>
        <p:sp>
          <p:nvSpPr>
            <p:cNvPr id="112" name="直接连接符 46085">
              <a:extLst>
                <a:ext uri="{FF2B5EF4-FFF2-40B4-BE49-F238E27FC236}">
                  <a16:creationId xmlns:a16="http://schemas.microsoft.com/office/drawing/2014/main" id="{E872CA99-7107-428F-8134-95D46CD5CAC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00" y="1289"/>
              <a:ext cx="144" cy="151"/>
            </a:xfrm>
            <a:prstGeom prst="line">
              <a:avLst/>
            </a:prstGeom>
            <a:noFill/>
            <a:ln w="9525">
              <a:solidFill>
                <a:srgbClr val="FF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</a:endParaRPr>
            </a:p>
          </p:txBody>
        </p:sp>
        <p:sp>
          <p:nvSpPr>
            <p:cNvPr id="113" name="文本框 112">
              <a:extLst>
                <a:ext uri="{FF2B5EF4-FFF2-40B4-BE49-F238E27FC236}">
                  <a16:creationId xmlns:a16="http://schemas.microsoft.com/office/drawing/2014/main" id="{DF6214DA-FED0-4F90-BF88-80D68C446A23}"/>
                </a:ext>
              </a:extLst>
            </p:cNvPr>
            <p:cNvSpPr txBox="1"/>
            <p:nvPr/>
          </p:nvSpPr>
          <p:spPr>
            <a:xfrm>
              <a:off x="2064" y="1598"/>
              <a:ext cx="240" cy="25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</a:rPr>
                <a:t>1</a:t>
              </a:r>
            </a:p>
          </p:txBody>
        </p:sp>
        <p:sp>
          <p:nvSpPr>
            <p:cNvPr id="114" name="文本框 113">
              <a:extLst>
                <a:ext uri="{FF2B5EF4-FFF2-40B4-BE49-F238E27FC236}">
                  <a16:creationId xmlns:a16="http://schemas.microsoft.com/office/drawing/2014/main" id="{10B3693F-41B1-4C90-B64B-4CD1FEA5A1C9}"/>
                </a:ext>
              </a:extLst>
            </p:cNvPr>
            <p:cNvSpPr txBox="1"/>
            <p:nvPr/>
          </p:nvSpPr>
          <p:spPr>
            <a:xfrm>
              <a:off x="2640" y="912"/>
              <a:ext cx="382" cy="25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</a:rPr>
                <a:t>2</a:t>
              </a:r>
            </a:p>
          </p:txBody>
        </p:sp>
        <p:sp>
          <p:nvSpPr>
            <p:cNvPr id="115" name="文本框 114">
              <a:extLst>
                <a:ext uri="{FF2B5EF4-FFF2-40B4-BE49-F238E27FC236}">
                  <a16:creationId xmlns:a16="http://schemas.microsoft.com/office/drawing/2014/main" id="{CCD8222D-7AC1-4731-9DF5-1CAE8B67ADD0}"/>
                </a:ext>
              </a:extLst>
            </p:cNvPr>
            <p:cNvSpPr txBox="1"/>
            <p:nvPr/>
          </p:nvSpPr>
          <p:spPr>
            <a:xfrm>
              <a:off x="3216" y="1598"/>
              <a:ext cx="336" cy="25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</a:rPr>
                <a:t>3</a:t>
              </a:r>
            </a:p>
          </p:txBody>
        </p:sp>
        <p:sp>
          <p:nvSpPr>
            <p:cNvPr id="116" name="文本框 115">
              <a:extLst>
                <a:ext uri="{FF2B5EF4-FFF2-40B4-BE49-F238E27FC236}">
                  <a16:creationId xmlns:a16="http://schemas.microsoft.com/office/drawing/2014/main" id="{0F35CCF8-9A7F-4D0F-8B3E-26E332B37045}"/>
                </a:ext>
              </a:extLst>
            </p:cNvPr>
            <p:cNvSpPr txBox="1"/>
            <p:nvPr/>
          </p:nvSpPr>
          <p:spPr>
            <a:xfrm>
              <a:off x="2592" y="1704"/>
              <a:ext cx="430" cy="21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</a:rPr>
                <a:t>(1)</a:t>
              </a:r>
            </a:p>
          </p:txBody>
        </p:sp>
      </p:grpSp>
      <p:grpSp>
        <p:nvGrpSpPr>
          <p:cNvPr id="117" name="组合 116">
            <a:extLst>
              <a:ext uri="{FF2B5EF4-FFF2-40B4-BE49-F238E27FC236}">
                <a16:creationId xmlns:a16="http://schemas.microsoft.com/office/drawing/2014/main" id="{948EDE63-2812-4182-B77B-41609FA83340}"/>
              </a:ext>
            </a:extLst>
          </p:cNvPr>
          <p:cNvGrpSpPr>
            <a:grpSpLocks/>
          </p:cNvGrpSpPr>
          <p:nvPr/>
        </p:nvGrpSpPr>
        <p:grpSpPr bwMode="auto">
          <a:xfrm>
            <a:off x="7124973" y="1814091"/>
            <a:ext cx="2044700" cy="1384300"/>
            <a:chOff x="3936" y="950"/>
            <a:chExt cx="1440" cy="1005"/>
          </a:xfrm>
        </p:grpSpPr>
        <p:sp>
          <p:nvSpPr>
            <p:cNvPr id="118" name="等腰三角形 46091">
              <a:extLst>
                <a:ext uri="{FF2B5EF4-FFF2-40B4-BE49-F238E27FC236}">
                  <a16:creationId xmlns:a16="http://schemas.microsoft.com/office/drawing/2014/main" id="{1FFEA176-F873-4550-950C-FAFF088D14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0" y="1101"/>
              <a:ext cx="1008" cy="603"/>
            </a:xfrm>
            <a:prstGeom prst="triangle">
              <a:avLst>
                <a:gd name="adj" fmla="val 50000"/>
              </a:avLst>
            </a:prstGeom>
            <a:noFill/>
            <a:ln w="9525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9" name="直接连接符 46092">
              <a:extLst>
                <a:ext uri="{FF2B5EF4-FFF2-40B4-BE49-F238E27FC236}">
                  <a16:creationId xmlns:a16="http://schemas.microsoft.com/office/drawing/2014/main" id="{3AF8FCD6-921B-4FD3-B81F-741720C6227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60" y="1704"/>
              <a:ext cx="192" cy="0"/>
            </a:xfrm>
            <a:prstGeom prst="line">
              <a:avLst/>
            </a:prstGeom>
            <a:noFill/>
            <a:ln w="9525">
              <a:solidFill>
                <a:srgbClr val="FF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</a:endParaRPr>
            </a:p>
          </p:txBody>
        </p:sp>
        <p:sp>
          <p:nvSpPr>
            <p:cNvPr id="120" name="直接连接符 46093">
              <a:extLst>
                <a:ext uri="{FF2B5EF4-FFF2-40B4-BE49-F238E27FC236}">
                  <a16:creationId xmlns:a16="http://schemas.microsoft.com/office/drawing/2014/main" id="{D9F6CC75-F37D-4EA7-B83D-50A1D62E680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24" y="1364"/>
              <a:ext cx="144" cy="151"/>
            </a:xfrm>
            <a:prstGeom prst="line">
              <a:avLst/>
            </a:prstGeom>
            <a:noFill/>
            <a:ln w="9525">
              <a:solidFill>
                <a:srgbClr val="FF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</a:endParaRPr>
            </a:p>
          </p:txBody>
        </p:sp>
        <p:sp>
          <p:nvSpPr>
            <p:cNvPr id="121" name="直接连接符 46094">
              <a:extLst>
                <a:ext uri="{FF2B5EF4-FFF2-40B4-BE49-F238E27FC236}">
                  <a16:creationId xmlns:a16="http://schemas.microsoft.com/office/drawing/2014/main" id="{115B9D09-A692-48AB-B609-64CB9645AD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6" y="1176"/>
              <a:ext cx="192" cy="226"/>
            </a:xfrm>
            <a:prstGeom prst="line">
              <a:avLst/>
            </a:prstGeom>
            <a:noFill/>
            <a:ln w="9525">
              <a:solidFill>
                <a:srgbClr val="FF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</a:endParaRPr>
            </a:p>
          </p:txBody>
        </p:sp>
        <p:sp>
          <p:nvSpPr>
            <p:cNvPr id="122" name="文本框 121">
              <a:extLst>
                <a:ext uri="{FF2B5EF4-FFF2-40B4-BE49-F238E27FC236}">
                  <a16:creationId xmlns:a16="http://schemas.microsoft.com/office/drawing/2014/main" id="{7149ADEF-B7C2-4166-8497-6EB6EE8B47C1}"/>
                </a:ext>
              </a:extLst>
            </p:cNvPr>
            <p:cNvSpPr txBox="1"/>
            <p:nvPr/>
          </p:nvSpPr>
          <p:spPr>
            <a:xfrm>
              <a:off x="3936" y="1629"/>
              <a:ext cx="288" cy="25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</a:rPr>
                <a:t>1</a:t>
              </a:r>
            </a:p>
          </p:txBody>
        </p:sp>
        <p:sp>
          <p:nvSpPr>
            <p:cNvPr id="123" name="文本框 122">
              <a:extLst>
                <a:ext uri="{FF2B5EF4-FFF2-40B4-BE49-F238E27FC236}">
                  <a16:creationId xmlns:a16="http://schemas.microsoft.com/office/drawing/2014/main" id="{B2B674B4-54AC-4771-A36D-D3D239792395}"/>
                </a:ext>
              </a:extLst>
            </p:cNvPr>
            <p:cNvSpPr txBox="1"/>
            <p:nvPr/>
          </p:nvSpPr>
          <p:spPr>
            <a:xfrm>
              <a:off x="4512" y="950"/>
              <a:ext cx="288" cy="25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</a:rPr>
                <a:t>2</a:t>
              </a:r>
            </a:p>
          </p:txBody>
        </p:sp>
        <p:sp>
          <p:nvSpPr>
            <p:cNvPr id="124" name="文本框 123">
              <a:extLst>
                <a:ext uri="{FF2B5EF4-FFF2-40B4-BE49-F238E27FC236}">
                  <a16:creationId xmlns:a16="http://schemas.microsoft.com/office/drawing/2014/main" id="{FCCF3334-076D-4638-B2DB-3D5B0851E5BA}"/>
                </a:ext>
              </a:extLst>
            </p:cNvPr>
            <p:cNvSpPr txBox="1"/>
            <p:nvPr/>
          </p:nvSpPr>
          <p:spPr>
            <a:xfrm>
              <a:off x="5088" y="1629"/>
              <a:ext cx="288" cy="25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</a:rPr>
                <a:t>3</a:t>
              </a:r>
            </a:p>
          </p:txBody>
        </p:sp>
        <p:sp>
          <p:nvSpPr>
            <p:cNvPr id="125" name="文本框 124">
              <a:extLst>
                <a:ext uri="{FF2B5EF4-FFF2-40B4-BE49-F238E27FC236}">
                  <a16:creationId xmlns:a16="http://schemas.microsoft.com/office/drawing/2014/main" id="{C9084EAB-7892-4B3F-98AB-23411F319EE8}"/>
                </a:ext>
              </a:extLst>
            </p:cNvPr>
            <p:cNvSpPr txBox="1"/>
            <p:nvPr/>
          </p:nvSpPr>
          <p:spPr>
            <a:xfrm>
              <a:off x="4464" y="1742"/>
              <a:ext cx="481" cy="21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</a:rPr>
                <a:t>(2)</a:t>
              </a:r>
            </a:p>
          </p:txBody>
        </p:sp>
      </p:grpSp>
      <p:grpSp>
        <p:nvGrpSpPr>
          <p:cNvPr id="126" name="组合 125">
            <a:extLst>
              <a:ext uri="{FF2B5EF4-FFF2-40B4-BE49-F238E27FC236}">
                <a16:creationId xmlns:a16="http://schemas.microsoft.com/office/drawing/2014/main" id="{259E1D44-FA86-44B0-BAB2-7EBB49721967}"/>
              </a:ext>
            </a:extLst>
          </p:cNvPr>
          <p:cNvGrpSpPr>
            <a:grpSpLocks/>
          </p:cNvGrpSpPr>
          <p:nvPr/>
        </p:nvGrpSpPr>
        <p:grpSpPr bwMode="auto">
          <a:xfrm>
            <a:off x="3570560" y="4211216"/>
            <a:ext cx="1476375" cy="1454150"/>
            <a:chOff x="960" y="2400"/>
            <a:chExt cx="1240" cy="1221"/>
          </a:xfrm>
        </p:grpSpPr>
        <p:grpSp>
          <p:nvGrpSpPr>
            <p:cNvPr id="127" name="组合 46100">
              <a:extLst>
                <a:ext uri="{FF2B5EF4-FFF2-40B4-BE49-F238E27FC236}">
                  <a16:creationId xmlns:a16="http://schemas.microsoft.com/office/drawing/2014/main" id="{EBB8AD50-F830-4F70-863E-FF30FCE823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60" y="2400"/>
              <a:ext cx="1240" cy="1125"/>
              <a:chOff x="1296" y="2160"/>
              <a:chExt cx="1488" cy="1125"/>
            </a:xfrm>
          </p:grpSpPr>
          <p:sp>
            <p:nvSpPr>
              <p:cNvPr id="135" name="等腰三角形 46101">
                <a:extLst>
                  <a:ext uri="{FF2B5EF4-FFF2-40B4-BE49-F238E27FC236}">
                    <a16:creationId xmlns:a16="http://schemas.microsoft.com/office/drawing/2014/main" id="{EDBD0EA2-F4A7-43FA-B80D-6D98ECB7CF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88" y="2352"/>
                <a:ext cx="1008" cy="768"/>
              </a:xfrm>
              <a:prstGeom prst="triangle">
                <a:avLst>
                  <a:gd name="adj" fmla="val 52380"/>
                </a:avLst>
              </a:prstGeom>
              <a:noFill/>
              <a:ln w="9525">
                <a:solidFill>
                  <a:srgbClr val="FFFF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aramond" panose="02020404030301010803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6" name="直接连接符 46102">
                <a:extLst>
                  <a:ext uri="{FF2B5EF4-FFF2-40B4-BE49-F238E27FC236}">
                    <a16:creationId xmlns:a16="http://schemas.microsoft.com/office/drawing/2014/main" id="{EA823B2B-9FE4-4FFE-B782-996FF1B9FF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16" y="2400"/>
                <a:ext cx="0" cy="480"/>
              </a:xfrm>
              <a:prstGeom prst="line">
                <a:avLst/>
              </a:prstGeom>
              <a:noFill/>
              <a:ln w="9525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aramond" panose="02020404030301010803" pitchFamily="18" charset="0"/>
                </a:endParaRPr>
              </a:p>
            </p:txBody>
          </p:sp>
          <p:sp>
            <p:nvSpPr>
              <p:cNvPr id="137" name="直接连接符 46103">
                <a:extLst>
                  <a:ext uri="{FF2B5EF4-FFF2-40B4-BE49-F238E27FC236}">
                    <a16:creationId xmlns:a16="http://schemas.microsoft.com/office/drawing/2014/main" id="{1A320A96-30A0-4FF9-A7D4-77E4E12416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88" y="2880"/>
                <a:ext cx="528" cy="240"/>
              </a:xfrm>
              <a:prstGeom prst="line">
                <a:avLst/>
              </a:prstGeom>
              <a:noFill/>
              <a:ln w="9525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aramond" panose="02020404030301010803" pitchFamily="18" charset="0"/>
                </a:endParaRPr>
              </a:p>
            </p:txBody>
          </p:sp>
          <p:sp>
            <p:nvSpPr>
              <p:cNvPr id="138" name="直接连接符 46104">
                <a:extLst>
                  <a:ext uri="{FF2B5EF4-FFF2-40B4-BE49-F238E27FC236}">
                    <a16:creationId xmlns:a16="http://schemas.microsoft.com/office/drawing/2014/main" id="{D2D250A7-ED85-4C26-A9CC-630245E277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16" y="2880"/>
                <a:ext cx="480" cy="240"/>
              </a:xfrm>
              <a:prstGeom prst="line">
                <a:avLst/>
              </a:prstGeom>
              <a:noFill/>
              <a:ln w="9525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aramond" panose="02020404030301010803" pitchFamily="18" charset="0"/>
                </a:endParaRPr>
              </a:p>
            </p:txBody>
          </p:sp>
          <p:sp>
            <p:nvSpPr>
              <p:cNvPr id="139" name="文本框 138">
                <a:extLst>
                  <a:ext uri="{FF2B5EF4-FFF2-40B4-BE49-F238E27FC236}">
                    <a16:creationId xmlns:a16="http://schemas.microsoft.com/office/drawing/2014/main" id="{07542B21-20F0-4018-8C31-13E762E4BAB8}"/>
                  </a:ext>
                </a:extLst>
              </p:cNvPr>
              <p:cNvSpPr txBox="1"/>
              <p:nvPr/>
            </p:nvSpPr>
            <p:spPr>
              <a:xfrm>
                <a:off x="1920" y="2160"/>
                <a:ext cx="336" cy="25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35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</a:rPr>
                  <a:t>1</a:t>
                </a:r>
              </a:p>
            </p:txBody>
          </p:sp>
          <p:sp>
            <p:nvSpPr>
              <p:cNvPr id="140" name="文本框 139">
                <a:extLst>
                  <a:ext uri="{FF2B5EF4-FFF2-40B4-BE49-F238E27FC236}">
                    <a16:creationId xmlns:a16="http://schemas.microsoft.com/office/drawing/2014/main" id="{90ABD26D-63F2-4DB6-8808-65DC8B6EFD57}"/>
                  </a:ext>
                </a:extLst>
              </p:cNvPr>
              <p:cNvSpPr txBox="1"/>
              <p:nvPr/>
            </p:nvSpPr>
            <p:spPr>
              <a:xfrm>
                <a:off x="2016" y="2688"/>
                <a:ext cx="240" cy="25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35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</a:rPr>
                  <a:t>2</a:t>
                </a:r>
              </a:p>
            </p:txBody>
          </p:sp>
          <p:sp>
            <p:nvSpPr>
              <p:cNvPr id="141" name="文本框 140">
                <a:extLst>
                  <a:ext uri="{FF2B5EF4-FFF2-40B4-BE49-F238E27FC236}">
                    <a16:creationId xmlns:a16="http://schemas.microsoft.com/office/drawing/2014/main" id="{55EEE20A-1D14-4EF5-B4E1-DA7725FC6C41}"/>
                  </a:ext>
                </a:extLst>
              </p:cNvPr>
              <p:cNvSpPr txBox="1"/>
              <p:nvPr/>
            </p:nvSpPr>
            <p:spPr>
              <a:xfrm>
                <a:off x="2496" y="3024"/>
                <a:ext cx="288" cy="25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35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</a:rPr>
                  <a:t>3</a:t>
                </a:r>
              </a:p>
            </p:txBody>
          </p:sp>
          <p:sp>
            <p:nvSpPr>
              <p:cNvPr id="142" name="文本框 141">
                <a:extLst>
                  <a:ext uri="{FF2B5EF4-FFF2-40B4-BE49-F238E27FC236}">
                    <a16:creationId xmlns:a16="http://schemas.microsoft.com/office/drawing/2014/main" id="{D16BFBAF-7697-4A1F-A00A-2E3927FE73F2}"/>
                  </a:ext>
                </a:extLst>
              </p:cNvPr>
              <p:cNvSpPr txBox="1"/>
              <p:nvPr/>
            </p:nvSpPr>
            <p:spPr>
              <a:xfrm>
                <a:off x="1296" y="3033"/>
                <a:ext cx="384" cy="25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35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</a:rPr>
                  <a:t>4</a:t>
                </a:r>
              </a:p>
            </p:txBody>
          </p:sp>
        </p:grpSp>
        <p:sp>
          <p:nvSpPr>
            <p:cNvPr id="128" name="直接连接符 46109">
              <a:extLst>
                <a:ext uri="{FF2B5EF4-FFF2-40B4-BE49-F238E27FC236}">
                  <a16:creationId xmlns:a16="http://schemas.microsoft.com/office/drawing/2014/main" id="{A69DD0E2-F86B-4191-8DAD-520EF96EB20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20" y="2832"/>
              <a:ext cx="120" cy="192"/>
            </a:xfrm>
            <a:prstGeom prst="line">
              <a:avLst/>
            </a:prstGeom>
            <a:noFill/>
            <a:ln w="9525">
              <a:solidFill>
                <a:srgbClr val="FF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</a:endParaRPr>
            </a:p>
          </p:txBody>
        </p:sp>
        <p:sp>
          <p:nvSpPr>
            <p:cNvPr id="129" name="直接连接符 46110">
              <a:extLst>
                <a:ext uri="{FF2B5EF4-FFF2-40B4-BE49-F238E27FC236}">
                  <a16:creationId xmlns:a16="http://schemas.microsoft.com/office/drawing/2014/main" id="{669ADB1F-41A7-4D0F-9873-AADEE6192D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0" y="2880"/>
              <a:ext cx="120" cy="240"/>
            </a:xfrm>
            <a:prstGeom prst="line">
              <a:avLst/>
            </a:prstGeom>
            <a:noFill/>
            <a:ln w="9525">
              <a:solidFill>
                <a:srgbClr val="FF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</a:endParaRPr>
            </a:p>
          </p:txBody>
        </p:sp>
        <p:sp>
          <p:nvSpPr>
            <p:cNvPr id="130" name="直接连接符 46111">
              <a:extLst>
                <a:ext uri="{FF2B5EF4-FFF2-40B4-BE49-F238E27FC236}">
                  <a16:creationId xmlns:a16="http://schemas.microsoft.com/office/drawing/2014/main" id="{E36CE917-EF26-4804-8B51-5E5D3E45B0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60" y="2736"/>
              <a:ext cx="0" cy="192"/>
            </a:xfrm>
            <a:prstGeom prst="line">
              <a:avLst/>
            </a:prstGeom>
            <a:noFill/>
            <a:ln w="9525">
              <a:solidFill>
                <a:srgbClr val="FF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</a:endParaRPr>
            </a:p>
          </p:txBody>
        </p:sp>
        <p:sp>
          <p:nvSpPr>
            <p:cNvPr id="131" name="直接连接符 46112">
              <a:extLst>
                <a:ext uri="{FF2B5EF4-FFF2-40B4-BE49-F238E27FC236}">
                  <a16:creationId xmlns:a16="http://schemas.microsoft.com/office/drawing/2014/main" id="{CB346FA7-BF68-44D0-B2B8-403CA16B0D5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20" y="3120"/>
              <a:ext cx="240" cy="144"/>
            </a:xfrm>
            <a:prstGeom prst="line">
              <a:avLst/>
            </a:prstGeom>
            <a:noFill/>
            <a:ln w="9525">
              <a:solidFill>
                <a:srgbClr val="FF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</a:endParaRPr>
            </a:p>
          </p:txBody>
        </p:sp>
        <p:sp>
          <p:nvSpPr>
            <p:cNvPr id="132" name="直接连接符 46113">
              <a:extLst>
                <a:ext uri="{FF2B5EF4-FFF2-40B4-BE49-F238E27FC236}">
                  <a16:creationId xmlns:a16="http://schemas.microsoft.com/office/drawing/2014/main" id="{ECDEA99A-C4CF-4949-AEC4-1A223F5A8C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60" y="3120"/>
              <a:ext cx="200" cy="144"/>
            </a:xfrm>
            <a:prstGeom prst="line">
              <a:avLst/>
            </a:prstGeom>
            <a:noFill/>
            <a:ln w="9525">
              <a:solidFill>
                <a:srgbClr val="FF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</a:endParaRPr>
            </a:p>
          </p:txBody>
        </p:sp>
        <p:sp>
          <p:nvSpPr>
            <p:cNvPr id="133" name="直接连接符 46114">
              <a:extLst>
                <a:ext uri="{FF2B5EF4-FFF2-40B4-BE49-F238E27FC236}">
                  <a16:creationId xmlns:a16="http://schemas.microsoft.com/office/drawing/2014/main" id="{2E23048C-75CC-4D17-8213-29A0F7037F7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80" y="3360"/>
              <a:ext cx="160" cy="0"/>
            </a:xfrm>
            <a:prstGeom prst="line">
              <a:avLst/>
            </a:prstGeom>
            <a:noFill/>
            <a:ln w="9525">
              <a:solidFill>
                <a:srgbClr val="FF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</a:endParaRPr>
            </a:p>
          </p:txBody>
        </p:sp>
        <p:sp>
          <p:nvSpPr>
            <p:cNvPr id="134" name="文本框 133">
              <a:extLst>
                <a:ext uri="{FF2B5EF4-FFF2-40B4-BE49-F238E27FC236}">
                  <a16:creationId xmlns:a16="http://schemas.microsoft.com/office/drawing/2014/main" id="{DB074FE7-87D3-4049-9292-00FFAC904601}"/>
                </a:ext>
              </a:extLst>
            </p:cNvPr>
            <p:cNvSpPr txBox="1"/>
            <p:nvPr/>
          </p:nvSpPr>
          <p:spPr>
            <a:xfrm>
              <a:off x="1480" y="3408"/>
              <a:ext cx="320" cy="21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</a:rPr>
                <a:t>(1)</a:t>
              </a:r>
            </a:p>
          </p:txBody>
        </p:sp>
      </p:grpSp>
      <p:grpSp>
        <p:nvGrpSpPr>
          <p:cNvPr id="143" name="组合 142">
            <a:extLst>
              <a:ext uri="{FF2B5EF4-FFF2-40B4-BE49-F238E27FC236}">
                <a16:creationId xmlns:a16="http://schemas.microsoft.com/office/drawing/2014/main" id="{191D6C54-B767-46A5-8FE1-6B03813B7683}"/>
              </a:ext>
            </a:extLst>
          </p:cNvPr>
          <p:cNvGrpSpPr>
            <a:grpSpLocks/>
          </p:cNvGrpSpPr>
          <p:nvPr/>
        </p:nvGrpSpPr>
        <p:grpSpPr bwMode="auto">
          <a:xfrm>
            <a:off x="5046935" y="4211216"/>
            <a:ext cx="1476375" cy="1454150"/>
            <a:chOff x="2200" y="2400"/>
            <a:chExt cx="1240" cy="1221"/>
          </a:xfrm>
        </p:grpSpPr>
        <p:grpSp>
          <p:nvGrpSpPr>
            <p:cNvPr id="144" name="组合 46117">
              <a:extLst>
                <a:ext uri="{FF2B5EF4-FFF2-40B4-BE49-F238E27FC236}">
                  <a16:creationId xmlns:a16="http://schemas.microsoft.com/office/drawing/2014/main" id="{18FC71B9-6038-4477-A961-F40254D2EE8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00" y="2400"/>
              <a:ext cx="1240" cy="1125"/>
              <a:chOff x="1296" y="2160"/>
              <a:chExt cx="1488" cy="1125"/>
            </a:xfrm>
          </p:grpSpPr>
          <p:sp>
            <p:nvSpPr>
              <p:cNvPr id="152" name="等腰三角形 46118">
                <a:extLst>
                  <a:ext uri="{FF2B5EF4-FFF2-40B4-BE49-F238E27FC236}">
                    <a16:creationId xmlns:a16="http://schemas.microsoft.com/office/drawing/2014/main" id="{0226D207-4C65-4F05-9FA7-1B7F441111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88" y="2352"/>
                <a:ext cx="1008" cy="768"/>
              </a:xfrm>
              <a:prstGeom prst="triangle">
                <a:avLst>
                  <a:gd name="adj" fmla="val 52380"/>
                </a:avLst>
              </a:prstGeom>
              <a:noFill/>
              <a:ln w="9525">
                <a:solidFill>
                  <a:srgbClr val="FFFF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aramond" panose="02020404030301010803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53" name="直接连接符 46119">
                <a:extLst>
                  <a:ext uri="{FF2B5EF4-FFF2-40B4-BE49-F238E27FC236}">
                    <a16:creationId xmlns:a16="http://schemas.microsoft.com/office/drawing/2014/main" id="{05CC46C9-9442-4E7F-9AC8-52AD3C619E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16" y="2400"/>
                <a:ext cx="0" cy="480"/>
              </a:xfrm>
              <a:prstGeom prst="line">
                <a:avLst/>
              </a:prstGeom>
              <a:noFill/>
              <a:ln w="9525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aramond" panose="02020404030301010803" pitchFamily="18" charset="0"/>
                </a:endParaRPr>
              </a:p>
            </p:txBody>
          </p:sp>
          <p:sp>
            <p:nvSpPr>
              <p:cNvPr id="154" name="直接连接符 46120">
                <a:extLst>
                  <a:ext uri="{FF2B5EF4-FFF2-40B4-BE49-F238E27FC236}">
                    <a16:creationId xmlns:a16="http://schemas.microsoft.com/office/drawing/2014/main" id="{4134E194-C476-4359-AEB0-ACAD55109A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88" y="2880"/>
                <a:ext cx="528" cy="240"/>
              </a:xfrm>
              <a:prstGeom prst="line">
                <a:avLst/>
              </a:prstGeom>
              <a:noFill/>
              <a:ln w="9525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aramond" panose="02020404030301010803" pitchFamily="18" charset="0"/>
                </a:endParaRPr>
              </a:p>
            </p:txBody>
          </p:sp>
          <p:sp>
            <p:nvSpPr>
              <p:cNvPr id="155" name="直接连接符 46121">
                <a:extLst>
                  <a:ext uri="{FF2B5EF4-FFF2-40B4-BE49-F238E27FC236}">
                    <a16:creationId xmlns:a16="http://schemas.microsoft.com/office/drawing/2014/main" id="{A0D8EF23-8B7F-4955-A8C2-9A19B923816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16" y="2880"/>
                <a:ext cx="480" cy="240"/>
              </a:xfrm>
              <a:prstGeom prst="line">
                <a:avLst/>
              </a:prstGeom>
              <a:noFill/>
              <a:ln w="9525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aramond" panose="02020404030301010803" pitchFamily="18" charset="0"/>
                </a:endParaRPr>
              </a:p>
            </p:txBody>
          </p:sp>
          <p:sp>
            <p:nvSpPr>
              <p:cNvPr id="156" name="文本框 155">
                <a:extLst>
                  <a:ext uri="{FF2B5EF4-FFF2-40B4-BE49-F238E27FC236}">
                    <a16:creationId xmlns:a16="http://schemas.microsoft.com/office/drawing/2014/main" id="{E459A6E4-7F98-4103-B7FC-C597AB5EE0B9}"/>
                  </a:ext>
                </a:extLst>
              </p:cNvPr>
              <p:cNvSpPr txBox="1"/>
              <p:nvPr/>
            </p:nvSpPr>
            <p:spPr>
              <a:xfrm>
                <a:off x="1920" y="2160"/>
                <a:ext cx="336" cy="25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35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</a:rPr>
                  <a:t>1</a:t>
                </a:r>
              </a:p>
            </p:txBody>
          </p:sp>
          <p:sp>
            <p:nvSpPr>
              <p:cNvPr id="157" name="文本框 156">
                <a:extLst>
                  <a:ext uri="{FF2B5EF4-FFF2-40B4-BE49-F238E27FC236}">
                    <a16:creationId xmlns:a16="http://schemas.microsoft.com/office/drawing/2014/main" id="{17C65E3A-141D-4683-A71B-59DD9251F2EC}"/>
                  </a:ext>
                </a:extLst>
              </p:cNvPr>
              <p:cNvSpPr txBox="1"/>
              <p:nvPr/>
            </p:nvSpPr>
            <p:spPr>
              <a:xfrm>
                <a:off x="2016" y="2688"/>
                <a:ext cx="240" cy="25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35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</a:rPr>
                  <a:t>2</a:t>
                </a:r>
              </a:p>
            </p:txBody>
          </p:sp>
          <p:sp>
            <p:nvSpPr>
              <p:cNvPr id="158" name="文本框 157">
                <a:extLst>
                  <a:ext uri="{FF2B5EF4-FFF2-40B4-BE49-F238E27FC236}">
                    <a16:creationId xmlns:a16="http://schemas.microsoft.com/office/drawing/2014/main" id="{846AF11A-02B5-4799-BD90-9A214AEBAC82}"/>
                  </a:ext>
                </a:extLst>
              </p:cNvPr>
              <p:cNvSpPr txBox="1"/>
              <p:nvPr/>
            </p:nvSpPr>
            <p:spPr>
              <a:xfrm>
                <a:off x="2496" y="3024"/>
                <a:ext cx="288" cy="25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35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</a:rPr>
                  <a:t>3</a:t>
                </a:r>
              </a:p>
            </p:txBody>
          </p:sp>
          <p:sp>
            <p:nvSpPr>
              <p:cNvPr id="159" name="文本框 158">
                <a:extLst>
                  <a:ext uri="{FF2B5EF4-FFF2-40B4-BE49-F238E27FC236}">
                    <a16:creationId xmlns:a16="http://schemas.microsoft.com/office/drawing/2014/main" id="{10B16811-3002-4FF6-89ED-5DA3442DD620}"/>
                  </a:ext>
                </a:extLst>
              </p:cNvPr>
              <p:cNvSpPr txBox="1"/>
              <p:nvPr/>
            </p:nvSpPr>
            <p:spPr>
              <a:xfrm>
                <a:off x="1296" y="3033"/>
                <a:ext cx="384" cy="25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35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</a:rPr>
                  <a:t>4</a:t>
                </a:r>
              </a:p>
            </p:txBody>
          </p:sp>
        </p:grpSp>
        <p:sp>
          <p:nvSpPr>
            <p:cNvPr id="145" name="直接连接符 46126">
              <a:extLst>
                <a:ext uri="{FF2B5EF4-FFF2-40B4-BE49-F238E27FC236}">
                  <a16:creationId xmlns:a16="http://schemas.microsoft.com/office/drawing/2014/main" id="{60F956D7-E8D0-48D1-93A1-D4EFEF7011C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00" y="3120"/>
              <a:ext cx="200" cy="96"/>
            </a:xfrm>
            <a:prstGeom prst="line">
              <a:avLst/>
            </a:prstGeom>
            <a:noFill/>
            <a:ln w="9525">
              <a:solidFill>
                <a:srgbClr val="FF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</a:endParaRPr>
            </a:p>
          </p:txBody>
        </p:sp>
        <p:sp>
          <p:nvSpPr>
            <p:cNvPr id="146" name="直接连接符 46127">
              <a:extLst>
                <a:ext uri="{FF2B5EF4-FFF2-40B4-BE49-F238E27FC236}">
                  <a16:creationId xmlns:a16="http://schemas.microsoft.com/office/drawing/2014/main" id="{90C8B564-9F41-48E5-8D2A-8B4540E37B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00" y="3120"/>
              <a:ext cx="200" cy="144"/>
            </a:xfrm>
            <a:prstGeom prst="line">
              <a:avLst/>
            </a:prstGeom>
            <a:noFill/>
            <a:ln w="9525">
              <a:solidFill>
                <a:srgbClr val="FF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</a:endParaRPr>
            </a:p>
          </p:txBody>
        </p:sp>
        <p:sp>
          <p:nvSpPr>
            <p:cNvPr id="147" name="直接连接符 46128">
              <a:extLst>
                <a:ext uri="{FF2B5EF4-FFF2-40B4-BE49-F238E27FC236}">
                  <a16:creationId xmlns:a16="http://schemas.microsoft.com/office/drawing/2014/main" id="{2E83AB12-703F-44EC-859B-542DA967641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20" y="3360"/>
              <a:ext cx="200" cy="0"/>
            </a:xfrm>
            <a:prstGeom prst="line">
              <a:avLst/>
            </a:prstGeom>
            <a:noFill/>
            <a:ln w="9525">
              <a:solidFill>
                <a:srgbClr val="FF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</a:endParaRPr>
            </a:p>
          </p:txBody>
        </p:sp>
        <p:sp>
          <p:nvSpPr>
            <p:cNvPr id="148" name="直接连接符 46129">
              <a:extLst>
                <a:ext uri="{FF2B5EF4-FFF2-40B4-BE49-F238E27FC236}">
                  <a16:creationId xmlns:a16="http://schemas.microsoft.com/office/drawing/2014/main" id="{C56A540E-0428-4A20-A006-A89A88D99EC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00" y="2880"/>
              <a:ext cx="0" cy="240"/>
            </a:xfrm>
            <a:prstGeom prst="line">
              <a:avLst/>
            </a:prstGeom>
            <a:noFill/>
            <a:ln w="9525">
              <a:solidFill>
                <a:srgbClr val="FF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</a:endParaRPr>
            </a:p>
          </p:txBody>
        </p:sp>
        <p:sp>
          <p:nvSpPr>
            <p:cNvPr id="149" name="直接连接符 46130">
              <a:extLst>
                <a:ext uri="{FF2B5EF4-FFF2-40B4-BE49-F238E27FC236}">
                  <a16:creationId xmlns:a16="http://schemas.microsoft.com/office/drawing/2014/main" id="{C836AB4B-1ECD-4F01-ACA0-6DA14DF1E81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20" y="2880"/>
              <a:ext cx="120" cy="192"/>
            </a:xfrm>
            <a:prstGeom prst="line">
              <a:avLst/>
            </a:prstGeom>
            <a:noFill/>
            <a:ln w="9525">
              <a:solidFill>
                <a:srgbClr val="FF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</a:endParaRPr>
            </a:p>
          </p:txBody>
        </p:sp>
        <p:sp>
          <p:nvSpPr>
            <p:cNvPr id="150" name="直接连接符 46131">
              <a:extLst>
                <a:ext uri="{FF2B5EF4-FFF2-40B4-BE49-F238E27FC236}">
                  <a16:creationId xmlns:a16="http://schemas.microsoft.com/office/drawing/2014/main" id="{E7995A1B-2A48-4762-97CB-C37D225783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2784"/>
              <a:ext cx="160" cy="240"/>
            </a:xfrm>
            <a:prstGeom prst="line">
              <a:avLst/>
            </a:prstGeom>
            <a:noFill/>
            <a:ln w="9525">
              <a:solidFill>
                <a:srgbClr val="FF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</a:endParaRPr>
            </a:p>
          </p:txBody>
        </p:sp>
        <p:sp>
          <p:nvSpPr>
            <p:cNvPr id="151" name="文本框 150">
              <a:extLst>
                <a:ext uri="{FF2B5EF4-FFF2-40B4-BE49-F238E27FC236}">
                  <a16:creationId xmlns:a16="http://schemas.microsoft.com/office/drawing/2014/main" id="{1ED2AD0C-3363-4D1B-B86F-4A438546CD0D}"/>
                </a:ext>
              </a:extLst>
            </p:cNvPr>
            <p:cNvSpPr txBox="1"/>
            <p:nvPr/>
          </p:nvSpPr>
          <p:spPr>
            <a:xfrm>
              <a:off x="2720" y="3408"/>
              <a:ext cx="304" cy="21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</a:rPr>
                <a:t>(2)</a:t>
              </a:r>
            </a:p>
          </p:txBody>
        </p:sp>
      </p:grpSp>
      <p:grpSp>
        <p:nvGrpSpPr>
          <p:cNvPr id="160" name="组合 159">
            <a:extLst>
              <a:ext uri="{FF2B5EF4-FFF2-40B4-BE49-F238E27FC236}">
                <a16:creationId xmlns:a16="http://schemas.microsoft.com/office/drawing/2014/main" id="{0E8DAA3E-AB1D-467F-8BBD-45A51F89A1B9}"/>
              </a:ext>
            </a:extLst>
          </p:cNvPr>
          <p:cNvGrpSpPr>
            <a:grpSpLocks/>
          </p:cNvGrpSpPr>
          <p:nvPr/>
        </p:nvGrpSpPr>
        <p:grpSpPr bwMode="auto">
          <a:xfrm>
            <a:off x="6428060" y="4211216"/>
            <a:ext cx="1476375" cy="1454150"/>
            <a:chOff x="3360" y="2400"/>
            <a:chExt cx="1240" cy="1221"/>
          </a:xfrm>
        </p:grpSpPr>
        <p:grpSp>
          <p:nvGrpSpPr>
            <p:cNvPr id="161" name="组合 46134">
              <a:extLst>
                <a:ext uri="{FF2B5EF4-FFF2-40B4-BE49-F238E27FC236}">
                  <a16:creationId xmlns:a16="http://schemas.microsoft.com/office/drawing/2014/main" id="{9DFA1975-16E3-4015-9033-A55B8E40893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0" y="2400"/>
              <a:ext cx="1240" cy="1125"/>
              <a:chOff x="1296" y="2160"/>
              <a:chExt cx="1488" cy="1125"/>
            </a:xfrm>
          </p:grpSpPr>
          <p:sp>
            <p:nvSpPr>
              <p:cNvPr id="169" name="等腰三角形 46135">
                <a:extLst>
                  <a:ext uri="{FF2B5EF4-FFF2-40B4-BE49-F238E27FC236}">
                    <a16:creationId xmlns:a16="http://schemas.microsoft.com/office/drawing/2014/main" id="{E7B33DB3-1B0A-4D5A-A635-BE9B1DB9B2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88" y="2352"/>
                <a:ext cx="1008" cy="768"/>
              </a:xfrm>
              <a:prstGeom prst="triangle">
                <a:avLst>
                  <a:gd name="adj" fmla="val 52380"/>
                </a:avLst>
              </a:prstGeom>
              <a:noFill/>
              <a:ln w="9525">
                <a:solidFill>
                  <a:srgbClr val="FFFF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aramond" panose="02020404030301010803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70" name="直接连接符 46136">
                <a:extLst>
                  <a:ext uri="{FF2B5EF4-FFF2-40B4-BE49-F238E27FC236}">
                    <a16:creationId xmlns:a16="http://schemas.microsoft.com/office/drawing/2014/main" id="{7A7EB1FC-96DB-4069-9021-A62D7CC978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16" y="2400"/>
                <a:ext cx="0" cy="480"/>
              </a:xfrm>
              <a:prstGeom prst="line">
                <a:avLst/>
              </a:prstGeom>
              <a:noFill/>
              <a:ln w="9525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aramond" panose="02020404030301010803" pitchFamily="18" charset="0"/>
                </a:endParaRPr>
              </a:p>
            </p:txBody>
          </p:sp>
          <p:sp>
            <p:nvSpPr>
              <p:cNvPr id="171" name="直接连接符 46137">
                <a:extLst>
                  <a:ext uri="{FF2B5EF4-FFF2-40B4-BE49-F238E27FC236}">
                    <a16:creationId xmlns:a16="http://schemas.microsoft.com/office/drawing/2014/main" id="{33DD1FD0-FE22-469D-A52B-0A73D0BFC5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88" y="2880"/>
                <a:ext cx="528" cy="240"/>
              </a:xfrm>
              <a:prstGeom prst="line">
                <a:avLst/>
              </a:prstGeom>
              <a:noFill/>
              <a:ln w="9525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aramond" panose="02020404030301010803" pitchFamily="18" charset="0"/>
                </a:endParaRPr>
              </a:p>
            </p:txBody>
          </p:sp>
          <p:sp>
            <p:nvSpPr>
              <p:cNvPr id="172" name="直接连接符 46138">
                <a:extLst>
                  <a:ext uri="{FF2B5EF4-FFF2-40B4-BE49-F238E27FC236}">
                    <a16:creationId xmlns:a16="http://schemas.microsoft.com/office/drawing/2014/main" id="{5674E2B5-E178-492C-8958-9BF22FA8F4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16" y="2880"/>
                <a:ext cx="480" cy="240"/>
              </a:xfrm>
              <a:prstGeom prst="line">
                <a:avLst/>
              </a:prstGeom>
              <a:noFill/>
              <a:ln w="9525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aramond" panose="02020404030301010803" pitchFamily="18" charset="0"/>
                </a:endParaRPr>
              </a:p>
            </p:txBody>
          </p:sp>
          <p:sp>
            <p:nvSpPr>
              <p:cNvPr id="173" name="文本框 172">
                <a:extLst>
                  <a:ext uri="{FF2B5EF4-FFF2-40B4-BE49-F238E27FC236}">
                    <a16:creationId xmlns:a16="http://schemas.microsoft.com/office/drawing/2014/main" id="{4DB0903E-D040-40D0-A649-2E1BD17E5CD3}"/>
                  </a:ext>
                </a:extLst>
              </p:cNvPr>
              <p:cNvSpPr txBox="1"/>
              <p:nvPr/>
            </p:nvSpPr>
            <p:spPr>
              <a:xfrm>
                <a:off x="1920" y="2160"/>
                <a:ext cx="336" cy="25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35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</a:rPr>
                  <a:t>1</a:t>
                </a:r>
              </a:p>
            </p:txBody>
          </p:sp>
          <p:sp>
            <p:nvSpPr>
              <p:cNvPr id="174" name="文本框 173">
                <a:extLst>
                  <a:ext uri="{FF2B5EF4-FFF2-40B4-BE49-F238E27FC236}">
                    <a16:creationId xmlns:a16="http://schemas.microsoft.com/office/drawing/2014/main" id="{A2B15C62-28CD-4668-9EFE-126CEB5FAF43}"/>
                  </a:ext>
                </a:extLst>
              </p:cNvPr>
              <p:cNvSpPr txBox="1"/>
              <p:nvPr/>
            </p:nvSpPr>
            <p:spPr>
              <a:xfrm>
                <a:off x="2016" y="2688"/>
                <a:ext cx="240" cy="25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35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</a:rPr>
                  <a:t>2</a:t>
                </a:r>
              </a:p>
            </p:txBody>
          </p:sp>
          <p:sp>
            <p:nvSpPr>
              <p:cNvPr id="175" name="文本框 174">
                <a:extLst>
                  <a:ext uri="{FF2B5EF4-FFF2-40B4-BE49-F238E27FC236}">
                    <a16:creationId xmlns:a16="http://schemas.microsoft.com/office/drawing/2014/main" id="{5CBDECC6-D4EB-4FF3-9A8D-C6C7E4281D2A}"/>
                  </a:ext>
                </a:extLst>
              </p:cNvPr>
              <p:cNvSpPr txBox="1"/>
              <p:nvPr/>
            </p:nvSpPr>
            <p:spPr>
              <a:xfrm>
                <a:off x="2496" y="3024"/>
                <a:ext cx="288" cy="25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35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</a:rPr>
                  <a:t>3</a:t>
                </a:r>
              </a:p>
            </p:txBody>
          </p:sp>
          <p:sp>
            <p:nvSpPr>
              <p:cNvPr id="176" name="文本框 175">
                <a:extLst>
                  <a:ext uri="{FF2B5EF4-FFF2-40B4-BE49-F238E27FC236}">
                    <a16:creationId xmlns:a16="http://schemas.microsoft.com/office/drawing/2014/main" id="{3DCAAAD4-33D0-44EF-ABBE-7331B32AA7F4}"/>
                  </a:ext>
                </a:extLst>
              </p:cNvPr>
              <p:cNvSpPr txBox="1"/>
              <p:nvPr/>
            </p:nvSpPr>
            <p:spPr>
              <a:xfrm>
                <a:off x="1296" y="3033"/>
                <a:ext cx="384" cy="25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35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</a:rPr>
                  <a:t>4</a:t>
                </a:r>
              </a:p>
            </p:txBody>
          </p:sp>
        </p:grpSp>
        <p:sp>
          <p:nvSpPr>
            <p:cNvPr id="162" name="直接连接符 46143">
              <a:extLst>
                <a:ext uri="{FF2B5EF4-FFF2-40B4-BE49-F238E27FC236}">
                  <a16:creationId xmlns:a16="http://schemas.microsoft.com/office/drawing/2014/main" id="{26A980DA-C26E-453F-AB46-3A46282C351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80" y="2880"/>
              <a:ext cx="120" cy="192"/>
            </a:xfrm>
            <a:prstGeom prst="line">
              <a:avLst/>
            </a:prstGeom>
            <a:noFill/>
            <a:ln w="9525">
              <a:solidFill>
                <a:srgbClr val="FF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</a:endParaRPr>
            </a:p>
          </p:txBody>
        </p:sp>
        <p:sp>
          <p:nvSpPr>
            <p:cNvPr id="163" name="直接连接符 46144">
              <a:extLst>
                <a:ext uri="{FF2B5EF4-FFF2-40B4-BE49-F238E27FC236}">
                  <a16:creationId xmlns:a16="http://schemas.microsoft.com/office/drawing/2014/main" id="{E576EE7C-DBC9-49B2-A17A-53A334914F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0" y="2832"/>
              <a:ext cx="120" cy="192"/>
            </a:xfrm>
            <a:prstGeom prst="line">
              <a:avLst/>
            </a:prstGeom>
            <a:noFill/>
            <a:ln w="9525">
              <a:solidFill>
                <a:srgbClr val="FF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</a:endParaRPr>
            </a:p>
          </p:txBody>
        </p:sp>
        <p:sp>
          <p:nvSpPr>
            <p:cNvPr id="164" name="直接连接符 46145">
              <a:extLst>
                <a:ext uri="{FF2B5EF4-FFF2-40B4-BE49-F238E27FC236}">
                  <a16:creationId xmlns:a16="http://schemas.microsoft.com/office/drawing/2014/main" id="{B6622D11-3E59-4EB8-A5DC-371ACA2ECA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0" y="2736"/>
              <a:ext cx="0" cy="144"/>
            </a:xfrm>
            <a:prstGeom prst="line">
              <a:avLst/>
            </a:prstGeom>
            <a:noFill/>
            <a:ln w="9525">
              <a:solidFill>
                <a:srgbClr val="FF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</a:endParaRPr>
            </a:p>
          </p:txBody>
        </p:sp>
        <p:sp>
          <p:nvSpPr>
            <p:cNvPr id="165" name="直接连接符 46146">
              <a:extLst>
                <a:ext uri="{FF2B5EF4-FFF2-40B4-BE49-F238E27FC236}">
                  <a16:creationId xmlns:a16="http://schemas.microsoft.com/office/drawing/2014/main" id="{4C2C706E-F9DD-4A00-BF14-130448C1463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80" y="3168"/>
              <a:ext cx="160" cy="96"/>
            </a:xfrm>
            <a:prstGeom prst="line">
              <a:avLst/>
            </a:prstGeom>
            <a:noFill/>
            <a:ln w="9525">
              <a:solidFill>
                <a:srgbClr val="FF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</a:endParaRPr>
            </a:p>
          </p:txBody>
        </p:sp>
        <p:sp>
          <p:nvSpPr>
            <p:cNvPr id="166" name="直接连接符 46147">
              <a:extLst>
                <a:ext uri="{FF2B5EF4-FFF2-40B4-BE49-F238E27FC236}">
                  <a16:creationId xmlns:a16="http://schemas.microsoft.com/office/drawing/2014/main" id="{E5294102-586B-4C75-8B18-3411B95FA0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40" y="3360"/>
              <a:ext cx="240" cy="0"/>
            </a:xfrm>
            <a:prstGeom prst="line">
              <a:avLst/>
            </a:prstGeom>
            <a:noFill/>
            <a:ln w="9525">
              <a:solidFill>
                <a:srgbClr val="FF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</a:endParaRPr>
            </a:p>
          </p:txBody>
        </p:sp>
        <p:sp>
          <p:nvSpPr>
            <p:cNvPr id="167" name="直接连接符 46148">
              <a:extLst>
                <a:ext uri="{FF2B5EF4-FFF2-40B4-BE49-F238E27FC236}">
                  <a16:creationId xmlns:a16="http://schemas.microsoft.com/office/drawing/2014/main" id="{BA2B24A9-CE6E-4EC7-8BC7-09631546122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040" y="3168"/>
              <a:ext cx="160" cy="96"/>
            </a:xfrm>
            <a:prstGeom prst="line">
              <a:avLst/>
            </a:prstGeom>
            <a:noFill/>
            <a:ln w="9525">
              <a:solidFill>
                <a:srgbClr val="FF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</a:endParaRPr>
            </a:p>
          </p:txBody>
        </p:sp>
        <p:sp>
          <p:nvSpPr>
            <p:cNvPr id="168" name="文本框 167">
              <a:extLst>
                <a:ext uri="{FF2B5EF4-FFF2-40B4-BE49-F238E27FC236}">
                  <a16:creationId xmlns:a16="http://schemas.microsoft.com/office/drawing/2014/main" id="{7B273E46-2A42-4718-899B-A47E0174F2FA}"/>
                </a:ext>
              </a:extLst>
            </p:cNvPr>
            <p:cNvSpPr txBox="1"/>
            <p:nvPr/>
          </p:nvSpPr>
          <p:spPr>
            <a:xfrm>
              <a:off x="3880" y="3408"/>
              <a:ext cx="296" cy="21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</a:rPr>
                <a:t>(3)</a:t>
              </a:r>
            </a:p>
          </p:txBody>
        </p:sp>
      </p:grpSp>
      <p:grpSp>
        <p:nvGrpSpPr>
          <p:cNvPr id="177" name="组合 176">
            <a:extLst>
              <a:ext uri="{FF2B5EF4-FFF2-40B4-BE49-F238E27FC236}">
                <a16:creationId xmlns:a16="http://schemas.microsoft.com/office/drawing/2014/main" id="{80B618F7-60B1-4F7D-A455-D6C9AB3A9891}"/>
              </a:ext>
            </a:extLst>
          </p:cNvPr>
          <p:cNvGrpSpPr>
            <a:grpSpLocks/>
          </p:cNvGrpSpPr>
          <p:nvPr/>
        </p:nvGrpSpPr>
        <p:grpSpPr bwMode="auto">
          <a:xfrm>
            <a:off x="7809185" y="4211216"/>
            <a:ext cx="1476375" cy="1454150"/>
            <a:chOff x="4520" y="2400"/>
            <a:chExt cx="1240" cy="1221"/>
          </a:xfrm>
        </p:grpSpPr>
        <p:sp>
          <p:nvSpPr>
            <p:cNvPr id="178" name="等腰三角形 46151">
              <a:extLst>
                <a:ext uri="{FF2B5EF4-FFF2-40B4-BE49-F238E27FC236}">
                  <a16:creationId xmlns:a16="http://schemas.microsoft.com/office/drawing/2014/main" id="{F76C0F62-D083-4329-B786-4A7D179663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0" y="2592"/>
              <a:ext cx="840" cy="768"/>
            </a:xfrm>
            <a:prstGeom prst="triangle">
              <a:avLst>
                <a:gd name="adj" fmla="val 52380"/>
              </a:avLst>
            </a:prstGeom>
            <a:noFill/>
            <a:ln w="9525">
              <a:solidFill>
                <a:srgbClr val="FF33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79" name="直接连接符 46152">
              <a:extLst>
                <a:ext uri="{FF2B5EF4-FFF2-40B4-BE49-F238E27FC236}">
                  <a16:creationId xmlns:a16="http://schemas.microsoft.com/office/drawing/2014/main" id="{21E008CA-DA39-44C2-8A87-D3106DC3F9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20" y="2640"/>
              <a:ext cx="0" cy="480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</a:endParaRPr>
            </a:p>
          </p:txBody>
        </p:sp>
        <p:sp>
          <p:nvSpPr>
            <p:cNvPr id="180" name="直接连接符 46153">
              <a:extLst>
                <a:ext uri="{FF2B5EF4-FFF2-40B4-BE49-F238E27FC236}">
                  <a16:creationId xmlns:a16="http://schemas.microsoft.com/office/drawing/2014/main" id="{1BFE6F21-F0EF-4D04-AEB8-E31F30830F8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80" y="3120"/>
              <a:ext cx="440" cy="240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</a:endParaRPr>
            </a:p>
          </p:txBody>
        </p:sp>
        <p:sp>
          <p:nvSpPr>
            <p:cNvPr id="181" name="直接连接符 46154">
              <a:extLst>
                <a:ext uri="{FF2B5EF4-FFF2-40B4-BE49-F238E27FC236}">
                  <a16:creationId xmlns:a16="http://schemas.microsoft.com/office/drawing/2014/main" id="{F48BD032-001D-4DC3-BA0E-619D4A40B8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20" y="3120"/>
              <a:ext cx="400" cy="240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</a:endParaRPr>
            </a:p>
          </p:txBody>
        </p:sp>
        <p:sp>
          <p:nvSpPr>
            <p:cNvPr id="182" name="文本框 181">
              <a:extLst>
                <a:ext uri="{FF2B5EF4-FFF2-40B4-BE49-F238E27FC236}">
                  <a16:creationId xmlns:a16="http://schemas.microsoft.com/office/drawing/2014/main" id="{2A4B4F4A-6A4C-4385-942A-FF62D03D670E}"/>
                </a:ext>
              </a:extLst>
            </p:cNvPr>
            <p:cNvSpPr txBox="1"/>
            <p:nvPr/>
          </p:nvSpPr>
          <p:spPr>
            <a:xfrm>
              <a:off x="5040" y="2400"/>
              <a:ext cx="280" cy="25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0" i="0" u="none" strike="noStrike" kern="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</a:rPr>
                <a:t>1</a:t>
              </a:r>
            </a:p>
          </p:txBody>
        </p:sp>
        <p:sp>
          <p:nvSpPr>
            <p:cNvPr id="183" name="文本框 182">
              <a:extLst>
                <a:ext uri="{FF2B5EF4-FFF2-40B4-BE49-F238E27FC236}">
                  <a16:creationId xmlns:a16="http://schemas.microsoft.com/office/drawing/2014/main" id="{61F6ED52-88C3-43CA-81BC-51867605B295}"/>
                </a:ext>
              </a:extLst>
            </p:cNvPr>
            <p:cNvSpPr txBox="1"/>
            <p:nvPr/>
          </p:nvSpPr>
          <p:spPr>
            <a:xfrm>
              <a:off x="5120" y="2928"/>
              <a:ext cx="200" cy="25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0" i="0" u="none" strike="noStrike" kern="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</a:rPr>
                <a:t>2</a:t>
              </a:r>
            </a:p>
          </p:txBody>
        </p:sp>
        <p:sp>
          <p:nvSpPr>
            <p:cNvPr id="184" name="文本框 183">
              <a:extLst>
                <a:ext uri="{FF2B5EF4-FFF2-40B4-BE49-F238E27FC236}">
                  <a16:creationId xmlns:a16="http://schemas.microsoft.com/office/drawing/2014/main" id="{CF1B17DD-3728-486C-A94B-4659C3AE6FDA}"/>
                </a:ext>
              </a:extLst>
            </p:cNvPr>
            <p:cNvSpPr txBox="1"/>
            <p:nvPr/>
          </p:nvSpPr>
          <p:spPr>
            <a:xfrm>
              <a:off x="5520" y="3264"/>
              <a:ext cx="240" cy="25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0" i="0" u="none" strike="noStrike" kern="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</a:rPr>
                <a:t>3</a:t>
              </a:r>
            </a:p>
          </p:txBody>
        </p:sp>
        <p:sp>
          <p:nvSpPr>
            <p:cNvPr id="185" name="文本框 184">
              <a:extLst>
                <a:ext uri="{FF2B5EF4-FFF2-40B4-BE49-F238E27FC236}">
                  <a16:creationId xmlns:a16="http://schemas.microsoft.com/office/drawing/2014/main" id="{B87A3613-5840-42C8-B0B3-07AE116EB03D}"/>
                </a:ext>
              </a:extLst>
            </p:cNvPr>
            <p:cNvSpPr txBox="1"/>
            <p:nvPr/>
          </p:nvSpPr>
          <p:spPr>
            <a:xfrm>
              <a:off x="4520" y="3273"/>
              <a:ext cx="320" cy="25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0" i="0" u="none" strike="noStrike" kern="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</a:rPr>
                <a:t>4</a:t>
              </a:r>
            </a:p>
          </p:txBody>
        </p:sp>
        <p:sp>
          <p:nvSpPr>
            <p:cNvPr id="186" name="直接连接符 46159">
              <a:extLst>
                <a:ext uri="{FF2B5EF4-FFF2-40B4-BE49-F238E27FC236}">
                  <a16:creationId xmlns:a16="http://schemas.microsoft.com/office/drawing/2014/main" id="{2F1B857C-7803-4AA7-A4D3-E38ACA866D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20" y="2736"/>
              <a:ext cx="0" cy="192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</a:endParaRPr>
            </a:p>
          </p:txBody>
        </p:sp>
        <p:sp>
          <p:nvSpPr>
            <p:cNvPr id="187" name="直接连接符 46160">
              <a:extLst>
                <a:ext uri="{FF2B5EF4-FFF2-40B4-BE49-F238E27FC236}">
                  <a16:creationId xmlns:a16="http://schemas.microsoft.com/office/drawing/2014/main" id="{F1AAC735-B483-495D-B832-3C93E891BC3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40" y="2880"/>
              <a:ext cx="120" cy="192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</a:endParaRPr>
            </a:p>
          </p:txBody>
        </p:sp>
        <p:sp>
          <p:nvSpPr>
            <p:cNvPr id="188" name="直接连接符 46161">
              <a:extLst>
                <a:ext uri="{FF2B5EF4-FFF2-40B4-BE49-F238E27FC236}">
                  <a16:creationId xmlns:a16="http://schemas.microsoft.com/office/drawing/2014/main" id="{80606774-0F2E-4377-A82A-DC0689157E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80" y="2880"/>
              <a:ext cx="120" cy="240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</a:endParaRPr>
            </a:p>
          </p:txBody>
        </p:sp>
        <p:sp>
          <p:nvSpPr>
            <p:cNvPr id="189" name="直接连接符 46162">
              <a:extLst>
                <a:ext uri="{FF2B5EF4-FFF2-40B4-BE49-F238E27FC236}">
                  <a16:creationId xmlns:a16="http://schemas.microsoft.com/office/drawing/2014/main" id="{4687BA35-6184-44DD-9405-98C4DEB557E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000" y="3360"/>
              <a:ext cx="200" cy="0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</a:endParaRPr>
            </a:p>
          </p:txBody>
        </p:sp>
        <p:sp>
          <p:nvSpPr>
            <p:cNvPr id="190" name="直接连接符 46163">
              <a:extLst>
                <a:ext uri="{FF2B5EF4-FFF2-40B4-BE49-F238E27FC236}">
                  <a16:creationId xmlns:a16="http://schemas.microsoft.com/office/drawing/2014/main" id="{4E1B100D-8E39-4CE6-8F36-6843589A697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40" y="3168"/>
              <a:ext cx="200" cy="96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</a:endParaRPr>
            </a:p>
          </p:txBody>
        </p:sp>
        <p:sp>
          <p:nvSpPr>
            <p:cNvPr id="191" name="直接连接符 46164">
              <a:extLst>
                <a:ext uri="{FF2B5EF4-FFF2-40B4-BE49-F238E27FC236}">
                  <a16:creationId xmlns:a16="http://schemas.microsoft.com/office/drawing/2014/main" id="{DD96C78B-1B0F-42CC-B154-6274573B80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20" y="3120"/>
              <a:ext cx="240" cy="144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</a:endParaRPr>
            </a:p>
          </p:txBody>
        </p:sp>
        <p:sp>
          <p:nvSpPr>
            <p:cNvPr id="192" name="文本框 191">
              <a:extLst>
                <a:ext uri="{FF2B5EF4-FFF2-40B4-BE49-F238E27FC236}">
                  <a16:creationId xmlns:a16="http://schemas.microsoft.com/office/drawing/2014/main" id="{50EFA6C1-5C90-4AE9-993F-D92B16971F2A}"/>
                </a:ext>
              </a:extLst>
            </p:cNvPr>
            <p:cNvSpPr txBox="1"/>
            <p:nvPr/>
          </p:nvSpPr>
          <p:spPr>
            <a:xfrm>
              <a:off x="5040" y="3408"/>
              <a:ext cx="360" cy="21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</a:rPr>
                <a:t>(4)</a:t>
              </a:r>
            </a:p>
          </p:txBody>
        </p:sp>
      </p:grpSp>
      <p:sp>
        <p:nvSpPr>
          <p:cNvPr id="193" name="文本框 192">
            <a:extLst>
              <a:ext uri="{FF2B5EF4-FFF2-40B4-BE49-F238E27FC236}">
                <a16:creationId xmlns:a16="http://schemas.microsoft.com/office/drawing/2014/main" id="{3157225F-301E-4E3C-A28C-B1E0490632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2010" y="2276053"/>
            <a:ext cx="1641475" cy="868363"/>
          </a:xfrm>
          <a:prstGeom prst="rect">
            <a:avLst/>
          </a:prstGeom>
          <a:solidFill>
            <a:srgbClr val="00B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0" hangingPunct="0">
              <a:lnSpc>
                <a:spcPct val="12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100">
                <a:solidFill>
                  <a:srgbClr val="FFFFFF"/>
                </a:solidFill>
                <a:latin typeface="Times New Roman" panose="02020603050405020304" pitchFamily="18" charset="0"/>
              </a:rPr>
              <a:t>3</a:t>
            </a:r>
            <a:r>
              <a:rPr kumimoji="0" lang="zh-CN" altLang="en-US" sz="2100">
                <a:solidFill>
                  <a:srgbClr val="FFFFFF"/>
                </a:solidFill>
                <a:latin typeface="Times New Roman" panose="02020603050405020304" pitchFamily="18" charset="0"/>
              </a:rPr>
              <a:t>个顶点的竞赛图</a:t>
            </a:r>
          </a:p>
        </p:txBody>
      </p:sp>
      <p:sp>
        <p:nvSpPr>
          <p:cNvPr id="194" name="文本框 193">
            <a:extLst>
              <a:ext uri="{FF2B5EF4-FFF2-40B4-BE49-F238E27FC236}">
                <a16:creationId xmlns:a16="http://schemas.microsoft.com/office/drawing/2014/main" id="{57984771-C7FE-42D5-A225-90BFFEC612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2060" y="3247603"/>
            <a:ext cx="742950" cy="415925"/>
          </a:xfrm>
          <a:prstGeom prst="rect">
            <a:avLst/>
          </a:prstGeom>
          <a:solidFill>
            <a:srgbClr val="00B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0" hangingPunct="0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100" dirty="0">
                <a:solidFill>
                  <a:srgbClr val="FFFFFF"/>
                </a:solidFill>
                <a:latin typeface="Times New Roman" panose="02020603050405020304" pitchFamily="18" charset="0"/>
              </a:rPr>
              <a:t>名次</a:t>
            </a:r>
          </a:p>
        </p:txBody>
      </p:sp>
      <p:sp>
        <p:nvSpPr>
          <p:cNvPr id="195" name="文本框 194">
            <a:extLst>
              <a:ext uri="{FF2B5EF4-FFF2-40B4-BE49-F238E27FC236}">
                <a16:creationId xmlns:a16="http://schemas.microsoft.com/office/drawing/2014/main" id="{5EC57300-E072-4B44-8D3D-4675274DA1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6460" y="3304753"/>
            <a:ext cx="1257300" cy="369888"/>
          </a:xfrm>
          <a:prstGeom prst="rect">
            <a:avLst/>
          </a:prstGeom>
          <a:solidFill>
            <a:srgbClr val="00B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0" hangingPunct="0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 dirty="0">
                <a:solidFill>
                  <a:srgbClr val="FFFFFF"/>
                </a:solidFill>
                <a:latin typeface="Times New Roman" panose="02020603050405020304" pitchFamily="18" charset="0"/>
              </a:rPr>
              <a:t>{1</a:t>
            </a:r>
            <a:r>
              <a:rPr kumimoji="0" lang="zh-CN" altLang="en-US" sz="1800" dirty="0">
                <a:solidFill>
                  <a:srgbClr val="FFFFFF"/>
                </a:solidFill>
                <a:latin typeface="Times New Roman" panose="02020603050405020304" pitchFamily="18" charset="0"/>
              </a:rPr>
              <a:t>，</a:t>
            </a:r>
            <a:r>
              <a:rPr kumimoji="0" lang="en-US" altLang="zh-CN" sz="1800" dirty="0">
                <a:solidFill>
                  <a:srgbClr val="FFFFFF"/>
                </a:solidFill>
                <a:latin typeface="Times New Roman" panose="02020603050405020304" pitchFamily="18" charset="0"/>
              </a:rPr>
              <a:t>2</a:t>
            </a:r>
            <a:r>
              <a:rPr kumimoji="0" lang="zh-CN" altLang="en-US" sz="1800" dirty="0">
                <a:solidFill>
                  <a:srgbClr val="FFFFFF"/>
                </a:solidFill>
                <a:latin typeface="Times New Roman" panose="02020603050405020304" pitchFamily="18" charset="0"/>
              </a:rPr>
              <a:t>，</a:t>
            </a:r>
            <a:r>
              <a:rPr kumimoji="0" lang="en-US" altLang="zh-CN" sz="1800" dirty="0">
                <a:solidFill>
                  <a:srgbClr val="FFFFFF"/>
                </a:solidFill>
                <a:latin typeface="Times New Roman" panose="02020603050405020304" pitchFamily="18" charset="0"/>
              </a:rPr>
              <a:t>3}</a:t>
            </a:r>
          </a:p>
        </p:txBody>
      </p:sp>
      <p:sp>
        <p:nvSpPr>
          <p:cNvPr id="196" name="文本框 195">
            <a:extLst>
              <a:ext uri="{FF2B5EF4-FFF2-40B4-BE49-F238E27FC236}">
                <a16:creationId xmlns:a16="http://schemas.microsoft.com/office/drawing/2014/main" id="{C4C0223F-01B3-4D2A-8F79-892C68094B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99585" y="3319041"/>
            <a:ext cx="1657350" cy="368300"/>
          </a:xfrm>
          <a:prstGeom prst="rect">
            <a:avLst/>
          </a:prstGeom>
          <a:solidFill>
            <a:srgbClr val="00B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0" hangingPunct="0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>
                <a:solidFill>
                  <a:srgbClr val="FFFFFF"/>
                </a:solidFill>
                <a:latin typeface="Times New Roman" panose="02020603050405020304" pitchFamily="18" charset="0"/>
              </a:rPr>
              <a:t>{(1,2,3)}</a:t>
            </a:r>
            <a:r>
              <a:rPr kumimoji="0" lang="zh-CN" altLang="en-US" sz="1800">
                <a:solidFill>
                  <a:srgbClr val="FFFFFF"/>
                </a:solidFill>
                <a:latin typeface="Times New Roman" panose="02020603050405020304" pitchFamily="18" charset="0"/>
              </a:rPr>
              <a:t>并列</a:t>
            </a:r>
          </a:p>
        </p:txBody>
      </p:sp>
      <p:sp>
        <p:nvSpPr>
          <p:cNvPr id="197" name="文本框 196">
            <a:extLst>
              <a:ext uri="{FF2B5EF4-FFF2-40B4-BE49-F238E27FC236}">
                <a16:creationId xmlns:a16="http://schemas.microsoft.com/office/drawing/2014/main" id="{A62AE081-EE3E-4CB2-8F35-A2883849B1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27710" y="5697116"/>
            <a:ext cx="1200150" cy="369887"/>
          </a:xfrm>
          <a:prstGeom prst="rec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0" hangingPunct="0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>
                <a:solidFill>
                  <a:srgbClr val="FFFFFF"/>
                </a:solidFill>
                <a:latin typeface="Times New Roman" panose="02020603050405020304" pitchFamily="18" charset="0"/>
              </a:rPr>
              <a:t>{1, 2, 3, 4}</a:t>
            </a:r>
          </a:p>
        </p:txBody>
      </p:sp>
      <p:sp>
        <p:nvSpPr>
          <p:cNvPr id="198" name="文本框 197">
            <a:extLst>
              <a:ext uri="{FF2B5EF4-FFF2-40B4-BE49-F238E27FC236}">
                <a16:creationId xmlns:a16="http://schemas.microsoft.com/office/drawing/2014/main" id="{01D0D19E-14A8-4143-8C8B-43C4E9507E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3610" y="5697116"/>
            <a:ext cx="1200150" cy="369887"/>
          </a:xfrm>
          <a:prstGeom prst="rec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0" hangingPunct="0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>
                <a:solidFill>
                  <a:srgbClr val="FFFFFF"/>
                </a:solidFill>
                <a:latin typeface="Times New Roman" panose="02020603050405020304" pitchFamily="18" charset="0"/>
              </a:rPr>
              <a:t>{2,(1,3,4)}</a:t>
            </a:r>
          </a:p>
        </p:txBody>
      </p:sp>
      <p:sp>
        <p:nvSpPr>
          <p:cNvPr id="199" name="文本框 198">
            <a:extLst>
              <a:ext uri="{FF2B5EF4-FFF2-40B4-BE49-F238E27FC236}">
                <a16:creationId xmlns:a16="http://schemas.microsoft.com/office/drawing/2014/main" id="{89BB3372-DD57-4B51-8745-1582CB5D00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2360" y="5697116"/>
            <a:ext cx="1266825" cy="369887"/>
          </a:xfrm>
          <a:prstGeom prst="rec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0" hangingPunct="0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>
                <a:solidFill>
                  <a:srgbClr val="FFFFFF"/>
                </a:solidFill>
                <a:latin typeface="Times New Roman" panose="02020603050405020304" pitchFamily="18" charset="0"/>
              </a:rPr>
              <a:t>{(1,3,4), 2}</a:t>
            </a:r>
          </a:p>
        </p:txBody>
      </p:sp>
      <p:sp>
        <p:nvSpPr>
          <p:cNvPr id="200" name="文本框 199">
            <a:extLst>
              <a:ext uri="{FF2B5EF4-FFF2-40B4-BE49-F238E27FC236}">
                <a16:creationId xmlns:a16="http://schemas.microsoft.com/office/drawing/2014/main" id="{FEE0FF25-70CA-4933-8E37-6489E40F93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2010" y="3982616"/>
            <a:ext cx="1384300" cy="868362"/>
          </a:xfrm>
          <a:prstGeom prst="rec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0" hangingPunct="0">
              <a:lnSpc>
                <a:spcPct val="12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100">
                <a:solidFill>
                  <a:srgbClr val="FFFFFF"/>
                </a:solidFill>
                <a:latin typeface="Times New Roman" panose="02020603050405020304" pitchFamily="18" charset="0"/>
              </a:rPr>
              <a:t>4</a:t>
            </a:r>
            <a:r>
              <a:rPr kumimoji="0" lang="zh-CN" altLang="en-US" sz="2100">
                <a:solidFill>
                  <a:srgbClr val="FFFFFF"/>
                </a:solidFill>
                <a:latin typeface="Times New Roman" panose="02020603050405020304" pitchFamily="18" charset="0"/>
              </a:rPr>
              <a:t>个顶点的竞赛图</a:t>
            </a:r>
          </a:p>
        </p:txBody>
      </p:sp>
      <p:sp>
        <p:nvSpPr>
          <p:cNvPr id="201" name="文本框 200">
            <a:extLst>
              <a:ext uri="{FF2B5EF4-FFF2-40B4-BE49-F238E27FC236}">
                <a16:creationId xmlns:a16="http://schemas.microsoft.com/office/drawing/2014/main" id="{9C5C4DD5-A2A7-4E44-82F4-01D88149F9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3310" y="5639966"/>
            <a:ext cx="742950" cy="415925"/>
          </a:xfrm>
          <a:prstGeom prst="rec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0" hangingPunct="0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100">
                <a:solidFill>
                  <a:srgbClr val="FFFFFF"/>
                </a:solidFill>
                <a:latin typeface="Times New Roman" panose="02020603050405020304" pitchFamily="18" charset="0"/>
              </a:rPr>
              <a:t>名次</a:t>
            </a:r>
          </a:p>
        </p:txBody>
      </p:sp>
      <p:sp>
        <p:nvSpPr>
          <p:cNvPr id="202" name="文本框 201">
            <a:extLst>
              <a:ext uri="{FF2B5EF4-FFF2-40B4-BE49-F238E27FC236}">
                <a16:creationId xmlns:a16="http://schemas.microsoft.com/office/drawing/2014/main" id="{38D7874C-A510-424E-9FE1-58E00B98AC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59998" y="5697116"/>
            <a:ext cx="1314450" cy="369887"/>
          </a:xfrm>
          <a:prstGeom prst="rect">
            <a:avLst/>
          </a:prstGeom>
          <a:solidFill>
            <a:srgbClr val="FFFF00"/>
          </a:solidFill>
          <a:ln w="9525">
            <a:solidFill>
              <a:srgbClr val="FFFF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0" hangingPunct="0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>
                <a:solidFill>
                  <a:srgbClr val="FF3300"/>
                </a:solidFill>
                <a:latin typeface="Times New Roman" panose="02020603050405020304" pitchFamily="18" charset="0"/>
              </a:rPr>
              <a:t>{(1,2),(3,4)}</a:t>
            </a:r>
          </a:p>
        </p:txBody>
      </p:sp>
    </p:spTree>
    <p:extLst>
      <p:ext uri="{BB962C8B-B14F-4D97-AF65-F5344CB8AC3E}">
        <p14:creationId xmlns:p14="http://schemas.microsoft.com/office/powerpoint/2010/main" val="266871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1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0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5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30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4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4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0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0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3" grpId="0" bldLvl="0" animBg="1"/>
      <p:bldP spid="194" grpId="0" bldLvl="0" animBg="1"/>
      <p:bldP spid="195" grpId="0" bldLvl="0" animBg="1"/>
      <p:bldP spid="196" grpId="0" bldLvl="0" animBg="1"/>
      <p:bldP spid="197" grpId="0" bldLvl="0" animBg="1"/>
      <p:bldP spid="198" grpId="0" bldLvl="0" animBg="1"/>
      <p:bldP spid="199" grpId="0" bldLvl="0" animBg="1"/>
      <p:bldP spid="200" grpId="0" bldLvl="0" animBg="1"/>
      <p:bldP spid="201" grpId="0" bldLvl="0" animBg="1"/>
      <p:bldP spid="202" grpId="0" bldLvl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*8.2.4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竞赛图</a:t>
            </a:r>
          </a:p>
        </p:txBody>
      </p:sp>
      <p:grpSp>
        <p:nvGrpSpPr>
          <p:cNvPr id="98" name="组合 47105">
            <a:extLst>
              <a:ext uri="{FF2B5EF4-FFF2-40B4-BE49-F238E27FC236}">
                <a16:creationId xmlns:a16="http://schemas.microsoft.com/office/drawing/2014/main" id="{5D96D09F-C91D-4672-B6B5-D17CC03374C4}"/>
              </a:ext>
            </a:extLst>
          </p:cNvPr>
          <p:cNvGrpSpPr>
            <a:grpSpLocks/>
          </p:cNvGrpSpPr>
          <p:nvPr/>
        </p:nvGrpSpPr>
        <p:grpSpPr bwMode="auto">
          <a:xfrm>
            <a:off x="3032125" y="1754066"/>
            <a:ext cx="6127750" cy="1882775"/>
            <a:chOff x="960" y="2400"/>
            <a:chExt cx="4800" cy="1357"/>
          </a:xfrm>
        </p:grpSpPr>
        <p:grpSp>
          <p:nvGrpSpPr>
            <p:cNvPr id="99" name="组合 47106">
              <a:extLst>
                <a:ext uri="{FF2B5EF4-FFF2-40B4-BE49-F238E27FC236}">
                  <a16:creationId xmlns:a16="http://schemas.microsoft.com/office/drawing/2014/main" id="{88EE2739-CE37-470B-B40F-DAF704324AD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00" y="2400"/>
              <a:ext cx="1240" cy="1125"/>
              <a:chOff x="1296" y="2160"/>
              <a:chExt cx="1488" cy="1125"/>
            </a:xfrm>
          </p:grpSpPr>
          <p:sp>
            <p:nvSpPr>
              <p:cNvPr id="250" name="等腰三角形 47107">
                <a:extLst>
                  <a:ext uri="{FF2B5EF4-FFF2-40B4-BE49-F238E27FC236}">
                    <a16:creationId xmlns:a16="http://schemas.microsoft.com/office/drawing/2014/main" id="{40FE4FA0-6BFD-47D3-A38F-6FB6C2606B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88" y="2352"/>
                <a:ext cx="1008" cy="768"/>
              </a:xfrm>
              <a:prstGeom prst="triangle">
                <a:avLst>
                  <a:gd name="adj" fmla="val 52380"/>
                </a:avLst>
              </a:prstGeom>
              <a:noFill/>
              <a:ln w="9525">
                <a:solidFill>
                  <a:srgbClr val="FFFF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aramond" panose="02020404030301010803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51" name="直接连接符 47108">
                <a:extLst>
                  <a:ext uri="{FF2B5EF4-FFF2-40B4-BE49-F238E27FC236}">
                    <a16:creationId xmlns:a16="http://schemas.microsoft.com/office/drawing/2014/main" id="{17618BD5-B5DA-4342-91B1-2681041E30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16" y="2400"/>
                <a:ext cx="0" cy="480"/>
              </a:xfrm>
              <a:prstGeom prst="line">
                <a:avLst/>
              </a:prstGeom>
              <a:noFill/>
              <a:ln w="9525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aramond" panose="02020404030301010803" pitchFamily="18" charset="0"/>
                </a:endParaRPr>
              </a:p>
            </p:txBody>
          </p:sp>
          <p:sp>
            <p:nvSpPr>
              <p:cNvPr id="252" name="直接连接符 47109">
                <a:extLst>
                  <a:ext uri="{FF2B5EF4-FFF2-40B4-BE49-F238E27FC236}">
                    <a16:creationId xmlns:a16="http://schemas.microsoft.com/office/drawing/2014/main" id="{E2A5F6CE-A7DA-4383-B304-47CB8DC22F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88" y="2880"/>
                <a:ext cx="528" cy="240"/>
              </a:xfrm>
              <a:prstGeom prst="line">
                <a:avLst/>
              </a:prstGeom>
              <a:noFill/>
              <a:ln w="9525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aramond" panose="02020404030301010803" pitchFamily="18" charset="0"/>
                </a:endParaRPr>
              </a:p>
            </p:txBody>
          </p:sp>
          <p:sp>
            <p:nvSpPr>
              <p:cNvPr id="253" name="直接连接符 47110">
                <a:extLst>
                  <a:ext uri="{FF2B5EF4-FFF2-40B4-BE49-F238E27FC236}">
                    <a16:creationId xmlns:a16="http://schemas.microsoft.com/office/drawing/2014/main" id="{0CB1BE85-BCD3-4E83-B04C-4F2F3647DC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16" y="2880"/>
                <a:ext cx="480" cy="240"/>
              </a:xfrm>
              <a:prstGeom prst="line">
                <a:avLst/>
              </a:prstGeom>
              <a:noFill/>
              <a:ln w="9525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aramond" panose="02020404030301010803" pitchFamily="18" charset="0"/>
                </a:endParaRPr>
              </a:p>
            </p:txBody>
          </p:sp>
          <p:sp>
            <p:nvSpPr>
              <p:cNvPr id="254" name="文本框 253">
                <a:extLst>
                  <a:ext uri="{FF2B5EF4-FFF2-40B4-BE49-F238E27FC236}">
                    <a16:creationId xmlns:a16="http://schemas.microsoft.com/office/drawing/2014/main" id="{A8CF7FF6-E1E5-420F-B55B-336804DE4CFB}"/>
                  </a:ext>
                </a:extLst>
              </p:cNvPr>
              <p:cNvSpPr txBox="1"/>
              <p:nvPr/>
            </p:nvSpPr>
            <p:spPr>
              <a:xfrm>
                <a:off x="1920" y="2160"/>
                <a:ext cx="336" cy="25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35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</a:rPr>
                  <a:t>1</a:t>
                </a:r>
              </a:p>
            </p:txBody>
          </p:sp>
          <p:sp>
            <p:nvSpPr>
              <p:cNvPr id="255" name="文本框 254">
                <a:extLst>
                  <a:ext uri="{FF2B5EF4-FFF2-40B4-BE49-F238E27FC236}">
                    <a16:creationId xmlns:a16="http://schemas.microsoft.com/office/drawing/2014/main" id="{8BB17B18-EDCB-4562-8E6C-BB12DACEA036}"/>
                  </a:ext>
                </a:extLst>
              </p:cNvPr>
              <p:cNvSpPr txBox="1"/>
              <p:nvPr/>
            </p:nvSpPr>
            <p:spPr>
              <a:xfrm>
                <a:off x="2015" y="2686"/>
                <a:ext cx="240" cy="25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35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</a:rPr>
                  <a:t>2</a:t>
                </a:r>
              </a:p>
            </p:txBody>
          </p:sp>
          <p:sp>
            <p:nvSpPr>
              <p:cNvPr id="256" name="文本框 255">
                <a:extLst>
                  <a:ext uri="{FF2B5EF4-FFF2-40B4-BE49-F238E27FC236}">
                    <a16:creationId xmlns:a16="http://schemas.microsoft.com/office/drawing/2014/main" id="{063BE5A1-D9E2-4C4E-8906-378720A55C3E}"/>
                  </a:ext>
                </a:extLst>
              </p:cNvPr>
              <p:cNvSpPr txBox="1"/>
              <p:nvPr/>
            </p:nvSpPr>
            <p:spPr>
              <a:xfrm>
                <a:off x="2496" y="3024"/>
                <a:ext cx="288" cy="25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35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</a:rPr>
                  <a:t>3</a:t>
                </a:r>
              </a:p>
            </p:txBody>
          </p:sp>
          <p:sp>
            <p:nvSpPr>
              <p:cNvPr id="257" name="文本框 256">
                <a:extLst>
                  <a:ext uri="{FF2B5EF4-FFF2-40B4-BE49-F238E27FC236}">
                    <a16:creationId xmlns:a16="http://schemas.microsoft.com/office/drawing/2014/main" id="{49B53F8B-97C6-443D-BD1C-47CCA7B06D76}"/>
                  </a:ext>
                </a:extLst>
              </p:cNvPr>
              <p:cNvSpPr txBox="1"/>
              <p:nvPr/>
            </p:nvSpPr>
            <p:spPr>
              <a:xfrm>
                <a:off x="1296" y="3033"/>
                <a:ext cx="384" cy="25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35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</a:rPr>
                  <a:t>4</a:t>
                </a:r>
              </a:p>
            </p:txBody>
          </p:sp>
        </p:grpSp>
        <p:grpSp>
          <p:nvGrpSpPr>
            <p:cNvPr id="100" name="组合 47115">
              <a:extLst>
                <a:ext uri="{FF2B5EF4-FFF2-40B4-BE49-F238E27FC236}">
                  <a16:creationId xmlns:a16="http://schemas.microsoft.com/office/drawing/2014/main" id="{F88DF027-CB0E-406B-8B3B-0D8844B41AA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60" y="2400"/>
              <a:ext cx="1240" cy="1125"/>
              <a:chOff x="1296" y="2160"/>
              <a:chExt cx="1488" cy="1125"/>
            </a:xfrm>
          </p:grpSpPr>
          <p:sp>
            <p:nvSpPr>
              <p:cNvPr id="242" name="等腰三角形 47116">
                <a:extLst>
                  <a:ext uri="{FF2B5EF4-FFF2-40B4-BE49-F238E27FC236}">
                    <a16:creationId xmlns:a16="http://schemas.microsoft.com/office/drawing/2014/main" id="{5146413C-4A68-4C35-867F-C22486D679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88" y="2352"/>
                <a:ext cx="1008" cy="768"/>
              </a:xfrm>
              <a:prstGeom prst="triangle">
                <a:avLst>
                  <a:gd name="adj" fmla="val 52380"/>
                </a:avLst>
              </a:prstGeom>
              <a:noFill/>
              <a:ln w="9525">
                <a:solidFill>
                  <a:srgbClr val="FFFF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aramond" panose="02020404030301010803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43" name="直接连接符 47117">
                <a:extLst>
                  <a:ext uri="{FF2B5EF4-FFF2-40B4-BE49-F238E27FC236}">
                    <a16:creationId xmlns:a16="http://schemas.microsoft.com/office/drawing/2014/main" id="{0A895B05-F595-419F-B75D-E4E2244767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16" y="2400"/>
                <a:ext cx="0" cy="480"/>
              </a:xfrm>
              <a:prstGeom prst="line">
                <a:avLst/>
              </a:prstGeom>
              <a:noFill/>
              <a:ln w="9525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aramond" panose="02020404030301010803" pitchFamily="18" charset="0"/>
                </a:endParaRPr>
              </a:p>
            </p:txBody>
          </p:sp>
          <p:sp>
            <p:nvSpPr>
              <p:cNvPr id="244" name="直接连接符 47118">
                <a:extLst>
                  <a:ext uri="{FF2B5EF4-FFF2-40B4-BE49-F238E27FC236}">
                    <a16:creationId xmlns:a16="http://schemas.microsoft.com/office/drawing/2014/main" id="{215CBE89-1FB5-4982-AF7C-60A9FC4820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88" y="2880"/>
                <a:ext cx="528" cy="240"/>
              </a:xfrm>
              <a:prstGeom prst="line">
                <a:avLst/>
              </a:prstGeom>
              <a:noFill/>
              <a:ln w="9525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aramond" panose="02020404030301010803" pitchFamily="18" charset="0"/>
                </a:endParaRPr>
              </a:p>
            </p:txBody>
          </p:sp>
          <p:sp>
            <p:nvSpPr>
              <p:cNvPr id="245" name="直接连接符 47119">
                <a:extLst>
                  <a:ext uri="{FF2B5EF4-FFF2-40B4-BE49-F238E27FC236}">
                    <a16:creationId xmlns:a16="http://schemas.microsoft.com/office/drawing/2014/main" id="{DB451437-2C0B-47F6-AAE1-05E340F609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16" y="2880"/>
                <a:ext cx="480" cy="240"/>
              </a:xfrm>
              <a:prstGeom prst="line">
                <a:avLst/>
              </a:prstGeom>
              <a:noFill/>
              <a:ln w="9525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aramond" panose="02020404030301010803" pitchFamily="18" charset="0"/>
                </a:endParaRPr>
              </a:p>
            </p:txBody>
          </p:sp>
          <p:sp>
            <p:nvSpPr>
              <p:cNvPr id="246" name="文本框 245">
                <a:extLst>
                  <a:ext uri="{FF2B5EF4-FFF2-40B4-BE49-F238E27FC236}">
                    <a16:creationId xmlns:a16="http://schemas.microsoft.com/office/drawing/2014/main" id="{5CCB9984-6528-4BE8-887B-36030A5CEA94}"/>
                  </a:ext>
                </a:extLst>
              </p:cNvPr>
              <p:cNvSpPr txBox="1"/>
              <p:nvPr/>
            </p:nvSpPr>
            <p:spPr>
              <a:xfrm>
                <a:off x="1920" y="2160"/>
                <a:ext cx="336" cy="25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35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</a:rPr>
                  <a:t>1</a:t>
                </a:r>
              </a:p>
            </p:txBody>
          </p:sp>
          <p:sp>
            <p:nvSpPr>
              <p:cNvPr id="247" name="文本框 246">
                <a:extLst>
                  <a:ext uri="{FF2B5EF4-FFF2-40B4-BE49-F238E27FC236}">
                    <a16:creationId xmlns:a16="http://schemas.microsoft.com/office/drawing/2014/main" id="{F831D84D-EA1C-4010-9A67-31317E96B914}"/>
                  </a:ext>
                </a:extLst>
              </p:cNvPr>
              <p:cNvSpPr txBox="1"/>
              <p:nvPr/>
            </p:nvSpPr>
            <p:spPr>
              <a:xfrm>
                <a:off x="2015" y="2686"/>
                <a:ext cx="240" cy="25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35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</a:rPr>
                  <a:t>2</a:t>
                </a:r>
              </a:p>
            </p:txBody>
          </p:sp>
          <p:sp>
            <p:nvSpPr>
              <p:cNvPr id="248" name="文本框 247">
                <a:extLst>
                  <a:ext uri="{FF2B5EF4-FFF2-40B4-BE49-F238E27FC236}">
                    <a16:creationId xmlns:a16="http://schemas.microsoft.com/office/drawing/2014/main" id="{9E053BFB-CD91-4EBD-B05D-5F63EEE47922}"/>
                  </a:ext>
                </a:extLst>
              </p:cNvPr>
              <p:cNvSpPr txBox="1"/>
              <p:nvPr/>
            </p:nvSpPr>
            <p:spPr>
              <a:xfrm>
                <a:off x="2496" y="3024"/>
                <a:ext cx="288" cy="25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35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</a:rPr>
                  <a:t>3</a:t>
                </a:r>
              </a:p>
            </p:txBody>
          </p:sp>
          <p:sp>
            <p:nvSpPr>
              <p:cNvPr id="249" name="文本框 248">
                <a:extLst>
                  <a:ext uri="{FF2B5EF4-FFF2-40B4-BE49-F238E27FC236}">
                    <a16:creationId xmlns:a16="http://schemas.microsoft.com/office/drawing/2014/main" id="{D498343A-3FFC-44BC-BE15-57221CBBC26A}"/>
                  </a:ext>
                </a:extLst>
              </p:cNvPr>
              <p:cNvSpPr txBox="1"/>
              <p:nvPr/>
            </p:nvSpPr>
            <p:spPr>
              <a:xfrm>
                <a:off x="1296" y="3033"/>
                <a:ext cx="384" cy="25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35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</a:rPr>
                  <a:t>4</a:t>
                </a:r>
              </a:p>
            </p:txBody>
          </p:sp>
        </p:grpSp>
        <p:grpSp>
          <p:nvGrpSpPr>
            <p:cNvPr id="101" name="组合 47124">
              <a:extLst>
                <a:ext uri="{FF2B5EF4-FFF2-40B4-BE49-F238E27FC236}">
                  <a16:creationId xmlns:a16="http://schemas.microsoft.com/office/drawing/2014/main" id="{5BDB233C-0369-490B-9367-B21F2A01F1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0" y="2400"/>
              <a:ext cx="1240" cy="1125"/>
              <a:chOff x="1296" y="2160"/>
              <a:chExt cx="1488" cy="1125"/>
            </a:xfrm>
          </p:grpSpPr>
          <p:sp>
            <p:nvSpPr>
              <p:cNvPr id="234" name="等腰三角形 47125">
                <a:extLst>
                  <a:ext uri="{FF2B5EF4-FFF2-40B4-BE49-F238E27FC236}">
                    <a16:creationId xmlns:a16="http://schemas.microsoft.com/office/drawing/2014/main" id="{0A2A8271-337D-4D9E-AF36-398B0591DF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88" y="2352"/>
                <a:ext cx="1008" cy="768"/>
              </a:xfrm>
              <a:prstGeom prst="triangle">
                <a:avLst>
                  <a:gd name="adj" fmla="val 52380"/>
                </a:avLst>
              </a:prstGeom>
              <a:noFill/>
              <a:ln w="9525">
                <a:solidFill>
                  <a:srgbClr val="FFFF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aramond" panose="02020404030301010803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35" name="直接连接符 47126">
                <a:extLst>
                  <a:ext uri="{FF2B5EF4-FFF2-40B4-BE49-F238E27FC236}">
                    <a16:creationId xmlns:a16="http://schemas.microsoft.com/office/drawing/2014/main" id="{98A46006-7705-4551-B34A-409F42F8DD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16" y="2400"/>
                <a:ext cx="0" cy="480"/>
              </a:xfrm>
              <a:prstGeom prst="line">
                <a:avLst/>
              </a:prstGeom>
              <a:noFill/>
              <a:ln w="9525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aramond" panose="02020404030301010803" pitchFamily="18" charset="0"/>
                </a:endParaRPr>
              </a:p>
            </p:txBody>
          </p:sp>
          <p:sp>
            <p:nvSpPr>
              <p:cNvPr id="236" name="直接连接符 47127">
                <a:extLst>
                  <a:ext uri="{FF2B5EF4-FFF2-40B4-BE49-F238E27FC236}">
                    <a16:creationId xmlns:a16="http://schemas.microsoft.com/office/drawing/2014/main" id="{A43C7CC2-5E04-43B0-898C-7656F4AC2AF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88" y="2880"/>
                <a:ext cx="528" cy="240"/>
              </a:xfrm>
              <a:prstGeom prst="line">
                <a:avLst/>
              </a:prstGeom>
              <a:noFill/>
              <a:ln w="9525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aramond" panose="02020404030301010803" pitchFamily="18" charset="0"/>
                </a:endParaRPr>
              </a:p>
            </p:txBody>
          </p:sp>
          <p:sp>
            <p:nvSpPr>
              <p:cNvPr id="237" name="直接连接符 47128">
                <a:extLst>
                  <a:ext uri="{FF2B5EF4-FFF2-40B4-BE49-F238E27FC236}">
                    <a16:creationId xmlns:a16="http://schemas.microsoft.com/office/drawing/2014/main" id="{698F0D8D-C3C9-414F-95F9-1FE6BCB8D8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16" y="2880"/>
                <a:ext cx="480" cy="240"/>
              </a:xfrm>
              <a:prstGeom prst="line">
                <a:avLst/>
              </a:prstGeom>
              <a:noFill/>
              <a:ln w="9525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aramond" panose="02020404030301010803" pitchFamily="18" charset="0"/>
                </a:endParaRPr>
              </a:p>
            </p:txBody>
          </p:sp>
          <p:sp>
            <p:nvSpPr>
              <p:cNvPr id="238" name="文本框 237">
                <a:extLst>
                  <a:ext uri="{FF2B5EF4-FFF2-40B4-BE49-F238E27FC236}">
                    <a16:creationId xmlns:a16="http://schemas.microsoft.com/office/drawing/2014/main" id="{BF5215C6-09E0-4957-877F-185E53BF881E}"/>
                  </a:ext>
                </a:extLst>
              </p:cNvPr>
              <p:cNvSpPr txBox="1"/>
              <p:nvPr/>
            </p:nvSpPr>
            <p:spPr>
              <a:xfrm>
                <a:off x="1920" y="2160"/>
                <a:ext cx="336" cy="25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35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</a:rPr>
                  <a:t>1</a:t>
                </a:r>
              </a:p>
            </p:txBody>
          </p:sp>
          <p:sp>
            <p:nvSpPr>
              <p:cNvPr id="239" name="文本框 238">
                <a:extLst>
                  <a:ext uri="{FF2B5EF4-FFF2-40B4-BE49-F238E27FC236}">
                    <a16:creationId xmlns:a16="http://schemas.microsoft.com/office/drawing/2014/main" id="{88A433FA-348F-462D-8EF7-29D6F7E14D93}"/>
                  </a:ext>
                </a:extLst>
              </p:cNvPr>
              <p:cNvSpPr txBox="1"/>
              <p:nvPr/>
            </p:nvSpPr>
            <p:spPr>
              <a:xfrm>
                <a:off x="2015" y="2686"/>
                <a:ext cx="240" cy="25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35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</a:rPr>
                  <a:t>2</a:t>
                </a:r>
              </a:p>
            </p:txBody>
          </p:sp>
          <p:sp>
            <p:nvSpPr>
              <p:cNvPr id="240" name="文本框 239">
                <a:extLst>
                  <a:ext uri="{FF2B5EF4-FFF2-40B4-BE49-F238E27FC236}">
                    <a16:creationId xmlns:a16="http://schemas.microsoft.com/office/drawing/2014/main" id="{21706E16-92E3-48E1-BB12-C03256E5DC08}"/>
                  </a:ext>
                </a:extLst>
              </p:cNvPr>
              <p:cNvSpPr txBox="1"/>
              <p:nvPr/>
            </p:nvSpPr>
            <p:spPr>
              <a:xfrm>
                <a:off x="2496" y="3024"/>
                <a:ext cx="288" cy="25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35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</a:rPr>
                  <a:t>3</a:t>
                </a:r>
              </a:p>
            </p:txBody>
          </p:sp>
          <p:sp>
            <p:nvSpPr>
              <p:cNvPr id="241" name="文本框 240">
                <a:extLst>
                  <a:ext uri="{FF2B5EF4-FFF2-40B4-BE49-F238E27FC236}">
                    <a16:creationId xmlns:a16="http://schemas.microsoft.com/office/drawing/2014/main" id="{EF57B750-3AA8-4436-BCA7-85DEC94381E3}"/>
                  </a:ext>
                </a:extLst>
              </p:cNvPr>
              <p:cNvSpPr txBox="1"/>
              <p:nvPr/>
            </p:nvSpPr>
            <p:spPr>
              <a:xfrm>
                <a:off x="1296" y="3033"/>
                <a:ext cx="384" cy="25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35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</a:rPr>
                  <a:t>4</a:t>
                </a:r>
              </a:p>
            </p:txBody>
          </p:sp>
        </p:grpSp>
        <p:sp>
          <p:nvSpPr>
            <p:cNvPr id="102" name="直接连接符 47133">
              <a:extLst>
                <a:ext uri="{FF2B5EF4-FFF2-40B4-BE49-F238E27FC236}">
                  <a16:creationId xmlns:a16="http://schemas.microsoft.com/office/drawing/2014/main" id="{301DBF21-4A57-4683-ABB1-9BD646DCC2D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20" y="2832"/>
              <a:ext cx="120" cy="192"/>
            </a:xfrm>
            <a:prstGeom prst="line">
              <a:avLst/>
            </a:prstGeom>
            <a:noFill/>
            <a:ln w="9525">
              <a:solidFill>
                <a:srgbClr val="FF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</a:endParaRPr>
            </a:p>
          </p:txBody>
        </p:sp>
        <p:sp>
          <p:nvSpPr>
            <p:cNvPr id="103" name="直接连接符 47134">
              <a:extLst>
                <a:ext uri="{FF2B5EF4-FFF2-40B4-BE49-F238E27FC236}">
                  <a16:creationId xmlns:a16="http://schemas.microsoft.com/office/drawing/2014/main" id="{B741BD86-4AAA-4392-92CA-5698429E1E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0" y="2880"/>
              <a:ext cx="120" cy="240"/>
            </a:xfrm>
            <a:prstGeom prst="line">
              <a:avLst/>
            </a:prstGeom>
            <a:noFill/>
            <a:ln w="9525">
              <a:solidFill>
                <a:srgbClr val="FF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</a:endParaRPr>
            </a:p>
          </p:txBody>
        </p:sp>
        <p:sp>
          <p:nvSpPr>
            <p:cNvPr id="104" name="直接连接符 47135">
              <a:extLst>
                <a:ext uri="{FF2B5EF4-FFF2-40B4-BE49-F238E27FC236}">
                  <a16:creationId xmlns:a16="http://schemas.microsoft.com/office/drawing/2014/main" id="{2F5A35A0-C7C6-420F-BB81-D38BBDEC2B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60" y="2736"/>
              <a:ext cx="0" cy="192"/>
            </a:xfrm>
            <a:prstGeom prst="line">
              <a:avLst/>
            </a:prstGeom>
            <a:noFill/>
            <a:ln w="9525">
              <a:solidFill>
                <a:srgbClr val="FF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</a:endParaRPr>
            </a:p>
          </p:txBody>
        </p:sp>
        <p:sp>
          <p:nvSpPr>
            <p:cNvPr id="105" name="直接连接符 47136">
              <a:extLst>
                <a:ext uri="{FF2B5EF4-FFF2-40B4-BE49-F238E27FC236}">
                  <a16:creationId xmlns:a16="http://schemas.microsoft.com/office/drawing/2014/main" id="{DBD85F86-0257-4F6C-8299-651949A1BD3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20" y="3120"/>
              <a:ext cx="240" cy="144"/>
            </a:xfrm>
            <a:prstGeom prst="line">
              <a:avLst/>
            </a:prstGeom>
            <a:noFill/>
            <a:ln w="9525">
              <a:solidFill>
                <a:srgbClr val="FF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</a:endParaRPr>
            </a:p>
          </p:txBody>
        </p:sp>
        <p:sp>
          <p:nvSpPr>
            <p:cNvPr id="106" name="直接连接符 47137">
              <a:extLst>
                <a:ext uri="{FF2B5EF4-FFF2-40B4-BE49-F238E27FC236}">
                  <a16:creationId xmlns:a16="http://schemas.microsoft.com/office/drawing/2014/main" id="{DEC5B7BA-1136-4DC4-9271-A728265897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60" y="3120"/>
              <a:ext cx="200" cy="144"/>
            </a:xfrm>
            <a:prstGeom prst="line">
              <a:avLst/>
            </a:prstGeom>
            <a:noFill/>
            <a:ln w="9525">
              <a:solidFill>
                <a:srgbClr val="FF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</a:endParaRPr>
            </a:p>
          </p:txBody>
        </p:sp>
        <p:sp>
          <p:nvSpPr>
            <p:cNvPr id="107" name="直接连接符 47138">
              <a:extLst>
                <a:ext uri="{FF2B5EF4-FFF2-40B4-BE49-F238E27FC236}">
                  <a16:creationId xmlns:a16="http://schemas.microsoft.com/office/drawing/2014/main" id="{4B85216D-9693-4334-829E-7FFF652953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80" y="3360"/>
              <a:ext cx="160" cy="0"/>
            </a:xfrm>
            <a:prstGeom prst="line">
              <a:avLst/>
            </a:prstGeom>
            <a:noFill/>
            <a:ln w="9525">
              <a:solidFill>
                <a:srgbClr val="FF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</a:endParaRPr>
            </a:p>
          </p:txBody>
        </p:sp>
        <p:sp>
          <p:nvSpPr>
            <p:cNvPr id="203" name="直接连接符 47139">
              <a:extLst>
                <a:ext uri="{FF2B5EF4-FFF2-40B4-BE49-F238E27FC236}">
                  <a16:creationId xmlns:a16="http://schemas.microsoft.com/office/drawing/2014/main" id="{93690515-7F6D-4A5F-9B6F-4A362C3C0C1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00" y="3120"/>
              <a:ext cx="200" cy="96"/>
            </a:xfrm>
            <a:prstGeom prst="line">
              <a:avLst/>
            </a:prstGeom>
            <a:noFill/>
            <a:ln w="9525">
              <a:solidFill>
                <a:srgbClr val="FF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</a:endParaRPr>
            </a:p>
          </p:txBody>
        </p:sp>
        <p:sp>
          <p:nvSpPr>
            <p:cNvPr id="204" name="直接连接符 47140">
              <a:extLst>
                <a:ext uri="{FF2B5EF4-FFF2-40B4-BE49-F238E27FC236}">
                  <a16:creationId xmlns:a16="http://schemas.microsoft.com/office/drawing/2014/main" id="{5B047261-7887-4C77-89B9-C9EC806CDC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00" y="3120"/>
              <a:ext cx="200" cy="144"/>
            </a:xfrm>
            <a:prstGeom prst="line">
              <a:avLst/>
            </a:prstGeom>
            <a:noFill/>
            <a:ln w="9525">
              <a:solidFill>
                <a:srgbClr val="FF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</a:endParaRPr>
            </a:p>
          </p:txBody>
        </p:sp>
        <p:sp>
          <p:nvSpPr>
            <p:cNvPr id="205" name="直接连接符 47141">
              <a:extLst>
                <a:ext uri="{FF2B5EF4-FFF2-40B4-BE49-F238E27FC236}">
                  <a16:creationId xmlns:a16="http://schemas.microsoft.com/office/drawing/2014/main" id="{F249B7D4-3F2E-4537-A8D3-0167DF85F85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20" y="3360"/>
              <a:ext cx="200" cy="0"/>
            </a:xfrm>
            <a:prstGeom prst="line">
              <a:avLst/>
            </a:prstGeom>
            <a:noFill/>
            <a:ln w="9525">
              <a:solidFill>
                <a:srgbClr val="FF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</a:endParaRPr>
            </a:p>
          </p:txBody>
        </p:sp>
        <p:sp>
          <p:nvSpPr>
            <p:cNvPr id="206" name="直接连接符 47142">
              <a:extLst>
                <a:ext uri="{FF2B5EF4-FFF2-40B4-BE49-F238E27FC236}">
                  <a16:creationId xmlns:a16="http://schemas.microsoft.com/office/drawing/2014/main" id="{E9B84ABB-D3C6-441C-A24A-4D5149E6FD2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00" y="2880"/>
              <a:ext cx="0" cy="240"/>
            </a:xfrm>
            <a:prstGeom prst="line">
              <a:avLst/>
            </a:prstGeom>
            <a:noFill/>
            <a:ln w="9525">
              <a:solidFill>
                <a:srgbClr val="FF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</a:endParaRPr>
            </a:p>
          </p:txBody>
        </p:sp>
        <p:sp>
          <p:nvSpPr>
            <p:cNvPr id="207" name="直接连接符 47143">
              <a:extLst>
                <a:ext uri="{FF2B5EF4-FFF2-40B4-BE49-F238E27FC236}">
                  <a16:creationId xmlns:a16="http://schemas.microsoft.com/office/drawing/2014/main" id="{2BB41357-0722-4B45-A21E-471D044562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20" y="2880"/>
              <a:ext cx="120" cy="192"/>
            </a:xfrm>
            <a:prstGeom prst="line">
              <a:avLst/>
            </a:prstGeom>
            <a:noFill/>
            <a:ln w="9525">
              <a:solidFill>
                <a:srgbClr val="FF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</a:endParaRPr>
            </a:p>
          </p:txBody>
        </p:sp>
        <p:sp>
          <p:nvSpPr>
            <p:cNvPr id="208" name="直接连接符 47144">
              <a:extLst>
                <a:ext uri="{FF2B5EF4-FFF2-40B4-BE49-F238E27FC236}">
                  <a16:creationId xmlns:a16="http://schemas.microsoft.com/office/drawing/2014/main" id="{03B6CFE0-4573-4EDB-980C-1F2B17692D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2784"/>
              <a:ext cx="160" cy="240"/>
            </a:xfrm>
            <a:prstGeom prst="line">
              <a:avLst/>
            </a:prstGeom>
            <a:noFill/>
            <a:ln w="9525">
              <a:solidFill>
                <a:srgbClr val="FF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</a:endParaRPr>
            </a:p>
          </p:txBody>
        </p:sp>
        <p:sp>
          <p:nvSpPr>
            <p:cNvPr id="209" name="直接连接符 47145">
              <a:extLst>
                <a:ext uri="{FF2B5EF4-FFF2-40B4-BE49-F238E27FC236}">
                  <a16:creationId xmlns:a16="http://schemas.microsoft.com/office/drawing/2014/main" id="{DD74C9E1-7986-4B39-90D0-253D4EB3F4B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80" y="2880"/>
              <a:ext cx="120" cy="192"/>
            </a:xfrm>
            <a:prstGeom prst="line">
              <a:avLst/>
            </a:prstGeom>
            <a:noFill/>
            <a:ln w="9525">
              <a:solidFill>
                <a:srgbClr val="FF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</a:endParaRPr>
            </a:p>
          </p:txBody>
        </p:sp>
        <p:sp>
          <p:nvSpPr>
            <p:cNvPr id="210" name="直接连接符 47146">
              <a:extLst>
                <a:ext uri="{FF2B5EF4-FFF2-40B4-BE49-F238E27FC236}">
                  <a16:creationId xmlns:a16="http://schemas.microsoft.com/office/drawing/2014/main" id="{58ABEEB3-9D9C-4AD2-8708-E3ACB0D6EB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0" y="2832"/>
              <a:ext cx="120" cy="192"/>
            </a:xfrm>
            <a:prstGeom prst="line">
              <a:avLst/>
            </a:prstGeom>
            <a:noFill/>
            <a:ln w="9525">
              <a:solidFill>
                <a:srgbClr val="FF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</a:endParaRPr>
            </a:p>
          </p:txBody>
        </p:sp>
        <p:sp>
          <p:nvSpPr>
            <p:cNvPr id="211" name="直接连接符 47147">
              <a:extLst>
                <a:ext uri="{FF2B5EF4-FFF2-40B4-BE49-F238E27FC236}">
                  <a16:creationId xmlns:a16="http://schemas.microsoft.com/office/drawing/2014/main" id="{47103CE5-2D9B-48ED-B1FF-03D626863F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0" y="2736"/>
              <a:ext cx="0" cy="144"/>
            </a:xfrm>
            <a:prstGeom prst="line">
              <a:avLst/>
            </a:prstGeom>
            <a:noFill/>
            <a:ln w="9525">
              <a:solidFill>
                <a:srgbClr val="FF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</a:endParaRPr>
            </a:p>
          </p:txBody>
        </p:sp>
        <p:sp>
          <p:nvSpPr>
            <p:cNvPr id="212" name="直接连接符 47148">
              <a:extLst>
                <a:ext uri="{FF2B5EF4-FFF2-40B4-BE49-F238E27FC236}">
                  <a16:creationId xmlns:a16="http://schemas.microsoft.com/office/drawing/2014/main" id="{EC95A5DF-CD5D-4B4E-9048-C3431438D10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80" y="3168"/>
              <a:ext cx="160" cy="96"/>
            </a:xfrm>
            <a:prstGeom prst="line">
              <a:avLst/>
            </a:prstGeom>
            <a:noFill/>
            <a:ln w="9525">
              <a:solidFill>
                <a:srgbClr val="FF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</a:endParaRPr>
            </a:p>
          </p:txBody>
        </p:sp>
        <p:sp>
          <p:nvSpPr>
            <p:cNvPr id="213" name="直接连接符 47149">
              <a:extLst>
                <a:ext uri="{FF2B5EF4-FFF2-40B4-BE49-F238E27FC236}">
                  <a16:creationId xmlns:a16="http://schemas.microsoft.com/office/drawing/2014/main" id="{F200CF1B-C3DD-47C2-86C8-B645862C0C3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40" y="3360"/>
              <a:ext cx="240" cy="0"/>
            </a:xfrm>
            <a:prstGeom prst="line">
              <a:avLst/>
            </a:prstGeom>
            <a:noFill/>
            <a:ln w="9525">
              <a:solidFill>
                <a:srgbClr val="FF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</a:endParaRPr>
            </a:p>
          </p:txBody>
        </p:sp>
        <p:sp>
          <p:nvSpPr>
            <p:cNvPr id="214" name="直接连接符 47150">
              <a:extLst>
                <a:ext uri="{FF2B5EF4-FFF2-40B4-BE49-F238E27FC236}">
                  <a16:creationId xmlns:a16="http://schemas.microsoft.com/office/drawing/2014/main" id="{2FD8A405-4FD3-4EA2-A3FE-993F37AC530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040" y="3168"/>
              <a:ext cx="160" cy="96"/>
            </a:xfrm>
            <a:prstGeom prst="line">
              <a:avLst/>
            </a:prstGeom>
            <a:noFill/>
            <a:ln w="9525">
              <a:solidFill>
                <a:srgbClr val="FF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</a:endParaRPr>
            </a:p>
          </p:txBody>
        </p:sp>
        <p:sp>
          <p:nvSpPr>
            <p:cNvPr id="215" name="文本框 214">
              <a:extLst>
                <a:ext uri="{FF2B5EF4-FFF2-40B4-BE49-F238E27FC236}">
                  <a16:creationId xmlns:a16="http://schemas.microsoft.com/office/drawing/2014/main" id="{A876FFF6-2CDE-43CF-862F-1E28D4AF6848}"/>
                </a:ext>
              </a:extLst>
            </p:cNvPr>
            <p:cNvSpPr txBox="1"/>
            <p:nvPr/>
          </p:nvSpPr>
          <p:spPr>
            <a:xfrm>
              <a:off x="1480" y="3408"/>
              <a:ext cx="321" cy="21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</a:rPr>
                <a:t>(1)</a:t>
              </a:r>
            </a:p>
          </p:txBody>
        </p:sp>
        <p:sp>
          <p:nvSpPr>
            <p:cNvPr id="216" name="文本框 215">
              <a:extLst>
                <a:ext uri="{FF2B5EF4-FFF2-40B4-BE49-F238E27FC236}">
                  <a16:creationId xmlns:a16="http://schemas.microsoft.com/office/drawing/2014/main" id="{D8279EC7-45B6-4239-95CA-0989BDB886BD}"/>
                </a:ext>
              </a:extLst>
            </p:cNvPr>
            <p:cNvSpPr txBox="1"/>
            <p:nvPr/>
          </p:nvSpPr>
          <p:spPr>
            <a:xfrm>
              <a:off x="2720" y="3408"/>
              <a:ext cx="306" cy="21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</a:rPr>
                <a:t>(2)</a:t>
              </a:r>
            </a:p>
          </p:txBody>
        </p:sp>
        <p:sp>
          <p:nvSpPr>
            <p:cNvPr id="217" name="文本框 216">
              <a:extLst>
                <a:ext uri="{FF2B5EF4-FFF2-40B4-BE49-F238E27FC236}">
                  <a16:creationId xmlns:a16="http://schemas.microsoft.com/office/drawing/2014/main" id="{9FB5786D-2BA1-49D1-BCB5-E61CA29DADE7}"/>
                </a:ext>
              </a:extLst>
            </p:cNvPr>
            <p:cNvSpPr txBox="1"/>
            <p:nvPr/>
          </p:nvSpPr>
          <p:spPr>
            <a:xfrm>
              <a:off x="3880" y="3408"/>
              <a:ext cx="296" cy="21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</a:rPr>
                <a:t>(3)</a:t>
              </a:r>
            </a:p>
          </p:txBody>
        </p:sp>
        <p:grpSp>
          <p:nvGrpSpPr>
            <p:cNvPr id="218" name="组合 47154">
              <a:extLst>
                <a:ext uri="{FF2B5EF4-FFF2-40B4-BE49-F238E27FC236}">
                  <a16:creationId xmlns:a16="http://schemas.microsoft.com/office/drawing/2014/main" id="{29A3E293-5915-49CF-9B89-9492E6D1696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20" y="2400"/>
              <a:ext cx="1240" cy="1357"/>
              <a:chOff x="4520" y="2400"/>
              <a:chExt cx="1240" cy="1357"/>
            </a:xfrm>
          </p:grpSpPr>
          <p:sp>
            <p:nvSpPr>
              <p:cNvPr id="219" name="等腰三角形 47155">
                <a:extLst>
                  <a:ext uri="{FF2B5EF4-FFF2-40B4-BE49-F238E27FC236}">
                    <a16:creationId xmlns:a16="http://schemas.microsoft.com/office/drawing/2014/main" id="{B392562D-C06F-48C8-82C2-9230773A6C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80" y="2592"/>
                <a:ext cx="840" cy="768"/>
              </a:xfrm>
              <a:prstGeom prst="triangle">
                <a:avLst>
                  <a:gd name="adj" fmla="val 52380"/>
                </a:avLst>
              </a:prstGeom>
              <a:noFill/>
              <a:ln w="9525">
                <a:solidFill>
                  <a:srgbClr val="FF33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aramond" panose="02020404030301010803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20" name="直接连接符 47156">
                <a:extLst>
                  <a:ext uri="{FF2B5EF4-FFF2-40B4-BE49-F238E27FC236}">
                    <a16:creationId xmlns:a16="http://schemas.microsoft.com/office/drawing/2014/main" id="{B77F4135-98B9-491E-BDAF-7777237EA7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20" y="2640"/>
                <a:ext cx="0" cy="480"/>
              </a:xfrm>
              <a:prstGeom prst="line">
                <a:avLst/>
              </a:prstGeom>
              <a:noFill/>
              <a:ln w="9525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aramond" panose="02020404030301010803" pitchFamily="18" charset="0"/>
                </a:endParaRPr>
              </a:p>
            </p:txBody>
          </p:sp>
          <p:sp>
            <p:nvSpPr>
              <p:cNvPr id="221" name="直接连接符 47157">
                <a:extLst>
                  <a:ext uri="{FF2B5EF4-FFF2-40B4-BE49-F238E27FC236}">
                    <a16:creationId xmlns:a16="http://schemas.microsoft.com/office/drawing/2014/main" id="{836184D1-0098-4A17-A7FA-10FB05C61B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680" y="3120"/>
                <a:ext cx="440" cy="240"/>
              </a:xfrm>
              <a:prstGeom prst="line">
                <a:avLst/>
              </a:prstGeom>
              <a:noFill/>
              <a:ln w="9525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aramond" panose="02020404030301010803" pitchFamily="18" charset="0"/>
                </a:endParaRPr>
              </a:p>
            </p:txBody>
          </p:sp>
          <p:sp>
            <p:nvSpPr>
              <p:cNvPr id="222" name="直接连接符 47158">
                <a:extLst>
                  <a:ext uri="{FF2B5EF4-FFF2-40B4-BE49-F238E27FC236}">
                    <a16:creationId xmlns:a16="http://schemas.microsoft.com/office/drawing/2014/main" id="{799AF758-941F-4111-9DBF-E241357281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20" y="3120"/>
                <a:ext cx="400" cy="240"/>
              </a:xfrm>
              <a:prstGeom prst="line">
                <a:avLst/>
              </a:prstGeom>
              <a:noFill/>
              <a:ln w="9525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aramond" panose="02020404030301010803" pitchFamily="18" charset="0"/>
                </a:endParaRPr>
              </a:p>
            </p:txBody>
          </p:sp>
          <p:sp>
            <p:nvSpPr>
              <p:cNvPr id="223" name="文本框 222">
                <a:extLst>
                  <a:ext uri="{FF2B5EF4-FFF2-40B4-BE49-F238E27FC236}">
                    <a16:creationId xmlns:a16="http://schemas.microsoft.com/office/drawing/2014/main" id="{4F3F4BEE-F3AD-43DC-AB48-F9825D002FC2}"/>
                  </a:ext>
                </a:extLst>
              </p:cNvPr>
              <p:cNvSpPr txBox="1"/>
              <p:nvPr/>
            </p:nvSpPr>
            <p:spPr>
              <a:xfrm>
                <a:off x="5040" y="2400"/>
                <a:ext cx="280" cy="25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350" b="0" i="0" u="none" strike="noStrike" kern="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/>
                    <a:uLnTx/>
                    <a:uFillTx/>
                  </a:rPr>
                  <a:t>1</a:t>
                </a:r>
              </a:p>
            </p:txBody>
          </p:sp>
          <p:sp>
            <p:nvSpPr>
              <p:cNvPr id="224" name="文本框 223">
                <a:extLst>
                  <a:ext uri="{FF2B5EF4-FFF2-40B4-BE49-F238E27FC236}">
                    <a16:creationId xmlns:a16="http://schemas.microsoft.com/office/drawing/2014/main" id="{B6B148DE-40EB-49E4-B573-E438573315D2}"/>
                  </a:ext>
                </a:extLst>
              </p:cNvPr>
              <p:cNvSpPr txBox="1"/>
              <p:nvPr/>
            </p:nvSpPr>
            <p:spPr>
              <a:xfrm>
                <a:off x="5120" y="2927"/>
                <a:ext cx="200" cy="25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350" b="0" i="0" u="none" strike="noStrike" kern="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/>
                    <a:uLnTx/>
                    <a:uFillTx/>
                  </a:rPr>
                  <a:t>2</a:t>
                </a:r>
              </a:p>
            </p:txBody>
          </p:sp>
          <p:sp>
            <p:nvSpPr>
              <p:cNvPr id="225" name="文本框 224">
                <a:extLst>
                  <a:ext uri="{FF2B5EF4-FFF2-40B4-BE49-F238E27FC236}">
                    <a16:creationId xmlns:a16="http://schemas.microsoft.com/office/drawing/2014/main" id="{0593F063-528C-4DFC-9A6E-47C9DE488214}"/>
                  </a:ext>
                </a:extLst>
              </p:cNvPr>
              <p:cNvSpPr txBox="1"/>
              <p:nvPr/>
            </p:nvSpPr>
            <p:spPr>
              <a:xfrm>
                <a:off x="5520" y="3264"/>
                <a:ext cx="240" cy="25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350" b="0" i="0" u="none" strike="noStrike" kern="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/>
                    <a:uLnTx/>
                    <a:uFillTx/>
                  </a:rPr>
                  <a:t>3</a:t>
                </a:r>
              </a:p>
            </p:txBody>
          </p:sp>
          <p:sp>
            <p:nvSpPr>
              <p:cNvPr id="226" name="文本框 225">
                <a:extLst>
                  <a:ext uri="{FF2B5EF4-FFF2-40B4-BE49-F238E27FC236}">
                    <a16:creationId xmlns:a16="http://schemas.microsoft.com/office/drawing/2014/main" id="{A4C4613F-BAD3-444A-BF6B-6864F0B7CFC6}"/>
                  </a:ext>
                </a:extLst>
              </p:cNvPr>
              <p:cNvSpPr txBox="1"/>
              <p:nvPr/>
            </p:nvSpPr>
            <p:spPr>
              <a:xfrm>
                <a:off x="4520" y="3273"/>
                <a:ext cx="320" cy="25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350" b="0" i="0" u="none" strike="noStrike" kern="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/>
                    <a:uLnTx/>
                    <a:uFillTx/>
                  </a:rPr>
                  <a:t>4</a:t>
                </a:r>
              </a:p>
            </p:txBody>
          </p:sp>
          <p:sp>
            <p:nvSpPr>
              <p:cNvPr id="227" name="直接连接符 47163">
                <a:extLst>
                  <a:ext uri="{FF2B5EF4-FFF2-40B4-BE49-F238E27FC236}">
                    <a16:creationId xmlns:a16="http://schemas.microsoft.com/office/drawing/2014/main" id="{602C5313-EC71-4D64-BF30-5936EBB3DF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20" y="2736"/>
                <a:ext cx="0" cy="192"/>
              </a:xfrm>
              <a:prstGeom prst="line">
                <a:avLst/>
              </a:prstGeom>
              <a:noFill/>
              <a:ln w="9525">
                <a:solidFill>
                  <a:srgbClr val="FF33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aramond" panose="02020404030301010803" pitchFamily="18" charset="0"/>
                </a:endParaRPr>
              </a:p>
            </p:txBody>
          </p:sp>
          <p:sp>
            <p:nvSpPr>
              <p:cNvPr id="228" name="直接连接符 47164">
                <a:extLst>
                  <a:ext uri="{FF2B5EF4-FFF2-40B4-BE49-F238E27FC236}">
                    <a16:creationId xmlns:a16="http://schemas.microsoft.com/office/drawing/2014/main" id="{B9737203-DB60-4A71-B641-A8C377AA7A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40" y="2880"/>
                <a:ext cx="120" cy="192"/>
              </a:xfrm>
              <a:prstGeom prst="line">
                <a:avLst/>
              </a:prstGeom>
              <a:noFill/>
              <a:ln w="9525">
                <a:solidFill>
                  <a:srgbClr val="FF33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aramond" panose="02020404030301010803" pitchFamily="18" charset="0"/>
                </a:endParaRPr>
              </a:p>
            </p:txBody>
          </p:sp>
          <p:sp>
            <p:nvSpPr>
              <p:cNvPr id="229" name="直接连接符 47165">
                <a:extLst>
                  <a:ext uri="{FF2B5EF4-FFF2-40B4-BE49-F238E27FC236}">
                    <a16:creationId xmlns:a16="http://schemas.microsoft.com/office/drawing/2014/main" id="{E8D1D241-69F6-4287-A0DB-7BB9252281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80" y="2880"/>
                <a:ext cx="120" cy="240"/>
              </a:xfrm>
              <a:prstGeom prst="line">
                <a:avLst/>
              </a:prstGeom>
              <a:noFill/>
              <a:ln w="9525">
                <a:solidFill>
                  <a:srgbClr val="FF33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aramond" panose="02020404030301010803" pitchFamily="18" charset="0"/>
                </a:endParaRPr>
              </a:p>
            </p:txBody>
          </p:sp>
          <p:sp>
            <p:nvSpPr>
              <p:cNvPr id="230" name="直接连接符 47166">
                <a:extLst>
                  <a:ext uri="{FF2B5EF4-FFF2-40B4-BE49-F238E27FC236}">
                    <a16:creationId xmlns:a16="http://schemas.microsoft.com/office/drawing/2014/main" id="{42433721-6E1B-48B8-A145-BE4C7877DC9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000" y="3360"/>
                <a:ext cx="200" cy="0"/>
              </a:xfrm>
              <a:prstGeom prst="line">
                <a:avLst/>
              </a:prstGeom>
              <a:noFill/>
              <a:ln w="9525">
                <a:solidFill>
                  <a:srgbClr val="FF33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aramond" panose="02020404030301010803" pitchFamily="18" charset="0"/>
                </a:endParaRPr>
              </a:p>
            </p:txBody>
          </p:sp>
          <p:sp>
            <p:nvSpPr>
              <p:cNvPr id="231" name="直接连接符 47167">
                <a:extLst>
                  <a:ext uri="{FF2B5EF4-FFF2-40B4-BE49-F238E27FC236}">
                    <a16:creationId xmlns:a16="http://schemas.microsoft.com/office/drawing/2014/main" id="{B19F3E8B-732E-4AB0-A587-8506631BDC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840" y="3168"/>
                <a:ext cx="200" cy="96"/>
              </a:xfrm>
              <a:prstGeom prst="line">
                <a:avLst/>
              </a:prstGeom>
              <a:noFill/>
              <a:ln w="9525">
                <a:solidFill>
                  <a:srgbClr val="FF33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aramond" panose="02020404030301010803" pitchFamily="18" charset="0"/>
                </a:endParaRPr>
              </a:p>
            </p:txBody>
          </p:sp>
          <p:sp>
            <p:nvSpPr>
              <p:cNvPr id="232" name="直接连接符 47168">
                <a:extLst>
                  <a:ext uri="{FF2B5EF4-FFF2-40B4-BE49-F238E27FC236}">
                    <a16:creationId xmlns:a16="http://schemas.microsoft.com/office/drawing/2014/main" id="{2AFE9EF4-A11D-487E-BF0C-7EFF113501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20" y="3120"/>
                <a:ext cx="240" cy="144"/>
              </a:xfrm>
              <a:prstGeom prst="line">
                <a:avLst/>
              </a:prstGeom>
              <a:noFill/>
              <a:ln w="9525">
                <a:solidFill>
                  <a:srgbClr val="FF33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aramond" panose="02020404030301010803" pitchFamily="18" charset="0"/>
                </a:endParaRPr>
              </a:p>
            </p:txBody>
          </p:sp>
          <p:sp>
            <p:nvSpPr>
              <p:cNvPr id="233" name="文本框 232">
                <a:extLst>
                  <a:ext uri="{FF2B5EF4-FFF2-40B4-BE49-F238E27FC236}">
                    <a16:creationId xmlns:a16="http://schemas.microsoft.com/office/drawing/2014/main" id="{015BF0F4-4FDD-4950-AF35-F985E9A20F23}"/>
                  </a:ext>
                </a:extLst>
              </p:cNvPr>
              <p:cNvSpPr txBox="1"/>
              <p:nvPr/>
            </p:nvSpPr>
            <p:spPr>
              <a:xfrm>
                <a:off x="5040" y="3408"/>
                <a:ext cx="280" cy="34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050" b="0" i="0" u="none" strike="noStrike" kern="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/>
                    <a:uLnTx/>
                    <a:uFillTx/>
                  </a:rPr>
                  <a:t>(4)</a:t>
                </a:r>
              </a:p>
            </p:txBody>
          </p:sp>
        </p:grpSp>
      </p:grpSp>
      <p:sp>
        <p:nvSpPr>
          <p:cNvPr id="258" name="文本框 257">
            <a:extLst>
              <a:ext uri="{FF2B5EF4-FFF2-40B4-BE49-F238E27FC236}">
                <a16:creationId xmlns:a16="http://schemas.microsoft.com/office/drawing/2014/main" id="{CD377818-857A-4340-B615-06C4837CAB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02643" y="3735351"/>
            <a:ext cx="1389063" cy="868363"/>
          </a:xfrm>
          <a:prstGeom prst="rect">
            <a:avLst/>
          </a:prstGeom>
          <a:solidFill>
            <a:srgbClr val="00B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0" hangingPunct="0">
              <a:lnSpc>
                <a:spcPct val="12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100" dirty="0">
                <a:solidFill>
                  <a:srgbClr val="FFFFFF"/>
                </a:solidFill>
                <a:latin typeface="Times New Roman" panose="02020603050405020304" pitchFamily="18" charset="0"/>
              </a:rPr>
              <a:t>竞赛图的</a:t>
            </a:r>
            <a:r>
              <a:rPr kumimoji="0" lang="en-US" altLang="zh-CN" sz="2100" dirty="0">
                <a:solidFill>
                  <a:srgbClr val="FFFFFF"/>
                </a:solidFill>
                <a:latin typeface="Times New Roman" panose="02020603050405020304" pitchFamily="18" charset="0"/>
              </a:rPr>
              <a:t>3</a:t>
            </a:r>
            <a:r>
              <a:rPr kumimoji="0" lang="zh-CN" altLang="en-US" sz="2100" dirty="0">
                <a:solidFill>
                  <a:srgbClr val="FFFFFF"/>
                </a:solidFill>
                <a:latin typeface="Times New Roman" panose="02020603050405020304" pitchFamily="18" charset="0"/>
              </a:rPr>
              <a:t>种形式</a:t>
            </a:r>
          </a:p>
        </p:txBody>
      </p:sp>
      <p:sp>
        <p:nvSpPr>
          <p:cNvPr id="259" name="文本框 258">
            <a:extLst>
              <a:ext uri="{FF2B5EF4-FFF2-40B4-BE49-F238E27FC236}">
                <a16:creationId xmlns:a16="http://schemas.microsoft.com/office/drawing/2014/main" id="{02AF8E58-E6A9-4943-9C11-9925E31533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40415" y="3660584"/>
            <a:ext cx="4244975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0" hangingPunct="0">
              <a:spcBef>
                <a:spcPct val="50000"/>
              </a:spcBef>
              <a:buClrTx/>
              <a:buSzTx/>
              <a:buFontTx/>
              <a:buChar char="•"/>
            </a:pPr>
            <a:r>
              <a:rPr kumimoji="0" lang="en-US" altLang="zh-CN" sz="2100" dirty="0">
                <a:solidFill>
                  <a:srgbClr val="FFFFFF"/>
                </a:solidFill>
                <a:latin typeface="Times New Roman" panose="02020603050405020304" pitchFamily="18" charset="0"/>
              </a:rPr>
              <a:t> </a:t>
            </a:r>
            <a:r>
              <a:rPr kumimoji="0" lang="zh-CN" altLang="en-US" sz="2100" dirty="0">
                <a:solidFill>
                  <a:srgbClr val="FFFFFF"/>
                </a:solidFill>
                <a:latin typeface="Times New Roman" panose="02020603050405020304" pitchFamily="18" charset="0"/>
              </a:rPr>
              <a:t>具有唯一的哈密顿通路，如</a:t>
            </a:r>
            <a:r>
              <a:rPr kumimoji="0" lang="en-US" altLang="zh-CN" sz="2100" dirty="0">
                <a:solidFill>
                  <a:srgbClr val="FFFFFF"/>
                </a:solidFill>
                <a:latin typeface="Times New Roman" panose="02020603050405020304" pitchFamily="18" charset="0"/>
              </a:rPr>
              <a:t>(1)</a:t>
            </a:r>
            <a:r>
              <a:rPr kumimoji="0" lang="zh-CN" altLang="en-US" sz="2100" dirty="0">
                <a:solidFill>
                  <a:srgbClr val="FFFFFF"/>
                </a:solidFill>
                <a:latin typeface="Times New Roman" panose="02020603050405020304" pitchFamily="18" charset="0"/>
              </a:rPr>
              <a:t>； </a:t>
            </a:r>
          </a:p>
        </p:txBody>
      </p:sp>
      <p:sp>
        <p:nvSpPr>
          <p:cNvPr id="260" name="文本框 259">
            <a:extLst>
              <a:ext uri="{FF2B5EF4-FFF2-40B4-BE49-F238E27FC236}">
                <a16:creationId xmlns:a16="http://schemas.microsoft.com/office/drawing/2014/main" id="{4894AF8F-E757-4083-971C-E4F35A2B6A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53660" y="4031391"/>
            <a:ext cx="8029731" cy="4430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0" hangingPunct="0">
              <a:lnSpc>
                <a:spcPct val="120000"/>
              </a:lnSpc>
              <a:spcBef>
                <a:spcPct val="50000"/>
              </a:spcBef>
              <a:buClrTx/>
              <a:buSzTx/>
              <a:buFontTx/>
              <a:buChar char="•"/>
            </a:pPr>
            <a:r>
              <a:rPr kumimoji="0" lang="zh-CN" altLang="en-US" sz="2100" dirty="0">
                <a:solidFill>
                  <a:srgbClr val="FF0000"/>
                </a:solidFill>
                <a:latin typeface="Times New Roman" panose="02020603050405020304" pitchFamily="18" charset="0"/>
              </a:rPr>
              <a:t>双向连通图</a:t>
            </a:r>
            <a:r>
              <a:rPr kumimoji="0" lang="en-US" altLang="zh-CN" sz="2100" dirty="0">
                <a:solidFill>
                  <a:srgbClr val="FFFFFF"/>
                </a:solidFill>
                <a:latin typeface="Times New Roman" panose="02020603050405020304" pitchFamily="18" charset="0"/>
              </a:rPr>
              <a:t>——</a:t>
            </a:r>
            <a:r>
              <a:rPr kumimoji="0" lang="zh-CN" altLang="en-US" sz="2100" dirty="0">
                <a:solidFill>
                  <a:srgbClr val="FFFFFF"/>
                </a:solidFill>
                <a:latin typeface="Times New Roman" panose="02020603050405020304" pitchFamily="18" charset="0"/>
              </a:rPr>
              <a:t>任一对顶点存在两条有向路径相互连通，如</a:t>
            </a:r>
            <a:r>
              <a:rPr kumimoji="0" lang="en-US" altLang="zh-CN" sz="2100" dirty="0">
                <a:solidFill>
                  <a:srgbClr val="FFFFFF"/>
                </a:solidFill>
                <a:latin typeface="Times New Roman" panose="02020603050405020304" pitchFamily="18" charset="0"/>
              </a:rPr>
              <a:t>(4)</a:t>
            </a:r>
            <a:r>
              <a:rPr kumimoji="0" lang="zh-CN" altLang="en-US" sz="2100" dirty="0">
                <a:solidFill>
                  <a:srgbClr val="FFFFFF"/>
                </a:solidFill>
                <a:latin typeface="Times New Roman" panose="02020603050405020304" pitchFamily="18" charset="0"/>
              </a:rPr>
              <a:t>； </a:t>
            </a:r>
          </a:p>
        </p:txBody>
      </p:sp>
      <p:sp>
        <p:nvSpPr>
          <p:cNvPr id="261" name="文本框 260">
            <a:extLst>
              <a:ext uri="{FF2B5EF4-FFF2-40B4-BE49-F238E27FC236}">
                <a16:creationId xmlns:a16="http://schemas.microsoft.com/office/drawing/2014/main" id="{3092E1CD-CBA3-4824-9E2E-A24B770DF6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62640" y="4445331"/>
            <a:ext cx="3070225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0" hangingPunct="0">
              <a:lnSpc>
                <a:spcPct val="120000"/>
              </a:lnSpc>
              <a:spcBef>
                <a:spcPct val="50000"/>
              </a:spcBef>
              <a:buClrTx/>
              <a:buSzTx/>
              <a:buFontTx/>
              <a:buChar char="•"/>
            </a:pPr>
            <a:r>
              <a:rPr kumimoji="0" lang="en-US" altLang="zh-CN" sz="2100" dirty="0">
                <a:solidFill>
                  <a:srgbClr val="FFFFFF"/>
                </a:solidFill>
                <a:latin typeface="Times New Roman" panose="02020603050405020304" pitchFamily="18" charset="0"/>
              </a:rPr>
              <a:t> </a:t>
            </a:r>
            <a:r>
              <a:rPr kumimoji="0" lang="zh-CN" altLang="en-US" sz="2100" dirty="0">
                <a:solidFill>
                  <a:srgbClr val="FFFFFF"/>
                </a:solidFill>
                <a:latin typeface="Times New Roman" panose="02020603050405020304" pitchFamily="18" charset="0"/>
              </a:rPr>
              <a:t>其他，如</a:t>
            </a:r>
            <a:r>
              <a:rPr kumimoji="0" lang="en-US" altLang="zh-CN" sz="2100" dirty="0">
                <a:solidFill>
                  <a:srgbClr val="FFFFFF"/>
                </a:solidFill>
                <a:latin typeface="Times New Roman" panose="02020603050405020304" pitchFamily="18" charset="0"/>
              </a:rPr>
              <a:t>(2)</a:t>
            </a:r>
            <a:r>
              <a:rPr kumimoji="0" lang="zh-CN" altLang="en-US" sz="2100" dirty="0">
                <a:solidFill>
                  <a:srgbClr val="FFFFFF"/>
                </a:solidFill>
                <a:latin typeface="Times New Roman" panose="02020603050405020304" pitchFamily="18" charset="0"/>
              </a:rPr>
              <a:t>， </a:t>
            </a:r>
            <a:r>
              <a:rPr kumimoji="0" lang="en-US" altLang="zh-CN" sz="2100" dirty="0">
                <a:solidFill>
                  <a:srgbClr val="FFFFFF"/>
                </a:solidFill>
                <a:latin typeface="Times New Roman" panose="02020603050405020304" pitchFamily="18" charset="0"/>
              </a:rPr>
              <a:t>(3) </a:t>
            </a:r>
            <a:r>
              <a:rPr kumimoji="0" lang="zh-CN" altLang="en-US" sz="2100" dirty="0">
                <a:solidFill>
                  <a:srgbClr val="FFFFFF"/>
                </a:solidFill>
                <a:latin typeface="Times New Roman" panose="02020603050405020304" pitchFamily="18" charset="0"/>
              </a:rPr>
              <a:t>。</a:t>
            </a:r>
          </a:p>
        </p:txBody>
      </p:sp>
      <p:sp>
        <p:nvSpPr>
          <p:cNvPr id="262" name="文本框 261">
            <a:extLst>
              <a:ext uri="{FF2B5EF4-FFF2-40B4-BE49-F238E27FC236}">
                <a16:creationId xmlns:a16="http://schemas.microsoft.com/office/drawing/2014/main" id="{DCC54B55-F423-4956-A69D-5D518A0562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0124" y="5246548"/>
            <a:ext cx="1054100" cy="868363"/>
          </a:xfrm>
          <a:prstGeom prst="rect">
            <a:avLst/>
          </a:prstGeom>
          <a:solidFill>
            <a:srgbClr val="00B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0" hangingPunct="0">
              <a:lnSpc>
                <a:spcPct val="12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100" dirty="0">
                <a:solidFill>
                  <a:srgbClr val="FFFFFF"/>
                </a:solidFill>
                <a:latin typeface="Times New Roman" panose="02020603050405020304" pitchFamily="18" charset="0"/>
              </a:rPr>
              <a:t>竞赛图的性质</a:t>
            </a:r>
          </a:p>
        </p:txBody>
      </p:sp>
      <p:sp>
        <p:nvSpPr>
          <p:cNvPr id="263" name="文本框 262">
            <a:extLst>
              <a:ext uri="{FF2B5EF4-FFF2-40B4-BE49-F238E27FC236}">
                <a16:creationId xmlns:a16="http://schemas.microsoft.com/office/drawing/2014/main" id="{B27E0284-8948-4E7D-A29D-CCF6916489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2011" y="5118037"/>
            <a:ext cx="4269320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0" hangingPunct="0">
              <a:spcBef>
                <a:spcPct val="50000"/>
              </a:spcBef>
              <a:buClrTx/>
              <a:buSzTx/>
              <a:buFontTx/>
              <a:buChar char="•"/>
            </a:pPr>
            <a:r>
              <a:rPr kumimoji="0" lang="en-US" altLang="zh-CN" sz="2100" dirty="0">
                <a:solidFill>
                  <a:srgbClr val="FFFFFF"/>
                </a:solidFill>
                <a:latin typeface="Times New Roman" panose="02020603050405020304" pitchFamily="18" charset="0"/>
              </a:rPr>
              <a:t> </a:t>
            </a:r>
            <a:r>
              <a:rPr kumimoji="0" lang="zh-CN" altLang="en-US" sz="2100" dirty="0">
                <a:solidFill>
                  <a:srgbClr val="FFFFFF"/>
                </a:solidFill>
                <a:latin typeface="Times New Roman" panose="02020603050405020304" pitchFamily="18" charset="0"/>
              </a:rPr>
              <a:t>必存在哈密顿通路； </a:t>
            </a:r>
          </a:p>
        </p:txBody>
      </p:sp>
      <p:sp>
        <p:nvSpPr>
          <p:cNvPr id="264" name="文本框 263">
            <a:extLst>
              <a:ext uri="{FF2B5EF4-FFF2-40B4-BE49-F238E27FC236}">
                <a16:creationId xmlns:a16="http://schemas.microsoft.com/office/drawing/2014/main" id="{DE11EF25-2998-4174-8BA6-EE94DF1084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94428" y="5523527"/>
            <a:ext cx="7874180" cy="830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0" hangingPunct="0">
              <a:lnSpc>
                <a:spcPct val="120000"/>
              </a:lnSpc>
              <a:spcBef>
                <a:spcPct val="50000"/>
              </a:spcBef>
              <a:buClrTx/>
              <a:buSzTx/>
              <a:buFontTx/>
              <a:buChar char="•"/>
            </a:pPr>
            <a:r>
              <a:rPr kumimoji="0" lang="en-US" altLang="zh-CN" sz="2100" dirty="0">
                <a:solidFill>
                  <a:srgbClr val="FFFFFF"/>
                </a:solidFill>
                <a:latin typeface="Times New Roman" panose="02020603050405020304" pitchFamily="18" charset="0"/>
              </a:rPr>
              <a:t> </a:t>
            </a:r>
            <a:r>
              <a:rPr kumimoji="0" lang="zh-CN" altLang="en-US" sz="2100" dirty="0">
                <a:solidFill>
                  <a:srgbClr val="FFFFFF"/>
                </a:solidFill>
                <a:latin typeface="Times New Roman" panose="02020603050405020304" pitchFamily="18" charset="0"/>
              </a:rPr>
              <a:t>若存在唯一的哈密顿通路，则由它确定的顶点顺序与按得分排列的顺序一致，如</a:t>
            </a:r>
            <a:r>
              <a:rPr kumimoji="0" lang="en-US" altLang="zh-CN" sz="2100" dirty="0">
                <a:solidFill>
                  <a:srgbClr val="FFFFFF"/>
                </a:solidFill>
                <a:latin typeface="Times New Roman" panose="02020603050405020304" pitchFamily="18" charset="0"/>
              </a:rPr>
              <a:t>(1) </a:t>
            </a:r>
            <a:r>
              <a:rPr kumimoji="0" lang="zh-CN" altLang="en-US" sz="2100" dirty="0">
                <a:solidFill>
                  <a:srgbClr val="FFFFFF"/>
                </a:solidFill>
                <a:latin typeface="Times New Roman" panose="02020603050405020304" pitchFamily="18" charset="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189765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0" dur="5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5" dur="5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8" grpId="0" bldLvl="0" animBg="1"/>
      <p:bldP spid="259" grpId="0" animBg="1"/>
      <p:bldP spid="260" grpId="0" animBg="1"/>
      <p:bldP spid="261" grpId="0" animBg="1"/>
      <p:bldP spid="262" grpId="0" bldLvl="0" animBg="1"/>
      <p:bldP spid="263" grpId="0" animBg="1"/>
      <p:bldP spid="26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矩形 103430"/>
          <p:cNvSpPr>
            <a:spLocks noChangeArrowheads="1"/>
          </p:cNvSpPr>
          <p:nvPr/>
        </p:nvSpPr>
        <p:spPr bwMode="auto">
          <a:xfrm>
            <a:off x="1816361" y="3076101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4341" name="矩形 103432"/>
          <p:cNvSpPr>
            <a:spLocks noChangeArrowheads="1"/>
          </p:cNvSpPr>
          <p:nvPr/>
        </p:nvSpPr>
        <p:spPr bwMode="auto">
          <a:xfrm>
            <a:off x="1816361" y="3076101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4343" name="矩形 103434"/>
          <p:cNvSpPr>
            <a:spLocks noChangeArrowheads="1"/>
          </p:cNvSpPr>
          <p:nvPr/>
        </p:nvSpPr>
        <p:spPr bwMode="auto">
          <a:xfrm>
            <a:off x="1816361" y="3076101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5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*8.2.4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竞赛图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767408" y="1844824"/>
            <a:ext cx="6093618" cy="24437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zh-CN" altLang="en-US" dirty="0">
                <a:sym typeface="+mn-ea"/>
              </a:rPr>
              <a:t>总结：</a:t>
            </a:r>
            <a:endParaRPr lang="en-US" altLang="zh-CN" dirty="0">
              <a:sym typeface="+mn-ea"/>
            </a:endParaRPr>
          </a:p>
          <a:p>
            <a:r>
              <a:rPr lang="zh-CN" altLang="en-US" dirty="0">
                <a:sym typeface="+mn-ea"/>
              </a:rPr>
              <a:t>竞赛图必有有向哈密顿通路</a:t>
            </a:r>
            <a:endParaRPr lang="en-US" altLang="zh-CN" dirty="0">
              <a:sym typeface="+mn-ea"/>
            </a:endParaRPr>
          </a:p>
          <a:p>
            <a:r>
              <a:rPr lang="zh-CN" altLang="en-US" dirty="0">
                <a:sym typeface="+mn-ea"/>
              </a:rPr>
              <a:t>有向哈密顿通路：排名</a:t>
            </a:r>
          </a:p>
          <a:p>
            <a:endParaRPr lang="zh-CN" altLang="en-US" dirty="0">
              <a:sym typeface="+mn-ea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732416" y="3784125"/>
            <a:ext cx="10509063" cy="10858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dirty="0">
                <a:sym typeface="+mn-ea"/>
              </a:rPr>
              <a:t>竞赛图可能有多条不同的有向哈密顿通路</a:t>
            </a:r>
          </a:p>
          <a:p>
            <a:pPr marL="685800" lvl="2" indent="0">
              <a:lnSpc>
                <a:spcPct val="150000"/>
              </a:lnSpc>
              <a:buNone/>
            </a:pPr>
            <a:r>
              <a:rPr lang="zh-CN" altLang="en-US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原因：存在有向回路</a:t>
            </a:r>
            <a:r>
              <a:rPr lang="en-US" altLang="zh-CN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, </a:t>
            </a:r>
            <a:r>
              <a:rPr lang="zh-CN" altLang="en-US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即循环赛存在循环的胜负情况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732416" y="4996593"/>
            <a:ext cx="1145958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dirty="0">
                <a:sym typeface="+mn-ea"/>
              </a:rPr>
              <a:t>竞赛图只有一条哈密顿通路 </a:t>
            </a:r>
            <a:r>
              <a:rPr lang="zh-CN" altLang="en-US" dirty="0">
                <a:sym typeface="Symbol" panose="05050102010706020507" pitchFamily="18" charset="2"/>
              </a:rPr>
              <a:t> 唯一的排名，</a:t>
            </a:r>
            <a:r>
              <a:rPr lang="zh-CN" altLang="en-US" dirty="0">
                <a:sym typeface="+mn-ea"/>
              </a:rPr>
              <a:t>竞赛图没有有向回路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2" name="Rectangle 2"/>
          <p:cNvSpPr txBox="1">
            <a:spLocks noChangeArrowheads="1"/>
          </p:cNvSpPr>
          <p:nvPr/>
        </p:nvSpPr>
        <p:spPr bwMode="auto">
          <a:xfrm>
            <a:off x="4871864" y="116632"/>
            <a:ext cx="7320136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40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作业</a:t>
            </a:r>
            <a:endParaRPr lang="en-US" altLang="zh-CN" sz="4000" b="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40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36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3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190</a:t>
            </a:r>
            <a:r>
              <a:rPr lang="zh-CN" altLang="en-US" sz="3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3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 5, 13*, </a:t>
            </a:r>
            <a:r>
              <a:rPr lang="zh-CN" altLang="en-US" sz="3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补充</a:t>
            </a:r>
            <a:endParaRPr lang="zh-CN" altLang="en-US" sz="3600" b="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圆角矩形 4"/>
          <p:cNvSpPr>
            <a:spLocks noChangeArrowheads="1"/>
          </p:cNvSpPr>
          <p:nvPr/>
        </p:nvSpPr>
        <p:spPr bwMode="auto">
          <a:xfrm>
            <a:off x="263352" y="1556791"/>
            <a:ext cx="11665296" cy="4943673"/>
          </a:xfrm>
          <a:prstGeom prst="roundRect">
            <a:avLst>
              <a:gd name="adj" fmla="val 5406"/>
            </a:avLst>
          </a:prstGeom>
          <a:noFill/>
          <a:ln w="38100" algn="ctr">
            <a:solidFill>
              <a:srgbClr val="92D05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6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" name="文本占位符 23553"/>
          <p:cNvSpPr txBox="1"/>
          <p:nvPr/>
        </p:nvSpPr>
        <p:spPr>
          <a:xfrm>
            <a:off x="352425" y="1844824"/>
            <a:ext cx="11576223" cy="4008885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pPr marL="0" indent="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说明右图不是哈密顿图。</a:t>
            </a:r>
          </a:p>
          <a:p>
            <a:pPr marL="0" indent="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endParaRPr lang="en-US" altLang="zh-CN" sz="24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endParaRPr lang="en-US" altLang="zh-CN" sz="24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2.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为了测试计算机网络上的所有连接和设备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可以在网络上发一个诊断消息。为了测试所有的连接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应当使用什么种类的通路？为了测试所有的设备呢？ </a:t>
            </a:r>
          </a:p>
          <a:p>
            <a:pPr mar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3*. 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证明任意竞赛图都有有向哈密顿通路。</a:t>
            </a:r>
            <a:endParaRPr lang="en-US" altLang="zh-CN" sz="24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7" name="Picture 1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1824" y="2006600"/>
            <a:ext cx="2159000" cy="142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78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78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789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7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2" grpId="0"/>
      <p:bldP spid="6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TUxMDZlMWMxNThhZTg1OTc1ODg1MTk0MzVmZTYzZTE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6|4.6|10.6|6.2|3.8|3.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6|8.6|1.5|3.5|3.1|3.7|5.1|2.8|4.3|3.9|3.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6"/>
</p:tagLst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1" lang="zh-CN" alt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1" lang="zh-CN" alt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默认设计模板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345</TotalTime>
  <Words>1903</Words>
  <Application>Microsoft Office PowerPoint</Application>
  <PresentationFormat>宽屏</PresentationFormat>
  <Paragraphs>215</Paragraphs>
  <Slides>23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5" baseType="lpstr">
      <vt:lpstr>华文细黑</vt:lpstr>
      <vt:lpstr>楷体_GB2312</vt:lpstr>
      <vt:lpstr>宋体</vt:lpstr>
      <vt:lpstr>微软雅黑</vt:lpstr>
      <vt:lpstr>Arial</vt:lpstr>
      <vt:lpstr>Calibri</vt:lpstr>
      <vt:lpstr>Garamond</vt:lpstr>
      <vt:lpstr>Symbol</vt:lpstr>
      <vt:lpstr>Tahoma</vt:lpstr>
      <vt:lpstr>Times New Roman</vt:lpstr>
      <vt:lpstr>Wingdings</vt:lpstr>
      <vt:lpstr>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番茄花园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番茄花园</dc:creator>
  <cp:lastModifiedBy>86186</cp:lastModifiedBy>
  <cp:revision>905</cp:revision>
  <dcterms:created xsi:type="dcterms:W3CDTF">2008-05-09T05:16:00Z</dcterms:created>
  <dcterms:modified xsi:type="dcterms:W3CDTF">2026-06-08T02:38:03Z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5424D2BA9FD744888CC8B35B1E0CDCB6_12</vt:lpwstr>
  </property>
  <property fmtid="{D5CDD505-2E9C-101B-9397-08002B2CF9AE}" pid="3" name="KSOProductBuildVer">
    <vt:lpwstr>2052-12.1.0.16729</vt:lpwstr>
  </property>
</Properties>
</file>